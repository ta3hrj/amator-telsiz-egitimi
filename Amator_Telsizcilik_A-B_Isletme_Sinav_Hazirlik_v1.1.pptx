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  <Override PartName="/ppt/slides/slide153.xml" ContentType="application/vnd.openxmlformats-officedocument.presentationml.slide+xml"/>
  <Override PartName="/ppt/slides/slide154.xml" ContentType="application/vnd.openxmlformats-officedocument.presentationml.slide+xml"/>
  <Override PartName="/ppt/slides/slide155.xml" ContentType="application/vnd.openxmlformats-officedocument.presentationml.slide+xml"/>
  <Override PartName="/ppt/slides/slide156.xml" ContentType="application/vnd.openxmlformats-officedocument.presentationml.slide+xml"/>
  <Override PartName="/ppt/slides/slide157.xml" ContentType="application/vnd.openxmlformats-officedocument.presentationml.slide+xml"/>
  <Override PartName="/ppt/slides/slide158.xml" ContentType="application/vnd.openxmlformats-officedocument.presentationml.slide+xml"/>
  <Override PartName="/ppt/slides/slide159.xml" ContentType="application/vnd.openxmlformats-officedocument.presentationml.slide+xml"/>
  <Override PartName="/ppt/slides/slide16.xml" ContentType="application/vnd.openxmlformats-officedocument.presentationml.slide+xml"/>
  <Override PartName="/ppt/slides/slide160.xml" ContentType="application/vnd.openxmlformats-officedocument.presentationml.slide+xml"/>
  <Override PartName="/ppt/slides/slide161.xml" ContentType="application/vnd.openxmlformats-officedocument.presentationml.slide+xml"/>
  <Override PartName="/ppt/slides/slide162.xml" ContentType="application/vnd.openxmlformats-officedocument.presentationml.slide+xml"/>
  <Override PartName="/ppt/slides/slide163.xml" ContentType="application/vnd.openxmlformats-officedocument.presentationml.slide+xml"/>
  <Override PartName="/ppt/slides/slide164.xml" ContentType="application/vnd.openxmlformats-officedocument.presentationml.slide+xml"/>
  <Override PartName="/ppt/slides/slide165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  <p:sldId id="333" r:id="rId79"/>
    <p:sldId id="334" r:id="rId80"/>
    <p:sldId id="335" r:id="rId81"/>
    <p:sldId id="336" r:id="rId82"/>
    <p:sldId id="337" r:id="rId83"/>
    <p:sldId id="338" r:id="rId84"/>
    <p:sldId id="339" r:id="rId85"/>
    <p:sldId id="340" r:id="rId86"/>
    <p:sldId id="341" r:id="rId87"/>
    <p:sldId id="342" r:id="rId88"/>
    <p:sldId id="343" r:id="rId89"/>
    <p:sldId id="344" r:id="rId90"/>
    <p:sldId id="345" r:id="rId91"/>
    <p:sldId id="346" r:id="rId92"/>
    <p:sldId id="347" r:id="rId93"/>
    <p:sldId id="348" r:id="rId94"/>
    <p:sldId id="349" r:id="rId95"/>
    <p:sldId id="350" r:id="rId96"/>
    <p:sldId id="351" r:id="rId97"/>
    <p:sldId id="352" r:id="rId98"/>
    <p:sldId id="353" r:id="rId99"/>
    <p:sldId id="354" r:id="rId100"/>
    <p:sldId id="355" r:id="rId101"/>
    <p:sldId id="356" r:id="rId102"/>
    <p:sldId id="357" r:id="rId103"/>
    <p:sldId id="358" r:id="rId104"/>
    <p:sldId id="359" r:id="rId105"/>
    <p:sldId id="360" r:id="rId106"/>
    <p:sldId id="361" r:id="rId107"/>
    <p:sldId id="362" r:id="rId108"/>
    <p:sldId id="363" r:id="rId109"/>
    <p:sldId id="364" r:id="rId110"/>
    <p:sldId id="365" r:id="rId111"/>
    <p:sldId id="366" r:id="rId112"/>
    <p:sldId id="367" r:id="rId113"/>
    <p:sldId id="368" r:id="rId114"/>
    <p:sldId id="369" r:id="rId115"/>
    <p:sldId id="370" r:id="rId116"/>
    <p:sldId id="371" r:id="rId117"/>
    <p:sldId id="372" r:id="rId118"/>
    <p:sldId id="373" r:id="rId119"/>
    <p:sldId id="374" r:id="rId120"/>
    <p:sldId id="375" r:id="rId121"/>
    <p:sldId id="376" r:id="rId122"/>
    <p:sldId id="377" r:id="rId123"/>
    <p:sldId id="378" r:id="rId124"/>
    <p:sldId id="379" r:id="rId125"/>
    <p:sldId id="380" r:id="rId126"/>
    <p:sldId id="381" r:id="rId127"/>
    <p:sldId id="382" r:id="rId128"/>
    <p:sldId id="383" r:id="rId129"/>
    <p:sldId id="384" r:id="rId130"/>
    <p:sldId id="385" r:id="rId131"/>
    <p:sldId id="386" r:id="rId132"/>
    <p:sldId id="387" r:id="rId133"/>
    <p:sldId id="388" r:id="rId134"/>
    <p:sldId id="389" r:id="rId135"/>
    <p:sldId id="390" r:id="rId136"/>
    <p:sldId id="391" r:id="rId137"/>
    <p:sldId id="392" r:id="rId138"/>
    <p:sldId id="393" r:id="rId139"/>
    <p:sldId id="394" r:id="rId140"/>
    <p:sldId id="395" r:id="rId141"/>
    <p:sldId id="396" r:id="rId142"/>
    <p:sldId id="397" r:id="rId143"/>
    <p:sldId id="398" r:id="rId144"/>
    <p:sldId id="399" r:id="rId145"/>
    <p:sldId id="400" r:id="rId146"/>
    <p:sldId id="401" r:id="rId147"/>
    <p:sldId id="402" r:id="rId148"/>
    <p:sldId id="403" r:id="rId149"/>
    <p:sldId id="404" r:id="rId150"/>
    <p:sldId id="405" r:id="rId151"/>
    <p:sldId id="406" r:id="rId152"/>
    <p:sldId id="407" r:id="rId153"/>
    <p:sldId id="408" r:id="rId154"/>
    <p:sldId id="409" r:id="rId155"/>
    <p:sldId id="410" r:id="rId156"/>
    <p:sldId id="411" r:id="rId157"/>
    <p:sldId id="412" r:id="rId158"/>
    <p:sldId id="413" r:id="rId159"/>
    <p:sldId id="414" r:id="rId160"/>
    <p:sldId id="415" r:id="rId161"/>
    <p:sldId id="416" r:id="rId162"/>
    <p:sldId id="417" r:id="rId163"/>
    <p:sldId id="418" r:id="rId164"/>
    <p:sldId id="419" r:id="rId165"/>
    <p:sldId id="420" r:id="rId166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xmlns="" val="0"/>
    </p:ext>
    <p:ext uri="{D31A062A-798A-4329-ABDD-BBA856620510}">
      <p14:defaultImageDpi xmlns:p14="http://schemas.microsoft.com/office/powerpoint/2010/main" xmlns="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showOutlineIcons="0">
    <p:restoredLeft sz="15620"/>
    <p:restoredTop sz="94660"/>
  </p:normalViewPr>
  <p:slideViewPr>
    <p:cSldViewPr snapToGrid="0" snapToObjects="1">
      <p:cViewPr varScale="1">
        <p:scale>
          <a:sx n="91" d="100"/>
          <a:sy n="91" d="100"/>
        </p:scale>
        <p:origin x="-360" y="-10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3736200" cy="7373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slide" Target="slides/slide73.xml"/><Relationship Id="rId75" Type="http://schemas.openxmlformats.org/officeDocument/2006/relationships/slide" Target="slides/slide74.xml"/><Relationship Id="rId76" Type="http://schemas.openxmlformats.org/officeDocument/2006/relationships/slide" Target="slides/slide75.xml"/><Relationship Id="rId77" Type="http://schemas.openxmlformats.org/officeDocument/2006/relationships/slide" Target="slides/slide76.xml"/><Relationship Id="rId78" Type="http://schemas.openxmlformats.org/officeDocument/2006/relationships/slide" Target="slides/slide77.xml"/><Relationship Id="rId79" Type="http://schemas.openxmlformats.org/officeDocument/2006/relationships/slide" Target="slides/slide78.xml"/><Relationship Id="rId80" Type="http://schemas.openxmlformats.org/officeDocument/2006/relationships/slide" Target="slides/slide79.xml"/><Relationship Id="rId81" Type="http://schemas.openxmlformats.org/officeDocument/2006/relationships/slide" Target="slides/slide80.xml"/><Relationship Id="rId82" Type="http://schemas.openxmlformats.org/officeDocument/2006/relationships/slide" Target="slides/slide81.xml"/><Relationship Id="rId83" Type="http://schemas.openxmlformats.org/officeDocument/2006/relationships/slide" Target="slides/slide82.xml"/><Relationship Id="rId84" Type="http://schemas.openxmlformats.org/officeDocument/2006/relationships/slide" Target="slides/slide83.xml"/><Relationship Id="rId85" Type="http://schemas.openxmlformats.org/officeDocument/2006/relationships/slide" Target="slides/slide84.xml"/><Relationship Id="rId86" Type="http://schemas.openxmlformats.org/officeDocument/2006/relationships/slide" Target="slides/slide85.xml"/><Relationship Id="rId87" Type="http://schemas.openxmlformats.org/officeDocument/2006/relationships/slide" Target="slides/slide86.xml"/><Relationship Id="rId88" Type="http://schemas.openxmlformats.org/officeDocument/2006/relationships/slide" Target="slides/slide87.xml"/><Relationship Id="rId89" Type="http://schemas.openxmlformats.org/officeDocument/2006/relationships/slide" Target="slides/slide88.xml"/><Relationship Id="rId90" Type="http://schemas.openxmlformats.org/officeDocument/2006/relationships/slide" Target="slides/slide89.xml"/><Relationship Id="rId91" Type="http://schemas.openxmlformats.org/officeDocument/2006/relationships/slide" Target="slides/slide90.xml"/><Relationship Id="rId92" Type="http://schemas.openxmlformats.org/officeDocument/2006/relationships/slide" Target="slides/slide91.xml"/><Relationship Id="rId93" Type="http://schemas.openxmlformats.org/officeDocument/2006/relationships/slide" Target="slides/slide92.xml"/><Relationship Id="rId94" Type="http://schemas.openxmlformats.org/officeDocument/2006/relationships/slide" Target="slides/slide93.xml"/><Relationship Id="rId95" Type="http://schemas.openxmlformats.org/officeDocument/2006/relationships/slide" Target="slides/slide94.xml"/><Relationship Id="rId96" Type="http://schemas.openxmlformats.org/officeDocument/2006/relationships/slide" Target="slides/slide95.xml"/><Relationship Id="rId97" Type="http://schemas.openxmlformats.org/officeDocument/2006/relationships/slide" Target="slides/slide96.xml"/><Relationship Id="rId98" Type="http://schemas.openxmlformats.org/officeDocument/2006/relationships/slide" Target="slides/slide97.xml"/><Relationship Id="rId99" Type="http://schemas.openxmlformats.org/officeDocument/2006/relationships/slide" Target="slides/slide98.xml"/><Relationship Id="rId100" Type="http://schemas.openxmlformats.org/officeDocument/2006/relationships/slide" Target="slides/slide99.xml"/><Relationship Id="rId101" Type="http://schemas.openxmlformats.org/officeDocument/2006/relationships/slide" Target="slides/slide100.xml"/><Relationship Id="rId102" Type="http://schemas.openxmlformats.org/officeDocument/2006/relationships/slide" Target="slides/slide101.xml"/><Relationship Id="rId103" Type="http://schemas.openxmlformats.org/officeDocument/2006/relationships/slide" Target="slides/slide102.xml"/><Relationship Id="rId104" Type="http://schemas.openxmlformats.org/officeDocument/2006/relationships/slide" Target="slides/slide103.xml"/><Relationship Id="rId105" Type="http://schemas.openxmlformats.org/officeDocument/2006/relationships/slide" Target="slides/slide104.xml"/><Relationship Id="rId106" Type="http://schemas.openxmlformats.org/officeDocument/2006/relationships/slide" Target="slides/slide105.xml"/><Relationship Id="rId107" Type="http://schemas.openxmlformats.org/officeDocument/2006/relationships/slide" Target="slides/slide106.xml"/><Relationship Id="rId108" Type="http://schemas.openxmlformats.org/officeDocument/2006/relationships/slide" Target="slides/slide107.xml"/><Relationship Id="rId109" Type="http://schemas.openxmlformats.org/officeDocument/2006/relationships/slide" Target="slides/slide108.xml"/><Relationship Id="rId110" Type="http://schemas.openxmlformats.org/officeDocument/2006/relationships/slide" Target="slides/slide109.xml"/><Relationship Id="rId111" Type="http://schemas.openxmlformats.org/officeDocument/2006/relationships/slide" Target="slides/slide110.xml"/><Relationship Id="rId112" Type="http://schemas.openxmlformats.org/officeDocument/2006/relationships/slide" Target="slides/slide111.xml"/><Relationship Id="rId113" Type="http://schemas.openxmlformats.org/officeDocument/2006/relationships/slide" Target="slides/slide112.xml"/><Relationship Id="rId114" Type="http://schemas.openxmlformats.org/officeDocument/2006/relationships/slide" Target="slides/slide113.xml"/><Relationship Id="rId115" Type="http://schemas.openxmlformats.org/officeDocument/2006/relationships/slide" Target="slides/slide114.xml"/><Relationship Id="rId116" Type="http://schemas.openxmlformats.org/officeDocument/2006/relationships/slide" Target="slides/slide115.xml"/><Relationship Id="rId117" Type="http://schemas.openxmlformats.org/officeDocument/2006/relationships/slide" Target="slides/slide116.xml"/><Relationship Id="rId118" Type="http://schemas.openxmlformats.org/officeDocument/2006/relationships/slide" Target="slides/slide117.xml"/><Relationship Id="rId119" Type="http://schemas.openxmlformats.org/officeDocument/2006/relationships/slide" Target="slides/slide118.xml"/><Relationship Id="rId120" Type="http://schemas.openxmlformats.org/officeDocument/2006/relationships/slide" Target="slides/slide119.xml"/><Relationship Id="rId121" Type="http://schemas.openxmlformats.org/officeDocument/2006/relationships/slide" Target="slides/slide120.xml"/><Relationship Id="rId122" Type="http://schemas.openxmlformats.org/officeDocument/2006/relationships/slide" Target="slides/slide121.xml"/><Relationship Id="rId123" Type="http://schemas.openxmlformats.org/officeDocument/2006/relationships/slide" Target="slides/slide122.xml"/><Relationship Id="rId124" Type="http://schemas.openxmlformats.org/officeDocument/2006/relationships/slide" Target="slides/slide123.xml"/><Relationship Id="rId125" Type="http://schemas.openxmlformats.org/officeDocument/2006/relationships/slide" Target="slides/slide124.xml"/><Relationship Id="rId126" Type="http://schemas.openxmlformats.org/officeDocument/2006/relationships/slide" Target="slides/slide125.xml"/><Relationship Id="rId127" Type="http://schemas.openxmlformats.org/officeDocument/2006/relationships/slide" Target="slides/slide126.xml"/><Relationship Id="rId128" Type="http://schemas.openxmlformats.org/officeDocument/2006/relationships/slide" Target="slides/slide127.xml"/><Relationship Id="rId129" Type="http://schemas.openxmlformats.org/officeDocument/2006/relationships/slide" Target="slides/slide128.xml"/><Relationship Id="rId130" Type="http://schemas.openxmlformats.org/officeDocument/2006/relationships/slide" Target="slides/slide129.xml"/><Relationship Id="rId131" Type="http://schemas.openxmlformats.org/officeDocument/2006/relationships/slide" Target="slides/slide130.xml"/><Relationship Id="rId132" Type="http://schemas.openxmlformats.org/officeDocument/2006/relationships/slide" Target="slides/slide131.xml"/><Relationship Id="rId133" Type="http://schemas.openxmlformats.org/officeDocument/2006/relationships/slide" Target="slides/slide132.xml"/><Relationship Id="rId134" Type="http://schemas.openxmlformats.org/officeDocument/2006/relationships/slide" Target="slides/slide133.xml"/><Relationship Id="rId135" Type="http://schemas.openxmlformats.org/officeDocument/2006/relationships/slide" Target="slides/slide134.xml"/><Relationship Id="rId136" Type="http://schemas.openxmlformats.org/officeDocument/2006/relationships/slide" Target="slides/slide135.xml"/><Relationship Id="rId137" Type="http://schemas.openxmlformats.org/officeDocument/2006/relationships/slide" Target="slides/slide136.xml"/><Relationship Id="rId138" Type="http://schemas.openxmlformats.org/officeDocument/2006/relationships/slide" Target="slides/slide137.xml"/><Relationship Id="rId139" Type="http://schemas.openxmlformats.org/officeDocument/2006/relationships/slide" Target="slides/slide138.xml"/><Relationship Id="rId140" Type="http://schemas.openxmlformats.org/officeDocument/2006/relationships/slide" Target="slides/slide139.xml"/><Relationship Id="rId141" Type="http://schemas.openxmlformats.org/officeDocument/2006/relationships/slide" Target="slides/slide140.xml"/><Relationship Id="rId142" Type="http://schemas.openxmlformats.org/officeDocument/2006/relationships/slide" Target="slides/slide141.xml"/><Relationship Id="rId143" Type="http://schemas.openxmlformats.org/officeDocument/2006/relationships/slide" Target="slides/slide142.xml"/><Relationship Id="rId144" Type="http://schemas.openxmlformats.org/officeDocument/2006/relationships/slide" Target="slides/slide143.xml"/><Relationship Id="rId145" Type="http://schemas.openxmlformats.org/officeDocument/2006/relationships/slide" Target="slides/slide144.xml"/><Relationship Id="rId146" Type="http://schemas.openxmlformats.org/officeDocument/2006/relationships/slide" Target="slides/slide145.xml"/><Relationship Id="rId147" Type="http://schemas.openxmlformats.org/officeDocument/2006/relationships/slide" Target="slides/slide146.xml"/><Relationship Id="rId148" Type="http://schemas.openxmlformats.org/officeDocument/2006/relationships/slide" Target="slides/slide147.xml"/><Relationship Id="rId149" Type="http://schemas.openxmlformats.org/officeDocument/2006/relationships/slide" Target="slides/slide148.xml"/><Relationship Id="rId150" Type="http://schemas.openxmlformats.org/officeDocument/2006/relationships/slide" Target="slides/slide149.xml"/><Relationship Id="rId151" Type="http://schemas.openxmlformats.org/officeDocument/2006/relationships/slide" Target="slides/slide150.xml"/><Relationship Id="rId152" Type="http://schemas.openxmlformats.org/officeDocument/2006/relationships/slide" Target="slides/slide151.xml"/><Relationship Id="rId153" Type="http://schemas.openxmlformats.org/officeDocument/2006/relationships/slide" Target="slides/slide152.xml"/><Relationship Id="rId154" Type="http://schemas.openxmlformats.org/officeDocument/2006/relationships/slide" Target="slides/slide153.xml"/><Relationship Id="rId155" Type="http://schemas.openxmlformats.org/officeDocument/2006/relationships/slide" Target="slides/slide154.xml"/><Relationship Id="rId156" Type="http://schemas.openxmlformats.org/officeDocument/2006/relationships/slide" Target="slides/slide155.xml"/><Relationship Id="rId157" Type="http://schemas.openxmlformats.org/officeDocument/2006/relationships/slide" Target="slides/slide156.xml"/><Relationship Id="rId158" Type="http://schemas.openxmlformats.org/officeDocument/2006/relationships/slide" Target="slides/slide157.xml"/><Relationship Id="rId159" Type="http://schemas.openxmlformats.org/officeDocument/2006/relationships/slide" Target="slides/slide158.xml"/><Relationship Id="rId160" Type="http://schemas.openxmlformats.org/officeDocument/2006/relationships/slide" Target="slides/slide159.xml"/><Relationship Id="rId161" Type="http://schemas.openxmlformats.org/officeDocument/2006/relationships/slide" Target="slides/slide160.xml"/><Relationship Id="rId162" Type="http://schemas.openxmlformats.org/officeDocument/2006/relationships/slide" Target="slides/slide161.xml"/><Relationship Id="rId163" Type="http://schemas.openxmlformats.org/officeDocument/2006/relationships/slide" Target="slides/slide162.xml"/><Relationship Id="rId164" Type="http://schemas.openxmlformats.org/officeDocument/2006/relationships/slide" Target="slides/slide163.xml"/><Relationship Id="rId165" Type="http://schemas.openxmlformats.org/officeDocument/2006/relationships/slide" Target="slides/slide164.xml"/><Relationship Id="rId166" Type="http://schemas.openxmlformats.org/officeDocument/2006/relationships/slide" Target="slides/slide165.xml"/><Relationship Id="rId167" Type="http://schemas.openxmlformats.org/officeDocument/2006/relationships/presProps" Target="presProps.xml"/><Relationship Id="rId168" Type="http://schemas.openxmlformats.org/officeDocument/2006/relationships/viewProps" Target="viewProps.xml"/><Relationship Id="rId169" Type="http://schemas.openxmlformats.org/officeDocument/2006/relationships/theme" Target="theme/theme1.xml"/><Relationship Id="rId170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pPr/>
              <a:t>7/26/2026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xmlns="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pPr/>
              <a:t>7/26/2026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xmlns="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pPr/>
              <a:t>7/26/2026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xmlns="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pPr/>
              <a:t>7/26/2026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xmlns="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pPr/>
              <a:t>7/26/2026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xmlns="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pPr/>
              <a:t>7/26/2026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xmlns="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pPr/>
              <a:t>7/26/2026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xmlns="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pPr/>
              <a:t>7/26/2026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xmlns="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pPr/>
              <a:t>7/26/2026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xmlns="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pPr/>
              <a:t>7/26/2026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xmlns="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pPr/>
              <a:t>7/26/2026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xmlns="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pPr/>
              <a:t>7/26/2026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xmlns="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914400" y="2286000"/>
            <a:ext cx="10362895" cy="1280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600" b="1">
                <a:solidFill>
                  <a:srgbClr val="FFFFFF"/>
                </a:solidFill>
              </a:rPr>
              <a:t>İŞLETME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291840"/>
            <a:ext cx="103628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>
                <a:solidFill>
                  <a:srgbClr val="D6E4F0"/>
                </a:solidFill>
              </a:rPr>
              <a:t>Amatör Telsizcilik Sınav Hazırlık Seti — A/B Sınıfı (151 Soru)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6035040"/>
            <a:ext cx="1036289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i="1">
                <a:solidFill>
                  <a:srgbClr val="D6E4F0"/>
                </a:solidFill>
              </a:rPr>
              <a:t>Kaynak: KEGM A-B Sınıfı İşletme Soru Bankası; ITU Q-kod tablosu; NATO/Uluslararası ve ulusal fonetik alfabe; Uluslararası Mors Alfabesi; IARU Region-1 bant planı.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343400"/>
            <a:ext cx="1036015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i="1">
                <a:solidFill>
                  <a:srgbClr val="D6E4F0"/>
                </a:solidFill>
              </a:rPr>
              <a:t>Yazar: Claude Sonnet 5 (Anthropic)  —  Editör / Hata Kontrolü: H. Erhan Özkan, TA3HRJ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772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FFFFFF"/>
                </a:solidFill>
              </a:rPr>
              <a:t>BÖLÜM 1: Zaman Hesabı, Raporlama ve Temel Kısaltmalar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911535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300"/>
              </a:spcAft>
            </a:pPr>
            <a:r>
              <a:rPr sz="1700">
                <a:solidFill>
                  <a:srgbClr val="222222"/>
                </a:solidFill>
              </a:rPr>
              <a:t>•  Uluslararası amatör telsiz haberleşmesinde herkesin ortak referansı UTC </a:t>
            </a:r>
            <a:r>
              <a:rPr sz="1700" i="1">
                <a:solidFill>
                  <a:srgbClr val="222222"/>
                </a:solidFill>
              </a:rPr>
              <a:t>(Coordinated Universal Time — Greenwich'teki referans saat; yerel saat dilimi farkı olmadan herkesin aynı 'evrensel saati' kullanmasını sağlar)</a:t>
            </a:r>
            <a:r>
              <a:rPr sz="1700">
                <a:solidFill>
                  <a:srgbClr val="222222"/>
                </a:solidFill>
              </a:rPr>
              <a:t> saatidir.</a:t>
            </a:r>
          </a:p>
          <a:p>
            <a:pPr>
              <a:spcAft>
                <a:spcPts val="1300"/>
              </a:spcAft>
            </a:pPr>
            <a:r>
              <a:rPr sz="1700">
                <a:solidFill>
                  <a:srgbClr val="222222"/>
                </a:solidFill>
              </a:rPr>
              <a:t>•  Boylam farkı → saat farkına çevrilir: her 15 derece boylam = 1 saat; doğuya gidildikçe saat ileri, batıya gidildikçe geri gider.</a:t>
            </a:r>
          </a:p>
          <a:p>
            <a:pPr>
              <a:spcAft>
                <a:spcPts val="1300"/>
              </a:spcAft>
            </a:pPr>
            <a:r>
              <a:rPr sz="1700">
                <a:solidFill>
                  <a:srgbClr val="222222"/>
                </a:solidFill>
              </a:rPr>
              <a:t>•  RST raporu </a:t>
            </a:r>
            <a:r>
              <a:rPr sz="1700" i="1">
                <a:solidFill>
                  <a:srgbClr val="222222"/>
                </a:solidFill>
              </a:rPr>
              <a:t>(Readability-Strength-Tone — okunabilirlik, sinyal gücü, ton kalitesi)</a:t>
            </a:r>
            <a:r>
              <a:rPr sz="1700">
                <a:solidFill>
                  <a:srgbClr val="222222"/>
                </a:solidFill>
              </a:rPr>
              <a:t> karşı istasyona sinyalin nasıl alındığını bildirir.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5623560"/>
            <a:ext cx="10911535" cy="914400"/>
          </a:xfrm>
          <a:prstGeom prst="rect">
            <a:avLst/>
          </a:prstGeom>
          <a:solidFill>
            <a:srgbClr val="D6E4F0"/>
          </a:solidFill>
          <a:ln>
            <a:solidFill>
              <a:srgbClr val="2E75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tlCol="0" anchor="ctr"/>
          <a:lstStyle/>
          <a:p>
            <a:pPr algn="ctr"/>
            <a:r>
              <a:rPr sz="1300" b="1">
                <a:solidFill>
                  <a:srgbClr val="1F3864"/>
                </a:solidFill>
              </a:rPr>
              <a:t>Bu bölümün kaynağı: </a:t>
            </a:r>
            <a:r>
              <a:rPr sz="1300">
                <a:solidFill>
                  <a:srgbClr val="222222"/>
                </a:solidFill>
              </a:rPr>
              <a:t>UTC standardı; boylam-saat dönüşümü; RST raporlama sistemi.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95959"/>
                </a:solidFill>
              </a:rPr>
              <a:t>İşletme — Bölüm 1 Girişi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4008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1460175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1">
                <a:solidFill>
                  <a:srgbClr val="FFFFFF"/>
                </a:solidFill>
              </a:rPr>
              <a:t>Soru 1</a:t>
            </a:r>
            <a:r>
              <a:rPr sz="1400">
                <a:solidFill>
                  <a:srgbClr val="D6E4F0"/>
                </a:solidFill>
              </a:rPr>
              <a:t>   ·   Zaman Hesabı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60120"/>
            <a:ext cx="5608179" cy="5394960"/>
          </a:xfrm>
          <a:prstGeom prst="rect">
            <a:avLst/>
          </a:prstGeom>
          <a:solidFill>
            <a:srgbClr val="F7F9FB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82880" rIns="182880" rtlCol="0" anchor="ctr"/>
          <a:lstStyle/>
          <a:p>
            <a:pPr algn="ctr">
              <a:spcAft>
                <a:spcPts val="1400"/>
              </a:spcAft>
            </a:pPr>
            <a:r>
              <a:rPr sz="1700" b="1">
                <a:solidFill>
                  <a:srgbClr val="222222"/>
                </a:solidFill>
              </a:rPr>
              <a:t>Greenwich'te tarih 12 Haziran 2006 Salı ve saat 23:30 iken 25 derece doğu boylamında bir yerde tarih ve saat nedir?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22222"/>
                </a:solidFill>
              </a:rPr>
              <a:t>a)  12 Haziran 2006 Salı, saat 21:30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22222"/>
                </a:solidFill>
              </a:rPr>
              <a:t>b)  11 Haziran 2006 Salı, saat 20:30</a:t>
            </a:r>
          </a:p>
          <a:p>
            <a:pPr>
              <a:spcAft>
                <a:spcPts val="800"/>
              </a:spcAft>
            </a:pPr>
            <a:r>
              <a:rPr sz="1500" b="1">
                <a:solidFill>
                  <a:srgbClr val="2E7D32"/>
                </a:solidFill>
              </a:rPr>
              <a:t>c)  13 Haziran 2006 Çarşamba, saat 01:10</a:t>
            </a:r>
            <a:r>
              <a:rPr sz="1200" i="1">
                <a:solidFill>
                  <a:srgbClr val="2E7D32"/>
                </a:solidFill>
              </a:rPr>
              <a:t>   ✓ Doğru cevap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22222"/>
                </a:solidFill>
              </a:rPr>
              <a:t>d)  12 Haziran 2006 Salı, saat 01:20</a:t>
            </a:r>
          </a:p>
        </p:txBody>
      </p:sp>
      <p:sp>
        <p:nvSpPr>
          <p:cNvPr id="5" name="Rectangle 4"/>
          <p:cNvSpPr/>
          <p:nvPr/>
        </p:nvSpPr>
        <p:spPr>
          <a:xfrm>
            <a:off x="6339699" y="960120"/>
            <a:ext cx="5394796" cy="5394960"/>
          </a:xfrm>
          <a:prstGeom prst="rect">
            <a:avLst/>
          </a:prstGeom>
          <a:solidFill>
            <a:srgbClr val="E2EFDA"/>
          </a:solidFill>
          <a:ln w="9525">
            <a:solidFill>
              <a:srgbClr val="9BC1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82880" rIns="182880" rtlCol="0" anchor="ctr"/>
          <a:lstStyle/>
          <a:p>
            <a:pPr algn="ctr">
              <a:spcAft>
                <a:spcPts val="900"/>
              </a:spcAft>
            </a:pPr>
            <a:r>
              <a:rPr sz="1400" b="1">
                <a:solidFill>
                  <a:srgbClr val="2E7D32"/>
                </a:solidFill>
              </a:rPr>
              <a:t>AÇIKLAMA</a:t>
            </a:r>
          </a:p>
          <a:p>
            <a:pPr>
              <a:spcAft>
                <a:spcPts val="1100"/>
              </a:spcAft>
            </a:pPr>
            <a:r>
              <a:rPr sz="1300">
                <a:solidFill>
                  <a:srgbClr val="222222"/>
                </a:solidFill>
              </a:rPr>
              <a:t>25° doğu boylamı, Greenwich'ten 25/15 = 1 saat 40 dakika ileridedir </a:t>
            </a:r>
            <a:r>
              <a:rPr sz="1300" i="1">
                <a:solidFill>
                  <a:srgbClr val="222222"/>
                </a:solidFill>
              </a:rPr>
              <a:t>(doğuya gidildikçe saat ileri gider)</a:t>
            </a:r>
            <a:r>
              <a:rPr sz="1300">
                <a:solidFill>
                  <a:srgbClr val="222222"/>
                </a:solidFill>
              </a:rPr>
              <a:t>. 23:30 + 1:40 = 01:10, gün de bir ileri geçer: 13 Haziran Çarşamba, 01:10.</a:t>
            </a:r>
          </a:p>
          <a:p>
            <a:r>
              <a:rPr sz="1100" b="1">
                <a:solidFill>
                  <a:srgbClr val="1F3864"/>
                </a:solidFill>
              </a:rPr>
              <a:t>Kaynak: </a:t>
            </a:r>
            <a:r>
              <a:rPr sz="1100" i="1">
                <a:solidFill>
                  <a:srgbClr val="404040"/>
                </a:solidFill>
              </a:rPr>
              <a:t>Boylam-saat dönüşümü (</a:t>
            </a:r>
            <a:r>
              <a:rPr sz="1100" i="1" smtClean="0">
                <a:solidFill>
                  <a:srgbClr val="404040"/>
                </a:solidFill>
              </a:rPr>
              <a:t>her</a:t>
            </a:r>
            <a:r>
              <a:rPr lang="tr-TR" sz="1100" i="1" dirty="0" smtClean="0">
                <a:solidFill>
                  <a:srgbClr val="404040"/>
                </a:solidFill>
              </a:rPr>
              <a:t> </a:t>
            </a:r>
            <a:r>
              <a:rPr lang="tr-TR" sz="1100" i="1" dirty="0" smtClean="0">
                <a:solidFill>
                  <a:srgbClr val="404040"/>
                </a:solidFill>
              </a:rPr>
              <a:t>1°=4 dakika;</a:t>
            </a:r>
            <a:r>
              <a:rPr sz="1100" i="1" smtClean="0">
                <a:solidFill>
                  <a:srgbClr val="404040"/>
                </a:solidFill>
              </a:rPr>
              <a:t> </a:t>
            </a:r>
            <a:r>
              <a:rPr sz="1100" i="1">
                <a:solidFill>
                  <a:srgbClr val="404040"/>
                </a:solidFill>
              </a:rPr>
              <a:t>15° = 1 saat).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95959"/>
                </a:solidFill>
              </a:rPr>
              <a:t>İşletme — Soru 1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4008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1460175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1">
                <a:solidFill>
                  <a:srgbClr val="FFFFFF"/>
                </a:solidFill>
              </a:rPr>
              <a:t>Soru 2</a:t>
            </a:r>
            <a:r>
              <a:rPr sz="1400">
                <a:solidFill>
                  <a:srgbClr val="D6E4F0"/>
                </a:solidFill>
              </a:rPr>
              <a:t>   ·   Raporlama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60120"/>
            <a:ext cx="5608179" cy="5394960"/>
          </a:xfrm>
          <a:prstGeom prst="rect">
            <a:avLst/>
          </a:prstGeom>
          <a:solidFill>
            <a:srgbClr val="F7F9FB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82880" rIns="182880" rtlCol="0" anchor="ctr"/>
          <a:lstStyle/>
          <a:p>
            <a:pPr algn="ctr">
              <a:spcAft>
                <a:spcPts val="1400"/>
              </a:spcAft>
            </a:pPr>
            <a:r>
              <a:rPr sz="1700" b="1">
                <a:solidFill>
                  <a:srgbClr val="222222"/>
                </a:solidFill>
              </a:rPr>
              <a:t>RST raporunda okunabilirlik karşı istasyona 5 olarak bildirildiğinde ne anlam ifade eder?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22222"/>
                </a:solidFill>
              </a:rPr>
              <a:t>a)  Kısmen okunuyor.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22222"/>
                </a:solidFill>
              </a:rPr>
              <a:t>b)  Zor okunuyor</a:t>
            </a:r>
          </a:p>
          <a:p>
            <a:pPr>
              <a:spcAft>
                <a:spcPts val="800"/>
              </a:spcAft>
            </a:pPr>
            <a:r>
              <a:rPr sz="1500" b="1">
                <a:solidFill>
                  <a:srgbClr val="2E7D32"/>
                </a:solidFill>
              </a:rPr>
              <a:t>c)  Mükemmel okunuyor</a:t>
            </a:r>
            <a:r>
              <a:rPr sz="1200" i="1">
                <a:solidFill>
                  <a:srgbClr val="2E7D32"/>
                </a:solidFill>
              </a:rPr>
              <a:t>   ✓ Doğru cevap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22222"/>
                </a:solidFill>
              </a:rPr>
              <a:t>d)  Hiçbiri</a:t>
            </a:r>
          </a:p>
        </p:txBody>
      </p:sp>
      <p:sp>
        <p:nvSpPr>
          <p:cNvPr id="5" name="Rectangle 4"/>
          <p:cNvSpPr/>
          <p:nvPr/>
        </p:nvSpPr>
        <p:spPr>
          <a:xfrm>
            <a:off x="6339699" y="960120"/>
            <a:ext cx="5394796" cy="5394960"/>
          </a:xfrm>
          <a:prstGeom prst="rect">
            <a:avLst/>
          </a:prstGeom>
          <a:solidFill>
            <a:srgbClr val="E2EFDA"/>
          </a:solidFill>
          <a:ln w="9525">
            <a:solidFill>
              <a:srgbClr val="9BC1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82880" rIns="182880" rtlCol="0" anchor="ctr"/>
          <a:lstStyle/>
          <a:p>
            <a:pPr algn="ctr">
              <a:spcAft>
                <a:spcPts val="900"/>
              </a:spcAft>
            </a:pPr>
            <a:r>
              <a:rPr sz="1400" b="1">
                <a:solidFill>
                  <a:srgbClr val="2E7D32"/>
                </a:solidFill>
              </a:rPr>
              <a:t>AÇIKLAMA</a:t>
            </a:r>
          </a:p>
          <a:p>
            <a:pPr>
              <a:spcAft>
                <a:spcPts val="1100"/>
              </a:spcAft>
            </a:pPr>
            <a:r>
              <a:rPr sz="1300">
                <a:solidFill>
                  <a:srgbClr val="222222"/>
                </a:solidFill>
              </a:rPr>
              <a:t>RST'nin R </a:t>
            </a:r>
            <a:r>
              <a:rPr sz="1300" i="1">
                <a:solidFill>
                  <a:srgbClr val="222222"/>
                </a:solidFill>
              </a:rPr>
              <a:t>(Readability — okunabilirlik)</a:t>
            </a:r>
            <a:r>
              <a:rPr sz="1300">
                <a:solidFill>
                  <a:srgbClr val="222222"/>
                </a:solidFill>
              </a:rPr>
              <a:t> skalası 1'den 5'e kadardır; 5 en yüksek değerdir ve 'mükemmel, hiç zorlanmadan okunuyor' anlamına gelir.</a:t>
            </a:r>
          </a:p>
          <a:p>
            <a:r>
              <a:rPr sz="1100" b="1">
                <a:solidFill>
                  <a:srgbClr val="1F3864"/>
                </a:solidFill>
              </a:rPr>
              <a:t>Kaynak: </a:t>
            </a:r>
            <a:r>
              <a:rPr sz="1100" i="1">
                <a:solidFill>
                  <a:srgbClr val="404040"/>
                </a:solidFill>
              </a:rPr>
              <a:t>RST raporlama sistemi.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95959"/>
                </a:solidFill>
              </a:rPr>
              <a:t>İşletme — Soru 2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4008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1460175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1">
                <a:solidFill>
                  <a:srgbClr val="FFFFFF"/>
                </a:solidFill>
              </a:rPr>
              <a:t>Soru 3</a:t>
            </a:r>
            <a:r>
              <a:rPr sz="1400">
                <a:solidFill>
                  <a:srgbClr val="D6E4F0"/>
                </a:solidFill>
              </a:rPr>
              <a:t>   ·   Çağrı İşareti Bölgeleri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60120"/>
            <a:ext cx="5608179" cy="5394960"/>
          </a:xfrm>
          <a:prstGeom prst="rect">
            <a:avLst/>
          </a:prstGeom>
          <a:solidFill>
            <a:srgbClr val="F7F9FB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82880" rIns="182880" rtlCol="0" anchor="ctr"/>
          <a:lstStyle/>
          <a:p>
            <a:pPr algn="ctr">
              <a:spcAft>
                <a:spcPts val="1400"/>
              </a:spcAft>
            </a:pPr>
            <a:r>
              <a:rPr sz="1700" b="1">
                <a:solidFill>
                  <a:srgbClr val="222222"/>
                </a:solidFill>
              </a:rPr>
              <a:t>Herhangi bir amatör bantta dinleme yaparken karşı taraftan "Burası TA2CP" gibi bir çağrı duyduğunuzda bu çağrının aşağıdaki merkezlerden hangisinden yapıldığını anlarsınız?</a:t>
            </a:r>
          </a:p>
          <a:p>
            <a:pPr>
              <a:spcAft>
                <a:spcPts val="800"/>
              </a:spcAft>
            </a:pPr>
            <a:r>
              <a:rPr sz="1500" b="1">
                <a:solidFill>
                  <a:srgbClr val="2E7D32"/>
                </a:solidFill>
              </a:rPr>
              <a:t>a)  Ankara</a:t>
            </a:r>
            <a:r>
              <a:rPr sz="1200" i="1">
                <a:solidFill>
                  <a:srgbClr val="2E7D32"/>
                </a:solidFill>
              </a:rPr>
              <a:t>   ✓ Doğru cevap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22222"/>
                </a:solidFill>
              </a:rPr>
              <a:t>b)  Aydın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22222"/>
                </a:solidFill>
              </a:rPr>
              <a:t>c)  Adana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22222"/>
                </a:solidFill>
              </a:rPr>
              <a:t>d)  Artvin</a:t>
            </a:r>
          </a:p>
        </p:txBody>
      </p:sp>
      <p:sp>
        <p:nvSpPr>
          <p:cNvPr id="5" name="Rectangle 4"/>
          <p:cNvSpPr/>
          <p:nvPr/>
        </p:nvSpPr>
        <p:spPr>
          <a:xfrm>
            <a:off x="6339699" y="960120"/>
            <a:ext cx="5394796" cy="5394960"/>
          </a:xfrm>
          <a:prstGeom prst="rect">
            <a:avLst/>
          </a:prstGeom>
          <a:solidFill>
            <a:srgbClr val="E2EFDA"/>
          </a:solidFill>
          <a:ln w="9525">
            <a:solidFill>
              <a:srgbClr val="9BC1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82880" rIns="182880" rtlCol="0" anchor="ctr"/>
          <a:lstStyle/>
          <a:p>
            <a:pPr algn="ctr">
              <a:spcAft>
                <a:spcPts val="900"/>
              </a:spcAft>
            </a:pPr>
            <a:r>
              <a:rPr sz="1400" b="1">
                <a:solidFill>
                  <a:srgbClr val="2E7D32"/>
                </a:solidFill>
              </a:rPr>
              <a:t>AÇIKLAMA</a:t>
            </a:r>
          </a:p>
          <a:p>
            <a:pPr>
              <a:spcAft>
                <a:spcPts val="1100"/>
              </a:spcAft>
            </a:pPr>
            <a:r>
              <a:rPr sz="1300">
                <a:solidFill>
                  <a:srgbClr val="222222"/>
                </a:solidFill>
              </a:rPr>
              <a:t>Çağrı işaretindeki bölge numarası </a:t>
            </a:r>
            <a:r>
              <a:rPr sz="1300" i="1">
                <a:solidFill>
                  <a:srgbClr val="222222"/>
                </a:solidFill>
              </a:rPr>
              <a:t>(2)</a:t>
            </a:r>
            <a:r>
              <a:rPr sz="1300">
                <a:solidFill>
                  <a:srgbClr val="222222"/>
                </a:solidFill>
              </a:rPr>
              <a:t>, o istasyonun kayıtlı olduğu bölgeyi gösterir; Bölge 2 içinde Ankara vardır.</a:t>
            </a:r>
          </a:p>
          <a:p>
            <a:r>
              <a:rPr sz="1100" b="1">
                <a:solidFill>
                  <a:srgbClr val="1F3864"/>
                </a:solidFill>
              </a:rPr>
              <a:t>Kaynak: </a:t>
            </a:r>
            <a:r>
              <a:rPr sz="1100" i="1">
                <a:solidFill>
                  <a:srgbClr val="404040"/>
                </a:solidFill>
              </a:rPr>
              <a:t>Çağrı işareti bölge numaraları listesi.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95959"/>
                </a:solidFill>
              </a:rPr>
              <a:t>İşletme — Soru 3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4008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1460175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1">
                <a:solidFill>
                  <a:srgbClr val="FFFFFF"/>
                </a:solidFill>
              </a:rPr>
              <a:t>Soru 4</a:t>
            </a:r>
            <a:r>
              <a:rPr sz="1400">
                <a:solidFill>
                  <a:srgbClr val="D6E4F0"/>
                </a:solidFill>
              </a:rPr>
              <a:t>   ·   Q-Kodları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60120"/>
            <a:ext cx="5608179" cy="5394960"/>
          </a:xfrm>
          <a:prstGeom prst="rect">
            <a:avLst/>
          </a:prstGeom>
          <a:solidFill>
            <a:srgbClr val="F7F9FB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82880" rIns="182880" rtlCol="0" anchor="ctr"/>
          <a:lstStyle/>
          <a:p>
            <a:pPr algn="ctr">
              <a:spcAft>
                <a:spcPts val="1400"/>
              </a:spcAft>
            </a:pPr>
            <a:r>
              <a:rPr sz="1700" b="1">
                <a:solidFill>
                  <a:srgbClr val="222222"/>
                </a:solidFill>
              </a:rPr>
              <a:t>Telsiz-telgraf haberleşmesinde QTR kısaltması aşağıdaki sorulardan hangisini ifade eder?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22222"/>
                </a:solidFill>
              </a:rPr>
              <a:t>a)  Hangi bölgedensiniz?</a:t>
            </a:r>
          </a:p>
          <a:p>
            <a:pPr>
              <a:spcAft>
                <a:spcPts val="800"/>
              </a:spcAft>
            </a:pPr>
            <a:r>
              <a:rPr sz="1500" b="1">
                <a:solidFill>
                  <a:srgbClr val="2E7D32"/>
                </a:solidFill>
              </a:rPr>
              <a:t>b)  Saatiniz tam olarak kaçtır?</a:t>
            </a:r>
            <a:r>
              <a:rPr sz="1200" i="1">
                <a:solidFill>
                  <a:srgbClr val="2E7D32"/>
                </a:solidFill>
              </a:rPr>
              <a:t>   ✓ Doğru cevap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22222"/>
                </a:solidFill>
              </a:rPr>
              <a:t>c)  Bana çağrı adınızı verir misiniz?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22222"/>
                </a:solidFill>
              </a:rPr>
              <a:t>d)  Nasıl anten kullanıyorsunuz?</a:t>
            </a:r>
          </a:p>
        </p:txBody>
      </p:sp>
      <p:sp>
        <p:nvSpPr>
          <p:cNvPr id="5" name="Rectangle 4"/>
          <p:cNvSpPr/>
          <p:nvPr/>
        </p:nvSpPr>
        <p:spPr>
          <a:xfrm>
            <a:off x="6339699" y="960120"/>
            <a:ext cx="5394796" cy="5394960"/>
          </a:xfrm>
          <a:prstGeom prst="rect">
            <a:avLst/>
          </a:prstGeom>
          <a:solidFill>
            <a:srgbClr val="E2EFDA"/>
          </a:solidFill>
          <a:ln w="9525">
            <a:solidFill>
              <a:srgbClr val="9BC1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82880" rIns="182880" rtlCol="0" anchor="ctr"/>
          <a:lstStyle/>
          <a:p>
            <a:pPr algn="ctr">
              <a:spcAft>
                <a:spcPts val="900"/>
              </a:spcAft>
            </a:pPr>
            <a:r>
              <a:rPr sz="1400" b="1">
                <a:solidFill>
                  <a:srgbClr val="2E7D32"/>
                </a:solidFill>
              </a:rPr>
              <a:t>AÇIKLAMA</a:t>
            </a:r>
          </a:p>
          <a:p>
            <a:pPr>
              <a:spcAft>
                <a:spcPts val="1100"/>
              </a:spcAft>
            </a:pPr>
            <a:r>
              <a:rPr sz="1300">
                <a:solidFill>
                  <a:srgbClr val="222222"/>
                </a:solidFill>
              </a:rPr>
              <a:t>QTR, karşı istasyondan doğru saati sormak için kullanılan Q-koddur.</a:t>
            </a:r>
          </a:p>
          <a:p>
            <a:r>
              <a:rPr sz="1100" b="1">
                <a:solidFill>
                  <a:srgbClr val="1F3864"/>
                </a:solidFill>
              </a:rPr>
              <a:t>Kaynak: </a:t>
            </a:r>
            <a:r>
              <a:rPr sz="1100" i="1">
                <a:solidFill>
                  <a:srgbClr val="404040"/>
                </a:solidFill>
              </a:rPr>
              <a:t>ITU Q-kod tablosu (uluslararası standart kısaltılmış telsiz sinyalleri).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95959"/>
                </a:solidFill>
              </a:rPr>
              <a:t>İşletme — Soru 4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4008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1460175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1">
                <a:solidFill>
                  <a:srgbClr val="FFFFFF"/>
                </a:solidFill>
              </a:rPr>
              <a:t>Soru 5</a:t>
            </a:r>
            <a:r>
              <a:rPr sz="1400">
                <a:solidFill>
                  <a:srgbClr val="D6E4F0"/>
                </a:solidFill>
              </a:rPr>
              <a:t>   ·   Genel Bilgi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60120"/>
            <a:ext cx="5608179" cy="5394960"/>
          </a:xfrm>
          <a:prstGeom prst="rect">
            <a:avLst/>
          </a:prstGeom>
          <a:solidFill>
            <a:srgbClr val="F7F9FB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82880" rIns="182880" rtlCol="0" anchor="ctr"/>
          <a:lstStyle/>
          <a:p>
            <a:pPr algn="ctr">
              <a:spcAft>
                <a:spcPts val="1400"/>
              </a:spcAft>
            </a:pPr>
            <a:r>
              <a:rPr sz="1700" b="1">
                <a:solidFill>
                  <a:srgbClr val="222222"/>
                </a:solidFill>
              </a:rPr>
              <a:t>Amatörlerin belirli zamanlarda yaptıkları yarışmaların (CONTEST) gayesi nedir?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22222"/>
                </a:solidFill>
              </a:rPr>
              <a:t>a)  Amatörlerin hoşça vakit geçirmeleri</a:t>
            </a:r>
          </a:p>
          <a:p>
            <a:pPr>
              <a:spcAft>
                <a:spcPts val="800"/>
              </a:spcAft>
            </a:pPr>
            <a:r>
              <a:rPr sz="1500" b="1">
                <a:solidFill>
                  <a:srgbClr val="2E7D32"/>
                </a:solidFill>
              </a:rPr>
              <a:t>b)  En kısa zamanda mümkün olduğu kadar çok istasyonla QSO (haberleşme temas kaydı) yapmak</a:t>
            </a:r>
            <a:r>
              <a:rPr sz="1200" i="1">
                <a:solidFill>
                  <a:srgbClr val="2E7D32"/>
                </a:solidFill>
              </a:rPr>
              <a:t>   ✓ Doğru cevap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22222"/>
                </a:solidFill>
              </a:rPr>
              <a:t>c)  Amatörlerin cihazları ile ilgili bilgi alışverişi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22222"/>
                </a:solidFill>
              </a:rPr>
              <a:t>d)  QTH locater saptaması</a:t>
            </a:r>
          </a:p>
        </p:txBody>
      </p:sp>
      <p:sp>
        <p:nvSpPr>
          <p:cNvPr id="5" name="Rectangle 4"/>
          <p:cNvSpPr/>
          <p:nvPr/>
        </p:nvSpPr>
        <p:spPr>
          <a:xfrm>
            <a:off x="6339699" y="960120"/>
            <a:ext cx="5394796" cy="5394960"/>
          </a:xfrm>
          <a:prstGeom prst="rect">
            <a:avLst/>
          </a:prstGeom>
          <a:solidFill>
            <a:srgbClr val="E2EFDA"/>
          </a:solidFill>
          <a:ln w="9525">
            <a:solidFill>
              <a:srgbClr val="9BC1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82880" rIns="182880" rtlCol="0" anchor="ctr"/>
          <a:lstStyle/>
          <a:p>
            <a:pPr algn="ctr">
              <a:spcAft>
                <a:spcPts val="900"/>
              </a:spcAft>
            </a:pPr>
            <a:r>
              <a:rPr sz="1400" b="1">
                <a:solidFill>
                  <a:srgbClr val="2E7D32"/>
                </a:solidFill>
              </a:rPr>
              <a:t>AÇIKLAMA</a:t>
            </a:r>
          </a:p>
          <a:p>
            <a:pPr>
              <a:spcAft>
                <a:spcPts val="1100"/>
              </a:spcAft>
            </a:pPr>
            <a:r>
              <a:rPr sz="1300">
                <a:solidFill>
                  <a:srgbClr val="222222"/>
                </a:solidFill>
              </a:rPr>
              <a:t>Contest'in amacı, belirlenen kurallar çerçevesinde en kısa sürede en çok sayıda istasyonla temas kurmaktır; bu, operatörlük becerisini ve istasyon performansını test eder.</a:t>
            </a:r>
          </a:p>
          <a:p>
            <a:r>
              <a:rPr sz="1100" b="1">
                <a:solidFill>
                  <a:srgbClr val="1F3864"/>
                </a:solidFill>
              </a:rPr>
              <a:t>Kaynak: </a:t>
            </a:r>
            <a:r>
              <a:rPr sz="1100" i="1">
                <a:solidFill>
                  <a:srgbClr val="404040"/>
                </a:solidFill>
              </a:rPr>
              <a:t>Genel amatör telsiz sözlüğü.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95959"/>
                </a:solidFill>
              </a:rPr>
              <a:t>İşletme — Soru 5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4008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1460175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1">
                <a:solidFill>
                  <a:srgbClr val="FFFFFF"/>
                </a:solidFill>
              </a:rPr>
              <a:t>Soru 6</a:t>
            </a:r>
            <a:r>
              <a:rPr sz="1400">
                <a:solidFill>
                  <a:srgbClr val="D6E4F0"/>
                </a:solidFill>
              </a:rPr>
              <a:t>   ·   Genel Bilgi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60120"/>
            <a:ext cx="5608179" cy="5394960"/>
          </a:xfrm>
          <a:prstGeom prst="rect">
            <a:avLst/>
          </a:prstGeom>
          <a:solidFill>
            <a:srgbClr val="F7F9FB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82880" rIns="182880" rtlCol="0" anchor="ctr"/>
          <a:lstStyle/>
          <a:p>
            <a:pPr algn="ctr">
              <a:spcAft>
                <a:spcPts val="1400"/>
              </a:spcAft>
            </a:pPr>
            <a:r>
              <a:rPr sz="1700" b="1">
                <a:solidFill>
                  <a:srgbClr val="222222"/>
                </a:solidFill>
              </a:rPr>
              <a:t>Amatör telsiz çalışmalarında CW kısaltmasının anlamı nedir?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22222"/>
                </a:solidFill>
              </a:rPr>
              <a:t>a)  Frekansın dalga boyu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22222"/>
                </a:solidFill>
              </a:rPr>
              <a:t>b)  Geriye dönen güç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22222"/>
                </a:solidFill>
              </a:rPr>
              <a:t>c)  Çıkıştaki kazanç</a:t>
            </a:r>
          </a:p>
          <a:p>
            <a:pPr>
              <a:spcAft>
                <a:spcPts val="800"/>
              </a:spcAft>
            </a:pPr>
            <a:r>
              <a:rPr sz="1500" b="1">
                <a:solidFill>
                  <a:srgbClr val="2E7D32"/>
                </a:solidFill>
              </a:rPr>
              <a:t>d)  Devamlı dalga</a:t>
            </a:r>
            <a:r>
              <a:rPr sz="1200" i="1">
                <a:solidFill>
                  <a:srgbClr val="2E7D32"/>
                </a:solidFill>
              </a:rPr>
              <a:t>   ✓ Doğru cevap</a:t>
            </a:r>
          </a:p>
        </p:txBody>
      </p:sp>
      <p:sp>
        <p:nvSpPr>
          <p:cNvPr id="5" name="Rectangle 4"/>
          <p:cNvSpPr/>
          <p:nvPr/>
        </p:nvSpPr>
        <p:spPr>
          <a:xfrm>
            <a:off x="6339699" y="960120"/>
            <a:ext cx="5394796" cy="5394960"/>
          </a:xfrm>
          <a:prstGeom prst="rect">
            <a:avLst/>
          </a:prstGeom>
          <a:solidFill>
            <a:srgbClr val="E2EFDA"/>
          </a:solidFill>
          <a:ln w="9525">
            <a:solidFill>
              <a:srgbClr val="9BC1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82880" rIns="182880" rtlCol="0" anchor="ctr"/>
          <a:lstStyle/>
          <a:p>
            <a:pPr algn="ctr">
              <a:spcAft>
                <a:spcPts val="900"/>
              </a:spcAft>
            </a:pPr>
            <a:r>
              <a:rPr sz="1400" b="1">
                <a:solidFill>
                  <a:srgbClr val="2E7D32"/>
                </a:solidFill>
              </a:rPr>
              <a:t>AÇIKLAMA</a:t>
            </a:r>
          </a:p>
          <a:p>
            <a:pPr>
              <a:spcAft>
                <a:spcPts val="1100"/>
              </a:spcAft>
            </a:pPr>
            <a:r>
              <a:rPr sz="1300">
                <a:solidFill>
                  <a:srgbClr val="222222"/>
                </a:solidFill>
              </a:rPr>
              <a:t>CW </a:t>
            </a:r>
            <a:r>
              <a:rPr sz="1300" i="1">
                <a:solidFill>
                  <a:srgbClr val="222222"/>
                </a:solidFill>
              </a:rPr>
              <a:t>(Continuous Wave — devamlı dalga)</a:t>
            </a:r>
            <a:r>
              <a:rPr sz="1300">
                <a:solidFill>
                  <a:srgbClr val="222222"/>
                </a:solidFill>
              </a:rPr>
              <a:t>, Mors koduyla açma-kapama anahtarlamasıyla yapılan telgraf haberleşmesinin teknik adıdır.</a:t>
            </a:r>
          </a:p>
          <a:p>
            <a:r>
              <a:rPr sz="1100" b="1">
                <a:solidFill>
                  <a:srgbClr val="1F3864"/>
                </a:solidFill>
              </a:rPr>
              <a:t>Kaynak: </a:t>
            </a:r>
            <a:r>
              <a:rPr sz="1100" i="1">
                <a:solidFill>
                  <a:srgbClr val="404040"/>
                </a:solidFill>
              </a:rPr>
              <a:t>Genel amatör telsiz sözlüğü.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95959"/>
                </a:solidFill>
              </a:rPr>
              <a:t>İşletme — Soru 6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4008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1460175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1">
                <a:solidFill>
                  <a:srgbClr val="FFFFFF"/>
                </a:solidFill>
              </a:rPr>
              <a:t>Soru 7</a:t>
            </a:r>
            <a:r>
              <a:rPr sz="1400">
                <a:solidFill>
                  <a:srgbClr val="D6E4F0"/>
                </a:solidFill>
              </a:rPr>
              <a:t>   ·   Genel Bilgi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60120"/>
            <a:ext cx="5608179" cy="5394960"/>
          </a:xfrm>
          <a:prstGeom prst="rect">
            <a:avLst/>
          </a:prstGeom>
          <a:solidFill>
            <a:srgbClr val="F7F9FB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82880" rIns="182880" rtlCol="0" anchor="ctr"/>
          <a:lstStyle/>
          <a:p>
            <a:pPr algn="ctr">
              <a:spcAft>
                <a:spcPts val="1400"/>
              </a:spcAft>
            </a:pPr>
            <a:r>
              <a:rPr sz="1700" b="1">
                <a:solidFill>
                  <a:srgbClr val="222222"/>
                </a:solidFill>
              </a:rPr>
              <a:t>Pile-up (yığılma) terimi radyo amatörlüğünde ne anlama gelir?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22222"/>
                </a:solidFill>
              </a:rPr>
              <a:t>a)  Radyo amatörünün çıkış yaptığı yerin iyi durumda olduğu</a:t>
            </a:r>
          </a:p>
          <a:p>
            <a:pPr>
              <a:spcAft>
                <a:spcPts val="800"/>
              </a:spcAft>
            </a:pPr>
            <a:r>
              <a:rPr sz="1500" b="1">
                <a:solidFill>
                  <a:srgbClr val="2E7D32"/>
                </a:solidFill>
              </a:rPr>
              <a:t>b)  Çağrı yapan bir amatörün o frekanstaki diğer amatörler tarafından QSO yağmuruna tutulması</a:t>
            </a:r>
            <a:r>
              <a:rPr sz="1200" i="1">
                <a:solidFill>
                  <a:srgbClr val="2E7D32"/>
                </a:solidFill>
              </a:rPr>
              <a:t>   ✓ Doğru cevap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22222"/>
                </a:solidFill>
              </a:rPr>
              <a:t>c)  Çağrıyı alan istasyonun karşı istasyona cevap vermeme durumu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22222"/>
                </a:solidFill>
              </a:rPr>
              <a:t>d)  Hiçbiri</a:t>
            </a:r>
          </a:p>
        </p:txBody>
      </p:sp>
      <p:sp>
        <p:nvSpPr>
          <p:cNvPr id="5" name="Rectangle 4"/>
          <p:cNvSpPr/>
          <p:nvPr/>
        </p:nvSpPr>
        <p:spPr>
          <a:xfrm>
            <a:off x="6339699" y="960120"/>
            <a:ext cx="5394796" cy="5394960"/>
          </a:xfrm>
          <a:prstGeom prst="rect">
            <a:avLst/>
          </a:prstGeom>
          <a:solidFill>
            <a:srgbClr val="E2EFDA"/>
          </a:solidFill>
          <a:ln w="9525">
            <a:solidFill>
              <a:srgbClr val="9BC1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82880" rIns="182880" rtlCol="0" anchor="ctr"/>
          <a:lstStyle/>
          <a:p>
            <a:pPr algn="ctr">
              <a:spcAft>
                <a:spcPts val="900"/>
              </a:spcAft>
            </a:pPr>
            <a:r>
              <a:rPr sz="1400" b="1">
                <a:solidFill>
                  <a:srgbClr val="2E7D32"/>
                </a:solidFill>
              </a:rPr>
              <a:t>AÇIKLAMA</a:t>
            </a:r>
          </a:p>
          <a:p>
            <a:pPr>
              <a:spcAft>
                <a:spcPts val="1100"/>
              </a:spcAft>
            </a:pPr>
            <a:r>
              <a:rPr sz="1300">
                <a:solidFill>
                  <a:srgbClr val="222222"/>
                </a:solidFill>
              </a:rPr>
              <a:t>Nadir/aranan bir istasyon </a:t>
            </a:r>
            <a:r>
              <a:rPr sz="1300" i="1">
                <a:solidFill>
                  <a:srgbClr val="222222"/>
                </a:solidFill>
              </a:rPr>
              <a:t>(örn. DX veya özel bir etkinlik istasyonu)</a:t>
            </a:r>
            <a:r>
              <a:rPr sz="1300">
                <a:solidFill>
                  <a:srgbClr val="222222"/>
                </a:solidFill>
              </a:rPr>
              <a:t> çağrı yaptığında, aynı anda çok sayıda amatörün ona ulaşmaya çalışması sonucu oluşan sinyal yığılmasıdır.</a:t>
            </a:r>
          </a:p>
          <a:p>
            <a:r>
              <a:rPr sz="1100" b="1">
                <a:solidFill>
                  <a:srgbClr val="1F3864"/>
                </a:solidFill>
              </a:rPr>
              <a:t>Kaynak: </a:t>
            </a:r>
            <a:r>
              <a:rPr sz="1100" i="1">
                <a:solidFill>
                  <a:srgbClr val="404040"/>
                </a:solidFill>
              </a:rPr>
              <a:t>Genel amatör telsiz sözlüğü.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95959"/>
                </a:solidFill>
              </a:rPr>
              <a:t>İşletme — Soru 7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4008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1460175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1">
                <a:solidFill>
                  <a:srgbClr val="FFFFFF"/>
                </a:solidFill>
              </a:rPr>
              <a:t>Soru 8</a:t>
            </a:r>
            <a:r>
              <a:rPr sz="1400">
                <a:solidFill>
                  <a:srgbClr val="D6E4F0"/>
                </a:solidFill>
              </a:rPr>
              <a:t>   ·   Kısaltmalar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60120"/>
            <a:ext cx="5608179" cy="5394960"/>
          </a:xfrm>
          <a:prstGeom prst="rect">
            <a:avLst/>
          </a:prstGeom>
          <a:solidFill>
            <a:srgbClr val="F7F9FB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82880" rIns="182880" rtlCol="0" anchor="ctr"/>
          <a:lstStyle/>
          <a:p>
            <a:pPr algn="ctr">
              <a:spcAft>
                <a:spcPts val="1400"/>
              </a:spcAft>
            </a:pPr>
            <a:r>
              <a:rPr sz="1700" b="1">
                <a:solidFill>
                  <a:srgbClr val="222222"/>
                </a:solidFill>
              </a:rPr>
              <a:t>Radyo haberleşmesi yapılırken kullanılan kısaltmalardan AR kısaltması neyi ifade eder?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22222"/>
                </a:solidFill>
              </a:rPr>
              <a:t>a)  Yayın tekrarı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22222"/>
                </a:solidFill>
              </a:rPr>
              <a:t>b)  Yayın başlangıcı</a:t>
            </a:r>
          </a:p>
          <a:p>
            <a:pPr>
              <a:spcAft>
                <a:spcPts val="800"/>
              </a:spcAft>
            </a:pPr>
            <a:r>
              <a:rPr sz="1500" b="1">
                <a:solidFill>
                  <a:srgbClr val="2E7D32"/>
                </a:solidFill>
              </a:rPr>
              <a:t>c)  Yayın sonu</a:t>
            </a:r>
            <a:r>
              <a:rPr sz="1200" i="1">
                <a:solidFill>
                  <a:srgbClr val="2E7D32"/>
                </a:solidFill>
              </a:rPr>
              <a:t>   ✓ Doğru cevap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22222"/>
                </a:solidFill>
              </a:rPr>
              <a:t>d)  Genel yayın</a:t>
            </a:r>
          </a:p>
        </p:txBody>
      </p:sp>
      <p:sp>
        <p:nvSpPr>
          <p:cNvPr id="5" name="Rectangle 4"/>
          <p:cNvSpPr/>
          <p:nvPr/>
        </p:nvSpPr>
        <p:spPr>
          <a:xfrm>
            <a:off x="6339699" y="960120"/>
            <a:ext cx="5394796" cy="5394960"/>
          </a:xfrm>
          <a:prstGeom prst="rect">
            <a:avLst/>
          </a:prstGeom>
          <a:solidFill>
            <a:srgbClr val="E2EFDA"/>
          </a:solidFill>
          <a:ln w="9525">
            <a:solidFill>
              <a:srgbClr val="9BC1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82880" rIns="182880" rtlCol="0" anchor="ctr"/>
          <a:lstStyle/>
          <a:p>
            <a:pPr algn="ctr">
              <a:spcAft>
                <a:spcPts val="900"/>
              </a:spcAft>
            </a:pPr>
            <a:r>
              <a:rPr sz="1400" b="1">
                <a:solidFill>
                  <a:srgbClr val="2E7D32"/>
                </a:solidFill>
              </a:rPr>
              <a:t>AÇIKLAMA</a:t>
            </a:r>
          </a:p>
          <a:p>
            <a:pPr>
              <a:spcAft>
                <a:spcPts val="1100"/>
              </a:spcAft>
            </a:pPr>
            <a:r>
              <a:rPr sz="1300">
                <a:solidFill>
                  <a:srgbClr val="222222"/>
                </a:solidFill>
              </a:rPr>
              <a:t>AR, bir mesajın/yayının sonunu belirten prosedürel Mors işaretidir.</a:t>
            </a:r>
          </a:p>
          <a:p>
            <a:r>
              <a:rPr sz="1100" b="1">
                <a:solidFill>
                  <a:srgbClr val="1F3864"/>
                </a:solidFill>
              </a:rPr>
              <a:t>Kaynak: </a:t>
            </a:r>
            <a:r>
              <a:rPr sz="1100" i="1">
                <a:solidFill>
                  <a:srgbClr val="404040"/>
                </a:solidFill>
              </a:rPr>
              <a:t>Uluslararası prosedürel Mors işaretleri.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95959"/>
                </a:solidFill>
              </a:rPr>
              <a:t>İşletme — Soru 8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4008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1460175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1">
                <a:solidFill>
                  <a:srgbClr val="FFFFFF"/>
                </a:solidFill>
              </a:rPr>
              <a:t>Soru 9</a:t>
            </a:r>
            <a:r>
              <a:rPr sz="1400">
                <a:solidFill>
                  <a:srgbClr val="D6E4F0"/>
                </a:solidFill>
              </a:rPr>
              <a:t>   ·   Kısaltmalar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60120"/>
            <a:ext cx="5608179" cy="5394960"/>
          </a:xfrm>
          <a:prstGeom prst="rect">
            <a:avLst/>
          </a:prstGeom>
          <a:solidFill>
            <a:srgbClr val="F7F9FB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82880" rIns="182880" rtlCol="0" anchor="ctr"/>
          <a:lstStyle/>
          <a:p>
            <a:pPr algn="ctr">
              <a:spcAft>
                <a:spcPts val="1400"/>
              </a:spcAft>
            </a:pPr>
            <a:r>
              <a:rPr sz="1700" b="1">
                <a:solidFill>
                  <a:srgbClr val="222222"/>
                </a:solidFill>
              </a:rPr>
              <a:t>Radyo haberleşmesi yapılırken kullanılan kısaltmalardan CQ kısaltması ne amaçla kullanılır?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22222"/>
                </a:solidFill>
              </a:rPr>
              <a:t>a)  Yakında bulunabilecek istasyonları uyarmak için</a:t>
            </a:r>
          </a:p>
          <a:p>
            <a:pPr>
              <a:spcAft>
                <a:spcPts val="800"/>
              </a:spcAft>
            </a:pPr>
            <a:r>
              <a:rPr sz="1500" b="1">
                <a:solidFill>
                  <a:srgbClr val="2E7D32"/>
                </a:solidFill>
              </a:rPr>
              <a:t>b)  Bütün istasyonlara genel çağrı yapmak için</a:t>
            </a:r>
            <a:r>
              <a:rPr sz="1200" i="1">
                <a:solidFill>
                  <a:srgbClr val="2E7D32"/>
                </a:solidFill>
              </a:rPr>
              <a:t>   ✓ Doğru cevap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22222"/>
                </a:solidFill>
              </a:rPr>
              <a:t>c)  Yalnızca bir istasyona çağrı için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22222"/>
                </a:solidFill>
              </a:rPr>
              <a:t>d)  Karşıdaki istasyonla görüşmeyi tekrarlamak için</a:t>
            </a:r>
          </a:p>
        </p:txBody>
      </p:sp>
      <p:sp>
        <p:nvSpPr>
          <p:cNvPr id="5" name="Rectangle 4"/>
          <p:cNvSpPr/>
          <p:nvPr/>
        </p:nvSpPr>
        <p:spPr>
          <a:xfrm>
            <a:off x="6339699" y="960120"/>
            <a:ext cx="5394796" cy="5394960"/>
          </a:xfrm>
          <a:prstGeom prst="rect">
            <a:avLst/>
          </a:prstGeom>
          <a:solidFill>
            <a:srgbClr val="E2EFDA"/>
          </a:solidFill>
          <a:ln w="9525">
            <a:solidFill>
              <a:srgbClr val="9BC1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82880" rIns="182880" rtlCol="0" anchor="ctr"/>
          <a:lstStyle/>
          <a:p>
            <a:pPr algn="ctr">
              <a:spcAft>
                <a:spcPts val="900"/>
              </a:spcAft>
            </a:pPr>
            <a:r>
              <a:rPr sz="1400" b="1">
                <a:solidFill>
                  <a:srgbClr val="2E7D32"/>
                </a:solidFill>
              </a:rPr>
              <a:t>AÇIKLAMA</a:t>
            </a:r>
          </a:p>
          <a:p>
            <a:pPr>
              <a:spcAft>
                <a:spcPts val="1100"/>
              </a:spcAft>
            </a:pPr>
            <a:r>
              <a:rPr sz="1300">
                <a:solidFill>
                  <a:srgbClr val="222222"/>
                </a:solidFill>
              </a:rPr>
              <a:t>CQ, belirli bir istasyona değil, o frekansı dinleyen herkese yapılan genel çağrıdır.</a:t>
            </a:r>
          </a:p>
          <a:p>
            <a:r>
              <a:rPr sz="1100" b="1">
                <a:solidFill>
                  <a:srgbClr val="1F3864"/>
                </a:solidFill>
              </a:rPr>
              <a:t>Kaynak: </a:t>
            </a:r>
            <a:r>
              <a:rPr sz="1100" i="1">
                <a:solidFill>
                  <a:srgbClr val="404040"/>
                </a:solidFill>
              </a:rPr>
              <a:t>Genel amatör telsiz sözlüğü.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95959"/>
                </a:solidFill>
              </a:rPr>
              <a:t>İşletme — Soru 9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4008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1460175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1">
                <a:solidFill>
                  <a:srgbClr val="FFFFFF"/>
                </a:solidFill>
              </a:rPr>
              <a:t>Soru 10</a:t>
            </a:r>
            <a:r>
              <a:rPr sz="1400">
                <a:solidFill>
                  <a:srgbClr val="D6E4F0"/>
                </a:solidFill>
              </a:rPr>
              <a:t>   ·   Bant Planı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60120"/>
            <a:ext cx="5608179" cy="5394960"/>
          </a:xfrm>
          <a:prstGeom prst="rect">
            <a:avLst/>
          </a:prstGeom>
          <a:solidFill>
            <a:srgbClr val="F7F9FB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82880" rIns="182880" rtlCol="0" anchor="ctr"/>
          <a:lstStyle/>
          <a:p>
            <a:pPr algn="ctr">
              <a:spcAft>
                <a:spcPts val="1400"/>
              </a:spcAft>
            </a:pPr>
            <a:r>
              <a:rPr sz="1700" b="1">
                <a:solidFill>
                  <a:srgbClr val="222222"/>
                </a:solidFill>
              </a:rPr>
              <a:t>IARU Region-1 düzenlemesine göre aşağıdaki frekanslardan hangisinde FM modunda haberleşme yapılması hatalı olur?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22222"/>
                </a:solidFill>
              </a:rPr>
              <a:t>a)  144.425 Mhz</a:t>
            </a:r>
          </a:p>
          <a:p>
            <a:pPr>
              <a:spcAft>
                <a:spcPts val="800"/>
              </a:spcAft>
            </a:pPr>
            <a:r>
              <a:rPr sz="1500" b="1">
                <a:solidFill>
                  <a:srgbClr val="2E7D32"/>
                </a:solidFill>
              </a:rPr>
              <a:t>b)  144.010 Mhz</a:t>
            </a:r>
            <a:r>
              <a:rPr sz="1200" i="1">
                <a:solidFill>
                  <a:srgbClr val="2E7D32"/>
                </a:solidFill>
              </a:rPr>
              <a:t>   ✓ Doğru cevap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22222"/>
                </a:solidFill>
              </a:rPr>
              <a:t>c)  145.775 Mhz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22222"/>
                </a:solidFill>
              </a:rPr>
              <a:t>d)  145.250 Mhz</a:t>
            </a:r>
          </a:p>
        </p:txBody>
      </p:sp>
      <p:sp>
        <p:nvSpPr>
          <p:cNvPr id="5" name="Rectangle 4"/>
          <p:cNvSpPr/>
          <p:nvPr/>
        </p:nvSpPr>
        <p:spPr>
          <a:xfrm>
            <a:off x="6339699" y="960120"/>
            <a:ext cx="5394796" cy="5394960"/>
          </a:xfrm>
          <a:prstGeom prst="rect">
            <a:avLst/>
          </a:prstGeom>
          <a:solidFill>
            <a:srgbClr val="E2EFDA"/>
          </a:solidFill>
          <a:ln w="9525">
            <a:solidFill>
              <a:srgbClr val="9BC1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82880" rIns="182880" rtlCol="0" anchor="ctr"/>
          <a:lstStyle/>
          <a:p>
            <a:pPr algn="ctr">
              <a:spcAft>
                <a:spcPts val="900"/>
              </a:spcAft>
            </a:pPr>
            <a:r>
              <a:rPr sz="1400" b="1">
                <a:solidFill>
                  <a:srgbClr val="2E7D32"/>
                </a:solidFill>
              </a:rPr>
              <a:t>AÇIKLAMA</a:t>
            </a:r>
          </a:p>
          <a:p>
            <a:pPr>
              <a:spcAft>
                <a:spcPts val="1100"/>
              </a:spcAft>
            </a:pPr>
            <a:r>
              <a:rPr sz="1300">
                <a:solidFill>
                  <a:srgbClr val="222222"/>
                </a:solidFill>
              </a:rPr>
              <a:t>144.000-144.150 MHz segmenti IARU Region-1 bant planında yalnızca CW/zayıf-sinyal </a:t>
            </a:r>
            <a:r>
              <a:rPr sz="1300" i="1">
                <a:solidFill>
                  <a:srgbClr val="222222"/>
                </a:solidFill>
              </a:rPr>
              <a:t>(weak-signal — çok düşük güçte, hassas alıcı gerektiren)</a:t>
            </a:r>
            <a:r>
              <a:rPr sz="1300">
                <a:solidFill>
                  <a:srgbClr val="222222"/>
                </a:solidFill>
              </a:rPr>
              <a:t> modlarına ayrılmıştır; bu dar bantta FM </a:t>
            </a:r>
            <a:r>
              <a:rPr sz="1300" i="1">
                <a:solidFill>
                  <a:srgbClr val="222222"/>
                </a:solidFill>
              </a:rPr>
              <a:t>(geniş bantlı bir mod)</a:t>
            </a:r>
            <a:r>
              <a:rPr sz="1300">
                <a:solidFill>
                  <a:srgbClr val="222222"/>
                </a:solidFill>
              </a:rPr>
              <a:t> kullanmak, aynı segmentteki hassas çalışmaları bozar.</a:t>
            </a:r>
          </a:p>
          <a:p>
            <a:r>
              <a:rPr sz="1100" b="1">
                <a:solidFill>
                  <a:srgbClr val="1F3864"/>
                </a:solidFill>
              </a:rPr>
              <a:t>Kaynak: </a:t>
            </a:r>
            <a:r>
              <a:rPr sz="1100" i="1">
                <a:solidFill>
                  <a:srgbClr val="404040"/>
                </a:solidFill>
              </a:rPr>
              <a:t>IARU Region-1 amatör bant planı.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95959"/>
                </a:solidFill>
              </a:rPr>
              <a:t>İşletme — Soru 10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4008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1460175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1">
                <a:solidFill>
                  <a:srgbClr val="FFFFFF"/>
                </a:solidFill>
              </a:rPr>
              <a:t>Soru 11</a:t>
            </a:r>
            <a:r>
              <a:rPr sz="1400">
                <a:solidFill>
                  <a:srgbClr val="D6E4F0"/>
                </a:solidFill>
              </a:rPr>
              <a:t>   ·   Genel Bilgi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60120"/>
            <a:ext cx="5608179" cy="5394960"/>
          </a:xfrm>
          <a:prstGeom prst="rect">
            <a:avLst/>
          </a:prstGeom>
          <a:solidFill>
            <a:srgbClr val="F7F9FB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82880" rIns="182880" rtlCol="0" anchor="ctr"/>
          <a:lstStyle/>
          <a:p>
            <a:pPr algn="ctr">
              <a:spcAft>
                <a:spcPts val="1400"/>
              </a:spcAft>
            </a:pPr>
            <a:r>
              <a:rPr sz="1700" b="1">
                <a:solidFill>
                  <a:srgbClr val="222222"/>
                </a:solidFill>
              </a:rPr>
              <a:t>Amatör tekrarlayıcı (Repeater / Röle) istasyonları ne amaçla kullanılır?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22222"/>
                </a:solidFill>
              </a:rPr>
              <a:t>a)  İyonosferik açılımların izlenmesine olanak sağlamak amacıyla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22222"/>
                </a:solidFill>
              </a:rPr>
              <a:t>b)  Direkt haberleşme yapabilen istasyonların haberleşmesi için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22222"/>
                </a:solidFill>
              </a:rPr>
              <a:t>c)  İki ayrı frekans kullanımının haberleşmeye getirdiği esneklikten faydalanmak amacıyla</a:t>
            </a:r>
          </a:p>
          <a:p>
            <a:pPr>
              <a:spcAft>
                <a:spcPts val="800"/>
              </a:spcAft>
            </a:pPr>
            <a:r>
              <a:rPr sz="1500" b="1">
                <a:solidFill>
                  <a:srgbClr val="2E7D32"/>
                </a:solidFill>
              </a:rPr>
              <a:t>d)  Doğrudan haberleşme sağlayamayan istasyonların haberleşmesini sağlamak amacıyla</a:t>
            </a:r>
            <a:r>
              <a:rPr sz="1200" i="1">
                <a:solidFill>
                  <a:srgbClr val="2E7D32"/>
                </a:solidFill>
              </a:rPr>
              <a:t>   ✓ Doğru cevap</a:t>
            </a:r>
          </a:p>
        </p:txBody>
      </p:sp>
      <p:sp>
        <p:nvSpPr>
          <p:cNvPr id="5" name="Rectangle 4"/>
          <p:cNvSpPr/>
          <p:nvPr/>
        </p:nvSpPr>
        <p:spPr>
          <a:xfrm>
            <a:off x="6339699" y="960120"/>
            <a:ext cx="5394796" cy="5394960"/>
          </a:xfrm>
          <a:prstGeom prst="rect">
            <a:avLst/>
          </a:prstGeom>
          <a:solidFill>
            <a:srgbClr val="E2EFDA"/>
          </a:solidFill>
          <a:ln w="9525">
            <a:solidFill>
              <a:srgbClr val="9BC1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82880" rIns="182880" rtlCol="0" anchor="ctr"/>
          <a:lstStyle/>
          <a:p>
            <a:pPr algn="ctr">
              <a:spcAft>
                <a:spcPts val="900"/>
              </a:spcAft>
            </a:pPr>
            <a:r>
              <a:rPr sz="1400" b="1">
                <a:solidFill>
                  <a:srgbClr val="2E7D32"/>
                </a:solidFill>
              </a:rPr>
              <a:t>AÇIKLAMA</a:t>
            </a:r>
          </a:p>
          <a:p>
            <a:pPr>
              <a:spcAft>
                <a:spcPts val="1100"/>
              </a:spcAft>
            </a:pPr>
            <a:r>
              <a:rPr sz="1300">
                <a:solidFill>
                  <a:srgbClr val="222222"/>
                </a:solidFill>
              </a:rPr>
              <a:t>Röle, genellikle yüksek bir noktaya </a:t>
            </a:r>
            <a:r>
              <a:rPr sz="1300" i="1">
                <a:solidFill>
                  <a:srgbClr val="222222"/>
                </a:solidFill>
              </a:rPr>
              <a:t>(tepe, kule)</a:t>
            </a:r>
            <a:r>
              <a:rPr sz="1300">
                <a:solidFill>
                  <a:srgbClr val="222222"/>
                </a:solidFill>
              </a:rPr>
              <a:t> kurularak, birbirini doğrudan </a:t>
            </a:r>
            <a:r>
              <a:rPr sz="1300" i="1">
                <a:solidFill>
                  <a:srgbClr val="222222"/>
                </a:solidFill>
              </a:rPr>
              <a:t>(line-of-sight — görüş hattı ile)</a:t>
            </a:r>
            <a:r>
              <a:rPr sz="1300">
                <a:solidFill>
                  <a:srgbClr val="222222"/>
                </a:solidFill>
              </a:rPr>
              <a:t> göremeyen istasyonların sinyalini alıp güçlendirerek yeniden yayınlar; böylece menzil sorunu olan istasyonlar haberleşebilir.</a:t>
            </a:r>
          </a:p>
          <a:p>
            <a:r>
              <a:rPr sz="1100" b="1">
                <a:solidFill>
                  <a:srgbClr val="1F3864"/>
                </a:solidFill>
              </a:rPr>
              <a:t>Kaynak: </a:t>
            </a:r>
            <a:r>
              <a:rPr sz="1100" i="1">
                <a:solidFill>
                  <a:srgbClr val="404040"/>
                </a:solidFill>
              </a:rPr>
              <a:t>Genel amatör telsiz sözlüğü.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95959"/>
                </a:solidFill>
              </a:rPr>
              <a:t>İşletme — Soru 11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4008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1460175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1">
                <a:solidFill>
                  <a:srgbClr val="FFFFFF"/>
                </a:solidFill>
              </a:rPr>
              <a:t>Soru 12</a:t>
            </a:r>
            <a:r>
              <a:rPr sz="1400">
                <a:solidFill>
                  <a:srgbClr val="D6E4F0"/>
                </a:solidFill>
              </a:rPr>
              <a:t>   ·   Q-Kodları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60120"/>
            <a:ext cx="5608179" cy="5394960"/>
          </a:xfrm>
          <a:prstGeom prst="rect">
            <a:avLst/>
          </a:prstGeom>
          <a:solidFill>
            <a:srgbClr val="F7F9FB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82880" rIns="182880" rtlCol="0" anchor="ctr"/>
          <a:lstStyle/>
          <a:p>
            <a:pPr algn="ctr">
              <a:spcAft>
                <a:spcPts val="1400"/>
              </a:spcAft>
            </a:pPr>
            <a:r>
              <a:rPr sz="1700" b="1">
                <a:solidFill>
                  <a:srgbClr val="222222"/>
                </a:solidFill>
              </a:rPr>
              <a:t>Genel olarak herhangi bir frekans üzerinde göndermeye geçmeden önce hangi Q kodu kullanılır?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22222"/>
                </a:solidFill>
              </a:rPr>
              <a:t>a)  QRU</a:t>
            </a:r>
          </a:p>
          <a:p>
            <a:pPr>
              <a:spcAft>
                <a:spcPts val="800"/>
              </a:spcAft>
            </a:pPr>
            <a:r>
              <a:rPr sz="1500" b="1">
                <a:solidFill>
                  <a:srgbClr val="2E7D32"/>
                </a:solidFill>
              </a:rPr>
              <a:t>b)  QRV</a:t>
            </a:r>
            <a:r>
              <a:rPr sz="1200" i="1">
                <a:solidFill>
                  <a:srgbClr val="2E7D32"/>
                </a:solidFill>
              </a:rPr>
              <a:t>   ✓ Doğru cevap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22222"/>
                </a:solidFill>
              </a:rPr>
              <a:t>c)  QRT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22222"/>
                </a:solidFill>
              </a:rPr>
              <a:t>d)  QRZ</a:t>
            </a:r>
          </a:p>
        </p:txBody>
      </p:sp>
      <p:sp>
        <p:nvSpPr>
          <p:cNvPr id="5" name="Rectangle 4"/>
          <p:cNvSpPr/>
          <p:nvPr/>
        </p:nvSpPr>
        <p:spPr>
          <a:xfrm>
            <a:off x="6339699" y="960120"/>
            <a:ext cx="5394796" cy="5394960"/>
          </a:xfrm>
          <a:prstGeom prst="rect">
            <a:avLst/>
          </a:prstGeom>
          <a:solidFill>
            <a:srgbClr val="E2EFDA"/>
          </a:solidFill>
          <a:ln w="9525">
            <a:solidFill>
              <a:srgbClr val="9BC1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82880" rIns="182880" rtlCol="0" anchor="ctr"/>
          <a:lstStyle/>
          <a:p>
            <a:pPr algn="ctr">
              <a:spcAft>
                <a:spcPts val="900"/>
              </a:spcAft>
            </a:pPr>
            <a:r>
              <a:rPr sz="1400" b="1">
                <a:solidFill>
                  <a:srgbClr val="2E7D32"/>
                </a:solidFill>
              </a:rPr>
              <a:t>AÇIKLAMA</a:t>
            </a:r>
          </a:p>
          <a:p>
            <a:pPr>
              <a:spcAft>
                <a:spcPts val="1100"/>
              </a:spcAft>
            </a:pPr>
            <a:r>
              <a:rPr sz="1300">
                <a:solidFill>
                  <a:srgbClr val="222222"/>
                </a:solidFill>
              </a:rPr>
              <a:t>QRV, 'hazırım / göndermeye hazırım' anlamına gelir; göndermeye başlamadan önce hazır olunduğunu bildirmek için kullanılır.</a:t>
            </a:r>
          </a:p>
          <a:p>
            <a:r>
              <a:rPr sz="1100" b="1">
                <a:solidFill>
                  <a:srgbClr val="1F3864"/>
                </a:solidFill>
              </a:rPr>
              <a:t>Kaynak: </a:t>
            </a:r>
            <a:r>
              <a:rPr sz="1100" i="1">
                <a:solidFill>
                  <a:srgbClr val="404040"/>
                </a:solidFill>
              </a:rPr>
              <a:t>ITU Q-kod tablosu (uluslararası standart kısaltılmış telsiz sinyalleri).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95959"/>
                </a:solidFill>
              </a:rPr>
              <a:t>İşletme — Soru 12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4008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1460175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1">
                <a:solidFill>
                  <a:srgbClr val="FFFFFF"/>
                </a:solidFill>
              </a:rPr>
              <a:t>Soru 13</a:t>
            </a:r>
            <a:r>
              <a:rPr sz="1400">
                <a:solidFill>
                  <a:srgbClr val="D6E4F0"/>
                </a:solidFill>
              </a:rPr>
              <a:t>   ·   Bant Planı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60120"/>
            <a:ext cx="5608179" cy="5394960"/>
          </a:xfrm>
          <a:prstGeom prst="rect">
            <a:avLst/>
          </a:prstGeom>
          <a:solidFill>
            <a:srgbClr val="F7F9FB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82880" rIns="182880" rtlCol="0" anchor="ctr"/>
          <a:lstStyle/>
          <a:p>
            <a:pPr algn="ctr">
              <a:spcAft>
                <a:spcPts val="1400"/>
              </a:spcAft>
            </a:pPr>
            <a:r>
              <a:rPr sz="1700" b="1">
                <a:solidFill>
                  <a:srgbClr val="222222"/>
                </a:solidFill>
              </a:rPr>
              <a:t>144.0 – 144.1 Mhz'de sınırlandırılmış bantta hangi yayın modlarına izin verilir?</a:t>
            </a:r>
          </a:p>
          <a:p>
            <a:pPr>
              <a:spcAft>
                <a:spcPts val="800"/>
              </a:spcAft>
            </a:pPr>
            <a:r>
              <a:rPr sz="1500" b="1">
                <a:solidFill>
                  <a:srgbClr val="2E7D32"/>
                </a:solidFill>
              </a:rPr>
              <a:t>a)  Yalnızca CW</a:t>
            </a:r>
            <a:r>
              <a:rPr sz="1200" i="1">
                <a:solidFill>
                  <a:srgbClr val="2E7D32"/>
                </a:solidFill>
              </a:rPr>
              <a:t>   ✓ Doğru cevap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22222"/>
                </a:solidFill>
              </a:rPr>
              <a:t>b)  CW ve RTTY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22222"/>
                </a:solidFill>
              </a:rPr>
              <a:t>c)  Yalnızca SSB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22222"/>
                </a:solidFill>
              </a:rPr>
              <a:t>d)  CW ve SSB</a:t>
            </a:r>
          </a:p>
        </p:txBody>
      </p:sp>
      <p:sp>
        <p:nvSpPr>
          <p:cNvPr id="5" name="Rectangle 4"/>
          <p:cNvSpPr/>
          <p:nvPr/>
        </p:nvSpPr>
        <p:spPr>
          <a:xfrm>
            <a:off x="6339699" y="960120"/>
            <a:ext cx="5394796" cy="5394960"/>
          </a:xfrm>
          <a:prstGeom prst="rect">
            <a:avLst/>
          </a:prstGeom>
          <a:solidFill>
            <a:srgbClr val="E2EFDA"/>
          </a:solidFill>
          <a:ln w="9525">
            <a:solidFill>
              <a:srgbClr val="9BC1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82880" rIns="182880" rtlCol="0" anchor="ctr"/>
          <a:lstStyle/>
          <a:p>
            <a:pPr algn="ctr">
              <a:spcAft>
                <a:spcPts val="900"/>
              </a:spcAft>
            </a:pPr>
            <a:r>
              <a:rPr sz="1400" b="1">
                <a:solidFill>
                  <a:srgbClr val="2E7D32"/>
                </a:solidFill>
              </a:rPr>
              <a:t>AÇIKLAMA</a:t>
            </a:r>
          </a:p>
          <a:p>
            <a:pPr>
              <a:spcAft>
                <a:spcPts val="1100"/>
              </a:spcAft>
            </a:pPr>
            <a:r>
              <a:rPr sz="1300">
                <a:solidFill>
                  <a:srgbClr val="222222"/>
                </a:solidFill>
              </a:rPr>
              <a:t>2 metre bandının en altındaki bu dar segment, dünya çapında CW ve zayıf-sinyal çalışmalarına ayrılmıştır; başka mod kullanılmaz.</a:t>
            </a:r>
          </a:p>
          <a:p>
            <a:r>
              <a:rPr sz="1100" b="1">
                <a:solidFill>
                  <a:srgbClr val="1F3864"/>
                </a:solidFill>
              </a:rPr>
              <a:t>Kaynak: </a:t>
            </a:r>
            <a:r>
              <a:rPr sz="1100" i="1">
                <a:solidFill>
                  <a:srgbClr val="404040"/>
                </a:solidFill>
              </a:rPr>
              <a:t>IARU Region-1 amatör bant planı.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95959"/>
                </a:solidFill>
              </a:rPr>
              <a:t>İşletme — Soru 13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772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FFFFFF"/>
                </a:solidFill>
              </a:rPr>
              <a:t>BÖLÜM 2: Mors İşletme Kuralları ve Çağrı İşareti Bölgeleri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911535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300"/>
              </a:spcAft>
            </a:pPr>
            <a:r>
              <a:rPr sz="1700">
                <a:solidFill>
                  <a:srgbClr val="222222"/>
                </a:solidFill>
              </a:rPr>
              <a:t>•  CW </a:t>
            </a:r>
            <a:r>
              <a:rPr sz="1700" i="1">
                <a:solidFill>
                  <a:srgbClr val="222222"/>
                </a:solidFill>
              </a:rPr>
              <a:t>(Mors)</a:t>
            </a:r>
            <a:r>
              <a:rPr sz="1700">
                <a:solidFill>
                  <a:srgbClr val="222222"/>
                </a:solidFill>
              </a:rPr>
              <a:t> haberleşmesinde gönderim hızı, karşı operatörün alma becerisine göre ayarlanır — kendi hızınıza göre değil.</a:t>
            </a:r>
          </a:p>
          <a:p>
            <a:pPr>
              <a:spcAft>
                <a:spcPts val="1300"/>
              </a:spcAft>
            </a:pPr>
            <a:r>
              <a:rPr sz="1700">
                <a:solidFill>
                  <a:srgbClr val="222222"/>
                </a:solidFill>
              </a:rPr>
              <a:t>•  Uluslararası tehlike çağrısı MAYDAY </a:t>
            </a:r>
            <a:r>
              <a:rPr sz="1700" i="1">
                <a:solidFill>
                  <a:srgbClr val="222222"/>
                </a:solidFill>
              </a:rPr>
              <a:t>(sesli)</a:t>
            </a:r>
            <a:r>
              <a:rPr sz="1700">
                <a:solidFill>
                  <a:srgbClr val="222222"/>
                </a:solidFill>
              </a:rPr>
              <a:t> / SOS </a:t>
            </a:r>
            <a:r>
              <a:rPr sz="1700" i="1">
                <a:solidFill>
                  <a:srgbClr val="222222"/>
                </a:solidFill>
              </a:rPr>
              <a:t>(Mors)</a:t>
            </a:r>
            <a:r>
              <a:rPr sz="1700">
                <a:solidFill>
                  <a:srgbClr val="222222"/>
                </a:solidFill>
              </a:rPr>
              <a:t> ile başlar; bunlar diğer tüm trafiğin önüne geçer.</a:t>
            </a:r>
          </a:p>
          <a:p>
            <a:pPr>
              <a:spcAft>
                <a:spcPts val="1300"/>
              </a:spcAft>
            </a:pPr>
            <a:r>
              <a:rPr sz="1700">
                <a:solidFill>
                  <a:srgbClr val="222222"/>
                </a:solidFill>
              </a:rPr>
              <a:t>•  Çağrı işaretindeki bölge numarası, istasyonun bulunduğu coğrafi bölgeyi </a:t>
            </a:r>
            <a:r>
              <a:rPr sz="1700" i="1">
                <a:solidFill>
                  <a:srgbClr val="222222"/>
                </a:solidFill>
              </a:rPr>
              <a:t>(il grubunu)</a:t>
            </a:r>
            <a:r>
              <a:rPr sz="1700">
                <a:solidFill>
                  <a:srgbClr val="222222"/>
                </a:solidFill>
              </a:rPr>
              <a:t> gösterir.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5623560"/>
            <a:ext cx="10911535" cy="914400"/>
          </a:xfrm>
          <a:prstGeom prst="rect">
            <a:avLst/>
          </a:prstGeom>
          <a:solidFill>
            <a:srgbClr val="D6E4F0"/>
          </a:solidFill>
          <a:ln>
            <a:solidFill>
              <a:srgbClr val="2E75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tlCol="0" anchor="ctr"/>
          <a:lstStyle/>
          <a:p>
            <a:pPr algn="ctr"/>
            <a:r>
              <a:rPr sz="1300" b="1">
                <a:solidFill>
                  <a:srgbClr val="1F3864"/>
                </a:solidFill>
              </a:rPr>
              <a:t>Bu bölümün kaynağı: </a:t>
            </a:r>
            <a:r>
              <a:rPr sz="1300">
                <a:solidFill>
                  <a:srgbClr val="222222"/>
                </a:solidFill>
              </a:rPr>
              <a:t>Uluslararası CW işletme kuralları; ITU tehlike/acil durum prosedürleri; çağrı işareti bölge listesi.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95959"/>
                </a:solidFill>
              </a:rPr>
              <a:t>İşletme — Bölüm 2 Girişi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4008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1460175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1">
                <a:solidFill>
                  <a:srgbClr val="FFFFFF"/>
                </a:solidFill>
              </a:rPr>
              <a:t>Soru 14</a:t>
            </a:r>
            <a:r>
              <a:rPr sz="1400">
                <a:solidFill>
                  <a:srgbClr val="D6E4F0"/>
                </a:solidFill>
              </a:rPr>
              <a:t>   ·   Mors İşletme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60120"/>
            <a:ext cx="5608179" cy="5394960"/>
          </a:xfrm>
          <a:prstGeom prst="rect">
            <a:avLst/>
          </a:prstGeom>
          <a:solidFill>
            <a:srgbClr val="F7F9FB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82880" rIns="182880" rtlCol="0" anchor="ctr"/>
          <a:lstStyle/>
          <a:p>
            <a:pPr algn="ctr">
              <a:spcAft>
                <a:spcPts val="1400"/>
              </a:spcAft>
            </a:pPr>
            <a:r>
              <a:rPr sz="1700" b="1">
                <a:solidFill>
                  <a:srgbClr val="222222"/>
                </a:solidFill>
              </a:rPr>
              <a:t>Bir telsiz operatörü CW modunda gönderme yaparken aşağıdakilerden hangisine dikkat etmelidir?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22222"/>
                </a:solidFill>
              </a:rPr>
              <a:t>a)  Haberi kendi becerisine göre bir hızla gönderir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22222"/>
                </a:solidFill>
              </a:rPr>
              <a:t>b)  Uluslararası kurala göre 18 grup üzerinden gönderir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22222"/>
                </a:solidFill>
              </a:rPr>
              <a:t>c)  Ortalama 12 grup üzerinden gönderir</a:t>
            </a:r>
          </a:p>
          <a:p>
            <a:pPr>
              <a:spcAft>
                <a:spcPts val="800"/>
              </a:spcAft>
            </a:pPr>
            <a:r>
              <a:rPr sz="1500" b="1">
                <a:solidFill>
                  <a:srgbClr val="2E7D32"/>
                </a:solidFill>
              </a:rPr>
              <a:t>d)  Karşısındaki operatörün alma becerisine göre gönderir</a:t>
            </a:r>
            <a:r>
              <a:rPr sz="1200" i="1">
                <a:solidFill>
                  <a:srgbClr val="2E7D32"/>
                </a:solidFill>
              </a:rPr>
              <a:t>   ✓ Doğru cevap</a:t>
            </a:r>
          </a:p>
        </p:txBody>
      </p:sp>
      <p:sp>
        <p:nvSpPr>
          <p:cNvPr id="5" name="Rectangle 4"/>
          <p:cNvSpPr/>
          <p:nvPr/>
        </p:nvSpPr>
        <p:spPr>
          <a:xfrm>
            <a:off x="6339699" y="960120"/>
            <a:ext cx="5394796" cy="5394960"/>
          </a:xfrm>
          <a:prstGeom prst="rect">
            <a:avLst/>
          </a:prstGeom>
          <a:solidFill>
            <a:srgbClr val="E2EFDA"/>
          </a:solidFill>
          <a:ln w="9525">
            <a:solidFill>
              <a:srgbClr val="9BC1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82880" rIns="182880" rtlCol="0" anchor="ctr"/>
          <a:lstStyle/>
          <a:p>
            <a:pPr algn="ctr">
              <a:spcAft>
                <a:spcPts val="900"/>
              </a:spcAft>
            </a:pPr>
            <a:r>
              <a:rPr sz="1400" b="1">
                <a:solidFill>
                  <a:srgbClr val="2E7D32"/>
                </a:solidFill>
              </a:rPr>
              <a:t>AÇIKLAMA</a:t>
            </a:r>
          </a:p>
          <a:p>
            <a:pPr>
              <a:spcAft>
                <a:spcPts val="1100"/>
              </a:spcAft>
            </a:pPr>
            <a:r>
              <a:rPr sz="1300">
                <a:solidFill>
                  <a:srgbClr val="222222"/>
                </a:solidFill>
              </a:rPr>
              <a:t>İyi CW işletme kuralı, karşı operatörün rahatça takip edebileceği bir hızda göndermektir; kendi hızına göre göndermek karşı tarafı zorlayabilir.</a:t>
            </a:r>
          </a:p>
          <a:p>
            <a:r>
              <a:rPr sz="1100" b="1">
                <a:solidFill>
                  <a:srgbClr val="1F3864"/>
                </a:solidFill>
              </a:rPr>
              <a:t>Kaynak: </a:t>
            </a:r>
            <a:r>
              <a:rPr sz="1100" i="1">
                <a:solidFill>
                  <a:srgbClr val="404040"/>
                </a:solidFill>
              </a:rPr>
              <a:t>Uluslararası CW işletme adabı.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95959"/>
                </a:solidFill>
              </a:rPr>
              <a:t>İşletme — Soru 14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4008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1460175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1">
                <a:solidFill>
                  <a:srgbClr val="FFFFFF"/>
                </a:solidFill>
              </a:rPr>
              <a:t>Soru 15</a:t>
            </a:r>
            <a:r>
              <a:rPr sz="1400">
                <a:solidFill>
                  <a:srgbClr val="D6E4F0"/>
                </a:solidFill>
              </a:rPr>
              <a:t>   ·   Q-Kodları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60120"/>
            <a:ext cx="5608179" cy="5394960"/>
          </a:xfrm>
          <a:prstGeom prst="rect">
            <a:avLst/>
          </a:prstGeom>
          <a:solidFill>
            <a:srgbClr val="F7F9FB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82880" rIns="182880" rtlCol="0" anchor="ctr"/>
          <a:lstStyle/>
          <a:p>
            <a:pPr algn="ctr">
              <a:spcAft>
                <a:spcPts val="1400"/>
              </a:spcAft>
            </a:pPr>
            <a:r>
              <a:rPr sz="1700" b="1">
                <a:solidFill>
                  <a:srgbClr val="222222"/>
                </a:solidFill>
              </a:rPr>
              <a:t>QRS kodunun anlamı nedir?</a:t>
            </a:r>
          </a:p>
          <a:p>
            <a:pPr>
              <a:spcAft>
                <a:spcPts val="800"/>
              </a:spcAft>
            </a:pPr>
            <a:r>
              <a:rPr sz="1500" b="1">
                <a:solidFill>
                  <a:srgbClr val="2E7D32"/>
                </a:solidFill>
              </a:rPr>
              <a:t>a)  Daha yavaş gönderiniz</a:t>
            </a:r>
            <a:r>
              <a:rPr sz="1200" i="1">
                <a:solidFill>
                  <a:srgbClr val="2E7D32"/>
                </a:solidFill>
              </a:rPr>
              <a:t>   ✓ Doğru cevap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22222"/>
                </a:solidFill>
              </a:rPr>
              <a:t>b)  Daha hızlı gönderiniz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22222"/>
                </a:solidFill>
              </a:rPr>
              <a:t>c)  RST raporu gönderiniz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22222"/>
                </a:solidFill>
              </a:rPr>
              <a:t>d)  İstediğiniz şekilde gönderiniz</a:t>
            </a:r>
          </a:p>
        </p:txBody>
      </p:sp>
      <p:sp>
        <p:nvSpPr>
          <p:cNvPr id="5" name="Rectangle 4"/>
          <p:cNvSpPr/>
          <p:nvPr/>
        </p:nvSpPr>
        <p:spPr>
          <a:xfrm>
            <a:off x="6339699" y="960120"/>
            <a:ext cx="5394796" cy="5394960"/>
          </a:xfrm>
          <a:prstGeom prst="rect">
            <a:avLst/>
          </a:prstGeom>
          <a:solidFill>
            <a:srgbClr val="E2EFDA"/>
          </a:solidFill>
          <a:ln w="9525">
            <a:solidFill>
              <a:srgbClr val="9BC1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82880" rIns="182880" rtlCol="0" anchor="ctr"/>
          <a:lstStyle/>
          <a:p>
            <a:pPr algn="ctr">
              <a:spcAft>
                <a:spcPts val="900"/>
              </a:spcAft>
            </a:pPr>
            <a:r>
              <a:rPr sz="1400" b="1">
                <a:solidFill>
                  <a:srgbClr val="2E7D32"/>
                </a:solidFill>
              </a:rPr>
              <a:t>AÇIKLAMA</a:t>
            </a:r>
          </a:p>
          <a:p>
            <a:pPr>
              <a:spcAft>
                <a:spcPts val="1100"/>
              </a:spcAft>
            </a:pPr>
            <a:r>
              <a:rPr sz="1300">
                <a:solidFill>
                  <a:srgbClr val="222222"/>
                </a:solidFill>
              </a:rPr>
              <a:t>QRS, karşı istasyondan gönderim hızını düşürmesini rica etmek için kullanılır </a:t>
            </a:r>
            <a:r>
              <a:rPr sz="1300" i="1">
                <a:solidFill>
                  <a:srgbClr val="222222"/>
                </a:solidFill>
              </a:rPr>
              <a:t>(QRQ ise tam tersi — daha hızlı gönderilmesini ister)</a:t>
            </a:r>
            <a:r>
              <a:rPr sz="1300">
                <a:solidFill>
                  <a:srgbClr val="222222"/>
                </a:solidFill>
              </a:rPr>
              <a:t>.</a:t>
            </a:r>
          </a:p>
          <a:p>
            <a:r>
              <a:rPr sz="1100" b="1">
                <a:solidFill>
                  <a:srgbClr val="1F3864"/>
                </a:solidFill>
              </a:rPr>
              <a:t>Kaynak: </a:t>
            </a:r>
            <a:r>
              <a:rPr sz="1100" i="1">
                <a:solidFill>
                  <a:srgbClr val="404040"/>
                </a:solidFill>
              </a:rPr>
              <a:t>ITU Q-kod tablosu (uluslararası standart kısaltılmış telsiz sinyalleri).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95959"/>
                </a:solidFill>
              </a:rPr>
              <a:t>İşletme — Soru 15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4008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1460175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1">
                <a:solidFill>
                  <a:srgbClr val="FFFFFF"/>
                </a:solidFill>
              </a:rPr>
              <a:t>Soru 16</a:t>
            </a:r>
            <a:r>
              <a:rPr sz="1400">
                <a:solidFill>
                  <a:srgbClr val="D6E4F0"/>
                </a:solidFill>
              </a:rPr>
              <a:t>   ·   Fonetik Alfabe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60120"/>
            <a:ext cx="5608179" cy="5394960"/>
          </a:xfrm>
          <a:prstGeom prst="rect">
            <a:avLst/>
          </a:prstGeom>
          <a:solidFill>
            <a:srgbClr val="F7F9FB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82880" rIns="182880" rtlCol="0" anchor="ctr"/>
          <a:lstStyle/>
          <a:p>
            <a:pPr algn="ctr">
              <a:spcAft>
                <a:spcPts val="1400"/>
              </a:spcAft>
            </a:pPr>
            <a:r>
              <a:rPr sz="1700" b="1">
                <a:solidFill>
                  <a:srgbClr val="222222"/>
                </a:solidFill>
              </a:rPr>
              <a:t>Uluslararası fonetik alfabeye göre AE6JTK'nın hecelemesi ne şekilde yapılır?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22222"/>
                </a:solidFill>
              </a:rPr>
              <a:t>a)  Alpha, Echo, Six, Juliet, Ticket, Kilo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22222"/>
                </a:solidFill>
              </a:rPr>
              <a:t>b)  Alpha, Echo, Seven, January, Tango, Kilo</a:t>
            </a:r>
          </a:p>
          <a:p>
            <a:pPr>
              <a:spcAft>
                <a:spcPts val="800"/>
              </a:spcAft>
            </a:pPr>
            <a:r>
              <a:rPr sz="1500" b="1">
                <a:solidFill>
                  <a:srgbClr val="2E7D32"/>
                </a:solidFill>
              </a:rPr>
              <a:t>c)  Alpha, Echo, Six, Juliet, Tango, Kilo</a:t>
            </a:r>
            <a:r>
              <a:rPr sz="1200" i="1">
                <a:solidFill>
                  <a:srgbClr val="2E7D32"/>
                </a:solidFill>
              </a:rPr>
              <a:t>   ✓ Doğru cevap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22222"/>
                </a:solidFill>
              </a:rPr>
              <a:t>d)  Alpha, Echo, Six, January, Ticket, Kilo</a:t>
            </a:r>
          </a:p>
        </p:txBody>
      </p:sp>
      <p:sp>
        <p:nvSpPr>
          <p:cNvPr id="5" name="Rectangle 4"/>
          <p:cNvSpPr/>
          <p:nvPr/>
        </p:nvSpPr>
        <p:spPr>
          <a:xfrm>
            <a:off x="6339699" y="960120"/>
            <a:ext cx="5394796" cy="5394960"/>
          </a:xfrm>
          <a:prstGeom prst="rect">
            <a:avLst/>
          </a:prstGeom>
          <a:solidFill>
            <a:srgbClr val="E2EFDA"/>
          </a:solidFill>
          <a:ln w="9525">
            <a:solidFill>
              <a:srgbClr val="9BC1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82880" rIns="182880" rtlCol="0" anchor="ctr"/>
          <a:lstStyle/>
          <a:p>
            <a:pPr algn="ctr">
              <a:spcAft>
                <a:spcPts val="900"/>
              </a:spcAft>
            </a:pPr>
            <a:r>
              <a:rPr sz="1400" b="1">
                <a:solidFill>
                  <a:srgbClr val="2E7D32"/>
                </a:solidFill>
              </a:rPr>
              <a:t>AÇIKLAMA</a:t>
            </a:r>
          </a:p>
          <a:p>
            <a:pPr>
              <a:spcAft>
                <a:spcPts val="1100"/>
              </a:spcAft>
            </a:pPr>
            <a:r>
              <a:rPr sz="1300">
                <a:solidFill>
                  <a:srgbClr val="222222"/>
                </a:solidFill>
              </a:rPr>
              <a:t>Her harf ve rakam, NATO/uluslararası fonetik alfabedeki karşılığıyla okunur: A=Alpha, E=Echo, 6=Six, J=Juliet, T=Tango, K=Kilo.</a:t>
            </a:r>
          </a:p>
          <a:p>
            <a:r>
              <a:rPr sz="1100" b="1">
                <a:solidFill>
                  <a:srgbClr val="1F3864"/>
                </a:solidFill>
              </a:rPr>
              <a:t>Kaynak: </a:t>
            </a:r>
            <a:r>
              <a:rPr sz="1100" i="1">
                <a:solidFill>
                  <a:srgbClr val="404040"/>
                </a:solidFill>
              </a:rPr>
              <a:t>NATO/Uluslararası fonetik alfabe ve KEGM ulusal (il adı) fonetik alfabesi.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95959"/>
                </a:solidFill>
              </a:rPr>
              <a:t>İşletme — Soru 16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4008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1460175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1">
                <a:solidFill>
                  <a:srgbClr val="FFFFFF"/>
                </a:solidFill>
              </a:rPr>
              <a:t>Soru 17</a:t>
            </a:r>
            <a:r>
              <a:rPr sz="1400">
                <a:solidFill>
                  <a:srgbClr val="D6E4F0"/>
                </a:solidFill>
              </a:rPr>
              <a:t>   ·   Acil Durum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60120"/>
            <a:ext cx="5608179" cy="5394960"/>
          </a:xfrm>
          <a:prstGeom prst="rect">
            <a:avLst/>
          </a:prstGeom>
          <a:solidFill>
            <a:srgbClr val="F7F9FB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82880" rIns="182880" rtlCol="0" anchor="ctr"/>
          <a:lstStyle/>
          <a:p>
            <a:pPr algn="ctr">
              <a:spcAft>
                <a:spcPts val="1400"/>
              </a:spcAft>
            </a:pPr>
            <a:r>
              <a:rPr sz="1700" b="1">
                <a:solidFill>
                  <a:srgbClr val="222222"/>
                </a:solidFill>
              </a:rPr>
              <a:t>Telsiz telefon haberleşmesinde uluslararası kurallara göre tehlike anında yapılan çağrı aşağıdakilerden hangisi ile başlamaktadır?</a:t>
            </a:r>
          </a:p>
          <a:p>
            <a:pPr>
              <a:spcAft>
                <a:spcPts val="800"/>
              </a:spcAft>
            </a:pPr>
            <a:r>
              <a:rPr sz="1500" b="1">
                <a:solidFill>
                  <a:srgbClr val="2E7D32"/>
                </a:solidFill>
              </a:rPr>
              <a:t>a)  Mayday</a:t>
            </a:r>
            <a:r>
              <a:rPr sz="1200" i="1">
                <a:solidFill>
                  <a:srgbClr val="2E7D32"/>
                </a:solidFill>
              </a:rPr>
              <a:t>   ✓ Doğru cevap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22222"/>
                </a:solidFill>
              </a:rPr>
              <a:t>b)  SOS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22222"/>
                </a:solidFill>
              </a:rPr>
              <a:t>c)  Help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22222"/>
                </a:solidFill>
              </a:rPr>
              <a:t>d)  CQ</a:t>
            </a:r>
          </a:p>
        </p:txBody>
      </p:sp>
      <p:sp>
        <p:nvSpPr>
          <p:cNvPr id="5" name="Rectangle 4"/>
          <p:cNvSpPr/>
          <p:nvPr/>
        </p:nvSpPr>
        <p:spPr>
          <a:xfrm>
            <a:off x="6339699" y="960120"/>
            <a:ext cx="5394796" cy="5394960"/>
          </a:xfrm>
          <a:prstGeom prst="rect">
            <a:avLst/>
          </a:prstGeom>
          <a:solidFill>
            <a:srgbClr val="E2EFDA"/>
          </a:solidFill>
          <a:ln w="9525">
            <a:solidFill>
              <a:srgbClr val="9BC1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82880" rIns="182880" rtlCol="0" anchor="ctr"/>
          <a:lstStyle/>
          <a:p>
            <a:pPr algn="ctr">
              <a:spcAft>
                <a:spcPts val="900"/>
              </a:spcAft>
            </a:pPr>
            <a:r>
              <a:rPr sz="1400" b="1">
                <a:solidFill>
                  <a:srgbClr val="2E7D32"/>
                </a:solidFill>
              </a:rPr>
              <a:t>AÇIKLAMA</a:t>
            </a:r>
          </a:p>
          <a:p>
            <a:pPr>
              <a:spcAft>
                <a:spcPts val="1100"/>
              </a:spcAft>
            </a:pPr>
            <a:r>
              <a:rPr sz="1300">
                <a:solidFill>
                  <a:srgbClr val="222222"/>
                </a:solidFill>
              </a:rPr>
              <a:t>Sesli </a:t>
            </a:r>
            <a:r>
              <a:rPr sz="1300" i="1">
                <a:solidFill>
                  <a:srgbClr val="222222"/>
                </a:solidFill>
              </a:rPr>
              <a:t>(telefon)</a:t>
            </a:r>
            <a:r>
              <a:rPr sz="1300">
                <a:solidFill>
                  <a:srgbClr val="222222"/>
                </a:solidFill>
              </a:rPr>
              <a:t> haberleşmede uluslararası tehlike çağrısı MAYDAY'dir; SOS ise Mors </a:t>
            </a:r>
            <a:r>
              <a:rPr sz="1300" i="1">
                <a:solidFill>
                  <a:srgbClr val="222222"/>
                </a:solidFill>
              </a:rPr>
              <a:t>(CW)</a:t>
            </a:r>
            <a:r>
              <a:rPr sz="1300">
                <a:solidFill>
                  <a:srgbClr val="222222"/>
                </a:solidFill>
              </a:rPr>
              <a:t> haberleşmesinde kullanılan eşdeğer tehlike sinyalidir.</a:t>
            </a:r>
          </a:p>
          <a:p>
            <a:r>
              <a:rPr sz="1100" b="1">
                <a:solidFill>
                  <a:srgbClr val="1F3864"/>
                </a:solidFill>
              </a:rPr>
              <a:t>Kaynak: </a:t>
            </a:r>
            <a:r>
              <a:rPr sz="1100" i="1">
                <a:solidFill>
                  <a:srgbClr val="404040"/>
                </a:solidFill>
              </a:rPr>
              <a:t>ITU acil durum işletme kuralları.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95959"/>
                </a:solidFill>
              </a:rPr>
              <a:t>İşletme — Soru 17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4008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1460175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1">
                <a:solidFill>
                  <a:srgbClr val="FFFFFF"/>
                </a:solidFill>
              </a:rPr>
              <a:t>Soru 18</a:t>
            </a:r>
            <a:r>
              <a:rPr sz="1400">
                <a:solidFill>
                  <a:srgbClr val="D6E4F0"/>
                </a:solidFill>
              </a:rPr>
              <a:t>   ·   Zaman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60120"/>
            <a:ext cx="5608179" cy="5394960"/>
          </a:xfrm>
          <a:prstGeom prst="rect">
            <a:avLst/>
          </a:prstGeom>
          <a:solidFill>
            <a:srgbClr val="F7F9FB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82880" rIns="182880" rtlCol="0" anchor="ctr"/>
          <a:lstStyle/>
          <a:p>
            <a:pPr algn="ctr">
              <a:spcAft>
                <a:spcPts val="1400"/>
              </a:spcAft>
            </a:pPr>
            <a:r>
              <a:rPr sz="1700" b="1">
                <a:solidFill>
                  <a:srgbClr val="222222"/>
                </a:solidFill>
              </a:rPr>
              <a:t>Uluslararası amatör radyo haberleşmelerinde hangi uluslararası saat sistemi kullanılır?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22222"/>
                </a:solidFill>
              </a:rPr>
              <a:t>a)  USC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22222"/>
                </a:solidFill>
              </a:rPr>
              <a:t>b)  EST</a:t>
            </a:r>
          </a:p>
          <a:p>
            <a:pPr>
              <a:spcAft>
                <a:spcPts val="800"/>
              </a:spcAft>
            </a:pPr>
            <a:r>
              <a:rPr sz="1500" b="1">
                <a:solidFill>
                  <a:srgbClr val="2E7D32"/>
                </a:solidFill>
              </a:rPr>
              <a:t>c)  UTC</a:t>
            </a:r>
            <a:r>
              <a:rPr sz="1200" i="1">
                <a:solidFill>
                  <a:srgbClr val="2E7D32"/>
                </a:solidFill>
              </a:rPr>
              <a:t>   ✓ Doğru cevap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22222"/>
                </a:solidFill>
              </a:rPr>
              <a:t>d)  Yerel saat</a:t>
            </a:r>
          </a:p>
        </p:txBody>
      </p:sp>
      <p:sp>
        <p:nvSpPr>
          <p:cNvPr id="5" name="Rectangle 4"/>
          <p:cNvSpPr/>
          <p:nvPr/>
        </p:nvSpPr>
        <p:spPr>
          <a:xfrm>
            <a:off x="6339699" y="960120"/>
            <a:ext cx="5394796" cy="5394960"/>
          </a:xfrm>
          <a:prstGeom prst="rect">
            <a:avLst/>
          </a:prstGeom>
          <a:solidFill>
            <a:srgbClr val="E2EFDA"/>
          </a:solidFill>
          <a:ln w="9525">
            <a:solidFill>
              <a:srgbClr val="9BC1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82880" rIns="182880" rtlCol="0" anchor="ctr"/>
          <a:lstStyle/>
          <a:p>
            <a:pPr algn="ctr">
              <a:spcAft>
                <a:spcPts val="900"/>
              </a:spcAft>
            </a:pPr>
            <a:r>
              <a:rPr sz="1400" b="1">
                <a:solidFill>
                  <a:srgbClr val="2E7D32"/>
                </a:solidFill>
              </a:rPr>
              <a:t>AÇIKLAMA</a:t>
            </a:r>
          </a:p>
          <a:p>
            <a:pPr>
              <a:spcAft>
                <a:spcPts val="1100"/>
              </a:spcAft>
            </a:pPr>
            <a:r>
              <a:rPr sz="1300">
                <a:solidFill>
                  <a:srgbClr val="222222"/>
                </a:solidFill>
              </a:rPr>
              <a:t>UTC </a:t>
            </a:r>
            <a:r>
              <a:rPr sz="1300" i="1">
                <a:solidFill>
                  <a:srgbClr val="222222"/>
                </a:solidFill>
              </a:rPr>
              <a:t>(Coordinated Universal Time)</a:t>
            </a:r>
            <a:r>
              <a:rPr sz="1300">
                <a:solidFill>
                  <a:srgbClr val="222222"/>
                </a:solidFill>
              </a:rPr>
              <a:t>, zaman dilimi farkı olmadan dünya çapında ortak referans olarak kullanılan saattir; loglarda ve DX haberleşmesinde standarttır.</a:t>
            </a:r>
          </a:p>
          <a:p>
            <a:r>
              <a:rPr sz="1100" b="1">
                <a:solidFill>
                  <a:srgbClr val="1F3864"/>
                </a:solidFill>
              </a:rPr>
              <a:t>Kaynak: </a:t>
            </a:r>
            <a:r>
              <a:rPr sz="1100" i="1">
                <a:solidFill>
                  <a:srgbClr val="404040"/>
                </a:solidFill>
              </a:rPr>
              <a:t>UTC standardı.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95959"/>
                </a:solidFill>
              </a:rPr>
              <a:t>İşletme — Soru 18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4008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1460175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1">
                <a:solidFill>
                  <a:srgbClr val="FFFFFF"/>
                </a:solidFill>
              </a:rPr>
              <a:t>Soru 19</a:t>
            </a:r>
            <a:r>
              <a:rPr sz="1400">
                <a:solidFill>
                  <a:srgbClr val="D6E4F0"/>
                </a:solidFill>
              </a:rPr>
              <a:t>   ·   Genel Bilgi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60120"/>
            <a:ext cx="5608179" cy="5394960"/>
          </a:xfrm>
          <a:prstGeom prst="rect">
            <a:avLst/>
          </a:prstGeom>
          <a:solidFill>
            <a:srgbClr val="F7F9FB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82880" rIns="182880" rtlCol="0" anchor="ctr"/>
          <a:lstStyle/>
          <a:p>
            <a:pPr algn="ctr">
              <a:spcAft>
                <a:spcPts val="1400"/>
              </a:spcAft>
            </a:pPr>
            <a:r>
              <a:rPr sz="1700" b="1">
                <a:solidFill>
                  <a:srgbClr val="222222"/>
                </a:solidFill>
              </a:rPr>
              <a:t>Simplex çalışma sisteminde, aynı anda: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22222"/>
                </a:solidFill>
              </a:rPr>
              <a:t>a)  Tek frekans kullanılır, haberleşme çift yönlüdür</a:t>
            </a:r>
          </a:p>
          <a:p>
            <a:pPr>
              <a:spcAft>
                <a:spcPts val="800"/>
              </a:spcAft>
            </a:pPr>
            <a:r>
              <a:rPr sz="1500" b="1">
                <a:solidFill>
                  <a:srgbClr val="2E7D32"/>
                </a:solidFill>
              </a:rPr>
              <a:t>b)  Tek frekans kullanılır, haberleşme tek yönlüdür</a:t>
            </a:r>
            <a:r>
              <a:rPr sz="1200" i="1">
                <a:solidFill>
                  <a:srgbClr val="2E7D32"/>
                </a:solidFill>
              </a:rPr>
              <a:t>   ✓ Doğru cevap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22222"/>
                </a:solidFill>
              </a:rPr>
              <a:t>c)  Çift frekans kullanılır, haberleşme tek yönlüdür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22222"/>
                </a:solidFill>
              </a:rPr>
              <a:t>d)  Çift frekans kullanılır, haberleşme çift yönlüdür</a:t>
            </a:r>
          </a:p>
        </p:txBody>
      </p:sp>
      <p:sp>
        <p:nvSpPr>
          <p:cNvPr id="5" name="Rectangle 4"/>
          <p:cNvSpPr/>
          <p:nvPr/>
        </p:nvSpPr>
        <p:spPr>
          <a:xfrm>
            <a:off x="6339699" y="960120"/>
            <a:ext cx="5394796" cy="5394960"/>
          </a:xfrm>
          <a:prstGeom prst="rect">
            <a:avLst/>
          </a:prstGeom>
          <a:solidFill>
            <a:srgbClr val="E2EFDA"/>
          </a:solidFill>
          <a:ln w="9525">
            <a:solidFill>
              <a:srgbClr val="9BC1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82880" rIns="182880" rtlCol="0" anchor="ctr"/>
          <a:lstStyle/>
          <a:p>
            <a:pPr algn="ctr">
              <a:spcAft>
                <a:spcPts val="900"/>
              </a:spcAft>
            </a:pPr>
            <a:r>
              <a:rPr sz="1400" b="1">
                <a:solidFill>
                  <a:srgbClr val="2E7D32"/>
                </a:solidFill>
              </a:rPr>
              <a:t>AÇIKLAMA</a:t>
            </a:r>
          </a:p>
          <a:p>
            <a:pPr>
              <a:spcAft>
                <a:spcPts val="1100"/>
              </a:spcAft>
            </a:pPr>
            <a:r>
              <a:rPr sz="1300">
                <a:solidFill>
                  <a:srgbClr val="222222"/>
                </a:solidFill>
              </a:rPr>
              <a:t>Simplex'te aynı frekans hem gönderme hem almada kullanılır, ama aynı anda sadece bir taraf gönderebilir </a:t>
            </a:r>
            <a:r>
              <a:rPr sz="1300" i="1">
                <a:solidFill>
                  <a:srgbClr val="222222"/>
                </a:solidFill>
              </a:rPr>
              <a:t>(sırayla konuşulur)</a:t>
            </a:r>
            <a:r>
              <a:rPr sz="1300">
                <a:solidFill>
                  <a:srgbClr val="222222"/>
                </a:solidFill>
              </a:rPr>
              <a:t> — bu yüzden 'aynı anda tek yönlü'dür. </a:t>
            </a:r>
            <a:r>
              <a:rPr sz="1300" i="1">
                <a:solidFill>
                  <a:srgbClr val="222222"/>
                </a:solidFill>
              </a:rPr>
              <a:t>(Karşıt sistem duplex/röle, ayrı gönderme-alma frekansı kullanır.)</a:t>
            </a:r>
          </a:p>
          <a:p>
            <a:r>
              <a:rPr sz="1100" b="1">
                <a:solidFill>
                  <a:srgbClr val="1F3864"/>
                </a:solidFill>
              </a:rPr>
              <a:t>Kaynak: </a:t>
            </a:r>
            <a:r>
              <a:rPr sz="1100" i="1">
                <a:solidFill>
                  <a:srgbClr val="404040"/>
                </a:solidFill>
              </a:rPr>
              <a:t>Genel amatör telsiz sözlüğü.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95959"/>
                </a:solidFill>
              </a:rPr>
              <a:t>İşletme — Soru 19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4008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1460175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1">
                <a:solidFill>
                  <a:srgbClr val="FFFFFF"/>
                </a:solidFill>
              </a:rPr>
              <a:t>Soru 20</a:t>
            </a:r>
            <a:r>
              <a:rPr sz="1400">
                <a:solidFill>
                  <a:srgbClr val="D6E4F0"/>
                </a:solidFill>
              </a:rPr>
              <a:t>   ·   Genel Bilgi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60120"/>
            <a:ext cx="5608179" cy="5394960"/>
          </a:xfrm>
          <a:prstGeom prst="rect">
            <a:avLst/>
          </a:prstGeom>
          <a:solidFill>
            <a:srgbClr val="F7F9FB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82880" rIns="182880" rtlCol="0" anchor="ctr"/>
          <a:lstStyle/>
          <a:p>
            <a:pPr algn="ctr">
              <a:spcAft>
                <a:spcPts val="1400"/>
              </a:spcAft>
            </a:pPr>
            <a:r>
              <a:rPr sz="1700" b="1">
                <a:solidFill>
                  <a:srgbClr val="222222"/>
                </a:solidFill>
              </a:rPr>
              <a:t>Yaklaşık 5000 mil uzaklıkta radyo iletişimi yapmadan önce anten yönünün bulunmasında hangi harita türü kullanılmaktadır?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22222"/>
                </a:solidFill>
              </a:rPr>
              <a:t>a)  Dünya haritası</a:t>
            </a:r>
          </a:p>
          <a:p>
            <a:pPr>
              <a:spcAft>
                <a:spcPts val="800"/>
              </a:spcAft>
            </a:pPr>
            <a:r>
              <a:rPr sz="1500" b="1">
                <a:solidFill>
                  <a:srgbClr val="2E7D32"/>
                </a:solidFill>
              </a:rPr>
              <a:t>b)  Azimut haritası</a:t>
            </a:r>
            <a:r>
              <a:rPr sz="1200" i="1">
                <a:solidFill>
                  <a:srgbClr val="2E7D32"/>
                </a:solidFill>
              </a:rPr>
              <a:t>   ✓ Doğru cevap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22222"/>
                </a:solidFill>
              </a:rPr>
              <a:t>c)  Topografik harita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22222"/>
                </a:solidFill>
              </a:rPr>
              <a:t>d)  Merkatör haritası</a:t>
            </a:r>
          </a:p>
        </p:txBody>
      </p:sp>
      <p:sp>
        <p:nvSpPr>
          <p:cNvPr id="5" name="Rectangle 4"/>
          <p:cNvSpPr/>
          <p:nvPr/>
        </p:nvSpPr>
        <p:spPr>
          <a:xfrm>
            <a:off x="6339699" y="960120"/>
            <a:ext cx="5394796" cy="5394960"/>
          </a:xfrm>
          <a:prstGeom prst="rect">
            <a:avLst/>
          </a:prstGeom>
          <a:solidFill>
            <a:srgbClr val="E2EFDA"/>
          </a:solidFill>
          <a:ln w="9525">
            <a:solidFill>
              <a:srgbClr val="9BC1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82880" rIns="182880" rtlCol="0" anchor="ctr"/>
          <a:lstStyle/>
          <a:p>
            <a:pPr algn="ctr">
              <a:spcAft>
                <a:spcPts val="900"/>
              </a:spcAft>
            </a:pPr>
            <a:r>
              <a:rPr sz="1400" b="1">
                <a:solidFill>
                  <a:srgbClr val="2E7D32"/>
                </a:solidFill>
              </a:rPr>
              <a:t>AÇIKLAMA</a:t>
            </a:r>
          </a:p>
          <a:p>
            <a:pPr>
              <a:spcAft>
                <a:spcPts val="1100"/>
              </a:spcAft>
            </a:pPr>
            <a:r>
              <a:rPr sz="1300">
                <a:solidFill>
                  <a:srgbClr val="222222"/>
                </a:solidFill>
              </a:rPr>
              <a:t>Azimut haritası </a:t>
            </a:r>
            <a:r>
              <a:rPr sz="1300" i="1">
                <a:solidFill>
                  <a:srgbClr val="222222"/>
                </a:solidFill>
              </a:rPr>
              <a:t>(azimuthal map — merkezi kendi konumunuz olan, yönleri ve uzaklıkları doğru gösteren özel harita türü)</a:t>
            </a:r>
            <a:r>
              <a:rPr sz="1300">
                <a:solidFill>
                  <a:srgbClr val="222222"/>
                </a:solidFill>
              </a:rPr>
              <a:t>, yönlü anteni hedef ülkeye doğru çevirmek için doğru pusula açısını </a:t>
            </a:r>
            <a:r>
              <a:rPr sz="1300" i="1">
                <a:solidFill>
                  <a:srgbClr val="222222"/>
                </a:solidFill>
              </a:rPr>
              <a:t>(derece)</a:t>
            </a:r>
            <a:r>
              <a:rPr sz="1300">
                <a:solidFill>
                  <a:srgbClr val="222222"/>
                </a:solidFill>
              </a:rPr>
              <a:t> verir.</a:t>
            </a:r>
          </a:p>
          <a:p>
            <a:r>
              <a:rPr sz="1100" b="1">
                <a:solidFill>
                  <a:srgbClr val="1F3864"/>
                </a:solidFill>
              </a:rPr>
              <a:t>Kaynak: </a:t>
            </a:r>
            <a:r>
              <a:rPr sz="1100" i="1">
                <a:solidFill>
                  <a:srgbClr val="404040"/>
                </a:solidFill>
              </a:rPr>
              <a:t>DX haberleşme teknikleri.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95959"/>
                </a:solidFill>
              </a:rPr>
              <a:t>İşletme — Soru 20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4008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1460175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1">
                <a:solidFill>
                  <a:srgbClr val="FFFFFF"/>
                </a:solidFill>
              </a:rPr>
              <a:t>Soru 21</a:t>
            </a:r>
            <a:r>
              <a:rPr sz="1400">
                <a:solidFill>
                  <a:srgbClr val="D6E4F0"/>
                </a:solidFill>
              </a:rPr>
              <a:t>   ·   Genel Bilgi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60120"/>
            <a:ext cx="5608179" cy="5394960"/>
          </a:xfrm>
          <a:prstGeom prst="rect">
            <a:avLst/>
          </a:prstGeom>
          <a:solidFill>
            <a:srgbClr val="F7F9FB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82880" rIns="182880" rtlCol="0" anchor="ctr"/>
          <a:lstStyle/>
          <a:p>
            <a:pPr algn="ctr">
              <a:spcAft>
                <a:spcPts val="1400"/>
              </a:spcAft>
            </a:pPr>
            <a:r>
              <a:rPr sz="1700" b="1">
                <a:solidFill>
                  <a:srgbClr val="222222"/>
                </a:solidFill>
              </a:rPr>
              <a:t>Verici çıkış test ve kontrolleri sırasında, havada gereksiz karıştırmalara sebep olmamak için ne kullanılır?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22222"/>
                </a:solidFill>
              </a:rPr>
              <a:t>a)  Rezonanslı anten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22222"/>
                </a:solidFill>
              </a:rPr>
              <a:t>b)  Rezonanssız anten</a:t>
            </a:r>
          </a:p>
          <a:p>
            <a:pPr>
              <a:spcAft>
                <a:spcPts val="800"/>
              </a:spcAft>
            </a:pPr>
            <a:r>
              <a:rPr sz="1500" b="1">
                <a:solidFill>
                  <a:srgbClr val="2E7D32"/>
                </a:solidFill>
              </a:rPr>
              <a:t>c)  Suni anten (Dummy Load — gerçek bir anten yerine takılan, RF enerjisini havaya yaymadan ısıya çeviren test yükü)</a:t>
            </a:r>
            <a:r>
              <a:rPr sz="1200" i="1">
                <a:solidFill>
                  <a:srgbClr val="2E7D32"/>
                </a:solidFill>
              </a:rPr>
              <a:t>   ✓ Doğru cevap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22222"/>
                </a:solidFill>
              </a:rPr>
              <a:t>d)  Kullanılmayan bir frekans</a:t>
            </a:r>
          </a:p>
        </p:txBody>
      </p:sp>
      <p:sp>
        <p:nvSpPr>
          <p:cNvPr id="5" name="Rectangle 4"/>
          <p:cNvSpPr/>
          <p:nvPr/>
        </p:nvSpPr>
        <p:spPr>
          <a:xfrm>
            <a:off x="6339699" y="960120"/>
            <a:ext cx="5394796" cy="5394960"/>
          </a:xfrm>
          <a:prstGeom prst="rect">
            <a:avLst/>
          </a:prstGeom>
          <a:solidFill>
            <a:srgbClr val="E2EFDA"/>
          </a:solidFill>
          <a:ln w="9525">
            <a:solidFill>
              <a:srgbClr val="9BC1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82880" rIns="182880" rtlCol="0" anchor="ctr"/>
          <a:lstStyle/>
          <a:p>
            <a:pPr algn="ctr">
              <a:spcAft>
                <a:spcPts val="900"/>
              </a:spcAft>
            </a:pPr>
            <a:r>
              <a:rPr sz="1400" b="1">
                <a:solidFill>
                  <a:srgbClr val="2E7D32"/>
                </a:solidFill>
              </a:rPr>
              <a:t>AÇIKLAMA</a:t>
            </a:r>
          </a:p>
          <a:p>
            <a:pPr>
              <a:spcAft>
                <a:spcPts val="1100"/>
              </a:spcAft>
            </a:pPr>
            <a:r>
              <a:rPr sz="1300">
                <a:solidFill>
                  <a:srgbClr val="222222"/>
                </a:solidFill>
              </a:rPr>
              <a:t>Suni anten </a:t>
            </a:r>
            <a:r>
              <a:rPr sz="1300" i="1">
                <a:solidFill>
                  <a:srgbClr val="222222"/>
                </a:solidFill>
              </a:rPr>
              <a:t>(dummy load)</a:t>
            </a:r>
            <a:r>
              <a:rPr sz="1300">
                <a:solidFill>
                  <a:srgbClr val="222222"/>
                </a:solidFill>
              </a:rPr>
              <a:t>, vericinin çıkışını test ederken sinyali havaya yaymaz; böylece diğer amatörlere parazit verilmez.</a:t>
            </a:r>
          </a:p>
          <a:p>
            <a:r>
              <a:rPr sz="1100" b="1">
                <a:solidFill>
                  <a:srgbClr val="1F3864"/>
                </a:solidFill>
              </a:rPr>
              <a:t>Kaynak: </a:t>
            </a:r>
            <a:r>
              <a:rPr sz="1100" i="1">
                <a:solidFill>
                  <a:srgbClr val="404040"/>
                </a:solidFill>
              </a:rPr>
              <a:t>Genel telsiz test teknikleri.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95959"/>
                </a:solidFill>
              </a:rPr>
              <a:t>İşletme — Soru 21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4008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1460175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1">
                <a:solidFill>
                  <a:srgbClr val="FFFFFF"/>
                </a:solidFill>
              </a:rPr>
              <a:t>Soru 22</a:t>
            </a:r>
            <a:r>
              <a:rPr sz="1400">
                <a:solidFill>
                  <a:srgbClr val="D6E4F0"/>
                </a:solidFill>
              </a:rPr>
              <a:t>   ·   Genel Bilgi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60120"/>
            <a:ext cx="5608179" cy="5394960"/>
          </a:xfrm>
          <a:prstGeom prst="rect">
            <a:avLst/>
          </a:prstGeom>
          <a:solidFill>
            <a:srgbClr val="F7F9FB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82880" rIns="182880" rtlCol="0" anchor="ctr"/>
          <a:lstStyle/>
          <a:p>
            <a:pPr algn="ctr">
              <a:spcAft>
                <a:spcPts val="1400"/>
              </a:spcAft>
            </a:pPr>
            <a:r>
              <a:rPr sz="1700" b="1">
                <a:solidFill>
                  <a:srgbClr val="222222"/>
                </a:solidFill>
              </a:rPr>
              <a:t>Türkiye'deki amatörlere ait QSL kartlarında yazılı bulunan "IARU ZONE 20" ifadesi ne anlama gelmektedir?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22222"/>
                </a:solidFill>
              </a:rPr>
              <a:t>a)  Türkiye'nin üyelik sırasını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22222"/>
                </a:solidFill>
              </a:rPr>
              <a:t>b)  Türkiye'nin başarı sıralamasındaki yerini</a:t>
            </a:r>
          </a:p>
          <a:p>
            <a:pPr>
              <a:spcAft>
                <a:spcPts val="800"/>
              </a:spcAft>
            </a:pPr>
            <a:r>
              <a:rPr sz="1500" b="1">
                <a:solidFill>
                  <a:srgbClr val="2E7D32"/>
                </a:solidFill>
              </a:rPr>
              <a:t>c)  Türkiye'nin bölge numarasını</a:t>
            </a:r>
            <a:r>
              <a:rPr sz="1200" i="1">
                <a:solidFill>
                  <a:srgbClr val="2E7D32"/>
                </a:solidFill>
              </a:rPr>
              <a:t>   ✓ Doğru cevap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22222"/>
                </a:solidFill>
              </a:rPr>
              <a:t>d)  Türkiye'nin üyelik kodunu</a:t>
            </a:r>
          </a:p>
        </p:txBody>
      </p:sp>
      <p:sp>
        <p:nvSpPr>
          <p:cNvPr id="5" name="Rectangle 4"/>
          <p:cNvSpPr/>
          <p:nvPr/>
        </p:nvSpPr>
        <p:spPr>
          <a:xfrm>
            <a:off x="6339699" y="960120"/>
            <a:ext cx="5394796" cy="5394960"/>
          </a:xfrm>
          <a:prstGeom prst="rect">
            <a:avLst/>
          </a:prstGeom>
          <a:solidFill>
            <a:srgbClr val="FCE4D6"/>
          </a:solidFill>
          <a:ln w="9525">
            <a:solidFill>
              <a:srgbClr val="E09A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82880" rIns="182880" rtlCol="0" anchor="ctr"/>
          <a:lstStyle/>
          <a:p>
            <a:pPr algn="ctr">
              <a:spcAft>
                <a:spcPts val="900"/>
              </a:spcAft>
            </a:pPr>
            <a:r>
              <a:rPr sz="1400" b="1">
                <a:solidFill>
                  <a:srgbClr val="C05000"/>
                </a:solidFill>
              </a:rPr>
              <a:t>AÇIKLAMA</a:t>
            </a:r>
          </a:p>
          <a:p>
            <a:pPr>
              <a:spcAft>
                <a:spcPts val="1100"/>
              </a:spcAft>
            </a:pPr>
            <a:r>
              <a:rPr sz="1300" b="0" i="0">
                <a:solidFill>
                  <a:srgbClr val="222222"/>
                </a:solidFill>
              </a:rPr>
              <a:t>QSL kartlarında </a:t>
            </a:r>
            <a:r>
              <a:rPr sz="1300" b="0" i="1">
                <a:solidFill>
                  <a:srgbClr val="222222"/>
                </a:solidFill>
              </a:rPr>
              <a:t>(haberleşmenin kanıtı olarak karşılıklı gönderilen kart)</a:t>
            </a:r>
            <a:r>
              <a:rPr sz="1300" b="0" i="0">
                <a:solidFill>
                  <a:srgbClr val="222222"/>
                </a:solidFill>
              </a:rPr>
              <a:t> yazan bu ifadeyle kastedilen, Türkiye'nin bölge numarasıdır; soru bankasının işaretlediği cevap </a:t>
            </a:r>
            <a:r>
              <a:rPr sz="1300" b="0" i="1">
                <a:solidFill>
                  <a:srgbClr val="222222"/>
                </a:solidFill>
              </a:rPr>
              <a:t>(c)</a:t>
            </a:r>
            <a:r>
              <a:rPr sz="1300" b="0" i="0">
                <a:solidFill>
                  <a:srgbClr val="222222"/>
                </a:solidFill>
              </a:rPr>
              <a:t> budur.</a:t>
            </a:r>
          </a:p>
          <a:p>
            <a:pPr>
              <a:spcAft>
                <a:spcPts val="1100"/>
              </a:spcAft>
            </a:pPr>
            <a:r>
              <a:rPr sz="1150" b="1">
                <a:solidFill>
                  <a:srgbClr val="C05000"/>
                </a:solidFill>
              </a:rPr>
              <a:t>DİKKAT — Soru metnindeki terim hatalıdır. IARU'nun numaralı bir “zone” sistemi yoktur: IARU dünyayı üç Region'a ayırır ve Türkiye IARU Region 1'dedir. Kartlarda görülen 20 sayısı CQ Zone'a aittir; Türkiye'nin ITU Zone'u ise 39'dur. Sınavda beklenen cevap yine (c)'dir; ancak doğrusu “CQ Zone 20” biçiminde yazılmalıydı.</a:t>
            </a:r>
          </a:p>
          <a:p>
            <a:r>
              <a:rPr sz="1100" b="1">
                <a:solidFill>
                  <a:srgbClr val="1F3864"/>
                </a:solidFill>
              </a:rPr>
              <a:t>Kaynak: </a:t>
            </a:r>
            <a:r>
              <a:rPr sz="1100" i="1">
                <a:solidFill>
                  <a:srgbClr val="404040"/>
                </a:solidFill>
              </a:rPr>
              <a:t>IARU Region 1 tanımı; CQ Zone ve ITU Zone listeleri.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95959"/>
                </a:solidFill>
              </a:rPr>
              <a:t>İşletme — Soru 22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4008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1460175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1">
                <a:solidFill>
                  <a:srgbClr val="FFFFFF"/>
                </a:solidFill>
              </a:rPr>
              <a:t>Soru 23</a:t>
            </a:r>
            <a:r>
              <a:rPr sz="1400">
                <a:solidFill>
                  <a:srgbClr val="D6E4F0"/>
                </a:solidFill>
              </a:rPr>
              <a:t>   ·   Q-Kodları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60120"/>
            <a:ext cx="5608179" cy="5394960"/>
          </a:xfrm>
          <a:prstGeom prst="rect">
            <a:avLst/>
          </a:prstGeom>
          <a:solidFill>
            <a:srgbClr val="F7F9FB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82880" rIns="182880" rtlCol="0" anchor="ctr"/>
          <a:lstStyle/>
          <a:p>
            <a:pPr algn="ctr">
              <a:spcAft>
                <a:spcPts val="1400"/>
              </a:spcAft>
            </a:pPr>
            <a:r>
              <a:rPr sz="1700" b="1">
                <a:solidFill>
                  <a:srgbClr val="222222"/>
                </a:solidFill>
              </a:rPr>
              <a:t>Telsiz telgraf haberleşmesinde QRX kısaltması aşağıdaki sorulardan hangisini anlatır?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22222"/>
                </a:solidFill>
              </a:rPr>
              <a:t>a)  Göndermeye başlayabilir miyim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22222"/>
                </a:solidFill>
              </a:rPr>
              <a:t>b)  Mesajınız var mı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22222"/>
                </a:solidFill>
              </a:rPr>
              <a:t>c)  Meşgul müsünüz</a:t>
            </a:r>
          </a:p>
          <a:p>
            <a:pPr>
              <a:spcAft>
                <a:spcPts val="800"/>
              </a:spcAft>
            </a:pPr>
            <a:r>
              <a:rPr sz="1500" b="1">
                <a:solidFill>
                  <a:srgbClr val="2E7D32"/>
                </a:solidFill>
              </a:rPr>
              <a:t>d)  Beni tekrar ne zaman arayacaksınız</a:t>
            </a:r>
            <a:r>
              <a:rPr sz="1200" i="1">
                <a:solidFill>
                  <a:srgbClr val="2E7D32"/>
                </a:solidFill>
              </a:rPr>
              <a:t>   ✓ Doğru cevap</a:t>
            </a:r>
          </a:p>
        </p:txBody>
      </p:sp>
      <p:sp>
        <p:nvSpPr>
          <p:cNvPr id="5" name="Rectangle 4"/>
          <p:cNvSpPr/>
          <p:nvPr/>
        </p:nvSpPr>
        <p:spPr>
          <a:xfrm>
            <a:off x="6339699" y="960120"/>
            <a:ext cx="5394796" cy="5394960"/>
          </a:xfrm>
          <a:prstGeom prst="rect">
            <a:avLst/>
          </a:prstGeom>
          <a:solidFill>
            <a:srgbClr val="E2EFDA"/>
          </a:solidFill>
          <a:ln w="9525">
            <a:solidFill>
              <a:srgbClr val="9BC1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82880" rIns="182880" rtlCol="0" anchor="ctr"/>
          <a:lstStyle/>
          <a:p>
            <a:pPr algn="ctr">
              <a:spcAft>
                <a:spcPts val="900"/>
              </a:spcAft>
            </a:pPr>
            <a:r>
              <a:rPr sz="1400" b="1">
                <a:solidFill>
                  <a:srgbClr val="2E7D32"/>
                </a:solidFill>
              </a:rPr>
              <a:t>AÇIKLAMA</a:t>
            </a:r>
          </a:p>
          <a:p>
            <a:pPr>
              <a:spcAft>
                <a:spcPts val="1100"/>
              </a:spcAft>
            </a:pPr>
            <a:r>
              <a:rPr sz="1300">
                <a:solidFill>
                  <a:srgbClr val="222222"/>
                </a:solidFill>
              </a:rPr>
              <a:t>QRX, karşı istasyondan ne zaman tekrar arayacağını sormak/bildirmek için kullanılır </a:t>
            </a:r>
            <a:r>
              <a:rPr sz="1300" i="1">
                <a:solidFill>
                  <a:srgbClr val="222222"/>
                </a:solidFill>
              </a:rPr>
              <a:t>(kısa bir ara verme anlamı da taşır)</a:t>
            </a:r>
            <a:r>
              <a:rPr sz="1300">
                <a:solidFill>
                  <a:srgbClr val="222222"/>
                </a:solidFill>
              </a:rPr>
              <a:t>.</a:t>
            </a:r>
          </a:p>
          <a:p>
            <a:r>
              <a:rPr sz="1100" b="1">
                <a:solidFill>
                  <a:srgbClr val="1F3864"/>
                </a:solidFill>
              </a:rPr>
              <a:t>Kaynak: </a:t>
            </a:r>
            <a:r>
              <a:rPr sz="1100" i="1">
                <a:solidFill>
                  <a:srgbClr val="404040"/>
                </a:solidFill>
              </a:rPr>
              <a:t>ITU Q-kod tablosu (uluslararası standart kısaltılmış telsiz sinyalleri).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95959"/>
                </a:solidFill>
              </a:rPr>
              <a:t>İşletme — Soru 23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4008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1460175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1">
                <a:solidFill>
                  <a:srgbClr val="FFFFFF"/>
                </a:solidFill>
              </a:rPr>
              <a:t>Soru 24</a:t>
            </a:r>
            <a:r>
              <a:rPr sz="1400">
                <a:solidFill>
                  <a:srgbClr val="D6E4F0"/>
                </a:solidFill>
              </a:rPr>
              <a:t>   ·   Çağrı İşareti Bölgeleri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60120"/>
            <a:ext cx="5608179" cy="5394960"/>
          </a:xfrm>
          <a:prstGeom prst="rect">
            <a:avLst/>
          </a:prstGeom>
          <a:solidFill>
            <a:srgbClr val="F7F9FB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82880" rIns="182880" rtlCol="0" anchor="ctr"/>
          <a:lstStyle/>
          <a:p>
            <a:pPr algn="ctr">
              <a:spcAft>
                <a:spcPts val="1400"/>
              </a:spcAft>
            </a:pPr>
            <a:r>
              <a:rPr sz="1700" b="1">
                <a:solidFill>
                  <a:srgbClr val="222222"/>
                </a:solidFill>
              </a:rPr>
              <a:t>TA2EX/3 çağrı işareti aşağıdakilerden hangisini ifade eder?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22222"/>
                </a:solidFill>
              </a:rPr>
              <a:t>a)  Adalarda çalışan bir amatörün çağrı işaretini</a:t>
            </a:r>
          </a:p>
          <a:p>
            <a:pPr>
              <a:spcAft>
                <a:spcPts val="800"/>
              </a:spcAft>
            </a:pPr>
            <a:r>
              <a:rPr sz="1500" b="1">
                <a:solidFill>
                  <a:srgbClr val="2E7D32"/>
                </a:solidFill>
              </a:rPr>
              <a:t>b)  2.Bölgeden 3.Bölgeye geçen amatör telsizcinin çağrı işaretidir</a:t>
            </a:r>
            <a:r>
              <a:rPr sz="1200" i="1">
                <a:solidFill>
                  <a:srgbClr val="2E7D32"/>
                </a:solidFill>
              </a:rPr>
              <a:t>   ✓ Doğru cevap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22222"/>
                </a:solidFill>
              </a:rPr>
              <a:t>c)  B lisansı ile A lisanslı istasyonda çalışan amatörün çağrı işaretini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22222"/>
                </a:solidFill>
              </a:rPr>
              <a:t>d)  Hiçbiri</a:t>
            </a:r>
          </a:p>
        </p:txBody>
      </p:sp>
      <p:sp>
        <p:nvSpPr>
          <p:cNvPr id="5" name="Rectangle 4"/>
          <p:cNvSpPr/>
          <p:nvPr/>
        </p:nvSpPr>
        <p:spPr>
          <a:xfrm>
            <a:off x="6339699" y="960120"/>
            <a:ext cx="5394796" cy="5394960"/>
          </a:xfrm>
          <a:prstGeom prst="rect">
            <a:avLst/>
          </a:prstGeom>
          <a:solidFill>
            <a:srgbClr val="E2EFDA"/>
          </a:solidFill>
          <a:ln w="9525">
            <a:solidFill>
              <a:srgbClr val="9BC1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82880" rIns="182880" rtlCol="0" anchor="ctr"/>
          <a:lstStyle/>
          <a:p>
            <a:pPr algn="ctr">
              <a:spcAft>
                <a:spcPts val="900"/>
              </a:spcAft>
            </a:pPr>
            <a:r>
              <a:rPr sz="1400" b="1">
                <a:solidFill>
                  <a:srgbClr val="2E7D32"/>
                </a:solidFill>
              </a:rPr>
              <a:t>AÇIKLAMA</a:t>
            </a:r>
          </a:p>
          <a:p>
            <a:pPr>
              <a:spcAft>
                <a:spcPts val="1100"/>
              </a:spcAft>
            </a:pPr>
            <a:r>
              <a:rPr sz="1300">
                <a:solidFill>
                  <a:srgbClr val="222222"/>
                </a:solidFill>
              </a:rPr>
              <a:t>Çağrı işaretine "/" ile eklenen bölge numarası, operatörün kendi kayıtlı bölgesi </a:t>
            </a:r>
            <a:r>
              <a:rPr sz="1300" i="1">
                <a:solidFill>
                  <a:srgbClr val="222222"/>
                </a:solidFill>
              </a:rPr>
              <a:t>(2)</a:t>
            </a:r>
            <a:r>
              <a:rPr sz="1300">
                <a:solidFill>
                  <a:srgbClr val="222222"/>
                </a:solidFill>
              </a:rPr>
              <a:t> dışında, geçici olarak bulunduğu bölgeyi </a:t>
            </a:r>
            <a:r>
              <a:rPr sz="1300" i="1">
                <a:solidFill>
                  <a:srgbClr val="222222"/>
                </a:solidFill>
              </a:rPr>
              <a:t>(3)</a:t>
            </a:r>
            <a:r>
              <a:rPr sz="1300">
                <a:solidFill>
                  <a:srgbClr val="222222"/>
                </a:solidFill>
              </a:rPr>
              <a:t> gösterir.</a:t>
            </a:r>
          </a:p>
          <a:p>
            <a:r>
              <a:rPr sz="1100" b="1">
                <a:solidFill>
                  <a:srgbClr val="1F3864"/>
                </a:solidFill>
              </a:rPr>
              <a:t>Kaynak: </a:t>
            </a:r>
            <a:r>
              <a:rPr sz="1100" i="1">
                <a:solidFill>
                  <a:srgbClr val="404040"/>
                </a:solidFill>
              </a:rPr>
              <a:t>Çağrı işareti bölge değişikliği kuralı.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95959"/>
                </a:solidFill>
              </a:rPr>
              <a:t>İşletme — Soru 24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772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FFFFFF"/>
                </a:solidFill>
              </a:rPr>
              <a:t>BÖLÜM 3: Q-Kodları, Terimler ve QSL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911535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300"/>
              </a:spcAft>
            </a:pPr>
            <a:r>
              <a:rPr sz="1700">
                <a:solidFill>
                  <a:srgbClr val="222222"/>
                </a:solidFill>
              </a:rPr>
              <a:t>•  Q-kodları, dil farkını aşan, uluslararası standart kısaltılmış telsiz sinyalleridir — her biri sabit bir anlama gelir.</a:t>
            </a:r>
          </a:p>
          <a:p>
            <a:pPr>
              <a:spcAft>
                <a:spcPts val="1300"/>
              </a:spcAft>
            </a:pPr>
            <a:r>
              <a:rPr sz="1700">
                <a:solidFill>
                  <a:srgbClr val="222222"/>
                </a:solidFill>
              </a:rPr>
              <a:t>•  QSL kartı, yapılan bir haberleşmenin gerçekleştiğini karşılıklı teyit eden geleneksel amatör telsiz kartıdır.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5623560"/>
            <a:ext cx="10911535" cy="914400"/>
          </a:xfrm>
          <a:prstGeom prst="rect">
            <a:avLst/>
          </a:prstGeom>
          <a:solidFill>
            <a:srgbClr val="D6E4F0"/>
          </a:solidFill>
          <a:ln>
            <a:solidFill>
              <a:srgbClr val="2E75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tlCol="0" anchor="ctr"/>
          <a:lstStyle/>
          <a:p>
            <a:pPr algn="ctr"/>
            <a:r>
              <a:rPr sz="1300" b="1">
                <a:solidFill>
                  <a:srgbClr val="1F3864"/>
                </a:solidFill>
              </a:rPr>
              <a:t>Bu bölümün kaynağı: </a:t>
            </a:r>
            <a:r>
              <a:rPr sz="1300">
                <a:solidFill>
                  <a:srgbClr val="222222"/>
                </a:solidFill>
              </a:rPr>
              <a:t>ITU Q-kod tablosu (uluslararası standart kısaltılmış telsiz sinyalleri). QSL kart geleneği.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95959"/>
                </a:solidFill>
              </a:rPr>
              <a:t>İşletme — Bölüm 3 Girişi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4008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1460175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1">
                <a:solidFill>
                  <a:srgbClr val="FFFFFF"/>
                </a:solidFill>
              </a:rPr>
              <a:t>Soru 25</a:t>
            </a:r>
            <a:r>
              <a:rPr sz="1400">
                <a:solidFill>
                  <a:srgbClr val="D6E4F0"/>
                </a:solidFill>
              </a:rPr>
              <a:t>   ·   Q-Kodları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60120"/>
            <a:ext cx="5608179" cy="5394960"/>
          </a:xfrm>
          <a:prstGeom prst="rect">
            <a:avLst/>
          </a:prstGeom>
          <a:solidFill>
            <a:srgbClr val="F7F9FB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82880" rIns="182880" rtlCol="0" anchor="ctr"/>
          <a:lstStyle/>
          <a:p>
            <a:pPr algn="ctr">
              <a:spcAft>
                <a:spcPts val="1400"/>
              </a:spcAft>
            </a:pPr>
            <a:r>
              <a:rPr sz="1700" b="1">
                <a:solidFill>
                  <a:srgbClr val="222222"/>
                </a:solidFill>
              </a:rPr>
              <a:t>Telsiz telgraf haberleşmesinde "beni duyabiliyor musunuz?" sorusu aşağıdaki kısaltmalardan hangisiyle ifade edilir?</a:t>
            </a:r>
          </a:p>
          <a:p>
            <a:pPr>
              <a:spcAft>
                <a:spcPts val="800"/>
              </a:spcAft>
            </a:pPr>
            <a:r>
              <a:rPr sz="1500" b="1">
                <a:solidFill>
                  <a:srgbClr val="2E7D32"/>
                </a:solidFill>
              </a:rPr>
              <a:t>a)  QSK</a:t>
            </a:r>
            <a:r>
              <a:rPr sz="1200" i="1">
                <a:solidFill>
                  <a:srgbClr val="2E7D32"/>
                </a:solidFill>
              </a:rPr>
              <a:t>   ✓ Doğru cevap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22222"/>
                </a:solidFill>
              </a:rPr>
              <a:t>b)  QRK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22222"/>
                </a:solidFill>
              </a:rPr>
              <a:t>c)  QBD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22222"/>
                </a:solidFill>
              </a:rPr>
              <a:t>d)  QSA</a:t>
            </a:r>
          </a:p>
        </p:txBody>
      </p:sp>
      <p:sp>
        <p:nvSpPr>
          <p:cNvPr id="5" name="Rectangle 4"/>
          <p:cNvSpPr/>
          <p:nvPr/>
        </p:nvSpPr>
        <p:spPr>
          <a:xfrm>
            <a:off x="6339699" y="960120"/>
            <a:ext cx="5394796" cy="5394960"/>
          </a:xfrm>
          <a:prstGeom prst="rect">
            <a:avLst/>
          </a:prstGeom>
          <a:solidFill>
            <a:srgbClr val="E2EFDA"/>
          </a:solidFill>
          <a:ln w="9525">
            <a:solidFill>
              <a:srgbClr val="9BC1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82880" rIns="182880" rtlCol="0" anchor="ctr"/>
          <a:lstStyle/>
          <a:p>
            <a:pPr algn="ctr">
              <a:spcAft>
                <a:spcPts val="900"/>
              </a:spcAft>
            </a:pPr>
            <a:r>
              <a:rPr sz="1400" b="1">
                <a:solidFill>
                  <a:srgbClr val="2E7D32"/>
                </a:solidFill>
              </a:rPr>
              <a:t>AÇIKLAMA</a:t>
            </a:r>
          </a:p>
          <a:p>
            <a:pPr>
              <a:spcAft>
                <a:spcPts val="1100"/>
              </a:spcAft>
            </a:pPr>
            <a:r>
              <a:rPr sz="1300">
                <a:solidFill>
                  <a:srgbClr val="222222"/>
                </a:solidFill>
              </a:rPr>
              <a:t>QSK, "gönderimleriniz arasında beni duyabiliyor musunuz?" anlamına gelir — yani doğrudan DUYULABİLİRLİĞİ sorar. Karıştırılmaması gereken yakın kodlar: QRK sinyalin OKUNABİLİRLİK derecesini </a:t>
            </a:r>
            <a:r>
              <a:rPr sz="1300" i="1">
                <a:solidFill>
                  <a:srgbClr val="222222"/>
                </a:solidFill>
              </a:rPr>
              <a:t>(anlaşılırlığını)</a:t>
            </a:r>
            <a:r>
              <a:rPr sz="1300">
                <a:solidFill>
                  <a:srgbClr val="222222"/>
                </a:solidFill>
              </a:rPr>
              <a:t> sorar, QSA ise sinyal ŞİDDETİNİ </a:t>
            </a:r>
            <a:r>
              <a:rPr sz="1300" i="1">
                <a:solidFill>
                  <a:srgbClr val="222222"/>
                </a:solidFill>
              </a:rPr>
              <a:t>(gücünü)</a:t>
            </a:r>
            <a:r>
              <a:rPr sz="1300">
                <a:solidFill>
                  <a:srgbClr val="222222"/>
                </a:solidFill>
              </a:rPr>
              <a:t> sorar.</a:t>
            </a:r>
          </a:p>
          <a:p>
            <a:r>
              <a:rPr sz="1100" b="1">
                <a:solidFill>
                  <a:srgbClr val="1F3864"/>
                </a:solidFill>
              </a:rPr>
              <a:t>Kaynak: </a:t>
            </a:r>
            <a:r>
              <a:rPr sz="1100" i="1">
                <a:solidFill>
                  <a:srgbClr val="404040"/>
                </a:solidFill>
              </a:rPr>
              <a:t>ITU Q-kod tablosu (uluslararası standart kısaltılmış telsiz sinyalleri).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95959"/>
                </a:solidFill>
              </a:rPr>
              <a:t>İşletme — Soru 25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4008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1460175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1">
                <a:solidFill>
                  <a:srgbClr val="FFFFFF"/>
                </a:solidFill>
              </a:rPr>
              <a:t>Soru 26</a:t>
            </a:r>
            <a:r>
              <a:rPr sz="1400">
                <a:solidFill>
                  <a:srgbClr val="D6E4F0"/>
                </a:solidFill>
              </a:rPr>
              <a:t>   ·   Genel Bilgi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60120"/>
            <a:ext cx="5608179" cy="5394960"/>
          </a:xfrm>
          <a:prstGeom prst="rect">
            <a:avLst/>
          </a:prstGeom>
          <a:solidFill>
            <a:srgbClr val="F7F9FB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82880" rIns="182880" rtlCol="0" anchor="ctr"/>
          <a:lstStyle/>
          <a:p>
            <a:pPr algn="ctr">
              <a:spcAft>
                <a:spcPts val="1400"/>
              </a:spcAft>
            </a:pPr>
            <a:r>
              <a:rPr sz="1700" b="1">
                <a:solidFill>
                  <a:srgbClr val="222222"/>
                </a:solidFill>
              </a:rPr>
              <a:t>Broadcast teriminin anlamı aşağıdakilerden hangisidir?</a:t>
            </a:r>
          </a:p>
          <a:p>
            <a:pPr>
              <a:spcAft>
                <a:spcPts val="800"/>
              </a:spcAft>
            </a:pPr>
            <a:r>
              <a:rPr sz="1500" b="1">
                <a:solidFill>
                  <a:srgbClr val="2E7D32"/>
                </a:solidFill>
              </a:rPr>
              <a:t>a)  Tek yönlü radyo yayınıdır</a:t>
            </a:r>
            <a:r>
              <a:rPr sz="1200" i="1">
                <a:solidFill>
                  <a:srgbClr val="2E7D32"/>
                </a:solidFill>
              </a:rPr>
              <a:t>   ✓ Doğru cevap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22222"/>
                </a:solidFill>
              </a:rPr>
              <a:t>b)  Sayısal veri iletişimi ile telsiz telgraf haberleşmesidir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22222"/>
                </a:solidFill>
              </a:rPr>
              <a:t>c)  İki radyo istasyonunun karşılıklı konuşması ile ilgili radyo yayınıdır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22222"/>
                </a:solidFill>
              </a:rPr>
              <a:t>d)  İstasyon programlarının otomatik olarak yeniden gönderilmesi olayıdır</a:t>
            </a:r>
          </a:p>
        </p:txBody>
      </p:sp>
      <p:sp>
        <p:nvSpPr>
          <p:cNvPr id="5" name="Rectangle 4"/>
          <p:cNvSpPr/>
          <p:nvPr/>
        </p:nvSpPr>
        <p:spPr>
          <a:xfrm>
            <a:off x="6339699" y="960120"/>
            <a:ext cx="5394796" cy="5394960"/>
          </a:xfrm>
          <a:prstGeom prst="rect">
            <a:avLst/>
          </a:prstGeom>
          <a:solidFill>
            <a:srgbClr val="E2EFDA"/>
          </a:solidFill>
          <a:ln w="9525">
            <a:solidFill>
              <a:srgbClr val="9BC1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82880" rIns="182880" rtlCol="0" anchor="ctr"/>
          <a:lstStyle/>
          <a:p>
            <a:pPr algn="ctr">
              <a:spcAft>
                <a:spcPts val="900"/>
              </a:spcAft>
            </a:pPr>
            <a:r>
              <a:rPr sz="1400" b="1">
                <a:solidFill>
                  <a:srgbClr val="2E7D32"/>
                </a:solidFill>
              </a:rPr>
              <a:t>AÇIKLAMA</a:t>
            </a:r>
          </a:p>
          <a:p>
            <a:pPr>
              <a:spcAft>
                <a:spcPts val="1100"/>
              </a:spcAft>
            </a:pPr>
            <a:r>
              <a:rPr sz="1300">
                <a:solidFill>
                  <a:srgbClr val="222222"/>
                </a:solidFill>
              </a:rPr>
              <a:t>Broadcast </a:t>
            </a:r>
            <a:r>
              <a:rPr sz="1300" i="1">
                <a:solidFill>
                  <a:srgbClr val="222222"/>
                </a:solidFill>
              </a:rPr>
              <a:t>(yayın)</a:t>
            </a:r>
            <a:r>
              <a:rPr sz="1300">
                <a:solidFill>
                  <a:srgbClr val="222222"/>
                </a:solidFill>
              </a:rPr>
              <a:t>, bir vericiden çok sayıda alıcıya tek yönlü, karşılıklı olmayan yayındır — amatör telsizcilikte bu tür yayın yasaktır </a:t>
            </a:r>
            <a:r>
              <a:rPr sz="1300" i="1">
                <a:solidFill>
                  <a:srgbClr val="222222"/>
                </a:solidFill>
              </a:rPr>
              <a:t>(amatör haberleşme çift yönlü ve karşılıklıdır)</a:t>
            </a:r>
            <a:r>
              <a:rPr sz="1300">
                <a:solidFill>
                  <a:srgbClr val="222222"/>
                </a:solidFill>
              </a:rPr>
              <a:t>.</a:t>
            </a:r>
          </a:p>
          <a:p>
            <a:r>
              <a:rPr sz="1100" b="1">
                <a:solidFill>
                  <a:srgbClr val="1F3864"/>
                </a:solidFill>
              </a:rPr>
              <a:t>Kaynak: </a:t>
            </a:r>
            <a:r>
              <a:rPr sz="1100" i="1">
                <a:solidFill>
                  <a:srgbClr val="404040"/>
                </a:solidFill>
              </a:rPr>
              <a:t>Genel telsiz terminolojisi.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95959"/>
                </a:solidFill>
              </a:rPr>
              <a:t>İşletme — Soru 26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4008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1460175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1">
                <a:solidFill>
                  <a:srgbClr val="FFFFFF"/>
                </a:solidFill>
              </a:rPr>
              <a:t>Soru 27</a:t>
            </a:r>
            <a:r>
              <a:rPr sz="1400">
                <a:solidFill>
                  <a:srgbClr val="D6E4F0"/>
                </a:solidFill>
              </a:rPr>
              <a:t>   ·   Genel Bilgi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60120"/>
            <a:ext cx="5608179" cy="5394960"/>
          </a:xfrm>
          <a:prstGeom prst="rect">
            <a:avLst/>
          </a:prstGeom>
          <a:solidFill>
            <a:srgbClr val="F7F9FB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82880" rIns="182880" rtlCol="0" anchor="ctr"/>
          <a:lstStyle/>
          <a:p>
            <a:pPr algn="ctr">
              <a:spcAft>
                <a:spcPts val="1400"/>
              </a:spcAft>
            </a:pPr>
            <a:r>
              <a:rPr sz="1700" b="1">
                <a:solidFill>
                  <a:srgbClr val="222222"/>
                </a:solidFill>
              </a:rPr>
              <a:t>Radyo sinyallerinin yayılmasında kullanılan kritik açı aşağıdakilerden hangisidir?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22222"/>
                </a:solidFill>
              </a:rPr>
              <a:t>a)  Belirli iyonosfer şartlarında bir radyo dalgasının dünyaya dönen en alçak açısıdır</a:t>
            </a:r>
          </a:p>
          <a:p>
            <a:pPr>
              <a:spcAft>
                <a:spcPts val="800"/>
              </a:spcAft>
            </a:pPr>
            <a:r>
              <a:rPr sz="1500" b="1">
                <a:solidFill>
                  <a:srgbClr val="2E7D32"/>
                </a:solidFill>
              </a:rPr>
              <a:t>b)  Belirli iyonosfer şartlarında bir radyo dalgasının dünyaya dönen en yüksek açısıdır</a:t>
            </a:r>
            <a:r>
              <a:rPr sz="1200" i="1">
                <a:solidFill>
                  <a:srgbClr val="2E7D32"/>
                </a:solidFill>
              </a:rPr>
              <a:t>   ✓ Doğru cevap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22222"/>
                </a:solidFill>
              </a:rPr>
              <a:t>c)  Temas sağlanması istenen DX istasyonun pusula yönünden 180 derece ters yönüdür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22222"/>
                </a:solidFill>
              </a:rPr>
              <a:t>d)  Temas sağlanması istenen DX istasyonun pusula yönündeki açısıdır</a:t>
            </a:r>
          </a:p>
        </p:txBody>
      </p:sp>
      <p:sp>
        <p:nvSpPr>
          <p:cNvPr id="5" name="Rectangle 4"/>
          <p:cNvSpPr/>
          <p:nvPr/>
        </p:nvSpPr>
        <p:spPr>
          <a:xfrm>
            <a:off x="6339699" y="960120"/>
            <a:ext cx="5394796" cy="5394960"/>
          </a:xfrm>
          <a:prstGeom prst="rect">
            <a:avLst/>
          </a:prstGeom>
          <a:solidFill>
            <a:srgbClr val="E2EFDA"/>
          </a:solidFill>
          <a:ln w="9525">
            <a:solidFill>
              <a:srgbClr val="9BC1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82880" rIns="182880" rtlCol="0" anchor="ctr"/>
          <a:lstStyle/>
          <a:p>
            <a:pPr algn="ctr">
              <a:spcAft>
                <a:spcPts val="900"/>
              </a:spcAft>
            </a:pPr>
            <a:r>
              <a:rPr sz="1400" b="1">
                <a:solidFill>
                  <a:srgbClr val="2E7D32"/>
                </a:solidFill>
              </a:rPr>
              <a:t>AÇIKLAMA</a:t>
            </a:r>
          </a:p>
          <a:p>
            <a:pPr>
              <a:spcAft>
                <a:spcPts val="1100"/>
              </a:spcAft>
            </a:pPr>
            <a:r>
              <a:rPr sz="1300">
                <a:solidFill>
                  <a:srgbClr val="222222"/>
                </a:solidFill>
              </a:rPr>
              <a:t>Kritik açı, iyonosferden </a:t>
            </a:r>
            <a:r>
              <a:rPr sz="1300" i="1">
                <a:solidFill>
                  <a:srgbClr val="222222"/>
                </a:solidFill>
              </a:rPr>
              <a:t>(üst atmosferdeki yüklü parçacık tabakası — radyo dalgalarını yansıtabilir)</a:t>
            </a:r>
            <a:r>
              <a:rPr sz="1300">
                <a:solidFill>
                  <a:srgbClr val="222222"/>
                </a:solidFill>
              </a:rPr>
              <a:t> yansıyıp dünyaya geri dönebilen bir dalganın erişebileceği en yüksek gönderim açısıdır; bu açının üzerinde gönderilen dalga uzaya kaçar, geri dönmez.</a:t>
            </a:r>
          </a:p>
          <a:p>
            <a:r>
              <a:rPr sz="1100" b="1">
                <a:solidFill>
                  <a:srgbClr val="1F3864"/>
                </a:solidFill>
              </a:rPr>
              <a:t>Kaynak: </a:t>
            </a:r>
            <a:r>
              <a:rPr sz="1100" i="1">
                <a:solidFill>
                  <a:srgbClr val="404040"/>
                </a:solidFill>
              </a:rPr>
              <a:t>Radyo dalga yayılımı (propagasyon) teorisi.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95959"/>
                </a:solidFill>
              </a:rPr>
              <a:t>İşletme — Soru 27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4008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1460175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1">
                <a:solidFill>
                  <a:srgbClr val="FFFFFF"/>
                </a:solidFill>
              </a:rPr>
              <a:t>Soru 28</a:t>
            </a:r>
            <a:r>
              <a:rPr sz="1400">
                <a:solidFill>
                  <a:srgbClr val="D6E4F0"/>
                </a:solidFill>
              </a:rPr>
              <a:t>   ·   Çağrı Önekleri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60120"/>
            <a:ext cx="5608179" cy="5394960"/>
          </a:xfrm>
          <a:prstGeom prst="rect">
            <a:avLst/>
          </a:prstGeom>
          <a:solidFill>
            <a:srgbClr val="F7F9FB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82880" rIns="182880" rtlCol="0" anchor="ctr"/>
          <a:lstStyle/>
          <a:p>
            <a:pPr algn="ctr">
              <a:spcAft>
                <a:spcPts val="1400"/>
              </a:spcAft>
            </a:pPr>
            <a:r>
              <a:rPr sz="1700" b="1">
                <a:solidFill>
                  <a:srgbClr val="222222"/>
                </a:solidFill>
              </a:rPr>
              <a:t>Çağrı işaretinin başında DL olan bir istasyon hangi ülkeye aittir?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22222"/>
                </a:solidFill>
              </a:rPr>
              <a:t>a)  Danimarka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22222"/>
                </a:solidFill>
              </a:rPr>
              <a:t>b)  Dominik</a:t>
            </a:r>
          </a:p>
          <a:p>
            <a:pPr>
              <a:spcAft>
                <a:spcPts val="800"/>
              </a:spcAft>
            </a:pPr>
            <a:r>
              <a:rPr sz="1500" b="1">
                <a:solidFill>
                  <a:srgbClr val="2E7D32"/>
                </a:solidFill>
              </a:rPr>
              <a:t>c)  Almanya</a:t>
            </a:r>
            <a:r>
              <a:rPr sz="1200" i="1">
                <a:solidFill>
                  <a:srgbClr val="2E7D32"/>
                </a:solidFill>
              </a:rPr>
              <a:t>   ✓ Doğru cevap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22222"/>
                </a:solidFill>
              </a:rPr>
              <a:t>d)  Arjantin</a:t>
            </a:r>
          </a:p>
        </p:txBody>
      </p:sp>
      <p:sp>
        <p:nvSpPr>
          <p:cNvPr id="5" name="Rectangle 4"/>
          <p:cNvSpPr/>
          <p:nvPr/>
        </p:nvSpPr>
        <p:spPr>
          <a:xfrm>
            <a:off x="6339699" y="960120"/>
            <a:ext cx="5394796" cy="5394960"/>
          </a:xfrm>
          <a:prstGeom prst="rect">
            <a:avLst/>
          </a:prstGeom>
          <a:solidFill>
            <a:srgbClr val="E2EFDA"/>
          </a:solidFill>
          <a:ln w="9525">
            <a:solidFill>
              <a:srgbClr val="9BC1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82880" rIns="182880" rtlCol="0" anchor="ctr"/>
          <a:lstStyle/>
          <a:p>
            <a:pPr algn="ctr">
              <a:spcAft>
                <a:spcPts val="900"/>
              </a:spcAft>
            </a:pPr>
            <a:r>
              <a:rPr sz="1400" b="1">
                <a:solidFill>
                  <a:srgbClr val="2E7D32"/>
                </a:solidFill>
              </a:rPr>
              <a:t>AÇIKLAMA</a:t>
            </a:r>
          </a:p>
          <a:p>
            <a:pPr>
              <a:spcAft>
                <a:spcPts val="1100"/>
              </a:spcAft>
            </a:pPr>
            <a:r>
              <a:rPr sz="1300">
                <a:solidFill>
                  <a:srgbClr val="222222"/>
                </a:solidFill>
              </a:rPr>
              <a:t>DL, Almanya'ya ayrılmış amatör çağrı işareti ön eklerinden biridir.</a:t>
            </a:r>
          </a:p>
          <a:p>
            <a:r>
              <a:rPr sz="1100" b="1">
                <a:solidFill>
                  <a:srgbClr val="1F3864"/>
                </a:solidFill>
              </a:rPr>
              <a:t>Kaynak: </a:t>
            </a:r>
            <a:r>
              <a:rPr sz="1100" i="1">
                <a:solidFill>
                  <a:srgbClr val="404040"/>
                </a:solidFill>
              </a:rPr>
              <a:t>ITU çağrı işareti ön ek tahsis tablosu (ülkelere ayrılan harf blokları).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95959"/>
                </a:solidFill>
              </a:rPr>
              <a:t>İşletme — Soru 28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4008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1460175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1">
                <a:solidFill>
                  <a:srgbClr val="FFFFFF"/>
                </a:solidFill>
              </a:rPr>
              <a:t>Soru 29</a:t>
            </a:r>
            <a:r>
              <a:rPr sz="1400">
                <a:solidFill>
                  <a:srgbClr val="D6E4F0"/>
                </a:solidFill>
              </a:rPr>
              <a:t>   ·   Genel Bilgi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60120"/>
            <a:ext cx="5608179" cy="5394960"/>
          </a:xfrm>
          <a:prstGeom prst="rect">
            <a:avLst/>
          </a:prstGeom>
          <a:solidFill>
            <a:srgbClr val="F7F9FB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82880" rIns="182880" rtlCol="0" anchor="ctr"/>
          <a:lstStyle/>
          <a:p>
            <a:pPr algn="ctr">
              <a:spcAft>
                <a:spcPts val="1400"/>
              </a:spcAft>
            </a:pPr>
            <a:r>
              <a:rPr sz="1700" b="1">
                <a:solidFill>
                  <a:srgbClr val="222222"/>
                </a:solidFill>
              </a:rPr>
              <a:t>Amatör telsiz telgraf haberleşmesi için istasyon açıldığında yapılacak ilk işlem: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22222"/>
                </a:solidFill>
              </a:rPr>
              <a:t>a)  Amatör bandda hemen çağrı yapmaktır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22222"/>
                </a:solidFill>
              </a:rPr>
              <a:t>b)  Bir süre mors alma pratiği yaparak göndermeye geçmektir</a:t>
            </a:r>
          </a:p>
          <a:p>
            <a:pPr>
              <a:spcAft>
                <a:spcPts val="800"/>
              </a:spcAft>
            </a:pPr>
            <a:r>
              <a:rPr sz="1500" b="1">
                <a:solidFill>
                  <a:srgbClr val="2E7D32"/>
                </a:solidFill>
              </a:rPr>
              <a:t>c)  Çalışılacak bandda kısa bir süre dinleme yaparak haberleşme koşullarının uygun olup olmadığını tespit etmek ve bandda çalışan istasyon bulunup bulunmadığına bakmaktır</a:t>
            </a:r>
            <a:r>
              <a:rPr sz="1200" i="1">
                <a:solidFill>
                  <a:srgbClr val="2E7D32"/>
                </a:solidFill>
              </a:rPr>
              <a:t>   ✓ Doğru cevap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22222"/>
                </a:solidFill>
              </a:rPr>
              <a:t>d)  Bir seri V harfi göndererek karşı istasyonun alıcısını ayarlamasını sağlamaktır</a:t>
            </a:r>
          </a:p>
        </p:txBody>
      </p:sp>
      <p:sp>
        <p:nvSpPr>
          <p:cNvPr id="5" name="Rectangle 4"/>
          <p:cNvSpPr/>
          <p:nvPr/>
        </p:nvSpPr>
        <p:spPr>
          <a:xfrm>
            <a:off x="6339699" y="960120"/>
            <a:ext cx="5394796" cy="5394960"/>
          </a:xfrm>
          <a:prstGeom prst="rect">
            <a:avLst/>
          </a:prstGeom>
          <a:solidFill>
            <a:srgbClr val="E2EFDA"/>
          </a:solidFill>
          <a:ln w="9525">
            <a:solidFill>
              <a:srgbClr val="9BC1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82880" rIns="182880" rtlCol="0" anchor="ctr"/>
          <a:lstStyle/>
          <a:p>
            <a:pPr algn="ctr">
              <a:spcAft>
                <a:spcPts val="900"/>
              </a:spcAft>
            </a:pPr>
            <a:r>
              <a:rPr sz="1400" b="1">
                <a:solidFill>
                  <a:srgbClr val="2E7D32"/>
                </a:solidFill>
              </a:rPr>
              <a:t>AÇIKLAMA</a:t>
            </a:r>
          </a:p>
          <a:p>
            <a:pPr>
              <a:spcAft>
                <a:spcPts val="1100"/>
              </a:spcAft>
            </a:pPr>
            <a:r>
              <a:rPr sz="1300">
                <a:solidFill>
                  <a:srgbClr val="222222"/>
                </a:solidFill>
              </a:rPr>
              <a:t>İyi işletme adabı, göndermeden önce dinlemektir — bant koşullarını değerlendirmek ve zaten kullanılan bir frekansa çıkıp karışıklık yaratmamak için.</a:t>
            </a:r>
          </a:p>
          <a:p>
            <a:r>
              <a:rPr sz="1100" b="1">
                <a:solidFill>
                  <a:srgbClr val="1F3864"/>
                </a:solidFill>
              </a:rPr>
              <a:t>Kaynak: </a:t>
            </a:r>
            <a:r>
              <a:rPr sz="1100" i="1">
                <a:solidFill>
                  <a:srgbClr val="404040"/>
                </a:solidFill>
              </a:rPr>
              <a:t>Genel amatör telsiz işletme adabı.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95959"/>
                </a:solidFill>
              </a:rPr>
              <a:t>İşletme — Soru 29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4008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1460175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1">
                <a:solidFill>
                  <a:srgbClr val="FFFFFF"/>
                </a:solidFill>
              </a:rPr>
              <a:t>Soru 30</a:t>
            </a:r>
            <a:r>
              <a:rPr sz="1400">
                <a:solidFill>
                  <a:srgbClr val="D6E4F0"/>
                </a:solidFill>
              </a:rPr>
              <a:t>   ·   Fonetik Alfabe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60120"/>
            <a:ext cx="5608179" cy="5394960"/>
          </a:xfrm>
          <a:prstGeom prst="rect">
            <a:avLst/>
          </a:prstGeom>
          <a:solidFill>
            <a:srgbClr val="F7F9FB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82880" rIns="182880" rtlCol="0" anchor="ctr"/>
          <a:lstStyle/>
          <a:p>
            <a:pPr algn="ctr">
              <a:spcAft>
                <a:spcPts val="1400"/>
              </a:spcAft>
            </a:pPr>
            <a:r>
              <a:rPr sz="1700" b="1">
                <a:solidFill>
                  <a:srgbClr val="222222"/>
                </a:solidFill>
              </a:rPr>
              <a:t>Bir telsiz telefon konuşmasında SEVEN (yedi rakamı) kelimesinin hecelenmesi nasıldır?</a:t>
            </a:r>
          </a:p>
          <a:p>
            <a:pPr>
              <a:spcAft>
                <a:spcPts val="800"/>
              </a:spcAft>
            </a:pPr>
            <a:r>
              <a:rPr sz="1500" b="1">
                <a:solidFill>
                  <a:srgbClr val="2E7D32"/>
                </a:solidFill>
              </a:rPr>
              <a:t>a)  Sierra - Echo - Victor - Echo - November</a:t>
            </a:r>
            <a:r>
              <a:rPr sz="1200" i="1">
                <a:solidFill>
                  <a:srgbClr val="2E7D32"/>
                </a:solidFill>
              </a:rPr>
              <a:t>   ✓ Doğru cevap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22222"/>
                </a:solidFill>
              </a:rPr>
              <a:t>b)  Spain - Europa - Victor - Europa - November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22222"/>
                </a:solidFill>
              </a:rPr>
              <a:t>c)  Sugar - Europa - Very - Europa - November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22222"/>
                </a:solidFill>
              </a:rPr>
              <a:t>d)  Sierra - Echo - Very - Echo - November</a:t>
            </a:r>
          </a:p>
        </p:txBody>
      </p:sp>
      <p:sp>
        <p:nvSpPr>
          <p:cNvPr id="5" name="Rectangle 4"/>
          <p:cNvSpPr/>
          <p:nvPr/>
        </p:nvSpPr>
        <p:spPr>
          <a:xfrm>
            <a:off x="6339699" y="960120"/>
            <a:ext cx="5394796" cy="5394960"/>
          </a:xfrm>
          <a:prstGeom prst="rect">
            <a:avLst/>
          </a:prstGeom>
          <a:solidFill>
            <a:srgbClr val="E2EFDA"/>
          </a:solidFill>
          <a:ln w="9525">
            <a:solidFill>
              <a:srgbClr val="9BC1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82880" rIns="182880" rtlCol="0" anchor="ctr"/>
          <a:lstStyle/>
          <a:p>
            <a:pPr algn="ctr">
              <a:spcAft>
                <a:spcPts val="900"/>
              </a:spcAft>
            </a:pPr>
            <a:r>
              <a:rPr sz="1400" b="1">
                <a:solidFill>
                  <a:srgbClr val="2E7D32"/>
                </a:solidFill>
              </a:rPr>
              <a:t>AÇIKLAMA</a:t>
            </a:r>
          </a:p>
          <a:p>
            <a:pPr>
              <a:spcAft>
                <a:spcPts val="1100"/>
              </a:spcAft>
            </a:pPr>
            <a:r>
              <a:rPr sz="1300">
                <a:solidFill>
                  <a:srgbClr val="222222"/>
                </a:solidFill>
              </a:rPr>
              <a:t>Rakamların yanlış anlaşılmasını önlemek için ITU rakam hecelemesi kullanılır: SEVEN → Sierra-Echo-Victor-Echo-November.</a:t>
            </a:r>
          </a:p>
          <a:p>
            <a:r>
              <a:rPr sz="1100" b="1">
                <a:solidFill>
                  <a:srgbClr val="1F3864"/>
                </a:solidFill>
              </a:rPr>
              <a:t>Kaynak: </a:t>
            </a:r>
            <a:r>
              <a:rPr sz="1100" i="1">
                <a:solidFill>
                  <a:srgbClr val="404040"/>
                </a:solidFill>
              </a:rPr>
              <a:t>NATO/Uluslararası fonetik alfabe ve KEGM ulusal (il adı) fonetik alfabesi.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95959"/>
                </a:solidFill>
              </a:rPr>
              <a:t>İşletme — Soru 30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4008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1460175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1">
                <a:solidFill>
                  <a:srgbClr val="FFFFFF"/>
                </a:solidFill>
              </a:rPr>
              <a:t>Soru 31</a:t>
            </a:r>
            <a:r>
              <a:rPr sz="1400">
                <a:solidFill>
                  <a:srgbClr val="D6E4F0"/>
                </a:solidFill>
              </a:rPr>
              <a:t>   ·   Kısaltmalar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60120"/>
            <a:ext cx="5608179" cy="5394960"/>
          </a:xfrm>
          <a:prstGeom prst="rect">
            <a:avLst/>
          </a:prstGeom>
          <a:solidFill>
            <a:srgbClr val="F7F9FB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82880" rIns="182880" rtlCol="0" anchor="ctr"/>
          <a:lstStyle/>
          <a:p>
            <a:pPr algn="ctr">
              <a:spcAft>
                <a:spcPts val="1400"/>
              </a:spcAft>
            </a:pPr>
            <a:r>
              <a:rPr sz="1700" b="1">
                <a:solidFill>
                  <a:srgbClr val="222222"/>
                </a:solidFill>
              </a:rPr>
              <a:t>Telsiz haberleşmesinde kullanılan kısaltmalardan biri olan CL neyi ifade eder?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22222"/>
                </a:solidFill>
              </a:rPr>
              <a:t>a)  İstasyon haberleşmeye hazır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22222"/>
                </a:solidFill>
              </a:rPr>
              <a:t>b)  Görüşmeyi onaylıyorum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22222"/>
                </a:solidFill>
              </a:rPr>
              <a:t>c)  Görüşmeyi kesiyorum</a:t>
            </a:r>
          </a:p>
          <a:p>
            <a:pPr>
              <a:spcAft>
                <a:spcPts val="800"/>
              </a:spcAft>
            </a:pPr>
            <a:r>
              <a:rPr sz="1500" b="1">
                <a:solidFill>
                  <a:srgbClr val="2E7D32"/>
                </a:solidFill>
              </a:rPr>
              <a:t>d)  İstasyonumu kapatıyorum</a:t>
            </a:r>
            <a:r>
              <a:rPr sz="1200" i="1">
                <a:solidFill>
                  <a:srgbClr val="2E7D32"/>
                </a:solidFill>
              </a:rPr>
              <a:t>   ✓ Doğru cevap</a:t>
            </a:r>
          </a:p>
        </p:txBody>
      </p:sp>
      <p:sp>
        <p:nvSpPr>
          <p:cNvPr id="5" name="Rectangle 4"/>
          <p:cNvSpPr/>
          <p:nvPr/>
        </p:nvSpPr>
        <p:spPr>
          <a:xfrm>
            <a:off x="6339699" y="960120"/>
            <a:ext cx="5394796" cy="5394960"/>
          </a:xfrm>
          <a:prstGeom prst="rect">
            <a:avLst/>
          </a:prstGeom>
          <a:solidFill>
            <a:srgbClr val="E2EFDA"/>
          </a:solidFill>
          <a:ln w="9525">
            <a:solidFill>
              <a:srgbClr val="9BC1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82880" rIns="182880" rtlCol="0" anchor="ctr"/>
          <a:lstStyle/>
          <a:p>
            <a:pPr algn="ctr">
              <a:spcAft>
                <a:spcPts val="900"/>
              </a:spcAft>
            </a:pPr>
            <a:r>
              <a:rPr sz="1400" b="1">
                <a:solidFill>
                  <a:srgbClr val="2E7D32"/>
                </a:solidFill>
              </a:rPr>
              <a:t>AÇIKLAMA</a:t>
            </a:r>
          </a:p>
          <a:p>
            <a:pPr>
              <a:spcAft>
                <a:spcPts val="1100"/>
              </a:spcAft>
            </a:pPr>
            <a:r>
              <a:rPr sz="1300">
                <a:solidFill>
                  <a:srgbClr val="222222"/>
                </a:solidFill>
              </a:rPr>
              <a:t>CL </a:t>
            </a:r>
            <a:r>
              <a:rPr sz="1300" i="1">
                <a:solidFill>
                  <a:srgbClr val="222222"/>
                </a:solidFill>
              </a:rPr>
              <a:t>(closing)</a:t>
            </a:r>
            <a:r>
              <a:rPr sz="1300">
                <a:solidFill>
                  <a:srgbClr val="222222"/>
                </a:solidFill>
              </a:rPr>
              <a:t>, operatörün istasyonunu kapatacağını, artık dinlemede olmayacağını bildirir.</a:t>
            </a:r>
          </a:p>
          <a:p>
            <a:r>
              <a:rPr sz="1100" b="1">
                <a:solidFill>
                  <a:srgbClr val="1F3864"/>
                </a:solidFill>
              </a:rPr>
              <a:t>Kaynak: </a:t>
            </a:r>
            <a:r>
              <a:rPr sz="1100" i="1">
                <a:solidFill>
                  <a:srgbClr val="404040"/>
                </a:solidFill>
              </a:rPr>
              <a:t>Uluslararası prosedürel Mors işaretleri.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95959"/>
                </a:solidFill>
              </a:rPr>
              <a:t>İşletme — Soru 31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4008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1460175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1">
                <a:solidFill>
                  <a:srgbClr val="FFFFFF"/>
                </a:solidFill>
              </a:rPr>
              <a:t>Soru 32</a:t>
            </a:r>
            <a:r>
              <a:rPr sz="1400">
                <a:solidFill>
                  <a:srgbClr val="D6E4F0"/>
                </a:solidFill>
              </a:rPr>
              <a:t>   ·   Q-Kodları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60120"/>
            <a:ext cx="5608179" cy="5394960"/>
          </a:xfrm>
          <a:prstGeom prst="rect">
            <a:avLst/>
          </a:prstGeom>
          <a:solidFill>
            <a:srgbClr val="F7F9FB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82880" rIns="182880" rtlCol="0" anchor="ctr"/>
          <a:lstStyle/>
          <a:p>
            <a:pPr algn="ctr">
              <a:spcAft>
                <a:spcPts val="1400"/>
              </a:spcAft>
            </a:pPr>
            <a:r>
              <a:rPr sz="1700" b="1">
                <a:solidFill>
                  <a:srgbClr val="222222"/>
                </a:solidFill>
              </a:rPr>
              <a:t>Telsiz telgraf haberleşmesinde "istasyonunuzun tam olarak yeri neresidir" sorusu aşağıdaki kısaltmalardan hangisi ile sorulur?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22222"/>
                </a:solidFill>
              </a:rPr>
              <a:t>a)  QSB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22222"/>
                </a:solidFill>
              </a:rPr>
              <a:t>b)  QSO</a:t>
            </a:r>
          </a:p>
          <a:p>
            <a:pPr>
              <a:spcAft>
                <a:spcPts val="800"/>
              </a:spcAft>
            </a:pPr>
            <a:r>
              <a:rPr sz="1500" b="1">
                <a:solidFill>
                  <a:srgbClr val="2E7D32"/>
                </a:solidFill>
              </a:rPr>
              <a:t>c)  QTH</a:t>
            </a:r>
            <a:r>
              <a:rPr sz="1200" i="1">
                <a:solidFill>
                  <a:srgbClr val="2E7D32"/>
                </a:solidFill>
              </a:rPr>
              <a:t>   ✓ Doğru cevap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22222"/>
                </a:solidFill>
              </a:rPr>
              <a:t>d)  QRO</a:t>
            </a:r>
          </a:p>
        </p:txBody>
      </p:sp>
      <p:sp>
        <p:nvSpPr>
          <p:cNvPr id="5" name="Rectangle 4"/>
          <p:cNvSpPr/>
          <p:nvPr/>
        </p:nvSpPr>
        <p:spPr>
          <a:xfrm>
            <a:off x="6339699" y="960120"/>
            <a:ext cx="5394796" cy="5394960"/>
          </a:xfrm>
          <a:prstGeom prst="rect">
            <a:avLst/>
          </a:prstGeom>
          <a:solidFill>
            <a:srgbClr val="E2EFDA"/>
          </a:solidFill>
          <a:ln w="9525">
            <a:solidFill>
              <a:srgbClr val="9BC1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82880" rIns="182880" rtlCol="0" anchor="ctr"/>
          <a:lstStyle/>
          <a:p>
            <a:pPr algn="ctr">
              <a:spcAft>
                <a:spcPts val="900"/>
              </a:spcAft>
            </a:pPr>
            <a:r>
              <a:rPr sz="1400" b="1">
                <a:solidFill>
                  <a:srgbClr val="2E7D32"/>
                </a:solidFill>
              </a:rPr>
              <a:t>AÇIKLAMA</a:t>
            </a:r>
          </a:p>
          <a:p>
            <a:pPr>
              <a:spcAft>
                <a:spcPts val="1100"/>
              </a:spcAft>
            </a:pPr>
            <a:r>
              <a:rPr sz="1300">
                <a:solidFill>
                  <a:srgbClr val="222222"/>
                </a:solidFill>
              </a:rPr>
              <a:t>QTH, karşı istasyonun coğrafi konumunu </a:t>
            </a:r>
            <a:r>
              <a:rPr sz="1300" i="1">
                <a:solidFill>
                  <a:srgbClr val="222222"/>
                </a:solidFill>
              </a:rPr>
              <a:t>(kaynak, mevkii)</a:t>
            </a:r>
            <a:r>
              <a:rPr sz="1300">
                <a:solidFill>
                  <a:srgbClr val="222222"/>
                </a:solidFill>
              </a:rPr>
              <a:t> sormak için kullanılan Q-koddur.</a:t>
            </a:r>
          </a:p>
          <a:p>
            <a:r>
              <a:rPr sz="1100" b="1">
                <a:solidFill>
                  <a:srgbClr val="1F3864"/>
                </a:solidFill>
              </a:rPr>
              <a:t>Kaynak: </a:t>
            </a:r>
            <a:r>
              <a:rPr sz="1100" i="1">
                <a:solidFill>
                  <a:srgbClr val="404040"/>
                </a:solidFill>
              </a:rPr>
              <a:t>ITU Q-kod tablosu (uluslararası standart kısaltılmış telsiz sinyalleri).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95959"/>
                </a:solidFill>
              </a:rPr>
              <a:t>İşletme — Soru 32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4008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1460175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1">
                <a:solidFill>
                  <a:srgbClr val="FFFFFF"/>
                </a:solidFill>
              </a:rPr>
              <a:t>Soru 33</a:t>
            </a:r>
            <a:r>
              <a:rPr sz="1400">
                <a:solidFill>
                  <a:srgbClr val="D6E4F0"/>
                </a:solidFill>
              </a:rPr>
              <a:t>   ·   Genel Bilgi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60120"/>
            <a:ext cx="5608179" cy="5394960"/>
          </a:xfrm>
          <a:prstGeom prst="rect">
            <a:avLst/>
          </a:prstGeom>
          <a:solidFill>
            <a:srgbClr val="F7F9FB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82880" rIns="182880" rtlCol="0" anchor="ctr"/>
          <a:lstStyle/>
          <a:p>
            <a:pPr algn="ctr">
              <a:spcAft>
                <a:spcPts val="1400"/>
              </a:spcAft>
            </a:pPr>
            <a:r>
              <a:rPr sz="1700" b="1">
                <a:solidFill>
                  <a:srgbClr val="222222"/>
                </a:solidFill>
              </a:rPr>
              <a:t>RTTY kısaltması neyi ifade eder?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22222"/>
                </a:solidFill>
              </a:rPr>
              <a:t>a)  Telsiz telefonu</a:t>
            </a:r>
          </a:p>
          <a:p>
            <a:pPr>
              <a:spcAft>
                <a:spcPts val="800"/>
              </a:spcAft>
            </a:pPr>
            <a:r>
              <a:rPr sz="1500" b="1">
                <a:solidFill>
                  <a:srgbClr val="2E7D32"/>
                </a:solidFill>
              </a:rPr>
              <a:t>b)  Radyo teletype'e</a:t>
            </a:r>
            <a:r>
              <a:rPr sz="1200" i="1">
                <a:solidFill>
                  <a:srgbClr val="2E7D32"/>
                </a:solidFill>
              </a:rPr>
              <a:t>   ✓ Doğru cevap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22222"/>
                </a:solidFill>
              </a:rPr>
              <a:t>c)  Radyo televizyonu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22222"/>
                </a:solidFill>
              </a:rPr>
              <a:t>d)  Hiçbiri</a:t>
            </a:r>
          </a:p>
        </p:txBody>
      </p:sp>
      <p:sp>
        <p:nvSpPr>
          <p:cNvPr id="5" name="Rectangle 4"/>
          <p:cNvSpPr/>
          <p:nvPr/>
        </p:nvSpPr>
        <p:spPr>
          <a:xfrm>
            <a:off x="6339699" y="960120"/>
            <a:ext cx="5394796" cy="5394960"/>
          </a:xfrm>
          <a:prstGeom prst="rect">
            <a:avLst/>
          </a:prstGeom>
          <a:solidFill>
            <a:srgbClr val="E2EFDA"/>
          </a:solidFill>
          <a:ln w="9525">
            <a:solidFill>
              <a:srgbClr val="9BC1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82880" rIns="182880" rtlCol="0" anchor="ctr"/>
          <a:lstStyle/>
          <a:p>
            <a:pPr algn="ctr">
              <a:spcAft>
                <a:spcPts val="900"/>
              </a:spcAft>
            </a:pPr>
            <a:r>
              <a:rPr sz="1400" b="1">
                <a:solidFill>
                  <a:srgbClr val="2E7D32"/>
                </a:solidFill>
              </a:rPr>
              <a:t>AÇIKLAMA</a:t>
            </a:r>
          </a:p>
          <a:p>
            <a:pPr>
              <a:spcAft>
                <a:spcPts val="1100"/>
              </a:spcAft>
            </a:pPr>
            <a:r>
              <a:rPr sz="1300">
                <a:solidFill>
                  <a:srgbClr val="222222"/>
                </a:solidFill>
              </a:rPr>
              <a:t>RTTY </a:t>
            </a:r>
            <a:r>
              <a:rPr sz="1300" i="1">
                <a:solidFill>
                  <a:srgbClr val="222222"/>
                </a:solidFill>
              </a:rPr>
              <a:t>(Radio Teletype)</a:t>
            </a:r>
            <a:r>
              <a:rPr sz="1300">
                <a:solidFill>
                  <a:srgbClr val="222222"/>
                </a:solidFill>
              </a:rPr>
              <a:t>, telsiz üzerinden yazılı metin gönderilen eski bir sayısal haberleşme modudur.</a:t>
            </a:r>
          </a:p>
          <a:p>
            <a:r>
              <a:rPr sz="1100" b="1">
                <a:solidFill>
                  <a:srgbClr val="1F3864"/>
                </a:solidFill>
              </a:rPr>
              <a:t>Kaynak: </a:t>
            </a:r>
            <a:r>
              <a:rPr sz="1100" i="1">
                <a:solidFill>
                  <a:srgbClr val="404040"/>
                </a:solidFill>
              </a:rPr>
              <a:t>Genel amatör telsiz sözlüğü.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95959"/>
                </a:solidFill>
              </a:rPr>
              <a:t>İşletme — Soru 33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4008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1460175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1">
                <a:solidFill>
                  <a:srgbClr val="FFFFFF"/>
                </a:solidFill>
              </a:rPr>
              <a:t>Soru 34</a:t>
            </a:r>
            <a:r>
              <a:rPr sz="1400">
                <a:solidFill>
                  <a:srgbClr val="D6E4F0"/>
                </a:solidFill>
              </a:rPr>
              <a:t>   ·   Genel Bilgi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60120"/>
            <a:ext cx="5608179" cy="5394960"/>
          </a:xfrm>
          <a:prstGeom prst="rect">
            <a:avLst/>
          </a:prstGeom>
          <a:solidFill>
            <a:srgbClr val="F7F9FB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82880" rIns="182880" rtlCol="0" anchor="ctr"/>
          <a:lstStyle/>
          <a:p>
            <a:pPr algn="ctr">
              <a:spcAft>
                <a:spcPts val="1400"/>
              </a:spcAft>
            </a:pPr>
            <a:r>
              <a:rPr sz="1700" b="1">
                <a:solidFill>
                  <a:srgbClr val="222222"/>
                </a:solidFill>
              </a:rPr>
              <a:t>QSL kartları ne için kullanılır?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22222"/>
                </a:solidFill>
              </a:rPr>
              <a:t>a)  Amatörün ülkesindeki doğal güzellikleri tanıtmak için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22222"/>
                </a:solidFill>
              </a:rPr>
              <a:t>b)  Amatör istasyonun reklamı amacı ile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22222"/>
                </a:solidFill>
              </a:rPr>
              <a:t>c)  Karşı taraftaki amatöre jest için</a:t>
            </a:r>
          </a:p>
          <a:p>
            <a:pPr>
              <a:spcAft>
                <a:spcPts val="800"/>
              </a:spcAft>
            </a:pPr>
            <a:r>
              <a:rPr sz="1500" b="1">
                <a:solidFill>
                  <a:srgbClr val="2E7D32"/>
                </a:solidFill>
              </a:rPr>
              <a:t>d)  Yapılan bir görüşme (QSO) sonunda görüşmeyi onaylamak amacı ile</a:t>
            </a:r>
            <a:r>
              <a:rPr sz="1200" i="1">
                <a:solidFill>
                  <a:srgbClr val="2E7D32"/>
                </a:solidFill>
              </a:rPr>
              <a:t>   ✓ Doğru cevap</a:t>
            </a:r>
          </a:p>
        </p:txBody>
      </p:sp>
      <p:sp>
        <p:nvSpPr>
          <p:cNvPr id="5" name="Rectangle 4"/>
          <p:cNvSpPr/>
          <p:nvPr/>
        </p:nvSpPr>
        <p:spPr>
          <a:xfrm>
            <a:off x="6339699" y="960120"/>
            <a:ext cx="5394796" cy="5394960"/>
          </a:xfrm>
          <a:prstGeom prst="rect">
            <a:avLst/>
          </a:prstGeom>
          <a:solidFill>
            <a:srgbClr val="E2EFDA"/>
          </a:solidFill>
          <a:ln w="9525">
            <a:solidFill>
              <a:srgbClr val="9BC1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82880" rIns="182880" rtlCol="0" anchor="ctr"/>
          <a:lstStyle/>
          <a:p>
            <a:pPr algn="ctr">
              <a:spcAft>
                <a:spcPts val="900"/>
              </a:spcAft>
            </a:pPr>
            <a:r>
              <a:rPr sz="1400" b="1">
                <a:solidFill>
                  <a:srgbClr val="2E7D32"/>
                </a:solidFill>
              </a:rPr>
              <a:t>AÇIKLAMA</a:t>
            </a:r>
          </a:p>
          <a:p>
            <a:pPr>
              <a:spcAft>
                <a:spcPts val="1100"/>
              </a:spcAft>
            </a:pPr>
            <a:r>
              <a:rPr sz="1300">
                <a:solidFill>
                  <a:srgbClr val="222222"/>
                </a:solidFill>
              </a:rPr>
              <a:t>QSL kartı, iki amatör arasında gerçekleşen bir temasın </a:t>
            </a:r>
            <a:r>
              <a:rPr sz="1300" i="1">
                <a:solidFill>
                  <a:srgbClr val="222222"/>
                </a:solidFill>
              </a:rPr>
              <a:t>(QSO)</a:t>
            </a:r>
            <a:r>
              <a:rPr sz="1300">
                <a:solidFill>
                  <a:srgbClr val="222222"/>
                </a:solidFill>
              </a:rPr>
              <a:t> karşılıklı olarak yazılı şekilde teyit edilmesi için gönderilen geleneksel karttır.</a:t>
            </a:r>
          </a:p>
          <a:p>
            <a:r>
              <a:rPr sz="1100" b="1">
                <a:solidFill>
                  <a:srgbClr val="1F3864"/>
                </a:solidFill>
              </a:rPr>
              <a:t>Kaynak: </a:t>
            </a:r>
            <a:r>
              <a:rPr sz="1100" i="1">
                <a:solidFill>
                  <a:srgbClr val="404040"/>
                </a:solidFill>
              </a:rPr>
              <a:t>QSL kart geleneği.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95959"/>
                </a:solidFill>
              </a:rPr>
              <a:t>İşletme — Soru 34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4008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1460175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1">
                <a:solidFill>
                  <a:srgbClr val="FFFFFF"/>
                </a:solidFill>
              </a:rPr>
              <a:t>Soru 35</a:t>
            </a:r>
            <a:r>
              <a:rPr sz="1400">
                <a:solidFill>
                  <a:srgbClr val="D6E4F0"/>
                </a:solidFill>
              </a:rPr>
              <a:t>   ·   Genel Bilgi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60120"/>
            <a:ext cx="5608179" cy="5394960"/>
          </a:xfrm>
          <a:prstGeom prst="rect">
            <a:avLst/>
          </a:prstGeom>
          <a:solidFill>
            <a:srgbClr val="F7F9FB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82880" rIns="182880" rtlCol="0" anchor="ctr"/>
          <a:lstStyle/>
          <a:p>
            <a:pPr algn="ctr">
              <a:spcAft>
                <a:spcPts val="1400"/>
              </a:spcAft>
            </a:pPr>
            <a:r>
              <a:rPr sz="1700" b="1">
                <a:solidFill>
                  <a:srgbClr val="222222"/>
                </a:solidFill>
              </a:rPr>
              <a:t>Amatör telsizciler tarafından kullanılan telgraf kodu hangisidir?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22222"/>
                </a:solidFill>
              </a:rPr>
              <a:t>a)  AMTOR telgraf kodu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22222"/>
                </a:solidFill>
              </a:rPr>
              <a:t>b)  BAUD</a:t>
            </a:r>
          </a:p>
          <a:p>
            <a:pPr>
              <a:spcAft>
                <a:spcPts val="800"/>
              </a:spcAft>
            </a:pPr>
            <a:r>
              <a:rPr sz="1500" b="1">
                <a:solidFill>
                  <a:srgbClr val="2E7D32"/>
                </a:solidFill>
              </a:rPr>
              <a:t>c)  Uluslararası mors kodu</a:t>
            </a:r>
            <a:r>
              <a:rPr sz="1200" i="1">
                <a:solidFill>
                  <a:srgbClr val="2E7D32"/>
                </a:solidFill>
              </a:rPr>
              <a:t>   ✓ Doğru cevap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22222"/>
                </a:solidFill>
              </a:rPr>
              <a:t>d)  ASCII kodu</a:t>
            </a:r>
          </a:p>
        </p:txBody>
      </p:sp>
      <p:sp>
        <p:nvSpPr>
          <p:cNvPr id="5" name="Rectangle 4"/>
          <p:cNvSpPr/>
          <p:nvPr/>
        </p:nvSpPr>
        <p:spPr>
          <a:xfrm>
            <a:off x="6339699" y="960120"/>
            <a:ext cx="5394796" cy="5394960"/>
          </a:xfrm>
          <a:prstGeom prst="rect">
            <a:avLst/>
          </a:prstGeom>
          <a:solidFill>
            <a:srgbClr val="E2EFDA"/>
          </a:solidFill>
          <a:ln w="9525">
            <a:solidFill>
              <a:srgbClr val="9BC1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82880" rIns="182880" rtlCol="0" anchor="ctr"/>
          <a:lstStyle/>
          <a:p>
            <a:pPr algn="ctr">
              <a:spcAft>
                <a:spcPts val="900"/>
              </a:spcAft>
            </a:pPr>
            <a:r>
              <a:rPr sz="1400" b="1">
                <a:solidFill>
                  <a:srgbClr val="2E7D32"/>
                </a:solidFill>
              </a:rPr>
              <a:t>AÇIKLAMA</a:t>
            </a:r>
          </a:p>
          <a:p>
            <a:pPr>
              <a:spcAft>
                <a:spcPts val="1100"/>
              </a:spcAft>
            </a:pPr>
            <a:r>
              <a:rPr sz="1300">
                <a:solidFill>
                  <a:srgbClr val="222222"/>
                </a:solidFill>
              </a:rPr>
              <a:t>Amatör telsizcilikte CW </a:t>
            </a:r>
            <a:r>
              <a:rPr sz="1300" i="1">
                <a:solidFill>
                  <a:srgbClr val="222222"/>
                </a:solidFill>
              </a:rPr>
              <a:t>(telgraf)</a:t>
            </a:r>
            <a:r>
              <a:rPr sz="1300">
                <a:solidFill>
                  <a:srgbClr val="222222"/>
                </a:solidFill>
              </a:rPr>
              <a:t> haberleşmesi Uluslararası Mors Alfabesi ile yapılır; BAUD bir hız birimi, ASCII bir bilgisayar kodlamasıdır, telgraf kodu değildir.</a:t>
            </a:r>
          </a:p>
          <a:p>
            <a:r>
              <a:rPr sz="1100" b="1">
                <a:solidFill>
                  <a:srgbClr val="1F3864"/>
                </a:solidFill>
              </a:rPr>
              <a:t>Kaynak: </a:t>
            </a:r>
            <a:r>
              <a:rPr sz="1100" i="1">
                <a:solidFill>
                  <a:srgbClr val="404040"/>
                </a:solidFill>
              </a:rPr>
              <a:t>Uluslararası Mors Alfabesi.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95959"/>
                </a:solidFill>
              </a:rPr>
              <a:t>İşletme — Soru 35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772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FFFFFF"/>
                </a:solidFill>
              </a:rPr>
              <a:t>BÖLÜM 4: Anten, Enterferans ve TVI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911535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300"/>
              </a:spcAft>
            </a:pPr>
            <a:r>
              <a:rPr sz="1700">
                <a:solidFill>
                  <a:srgbClr val="222222"/>
                </a:solidFill>
              </a:rPr>
              <a:t>•  Enterferans </a:t>
            </a:r>
            <a:r>
              <a:rPr sz="1700" i="1">
                <a:solidFill>
                  <a:srgbClr val="222222"/>
                </a:solidFill>
              </a:rPr>
              <a:t>(istenmeyen radyo girişimi)</a:t>
            </a:r>
            <a:r>
              <a:rPr sz="1700">
                <a:solidFill>
                  <a:srgbClr val="222222"/>
                </a:solidFill>
              </a:rPr>
              <a:t>, genellikle komşu bir TV/radyo alıcısına sinyal sızmasından kaynaklanır.</a:t>
            </a:r>
          </a:p>
          <a:p>
            <a:pPr>
              <a:spcAft>
                <a:spcPts val="1300"/>
              </a:spcAft>
            </a:pPr>
            <a:r>
              <a:rPr sz="1700">
                <a:solidFill>
                  <a:srgbClr val="222222"/>
                </a:solidFill>
              </a:rPr>
              <a:t>•  TVI </a:t>
            </a:r>
            <a:r>
              <a:rPr sz="1700" i="1">
                <a:solidFill>
                  <a:srgbClr val="222222"/>
                </a:solidFill>
              </a:rPr>
              <a:t>(television interference — televizyon girişimi)</a:t>
            </a:r>
            <a:r>
              <a:rPr sz="1700">
                <a:solidFill>
                  <a:srgbClr val="222222"/>
                </a:solidFill>
              </a:rPr>
              <a:t> ve benzeri sorunları çözmek için filtre kullanımı ve anten mesafesi/yönü önemlidir.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5623560"/>
            <a:ext cx="10911535" cy="914400"/>
          </a:xfrm>
          <a:prstGeom prst="rect">
            <a:avLst/>
          </a:prstGeom>
          <a:solidFill>
            <a:srgbClr val="D6E4F0"/>
          </a:solidFill>
          <a:ln>
            <a:solidFill>
              <a:srgbClr val="2E75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tlCol="0" anchor="ctr"/>
          <a:lstStyle/>
          <a:p>
            <a:pPr algn="ctr"/>
            <a:r>
              <a:rPr sz="1300" b="1">
                <a:solidFill>
                  <a:srgbClr val="1F3864"/>
                </a:solidFill>
              </a:rPr>
              <a:t>Bu bölümün kaynağı: </a:t>
            </a:r>
            <a:r>
              <a:rPr sz="1300">
                <a:solidFill>
                  <a:srgbClr val="222222"/>
                </a:solidFill>
              </a:rPr>
              <a:t>Genel RF enterferans (girişim) giderme teknikleri.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95959"/>
                </a:solidFill>
              </a:rPr>
              <a:t>İşletme — Bölüm 4 Girişi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4008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1460175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1">
                <a:solidFill>
                  <a:srgbClr val="FFFFFF"/>
                </a:solidFill>
              </a:rPr>
              <a:t>Soru 36</a:t>
            </a:r>
            <a:r>
              <a:rPr sz="1400">
                <a:solidFill>
                  <a:srgbClr val="D6E4F0"/>
                </a:solidFill>
              </a:rPr>
              <a:t>   ·   Genel Bilgi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60120"/>
            <a:ext cx="5608179" cy="5394960"/>
          </a:xfrm>
          <a:prstGeom prst="rect">
            <a:avLst/>
          </a:prstGeom>
          <a:solidFill>
            <a:srgbClr val="F7F9FB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82880" rIns="182880" rtlCol="0" anchor="ctr"/>
          <a:lstStyle/>
          <a:p>
            <a:pPr algn="ctr">
              <a:spcAft>
                <a:spcPts val="1400"/>
              </a:spcAft>
            </a:pPr>
            <a:r>
              <a:rPr sz="1700" b="1">
                <a:solidFill>
                  <a:srgbClr val="222222"/>
                </a:solidFill>
              </a:rPr>
              <a:t>Aşağıdakilerden hangisi bir transmisyon hattı çeşididir?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22222"/>
                </a:solidFill>
              </a:rPr>
              <a:t>a)  Tek telli hatlar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22222"/>
                </a:solidFill>
              </a:rPr>
              <a:t>b)  İki telli paralel hatlar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22222"/>
                </a:solidFill>
              </a:rPr>
              <a:t>c)  Koaksiyel hatlar</a:t>
            </a:r>
          </a:p>
          <a:p>
            <a:pPr>
              <a:spcAft>
                <a:spcPts val="800"/>
              </a:spcAft>
            </a:pPr>
            <a:r>
              <a:rPr sz="1500" b="1">
                <a:solidFill>
                  <a:srgbClr val="2E7D32"/>
                </a:solidFill>
              </a:rPr>
              <a:t>d)  Hepsi</a:t>
            </a:r>
            <a:r>
              <a:rPr sz="1200" i="1">
                <a:solidFill>
                  <a:srgbClr val="2E7D32"/>
                </a:solidFill>
              </a:rPr>
              <a:t>   ✓ Doğru cevap</a:t>
            </a:r>
          </a:p>
        </p:txBody>
      </p:sp>
      <p:sp>
        <p:nvSpPr>
          <p:cNvPr id="5" name="Rectangle 4"/>
          <p:cNvSpPr/>
          <p:nvPr/>
        </p:nvSpPr>
        <p:spPr>
          <a:xfrm>
            <a:off x="6339699" y="960120"/>
            <a:ext cx="5394796" cy="5394960"/>
          </a:xfrm>
          <a:prstGeom prst="rect">
            <a:avLst/>
          </a:prstGeom>
          <a:solidFill>
            <a:srgbClr val="E2EFDA"/>
          </a:solidFill>
          <a:ln w="9525">
            <a:solidFill>
              <a:srgbClr val="9BC1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82880" rIns="182880" rtlCol="0" anchor="ctr"/>
          <a:lstStyle/>
          <a:p>
            <a:pPr algn="ctr">
              <a:spcAft>
                <a:spcPts val="900"/>
              </a:spcAft>
            </a:pPr>
            <a:r>
              <a:rPr sz="1400" b="1">
                <a:solidFill>
                  <a:srgbClr val="2E7D32"/>
                </a:solidFill>
              </a:rPr>
              <a:t>AÇIKLAMA</a:t>
            </a:r>
          </a:p>
          <a:p>
            <a:pPr>
              <a:spcAft>
                <a:spcPts val="1100"/>
              </a:spcAft>
            </a:pPr>
            <a:r>
              <a:rPr sz="1300">
                <a:solidFill>
                  <a:srgbClr val="222222"/>
                </a:solidFill>
              </a:rPr>
              <a:t>Transmisyon hattı </a:t>
            </a:r>
            <a:r>
              <a:rPr sz="1300" i="1">
                <a:solidFill>
                  <a:srgbClr val="222222"/>
                </a:solidFill>
              </a:rPr>
              <a:t>(iletim hattı)</a:t>
            </a:r>
            <a:r>
              <a:rPr sz="1300">
                <a:solidFill>
                  <a:srgbClr val="222222"/>
                </a:solidFill>
              </a:rPr>
              <a:t>, vericiden antene RF enerjisi taşıyan hattır; tek telli, iki telli paralel </a:t>
            </a:r>
            <a:r>
              <a:rPr sz="1300" i="1">
                <a:solidFill>
                  <a:srgbClr val="222222"/>
                </a:solidFill>
              </a:rPr>
              <a:t>(ladder line)</a:t>
            </a:r>
            <a:r>
              <a:rPr sz="1300">
                <a:solidFill>
                  <a:srgbClr val="222222"/>
                </a:solidFill>
              </a:rPr>
              <a:t> ve koaksiyel </a:t>
            </a:r>
            <a:r>
              <a:rPr sz="1300" i="1">
                <a:solidFill>
                  <a:srgbClr val="222222"/>
                </a:solidFill>
              </a:rPr>
              <a:t>(iç içe iki iletkenli kablo)</a:t>
            </a:r>
            <a:r>
              <a:rPr sz="1300">
                <a:solidFill>
                  <a:srgbClr val="222222"/>
                </a:solidFill>
              </a:rPr>
              <a:t> olmak üzere farklı türleri vardır — hepsi geçerli bir iletim hattı çeşididir.</a:t>
            </a:r>
          </a:p>
          <a:p>
            <a:r>
              <a:rPr sz="1100" b="1">
                <a:solidFill>
                  <a:srgbClr val="1F3864"/>
                </a:solidFill>
              </a:rPr>
              <a:t>Kaynak: </a:t>
            </a:r>
            <a:r>
              <a:rPr sz="1100" i="1">
                <a:solidFill>
                  <a:srgbClr val="404040"/>
                </a:solidFill>
              </a:rPr>
              <a:t>Genel anten/iletim hattı teorisi.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95959"/>
                </a:solidFill>
              </a:rPr>
              <a:t>İşletme — Soru 36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4008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1460175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1">
                <a:solidFill>
                  <a:srgbClr val="FFFFFF"/>
                </a:solidFill>
              </a:rPr>
              <a:t>Soru 37</a:t>
            </a:r>
            <a:r>
              <a:rPr sz="1400">
                <a:solidFill>
                  <a:srgbClr val="D6E4F0"/>
                </a:solidFill>
              </a:rPr>
              <a:t>   ·   Bant Planı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60120"/>
            <a:ext cx="5608179" cy="5394960"/>
          </a:xfrm>
          <a:prstGeom prst="rect">
            <a:avLst/>
          </a:prstGeom>
          <a:solidFill>
            <a:srgbClr val="F7F9FB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82880" rIns="182880" rtlCol="0" anchor="ctr"/>
          <a:lstStyle/>
          <a:p>
            <a:pPr algn="ctr">
              <a:spcAft>
                <a:spcPts val="1400"/>
              </a:spcAft>
            </a:pPr>
            <a:r>
              <a:rPr sz="1700" b="1">
                <a:solidFill>
                  <a:srgbClr val="222222"/>
                </a:solidFill>
              </a:rPr>
              <a:t>20 m amatör bandı hangi frekans aralığındadır?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22222"/>
                </a:solidFill>
              </a:rPr>
              <a:t>a)  21.300 - 21.700 Mhz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22222"/>
                </a:solidFill>
              </a:rPr>
              <a:t>b)  21.000 - 21.450 Mhz</a:t>
            </a:r>
          </a:p>
          <a:p>
            <a:pPr>
              <a:spcAft>
                <a:spcPts val="800"/>
              </a:spcAft>
            </a:pPr>
            <a:r>
              <a:rPr sz="1500" b="1">
                <a:solidFill>
                  <a:srgbClr val="2E7D32"/>
                </a:solidFill>
              </a:rPr>
              <a:t>c)  14.000 - 14.350 Mhz</a:t>
            </a:r>
            <a:r>
              <a:rPr sz="1200" i="1">
                <a:solidFill>
                  <a:srgbClr val="2E7D32"/>
                </a:solidFill>
              </a:rPr>
              <a:t>   ✓ Doğru cevap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22222"/>
                </a:solidFill>
              </a:rPr>
              <a:t>d)  14.050 - 14.225 Mhz</a:t>
            </a:r>
          </a:p>
        </p:txBody>
      </p:sp>
      <p:sp>
        <p:nvSpPr>
          <p:cNvPr id="5" name="Rectangle 4"/>
          <p:cNvSpPr/>
          <p:nvPr/>
        </p:nvSpPr>
        <p:spPr>
          <a:xfrm>
            <a:off x="6339699" y="960120"/>
            <a:ext cx="5394796" cy="5394960"/>
          </a:xfrm>
          <a:prstGeom prst="rect">
            <a:avLst/>
          </a:prstGeom>
          <a:solidFill>
            <a:srgbClr val="E2EFDA"/>
          </a:solidFill>
          <a:ln w="9525">
            <a:solidFill>
              <a:srgbClr val="9BC1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82880" rIns="182880" rtlCol="0" anchor="ctr"/>
          <a:lstStyle/>
          <a:p>
            <a:pPr algn="ctr">
              <a:spcAft>
                <a:spcPts val="900"/>
              </a:spcAft>
            </a:pPr>
            <a:r>
              <a:rPr sz="1400" b="1">
                <a:solidFill>
                  <a:srgbClr val="2E7D32"/>
                </a:solidFill>
              </a:rPr>
              <a:t>AÇIKLAMA</a:t>
            </a:r>
          </a:p>
          <a:p>
            <a:pPr>
              <a:spcAft>
                <a:spcPts val="1100"/>
              </a:spcAft>
            </a:pPr>
            <a:r>
              <a:rPr sz="1300">
                <a:solidFill>
                  <a:srgbClr val="222222"/>
                </a:solidFill>
              </a:rPr>
              <a:t>20 metre bandı 14.000-14.350 MHz aralığındadır </a:t>
            </a:r>
            <a:r>
              <a:rPr sz="1300" i="1">
                <a:solidFill>
                  <a:srgbClr val="222222"/>
                </a:solidFill>
              </a:rPr>
              <a:t>(band adı, o frekanstaki dalga boyundan gelir: 14 MHz ≈ 21.4 m, yuvarlanarak '20m' denir)</a:t>
            </a:r>
            <a:r>
              <a:rPr sz="1300">
                <a:solidFill>
                  <a:srgbClr val="222222"/>
                </a:solidFill>
              </a:rPr>
              <a:t>.</a:t>
            </a:r>
          </a:p>
          <a:p>
            <a:r>
              <a:rPr sz="1100" b="1">
                <a:solidFill>
                  <a:srgbClr val="1F3864"/>
                </a:solidFill>
              </a:rPr>
              <a:t>Kaynak: </a:t>
            </a:r>
            <a:r>
              <a:rPr sz="1100" i="1">
                <a:solidFill>
                  <a:srgbClr val="404040"/>
                </a:solidFill>
              </a:rPr>
              <a:t>IARU Region-1 amatör bant planı.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95959"/>
                </a:solidFill>
              </a:rPr>
              <a:t>İşletme — Soru 37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4008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1460175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1">
                <a:solidFill>
                  <a:srgbClr val="FFFFFF"/>
                </a:solidFill>
              </a:rPr>
              <a:t>Soru 38</a:t>
            </a:r>
            <a:r>
              <a:rPr sz="1400">
                <a:solidFill>
                  <a:srgbClr val="D6E4F0"/>
                </a:solidFill>
              </a:rPr>
              <a:t>   ·   Genel Bilgi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60120"/>
            <a:ext cx="5608179" cy="5394960"/>
          </a:xfrm>
          <a:prstGeom prst="rect">
            <a:avLst/>
          </a:prstGeom>
          <a:solidFill>
            <a:srgbClr val="F7F9FB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82880" rIns="182880" rtlCol="0" anchor="ctr"/>
          <a:lstStyle/>
          <a:p>
            <a:pPr algn="ctr">
              <a:spcAft>
                <a:spcPts val="1400"/>
              </a:spcAft>
            </a:pPr>
            <a:r>
              <a:rPr sz="1700" b="1">
                <a:solidFill>
                  <a:srgbClr val="222222"/>
                </a:solidFill>
              </a:rPr>
              <a:t>Herhangi bir alıcının S metre'sinde okunan değer neyi belirler?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22222"/>
                </a:solidFill>
              </a:rPr>
              <a:t>a)  VFO voltajını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22222"/>
                </a:solidFill>
              </a:rPr>
              <a:t>b)  Süperheterodin çalışma seviyesini</a:t>
            </a:r>
          </a:p>
          <a:p>
            <a:pPr>
              <a:spcAft>
                <a:spcPts val="800"/>
              </a:spcAft>
            </a:pPr>
            <a:r>
              <a:rPr sz="1500" b="1">
                <a:solidFill>
                  <a:srgbClr val="2E7D32"/>
                </a:solidFill>
              </a:rPr>
              <a:t>c)  Alıcı antenine gelen sinyal seviyesini</a:t>
            </a:r>
            <a:r>
              <a:rPr sz="1200" i="1">
                <a:solidFill>
                  <a:srgbClr val="2E7D32"/>
                </a:solidFill>
              </a:rPr>
              <a:t>   ✓ Doğru cevap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22222"/>
                </a:solidFill>
              </a:rPr>
              <a:t>d)  Squelch ayarını</a:t>
            </a:r>
          </a:p>
        </p:txBody>
      </p:sp>
      <p:sp>
        <p:nvSpPr>
          <p:cNvPr id="5" name="Rectangle 4"/>
          <p:cNvSpPr/>
          <p:nvPr/>
        </p:nvSpPr>
        <p:spPr>
          <a:xfrm>
            <a:off x="6339699" y="960120"/>
            <a:ext cx="5394796" cy="5394960"/>
          </a:xfrm>
          <a:prstGeom prst="rect">
            <a:avLst/>
          </a:prstGeom>
          <a:solidFill>
            <a:srgbClr val="E2EFDA"/>
          </a:solidFill>
          <a:ln w="9525">
            <a:solidFill>
              <a:srgbClr val="9BC1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82880" rIns="182880" rtlCol="0" anchor="ctr"/>
          <a:lstStyle/>
          <a:p>
            <a:pPr algn="ctr">
              <a:spcAft>
                <a:spcPts val="900"/>
              </a:spcAft>
            </a:pPr>
            <a:r>
              <a:rPr sz="1400" b="1">
                <a:solidFill>
                  <a:srgbClr val="2E7D32"/>
                </a:solidFill>
              </a:rPr>
              <a:t>AÇIKLAMA</a:t>
            </a:r>
          </a:p>
          <a:p>
            <a:pPr>
              <a:spcAft>
                <a:spcPts val="1100"/>
              </a:spcAft>
            </a:pPr>
            <a:r>
              <a:rPr sz="1300">
                <a:solidFill>
                  <a:srgbClr val="222222"/>
                </a:solidFill>
              </a:rPr>
              <a:t>S-metre </a:t>
            </a:r>
            <a:r>
              <a:rPr sz="1300" i="1">
                <a:solidFill>
                  <a:srgbClr val="222222"/>
                </a:solidFill>
              </a:rPr>
              <a:t>(Signal metre)</a:t>
            </a:r>
            <a:r>
              <a:rPr sz="1300">
                <a:solidFill>
                  <a:srgbClr val="222222"/>
                </a:solidFill>
              </a:rPr>
              <a:t>, alıcı antenine ulaşan sinyalin göreceli gücünü gösterir.</a:t>
            </a:r>
          </a:p>
          <a:p>
            <a:r>
              <a:rPr sz="1100" b="1">
                <a:solidFill>
                  <a:srgbClr val="1F3864"/>
                </a:solidFill>
              </a:rPr>
              <a:t>Kaynak: </a:t>
            </a:r>
            <a:r>
              <a:rPr sz="1100" i="1">
                <a:solidFill>
                  <a:srgbClr val="404040"/>
                </a:solidFill>
              </a:rPr>
              <a:t>Alıcı devre teorisi.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95959"/>
                </a:solidFill>
              </a:rPr>
              <a:t>İşletme — Soru 38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4008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1460175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1">
                <a:solidFill>
                  <a:srgbClr val="FFFFFF"/>
                </a:solidFill>
              </a:rPr>
              <a:t>Soru 39</a:t>
            </a:r>
            <a:r>
              <a:rPr sz="1400">
                <a:solidFill>
                  <a:srgbClr val="D6E4F0"/>
                </a:solidFill>
              </a:rPr>
              <a:t>   ·   Genel Bilgi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60120"/>
            <a:ext cx="5608179" cy="5394960"/>
          </a:xfrm>
          <a:prstGeom prst="rect">
            <a:avLst/>
          </a:prstGeom>
          <a:solidFill>
            <a:srgbClr val="F7F9FB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82880" rIns="182880" rtlCol="0" anchor="ctr"/>
          <a:lstStyle/>
          <a:p>
            <a:pPr algn="ctr">
              <a:spcAft>
                <a:spcPts val="1400"/>
              </a:spcAft>
            </a:pPr>
            <a:r>
              <a:rPr sz="1700" b="1">
                <a:solidFill>
                  <a:srgbClr val="222222"/>
                </a:solidFill>
              </a:rPr>
              <a:t>Bir elektromağnetik dalganın polarizasyonu aşağıdakilerden hangisine bağlıdır?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22222"/>
                </a:solidFill>
              </a:rPr>
              <a:t>a)  Vericinin yönüne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22222"/>
                </a:solidFill>
              </a:rPr>
              <a:t>b)  Propagasyon yönüne</a:t>
            </a:r>
          </a:p>
          <a:p>
            <a:pPr>
              <a:spcAft>
                <a:spcPts val="800"/>
              </a:spcAft>
            </a:pPr>
            <a:r>
              <a:rPr sz="1500" b="1">
                <a:solidFill>
                  <a:srgbClr val="2E7D32"/>
                </a:solidFill>
              </a:rPr>
              <a:t>c)  Verici anteninin toprağa göre açısına</a:t>
            </a:r>
            <a:r>
              <a:rPr sz="1200" i="1">
                <a:solidFill>
                  <a:srgbClr val="2E7D32"/>
                </a:solidFill>
              </a:rPr>
              <a:t>   ✓ Doğru cevap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22222"/>
                </a:solidFill>
              </a:rPr>
              <a:t>d)  Hiçbiri</a:t>
            </a:r>
          </a:p>
        </p:txBody>
      </p:sp>
      <p:sp>
        <p:nvSpPr>
          <p:cNvPr id="5" name="Rectangle 4"/>
          <p:cNvSpPr/>
          <p:nvPr/>
        </p:nvSpPr>
        <p:spPr>
          <a:xfrm>
            <a:off x="6339699" y="960120"/>
            <a:ext cx="5394796" cy="5394960"/>
          </a:xfrm>
          <a:prstGeom prst="rect">
            <a:avLst/>
          </a:prstGeom>
          <a:solidFill>
            <a:srgbClr val="E2EFDA"/>
          </a:solidFill>
          <a:ln w="9525">
            <a:solidFill>
              <a:srgbClr val="9BC1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82880" rIns="182880" rtlCol="0" anchor="ctr"/>
          <a:lstStyle/>
          <a:p>
            <a:pPr algn="ctr">
              <a:spcAft>
                <a:spcPts val="900"/>
              </a:spcAft>
            </a:pPr>
            <a:r>
              <a:rPr sz="1400" b="1">
                <a:solidFill>
                  <a:srgbClr val="2E7D32"/>
                </a:solidFill>
              </a:rPr>
              <a:t>AÇIKLAMA</a:t>
            </a:r>
          </a:p>
          <a:p>
            <a:pPr>
              <a:spcAft>
                <a:spcPts val="1100"/>
              </a:spcAft>
            </a:pPr>
            <a:r>
              <a:rPr sz="1300">
                <a:solidFill>
                  <a:srgbClr val="222222"/>
                </a:solidFill>
              </a:rPr>
              <a:t>Polarizasyon </a:t>
            </a:r>
            <a:r>
              <a:rPr sz="1300" i="1">
                <a:solidFill>
                  <a:srgbClr val="222222"/>
                </a:solidFill>
              </a:rPr>
              <a:t>(dikey/yatay)</a:t>
            </a:r>
            <a:r>
              <a:rPr sz="1300">
                <a:solidFill>
                  <a:srgbClr val="222222"/>
                </a:solidFill>
              </a:rPr>
              <a:t>, elektrik alanın yönünü ifade eder ve doğrudan verici anteninin fiziksel duruşuna </a:t>
            </a:r>
            <a:r>
              <a:rPr sz="1300" i="1">
                <a:solidFill>
                  <a:srgbClr val="222222"/>
                </a:solidFill>
              </a:rPr>
              <a:t>(toprağa göre dikey mi yatay mı monte edildiğine)</a:t>
            </a:r>
            <a:r>
              <a:rPr sz="1300">
                <a:solidFill>
                  <a:srgbClr val="222222"/>
                </a:solidFill>
              </a:rPr>
              <a:t> bağlıdır.</a:t>
            </a:r>
          </a:p>
          <a:p>
            <a:r>
              <a:rPr sz="1100" b="1">
                <a:solidFill>
                  <a:srgbClr val="1F3864"/>
                </a:solidFill>
              </a:rPr>
              <a:t>Kaynak: </a:t>
            </a:r>
            <a:r>
              <a:rPr sz="1100" i="1">
                <a:solidFill>
                  <a:srgbClr val="404040"/>
                </a:solidFill>
              </a:rPr>
              <a:t>Anten ve elektromanyetik dalga teorisi.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95959"/>
                </a:solidFill>
              </a:rPr>
              <a:t>İşletme — Soru 39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4008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1460175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1">
                <a:solidFill>
                  <a:srgbClr val="FFFFFF"/>
                </a:solidFill>
              </a:rPr>
              <a:t>Soru 40</a:t>
            </a:r>
            <a:r>
              <a:rPr sz="1400">
                <a:solidFill>
                  <a:srgbClr val="D6E4F0"/>
                </a:solidFill>
              </a:rPr>
              <a:t>   ·   Genel Bilgi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60120"/>
            <a:ext cx="5608179" cy="5394960"/>
          </a:xfrm>
          <a:prstGeom prst="rect">
            <a:avLst/>
          </a:prstGeom>
          <a:solidFill>
            <a:srgbClr val="F7F9FB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82880" rIns="182880" rtlCol="0" anchor="ctr"/>
          <a:lstStyle/>
          <a:p>
            <a:pPr algn="ctr">
              <a:spcAft>
                <a:spcPts val="1400"/>
              </a:spcAft>
            </a:pPr>
            <a:r>
              <a:rPr sz="1700" b="1">
                <a:solidFill>
                  <a:srgbClr val="222222"/>
                </a:solidFill>
              </a:rPr>
              <a:t>İstenmeyen radyasyonların ayarlanmış bir antenden yayılma riskini minimum yapabilmek için ne yapılmalıdır?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22222"/>
                </a:solidFill>
              </a:rPr>
              <a:t>a)  Yüksek SWR oranı sağlamak</a:t>
            </a:r>
          </a:p>
          <a:p>
            <a:pPr>
              <a:spcAft>
                <a:spcPts val="800"/>
              </a:spcAft>
            </a:pPr>
            <a:r>
              <a:rPr sz="1500" b="1">
                <a:solidFill>
                  <a:srgbClr val="2E7D32"/>
                </a:solidFill>
              </a:rPr>
              <a:t>b)  Filtre veya zayıflatıcı kullanmak</a:t>
            </a:r>
            <a:r>
              <a:rPr sz="1200" i="1">
                <a:solidFill>
                  <a:srgbClr val="2E7D32"/>
                </a:solidFill>
              </a:rPr>
              <a:t>   ✓ Doğru cevap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22222"/>
                </a:solidFill>
              </a:rPr>
              <a:t>c)  Besleme kaynağı voltajını denetlemek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22222"/>
                </a:solidFill>
              </a:rPr>
              <a:t>d)  Çok bandlı anten kullanmak</a:t>
            </a:r>
          </a:p>
        </p:txBody>
      </p:sp>
      <p:sp>
        <p:nvSpPr>
          <p:cNvPr id="5" name="Rectangle 4"/>
          <p:cNvSpPr/>
          <p:nvPr/>
        </p:nvSpPr>
        <p:spPr>
          <a:xfrm>
            <a:off x="6339699" y="960120"/>
            <a:ext cx="5394796" cy="5394960"/>
          </a:xfrm>
          <a:prstGeom prst="rect">
            <a:avLst/>
          </a:prstGeom>
          <a:solidFill>
            <a:srgbClr val="E2EFDA"/>
          </a:solidFill>
          <a:ln w="9525">
            <a:solidFill>
              <a:srgbClr val="9BC1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82880" rIns="182880" rtlCol="0" anchor="ctr"/>
          <a:lstStyle/>
          <a:p>
            <a:pPr algn="ctr">
              <a:spcAft>
                <a:spcPts val="900"/>
              </a:spcAft>
            </a:pPr>
            <a:r>
              <a:rPr sz="1400" b="1">
                <a:solidFill>
                  <a:srgbClr val="2E7D32"/>
                </a:solidFill>
              </a:rPr>
              <a:t>AÇIKLAMA</a:t>
            </a:r>
          </a:p>
          <a:p>
            <a:pPr>
              <a:spcAft>
                <a:spcPts val="1100"/>
              </a:spcAft>
            </a:pPr>
            <a:r>
              <a:rPr sz="1300">
                <a:solidFill>
                  <a:srgbClr val="222222"/>
                </a:solidFill>
              </a:rPr>
              <a:t>Filtre </a:t>
            </a:r>
            <a:r>
              <a:rPr sz="1300" i="1">
                <a:solidFill>
                  <a:srgbClr val="222222"/>
                </a:solidFill>
              </a:rPr>
              <a:t>(istenmeyen frekansları söndüren devre)</a:t>
            </a:r>
            <a:r>
              <a:rPr sz="1300">
                <a:solidFill>
                  <a:srgbClr val="222222"/>
                </a:solidFill>
              </a:rPr>
              <a:t> veya zayıflatıcı </a:t>
            </a:r>
            <a:r>
              <a:rPr sz="1300" i="1">
                <a:solidFill>
                  <a:srgbClr val="222222"/>
                </a:solidFill>
              </a:rPr>
              <a:t>(attenuator)</a:t>
            </a:r>
            <a:r>
              <a:rPr sz="1300">
                <a:solidFill>
                  <a:srgbClr val="222222"/>
                </a:solidFill>
              </a:rPr>
              <a:t> kullanmak, harmonik ve istenmeyen yan yayılımları azaltarak komşu cihazlara girişimi önler.</a:t>
            </a:r>
          </a:p>
          <a:p>
            <a:r>
              <a:rPr sz="1100" b="1">
                <a:solidFill>
                  <a:srgbClr val="1F3864"/>
                </a:solidFill>
              </a:rPr>
              <a:t>Kaynak: </a:t>
            </a:r>
            <a:r>
              <a:rPr sz="1100" i="1">
                <a:solidFill>
                  <a:srgbClr val="404040"/>
                </a:solidFill>
              </a:rPr>
              <a:t>RF enterferans giderme teknikleri.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95959"/>
                </a:solidFill>
              </a:rPr>
              <a:t>İşletme — Soru 40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4008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1460175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1">
                <a:solidFill>
                  <a:srgbClr val="FFFFFF"/>
                </a:solidFill>
              </a:rPr>
              <a:t>Soru 41</a:t>
            </a:r>
            <a:r>
              <a:rPr sz="1400">
                <a:solidFill>
                  <a:srgbClr val="D6E4F0"/>
                </a:solidFill>
              </a:rPr>
              <a:t>   ·   Genel Bilgi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60120"/>
            <a:ext cx="5608179" cy="5394960"/>
          </a:xfrm>
          <a:prstGeom prst="rect">
            <a:avLst/>
          </a:prstGeom>
          <a:solidFill>
            <a:srgbClr val="F7F9FB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82880" rIns="182880" rtlCol="0" anchor="ctr"/>
          <a:lstStyle/>
          <a:p>
            <a:pPr algn="ctr">
              <a:spcAft>
                <a:spcPts val="1400"/>
              </a:spcAft>
            </a:pPr>
            <a:r>
              <a:rPr sz="1700" b="1">
                <a:solidFill>
                  <a:srgbClr val="222222"/>
                </a:solidFill>
              </a:rPr>
              <a:t>435 Mhz de bir yagi anten, UHF TV antenine doğru çevrilmiştir. Bunun neticesinde TV de: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22222"/>
                </a:solidFill>
              </a:rPr>
              <a:t>a)  435 Mhz de alma güçlüğü doğar</a:t>
            </a:r>
          </a:p>
          <a:p>
            <a:pPr>
              <a:spcAft>
                <a:spcPts val="800"/>
              </a:spcAft>
            </a:pPr>
            <a:r>
              <a:rPr sz="1500" b="1">
                <a:solidFill>
                  <a:srgbClr val="2E7D32"/>
                </a:solidFill>
              </a:rPr>
              <a:t>b)  RF giriş katında aşırı yükleme olur</a:t>
            </a:r>
            <a:r>
              <a:rPr sz="1200" i="1">
                <a:solidFill>
                  <a:srgbClr val="2E7D32"/>
                </a:solidFill>
              </a:rPr>
              <a:t>   ✓ Doğru cevap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22222"/>
                </a:solidFill>
              </a:rPr>
              <a:t>c)  435 Mhz de osilasyon başlar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22222"/>
                </a:solidFill>
              </a:rPr>
              <a:t>d)  TV anteninin elemanları hasar görür</a:t>
            </a:r>
          </a:p>
        </p:txBody>
      </p:sp>
      <p:sp>
        <p:nvSpPr>
          <p:cNvPr id="5" name="Rectangle 4"/>
          <p:cNvSpPr/>
          <p:nvPr/>
        </p:nvSpPr>
        <p:spPr>
          <a:xfrm>
            <a:off x="6339699" y="960120"/>
            <a:ext cx="5394796" cy="5394960"/>
          </a:xfrm>
          <a:prstGeom prst="rect">
            <a:avLst/>
          </a:prstGeom>
          <a:solidFill>
            <a:srgbClr val="E2EFDA"/>
          </a:solidFill>
          <a:ln w="9525">
            <a:solidFill>
              <a:srgbClr val="9BC1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82880" rIns="182880" rtlCol="0" anchor="ctr"/>
          <a:lstStyle/>
          <a:p>
            <a:pPr algn="ctr">
              <a:spcAft>
                <a:spcPts val="900"/>
              </a:spcAft>
            </a:pPr>
            <a:r>
              <a:rPr sz="1400" b="1">
                <a:solidFill>
                  <a:srgbClr val="2E7D32"/>
                </a:solidFill>
              </a:rPr>
              <a:t>AÇIKLAMA</a:t>
            </a:r>
          </a:p>
          <a:p>
            <a:pPr>
              <a:spcAft>
                <a:spcPts val="1100"/>
              </a:spcAft>
            </a:pPr>
            <a:r>
              <a:rPr sz="1300">
                <a:solidFill>
                  <a:srgbClr val="222222"/>
                </a:solidFill>
              </a:rPr>
              <a:t>Güçlü, yakın bir vericinin sinyali TV'nin RF giriş katını </a:t>
            </a:r>
            <a:r>
              <a:rPr sz="1300" i="1">
                <a:solidFill>
                  <a:srgbClr val="222222"/>
                </a:solidFill>
              </a:rPr>
              <a:t>(ilk yükseltme/karıştırma devresi)</a:t>
            </a:r>
            <a:r>
              <a:rPr sz="1300">
                <a:solidFill>
                  <a:srgbClr val="222222"/>
                </a:solidFill>
              </a:rPr>
              <a:t> aşırı yükleyerek </a:t>
            </a:r>
            <a:r>
              <a:rPr sz="1300" i="1">
                <a:solidFill>
                  <a:srgbClr val="222222"/>
                </a:solidFill>
              </a:rPr>
              <a:t>(overload)</a:t>
            </a:r>
            <a:r>
              <a:rPr sz="1300">
                <a:solidFill>
                  <a:srgbClr val="222222"/>
                </a:solidFill>
              </a:rPr>
              <a:t> görüntü/ses bozulmasına yol açabilir — bu kalıcı bir hasar değil, işlevsel bir girişimdir.</a:t>
            </a:r>
          </a:p>
          <a:p>
            <a:r>
              <a:rPr sz="1100" b="1">
                <a:solidFill>
                  <a:srgbClr val="1F3864"/>
                </a:solidFill>
              </a:rPr>
              <a:t>Kaynak: </a:t>
            </a:r>
            <a:r>
              <a:rPr sz="1100" i="1">
                <a:solidFill>
                  <a:srgbClr val="404040"/>
                </a:solidFill>
              </a:rPr>
              <a:t>RF enterferans (TVI) mekanizmaları.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95959"/>
                </a:solidFill>
              </a:rPr>
              <a:t>İşletme — Soru 41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4008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1460175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1">
                <a:solidFill>
                  <a:srgbClr val="FFFFFF"/>
                </a:solidFill>
              </a:rPr>
              <a:t>Soru 42</a:t>
            </a:r>
            <a:r>
              <a:rPr sz="1400">
                <a:solidFill>
                  <a:srgbClr val="D6E4F0"/>
                </a:solidFill>
              </a:rPr>
              <a:t>   ·   Genel Bilgi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60120"/>
            <a:ext cx="5608179" cy="5394960"/>
          </a:xfrm>
          <a:prstGeom prst="rect">
            <a:avLst/>
          </a:prstGeom>
          <a:solidFill>
            <a:srgbClr val="F7F9FB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82880" rIns="182880" rtlCol="0" anchor="ctr"/>
          <a:lstStyle/>
          <a:p>
            <a:pPr algn="ctr">
              <a:spcAft>
                <a:spcPts val="1400"/>
              </a:spcAft>
            </a:pPr>
            <a:r>
              <a:rPr sz="1700" b="1">
                <a:solidFill>
                  <a:srgbClr val="222222"/>
                </a:solidFill>
              </a:rPr>
              <a:t>HF çalışması, yakınındaki bir TV alıcısını enterfere edebilir. Enterferensa neden olan sinyaller aşağıdakilerden hangisiyle TV ye ulaşır?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22222"/>
                </a:solidFill>
              </a:rPr>
              <a:t>a)  Toprak yoluyla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22222"/>
                </a:solidFill>
              </a:rPr>
              <a:t>b)  Vericinin besleme kaynağı vasıtasıyla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22222"/>
                </a:solidFill>
              </a:rPr>
              <a:t>c)  Verici frekansının polarizasyonu yoluyla</a:t>
            </a:r>
          </a:p>
          <a:p>
            <a:pPr>
              <a:spcAft>
                <a:spcPts val="800"/>
              </a:spcAft>
            </a:pPr>
            <a:r>
              <a:rPr sz="1500" b="1">
                <a:solidFill>
                  <a:srgbClr val="2E7D32"/>
                </a:solidFill>
              </a:rPr>
              <a:t>d)  TV anteni kablosunun ekranı ve/veya IF katı yoluyla</a:t>
            </a:r>
            <a:r>
              <a:rPr sz="1200" i="1">
                <a:solidFill>
                  <a:srgbClr val="2E7D32"/>
                </a:solidFill>
              </a:rPr>
              <a:t>   ✓ Doğru cevap</a:t>
            </a:r>
          </a:p>
        </p:txBody>
      </p:sp>
      <p:sp>
        <p:nvSpPr>
          <p:cNvPr id="5" name="Rectangle 4"/>
          <p:cNvSpPr/>
          <p:nvPr/>
        </p:nvSpPr>
        <p:spPr>
          <a:xfrm>
            <a:off x="6339699" y="960120"/>
            <a:ext cx="5394796" cy="5394960"/>
          </a:xfrm>
          <a:prstGeom prst="rect">
            <a:avLst/>
          </a:prstGeom>
          <a:solidFill>
            <a:srgbClr val="E2EFDA"/>
          </a:solidFill>
          <a:ln w="9525">
            <a:solidFill>
              <a:srgbClr val="9BC1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82880" rIns="182880" rtlCol="0" anchor="ctr"/>
          <a:lstStyle/>
          <a:p>
            <a:pPr algn="ctr">
              <a:spcAft>
                <a:spcPts val="900"/>
              </a:spcAft>
            </a:pPr>
            <a:r>
              <a:rPr sz="1400" b="1">
                <a:solidFill>
                  <a:srgbClr val="2E7D32"/>
                </a:solidFill>
              </a:rPr>
              <a:t>AÇIKLAMA</a:t>
            </a:r>
          </a:p>
          <a:p>
            <a:pPr>
              <a:spcAft>
                <a:spcPts val="1100"/>
              </a:spcAft>
            </a:pPr>
            <a:r>
              <a:rPr sz="1300">
                <a:solidFill>
                  <a:srgbClr val="222222"/>
                </a:solidFill>
              </a:rPr>
              <a:t>HF sinyalleri en sık, TV anten kablosunun koruma örgüsü </a:t>
            </a:r>
            <a:r>
              <a:rPr sz="1300" i="1">
                <a:solidFill>
                  <a:srgbClr val="222222"/>
                </a:solidFill>
              </a:rPr>
              <a:t>(ekran)</a:t>
            </a:r>
            <a:r>
              <a:rPr sz="1300">
                <a:solidFill>
                  <a:srgbClr val="222222"/>
                </a:solidFill>
              </a:rPr>
              <a:t> üzerinden veya TV'nin IF </a:t>
            </a:r>
            <a:r>
              <a:rPr sz="1300" i="1">
                <a:solidFill>
                  <a:srgbClr val="222222"/>
                </a:solidFill>
              </a:rPr>
              <a:t>(ara frekans — alıcı içinde sinyalin işlendiği orta aşama frekansı)</a:t>
            </a:r>
            <a:r>
              <a:rPr sz="1300">
                <a:solidFill>
                  <a:srgbClr val="222222"/>
                </a:solidFill>
              </a:rPr>
              <a:t> katına sızarak girişim yapar.</a:t>
            </a:r>
          </a:p>
          <a:p>
            <a:r>
              <a:rPr sz="1100" b="1">
                <a:solidFill>
                  <a:srgbClr val="1F3864"/>
                </a:solidFill>
              </a:rPr>
              <a:t>Kaynak: </a:t>
            </a:r>
            <a:r>
              <a:rPr sz="1100" i="1">
                <a:solidFill>
                  <a:srgbClr val="404040"/>
                </a:solidFill>
              </a:rPr>
              <a:t>RF enterferans (TVI) mekanizmaları.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95959"/>
                </a:solidFill>
              </a:rPr>
              <a:t>İşletme — Soru 42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4008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1460175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1">
                <a:solidFill>
                  <a:srgbClr val="FFFFFF"/>
                </a:solidFill>
              </a:rPr>
              <a:t>Soru 43</a:t>
            </a:r>
            <a:r>
              <a:rPr sz="1400">
                <a:solidFill>
                  <a:srgbClr val="D6E4F0"/>
                </a:solidFill>
              </a:rPr>
              <a:t>   ·   Genel Bilgi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60120"/>
            <a:ext cx="5608179" cy="5394960"/>
          </a:xfrm>
          <a:prstGeom prst="rect">
            <a:avLst/>
          </a:prstGeom>
          <a:solidFill>
            <a:srgbClr val="F7F9FB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82880" rIns="182880" rtlCol="0" anchor="ctr"/>
          <a:lstStyle/>
          <a:p>
            <a:pPr algn="ctr">
              <a:spcAft>
                <a:spcPts val="1400"/>
              </a:spcAft>
            </a:pPr>
            <a:r>
              <a:rPr sz="1700" b="1">
                <a:solidFill>
                  <a:srgbClr val="222222"/>
                </a:solidFill>
              </a:rPr>
              <a:t>CQ Çağrısı yapılırken aşağıdakilerden hangisi uygulanır?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22222"/>
                </a:solidFill>
              </a:rPr>
              <a:t>a)  Zayıf bir istasyonun çalıştığı frekansta çağrı yapmak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22222"/>
                </a:solidFill>
              </a:rPr>
              <a:t>b)  Daima CW kullanmak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22222"/>
                </a:solidFill>
              </a:rPr>
              <a:t>c)  Sadece uzak istasyonlara çağrı yapmak</a:t>
            </a:r>
          </a:p>
          <a:p>
            <a:pPr>
              <a:spcAft>
                <a:spcPts val="800"/>
              </a:spcAft>
            </a:pPr>
            <a:r>
              <a:rPr sz="1500" b="1">
                <a:solidFill>
                  <a:srgbClr val="2E7D32"/>
                </a:solidFill>
              </a:rPr>
              <a:t>d)  Çağrıya başlamadan önce frekansın boş olup olmadığını kontrol etmek</a:t>
            </a:r>
            <a:r>
              <a:rPr sz="1200" i="1">
                <a:solidFill>
                  <a:srgbClr val="2E7D32"/>
                </a:solidFill>
              </a:rPr>
              <a:t>   ✓ Doğru cevap</a:t>
            </a:r>
          </a:p>
        </p:txBody>
      </p:sp>
      <p:sp>
        <p:nvSpPr>
          <p:cNvPr id="5" name="Rectangle 4"/>
          <p:cNvSpPr/>
          <p:nvPr/>
        </p:nvSpPr>
        <p:spPr>
          <a:xfrm>
            <a:off x="6339699" y="960120"/>
            <a:ext cx="5394796" cy="5394960"/>
          </a:xfrm>
          <a:prstGeom prst="rect">
            <a:avLst/>
          </a:prstGeom>
          <a:solidFill>
            <a:srgbClr val="FCE4D6"/>
          </a:solidFill>
          <a:ln w="9525">
            <a:solidFill>
              <a:srgbClr val="E09A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82880" rIns="182880" rtlCol="0" anchor="ctr"/>
          <a:lstStyle/>
          <a:p>
            <a:pPr algn="ctr">
              <a:spcAft>
                <a:spcPts val="900"/>
              </a:spcAft>
            </a:pPr>
            <a:r>
              <a:rPr sz="1400" b="1">
                <a:solidFill>
                  <a:srgbClr val="C05000"/>
                </a:solidFill>
              </a:rPr>
              <a:t>AÇIKLAMA</a:t>
            </a:r>
          </a:p>
          <a:p>
            <a:pPr>
              <a:spcAft>
                <a:spcPts val="1100"/>
              </a:spcAft>
            </a:pPr>
            <a:r>
              <a:rPr sz="1300">
                <a:solidFill>
                  <a:srgbClr val="222222"/>
                </a:solidFill>
              </a:rPr>
              <a:t>Herhangi bir frekansta çağrı yapmadan önce o frekansın boş olduğundan emin olunmalıdır — dolu bir frekansta çağrı yapmak devam eden bir görüşmeye karışmaktır. CQ çağrısı CW, SSB </a:t>
            </a:r>
            <a:r>
              <a:rPr sz="1300" i="1">
                <a:solidFill>
                  <a:srgbClr val="222222"/>
                </a:solidFill>
              </a:rPr>
              <a:t>(ses)</a:t>
            </a:r>
            <a:r>
              <a:rPr sz="1300">
                <a:solidFill>
                  <a:srgbClr val="222222"/>
                </a:solidFill>
              </a:rPr>
              <a:t> veya dijital modların herhangi biriyle yapılabilir; belirli bir mod zorunluluğu yoktur.</a:t>
            </a:r>
          </a:p>
          <a:p>
            <a:pPr>
              <a:spcAft>
                <a:spcPts val="1100"/>
              </a:spcAft>
            </a:pPr>
            <a:r>
              <a:rPr sz="1150" b="1">
                <a:solidFill>
                  <a:srgbClr val="C05000"/>
                </a:solidFill>
              </a:rPr>
              <a:t>DİKKAT — Kaynak soru bankasının resmi cevap anahtarı bu soruda (b) "Daima CW kullanmak" şıkkını işaretlemiştir. Ancak CQ çağrısı için CW kullanma zorunluluğu yoktur (ses ve dijital modlarda da CQ yapılır); işletme adabı açısından doğru uygulama (d) frekansın boş olduğunu kontrol etmektir. Gerçek sınavda bu soru resmi anahtara göre (b) olarak değerlendirilebilir — farkı bilmekte fayda var.</a:t>
            </a:r>
          </a:p>
          <a:p>
            <a:r>
              <a:rPr sz="1100" b="1">
                <a:solidFill>
                  <a:srgbClr val="1F3864"/>
                </a:solidFill>
              </a:rPr>
              <a:t>Kaynak: </a:t>
            </a:r>
            <a:r>
              <a:rPr sz="1100" i="1">
                <a:solidFill>
                  <a:srgbClr val="404040"/>
                </a:solidFill>
              </a:rPr>
              <a:t>Genel amatör telsiz işletme adabı.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95959"/>
                </a:solidFill>
              </a:rPr>
              <a:t>İşletme — Soru 43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4008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1460175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1">
                <a:solidFill>
                  <a:srgbClr val="FFFFFF"/>
                </a:solidFill>
              </a:rPr>
              <a:t>Soru 44</a:t>
            </a:r>
            <a:r>
              <a:rPr sz="1400">
                <a:solidFill>
                  <a:srgbClr val="D6E4F0"/>
                </a:solidFill>
              </a:rPr>
              <a:t>   ·   Raporlama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60120"/>
            <a:ext cx="5608179" cy="5394960"/>
          </a:xfrm>
          <a:prstGeom prst="rect">
            <a:avLst/>
          </a:prstGeom>
          <a:solidFill>
            <a:srgbClr val="F7F9FB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82880" rIns="182880" rtlCol="0" anchor="ctr"/>
          <a:lstStyle/>
          <a:p>
            <a:pPr algn="ctr">
              <a:spcAft>
                <a:spcPts val="1400"/>
              </a:spcAft>
            </a:pPr>
            <a:r>
              <a:rPr sz="1700" b="1">
                <a:solidFill>
                  <a:srgbClr val="222222"/>
                </a:solidFill>
              </a:rPr>
              <a:t>Aşağıdakilerden hangisi rahat ve net okunabilen bir sinyal seviyesini ifade eder?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22222"/>
                </a:solidFill>
              </a:rPr>
              <a:t>a)  R1</a:t>
            </a:r>
          </a:p>
          <a:p>
            <a:pPr>
              <a:spcAft>
                <a:spcPts val="800"/>
              </a:spcAft>
            </a:pPr>
            <a:r>
              <a:rPr sz="1500" b="1">
                <a:solidFill>
                  <a:srgbClr val="2E7D32"/>
                </a:solidFill>
              </a:rPr>
              <a:t>b)  R5</a:t>
            </a:r>
            <a:r>
              <a:rPr sz="1200" i="1">
                <a:solidFill>
                  <a:srgbClr val="2E7D32"/>
                </a:solidFill>
              </a:rPr>
              <a:t>   ✓ Doğru cevap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22222"/>
                </a:solidFill>
              </a:rPr>
              <a:t>c)  S9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22222"/>
                </a:solidFill>
              </a:rPr>
              <a:t>d)  T9</a:t>
            </a:r>
          </a:p>
        </p:txBody>
      </p:sp>
      <p:sp>
        <p:nvSpPr>
          <p:cNvPr id="5" name="Rectangle 4"/>
          <p:cNvSpPr/>
          <p:nvPr/>
        </p:nvSpPr>
        <p:spPr>
          <a:xfrm>
            <a:off x="6339699" y="960120"/>
            <a:ext cx="5394796" cy="5394960"/>
          </a:xfrm>
          <a:prstGeom prst="rect">
            <a:avLst/>
          </a:prstGeom>
          <a:solidFill>
            <a:srgbClr val="E2EFDA"/>
          </a:solidFill>
          <a:ln w="9525">
            <a:solidFill>
              <a:srgbClr val="9BC1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82880" rIns="182880" rtlCol="0" anchor="ctr"/>
          <a:lstStyle/>
          <a:p>
            <a:pPr algn="ctr">
              <a:spcAft>
                <a:spcPts val="900"/>
              </a:spcAft>
            </a:pPr>
            <a:r>
              <a:rPr sz="1400" b="1">
                <a:solidFill>
                  <a:srgbClr val="2E7D32"/>
                </a:solidFill>
              </a:rPr>
              <a:t>AÇIKLAMA</a:t>
            </a:r>
          </a:p>
          <a:p>
            <a:pPr>
              <a:spcAft>
                <a:spcPts val="1100"/>
              </a:spcAft>
            </a:pPr>
            <a:r>
              <a:rPr sz="1300">
                <a:solidFill>
                  <a:srgbClr val="222222"/>
                </a:solidFill>
              </a:rPr>
              <a:t>RST'nin R </a:t>
            </a:r>
            <a:r>
              <a:rPr sz="1300" i="1">
                <a:solidFill>
                  <a:srgbClr val="222222"/>
                </a:solidFill>
              </a:rPr>
              <a:t>(Readability)</a:t>
            </a:r>
            <a:r>
              <a:rPr sz="1300">
                <a:solidFill>
                  <a:srgbClr val="222222"/>
                </a:solidFill>
              </a:rPr>
              <a:t> skalasında en yüksek değer olan 5, sinyalin hiç zorlanmadan, rahatça okunduğunu ifade eder.</a:t>
            </a:r>
          </a:p>
          <a:p>
            <a:r>
              <a:rPr sz="1100" b="1">
                <a:solidFill>
                  <a:srgbClr val="1F3864"/>
                </a:solidFill>
              </a:rPr>
              <a:t>Kaynak: </a:t>
            </a:r>
            <a:r>
              <a:rPr sz="1100" i="1">
                <a:solidFill>
                  <a:srgbClr val="404040"/>
                </a:solidFill>
              </a:rPr>
              <a:t>RST raporlama sistemi.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95959"/>
                </a:solidFill>
              </a:rPr>
              <a:t>İşletme — Soru 44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4008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1460175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1">
                <a:solidFill>
                  <a:srgbClr val="FFFFFF"/>
                </a:solidFill>
              </a:rPr>
              <a:t>Soru 45</a:t>
            </a:r>
            <a:r>
              <a:rPr sz="1400">
                <a:solidFill>
                  <a:srgbClr val="D6E4F0"/>
                </a:solidFill>
              </a:rPr>
              <a:t>   ·   Genel Bilgi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60120"/>
            <a:ext cx="5608179" cy="5394960"/>
          </a:xfrm>
          <a:prstGeom prst="rect">
            <a:avLst/>
          </a:prstGeom>
          <a:solidFill>
            <a:srgbClr val="F7F9FB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82880" rIns="182880" rtlCol="0" anchor="ctr"/>
          <a:lstStyle/>
          <a:p>
            <a:pPr algn="ctr">
              <a:spcAft>
                <a:spcPts val="1400"/>
              </a:spcAft>
            </a:pPr>
            <a:r>
              <a:rPr sz="1700" b="1">
                <a:solidFill>
                  <a:srgbClr val="222222"/>
                </a:solidFill>
              </a:rPr>
              <a:t>Enterferans riskini azaltmak için, bir UHF TV anteni, kısa dalga verici anteninden ne kadar uzağa yerleştirilmelidir?</a:t>
            </a:r>
          </a:p>
          <a:p>
            <a:pPr>
              <a:spcAft>
                <a:spcPts val="800"/>
              </a:spcAft>
            </a:pPr>
            <a:r>
              <a:rPr sz="1500" b="1">
                <a:solidFill>
                  <a:srgbClr val="2E7D32"/>
                </a:solidFill>
              </a:rPr>
              <a:t>a)  Mümkün olduğunca uzağa</a:t>
            </a:r>
            <a:r>
              <a:rPr sz="1200" i="1">
                <a:solidFill>
                  <a:srgbClr val="2E7D32"/>
                </a:solidFill>
              </a:rPr>
              <a:t>   ✓ Doğru cevap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22222"/>
                </a:solidFill>
              </a:rPr>
              <a:t>b)  Mümkün olduğunca yakına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22222"/>
                </a:solidFill>
              </a:rPr>
              <a:t>c)  1.098 m uzaklığa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22222"/>
                </a:solidFill>
              </a:rPr>
              <a:t>d)  432 Mhz'in yarım dalga boyu uzağına</a:t>
            </a:r>
          </a:p>
        </p:txBody>
      </p:sp>
      <p:sp>
        <p:nvSpPr>
          <p:cNvPr id="5" name="Rectangle 4"/>
          <p:cNvSpPr/>
          <p:nvPr/>
        </p:nvSpPr>
        <p:spPr>
          <a:xfrm>
            <a:off x="6339699" y="960120"/>
            <a:ext cx="5394796" cy="5394960"/>
          </a:xfrm>
          <a:prstGeom prst="rect">
            <a:avLst/>
          </a:prstGeom>
          <a:solidFill>
            <a:srgbClr val="E2EFDA"/>
          </a:solidFill>
          <a:ln w="9525">
            <a:solidFill>
              <a:srgbClr val="9BC1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82880" rIns="182880" rtlCol="0" anchor="ctr"/>
          <a:lstStyle/>
          <a:p>
            <a:pPr algn="ctr">
              <a:spcAft>
                <a:spcPts val="900"/>
              </a:spcAft>
            </a:pPr>
            <a:r>
              <a:rPr sz="1400" b="1">
                <a:solidFill>
                  <a:srgbClr val="2E7D32"/>
                </a:solidFill>
              </a:rPr>
              <a:t>AÇIKLAMA</a:t>
            </a:r>
          </a:p>
          <a:p>
            <a:pPr>
              <a:spcAft>
                <a:spcPts val="1100"/>
              </a:spcAft>
            </a:pPr>
            <a:r>
              <a:rPr sz="1300">
                <a:solidFill>
                  <a:srgbClr val="222222"/>
                </a:solidFill>
              </a:rPr>
              <a:t>Genel kural: iki anten arasındaki fiziksel uzaklık ne kadar artarsa, güçlü bir vericinin hassas bir alıcıya </a:t>
            </a:r>
            <a:r>
              <a:rPr sz="1300" i="1">
                <a:solidFill>
                  <a:srgbClr val="222222"/>
                </a:solidFill>
              </a:rPr>
              <a:t>(TV)</a:t>
            </a:r>
            <a:r>
              <a:rPr sz="1300">
                <a:solidFill>
                  <a:srgbClr val="222222"/>
                </a:solidFill>
              </a:rPr>
              <a:t> sızma riski o kadar azalır — sabit bir mesafe kuralı yoktur, 'mümkün olduğunca uzak' pratik ilkedir.</a:t>
            </a:r>
          </a:p>
          <a:p>
            <a:r>
              <a:rPr sz="1100" b="1">
                <a:solidFill>
                  <a:srgbClr val="1F3864"/>
                </a:solidFill>
              </a:rPr>
              <a:t>Kaynak: </a:t>
            </a:r>
            <a:r>
              <a:rPr sz="1100" i="1">
                <a:solidFill>
                  <a:srgbClr val="404040"/>
                </a:solidFill>
              </a:rPr>
              <a:t>RF enterferans giderme teknikleri.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95959"/>
                </a:solidFill>
              </a:rPr>
              <a:t>İşletme — Soru 45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4008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1460175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1">
                <a:solidFill>
                  <a:srgbClr val="FFFFFF"/>
                </a:solidFill>
              </a:rPr>
              <a:t>Soru 46</a:t>
            </a:r>
            <a:r>
              <a:rPr sz="1400">
                <a:solidFill>
                  <a:srgbClr val="D6E4F0"/>
                </a:solidFill>
              </a:rPr>
              <a:t>   ·   Çağrı İşareti Bölgeleri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60120"/>
            <a:ext cx="5608179" cy="5394960"/>
          </a:xfrm>
          <a:prstGeom prst="rect">
            <a:avLst/>
          </a:prstGeom>
          <a:solidFill>
            <a:srgbClr val="F7F9FB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82880" rIns="182880" rtlCol="0" anchor="ctr"/>
          <a:lstStyle/>
          <a:p>
            <a:pPr algn="ctr">
              <a:spcAft>
                <a:spcPts val="1400"/>
              </a:spcAft>
            </a:pPr>
            <a:r>
              <a:rPr sz="1700" b="1">
                <a:solidFill>
                  <a:srgbClr val="222222"/>
                </a:solidFill>
              </a:rPr>
              <a:t>Amatör bandda dinleme halinde iken karşıdan TA5A gibi bir çağrı işareti duyulduğunda, bu çağrı işareti aşağıdaki illerin hangisinden yapılmış olabilir?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22222"/>
                </a:solidFill>
              </a:rPr>
              <a:t>a)  Ankara</a:t>
            </a:r>
          </a:p>
          <a:p>
            <a:pPr>
              <a:spcAft>
                <a:spcPts val="800"/>
              </a:spcAft>
            </a:pPr>
            <a:r>
              <a:rPr sz="1500" b="1">
                <a:solidFill>
                  <a:srgbClr val="2E7D32"/>
                </a:solidFill>
              </a:rPr>
              <a:t>b)  Adana</a:t>
            </a:r>
            <a:r>
              <a:rPr sz="1200" i="1">
                <a:solidFill>
                  <a:srgbClr val="2E7D32"/>
                </a:solidFill>
              </a:rPr>
              <a:t>   ✓ Doğru cevap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22222"/>
                </a:solidFill>
              </a:rPr>
              <a:t>c)  Mardin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22222"/>
                </a:solidFill>
              </a:rPr>
              <a:t>d)  Trabzon</a:t>
            </a:r>
          </a:p>
        </p:txBody>
      </p:sp>
      <p:sp>
        <p:nvSpPr>
          <p:cNvPr id="5" name="Rectangle 4"/>
          <p:cNvSpPr/>
          <p:nvPr/>
        </p:nvSpPr>
        <p:spPr>
          <a:xfrm>
            <a:off x="6339699" y="960120"/>
            <a:ext cx="5394796" cy="5394960"/>
          </a:xfrm>
          <a:prstGeom prst="rect">
            <a:avLst/>
          </a:prstGeom>
          <a:solidFill>
            <a:srgbClr val="E2EFDA"/>
          </a:solidFill>
          <a:ln w="9525">
            <a:solidFill>
              <a:srgbClr val="9BC1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82880" rIns="182880" rtlCol="0" anchor="ctr"/>
          <a:lstStyle/>
          <a:p>
            <a:pPr algn="ctr">
              <a:spcAft>
                <a:spcPts val="900"/>
              </a:spcAft>
            </a:pPr>
            <a:r>
              <a:rPr sz="1400" b="1">
                <a:solidFill>
                  <a:srgbClr val="2E7D32"/>
                </a:solidFill>
              </a:rPr>
              <a:t>AÇIKLAMA</a:t>
            </a:r>
          </a:p>
          <a:p>
            <a:pPr>
              <a:spcAft>
                <a:spcPts val="1100"/>
              </a:spcAft>
            </a:pPr>
            <a:r>
              <a:rPr sz="1300">
                <a:solidFill>
                  <a:srgbClr val="222222"/>
                </a:solidFill>
              </a:rPr>
              <a:t>Bölge numarası 5, Akdeniz/Orta Anadolu'nun güneyindeki illeri kapsar; bu grupta Adana yer alır.</a:t>
            </a:r>
          </a:p>
          <a:p>
            <a:r>
              <a:rPr sz="1100" b="1">
                <a:solidFill>
                  <a:srgbClr val="1F3864"/>
                </a:solidFill>
              </a:rPr>
              <a:t>Kaynak: </a:t>
            </a:r>
            <a:r>
              <a:rPr sz="1100" i="1">
                <a:solidFill>
                  <a:srgbClr val="404040"/>
                </a:solidFill>
              </a:rPr>
              <a:t>Çağrı işareti bölge numaraları listesi.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95959"/>
                </a:solidFill>
              </a:rPr>
              <a:t>İşletme — Soru 46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4008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1460175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1">
                <a:solidFill>
                  <a:srgbClr val="FFFFFF"/>
                </a:solidFill>
              </a:rPr>
              <a:t>Soru 47</a:t>
            </a:r>
            <a:r>
              <a:rPr sz="1400">
                <a:solidFill>
                  <a:srgbClr val="D6E4F0"/>
                </a:solidFill>
              </a:rPr>
              <a:t>   ·   Çağrı İşareti Bölgeleri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60120"/>
            <a:ext cx="5608179" cy="5394960"/>
          </a:xfrm>
          <a:prstGeom prst="rect">
            <a:avLst/>
          </a:prstGeom>
          <a:solidFill>
            <a:srgbClr val="F7F9FB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82880" rIns="182880" rtlCol="0" anchor="ctr"/>
          <a:lstStyle/>
          <a:p>
            <a:pPr algn="ctr">
              <a:spcAft>
                <a:spcPts val="1400"/>
              </a:spcAft>
            </a:pPr>
            <a:r>
              <a:rPr sz="1700" b="1">
                <a:solidFill>
                  <a:srgbClr val="222222"/>
                </a:solidFill>
              </a:rPr>
              <a:t>Amatör bandda dinleme halinde iken karşıdan TA7AC gibi bir çağrı işareti duyulduğunda bu çağrı işareti aşağıdaki illerin hangisinden yapılmış olabilir?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22222"/>
                </a:solidFill>
              </a:rPr>
              <a:t>a)  Şırnak</a:t>
            </a:r>
          </a:p>
          <a:p>
            <a:pPr>
              <a:spcAft>
                <a:spcPts val="800"/>
              </a:spcAft>
            </a:pPr>
            <a:r>
              <a:rPr sz="1500" b="1">
                <a:solidFill>
                  <a:srgbClr val="2E7D32"/>
                </a:solidFill>
              </a:rPr>
              <a:t>b)  Erzincan</a:t>
            </a:r>
            <a:r>
              <a:rPr sz="1200" i="1">
                <a:solidFill>
                  <a:srgbClr val="2E7D32"/>
                </a:solidFill>
              </a:rPr>
              <a:t>   ✓ Doğru cevap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22222"/>
                </a:solidFill>
              </a:rPr>
              <a:t>c)  Bingöl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22222"/>
                </a:solidFill>
              </a:rPr>
              <a:t>d)  Denizli</a:t>
            </a:r>
          </a:p>
        </p:txBody>
      </p:sp>
      <p:sp>
        <p:nvSpPr>
          <p:cNvPr id="5" name="Rectangle 4"/>
          <p:cNvSpPr/>
          <p:nvPr/>
        </p:nvSpPr>
        <p:spPr>
          <a:xfrm>
            <a:off x="6339699" y="960120"/>
            <a:ext cx="5394796" cy="5394960"/>
          </a:xfrm>
          <a:prstGeom prst="rect">
            <a:avLst/>
          </a:prstGeom>
          <a:solidFill>
            <a:srgbClr val="E2EFDA"/>
          </a:solidFill>
          <a:ln w="9525">
            <a:solidFill>
              <a:srgbClr val="9BC1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82880" rIns="182880" rtlCol="0" anchor="ctr"/>
          <a:lstStyle/>
          <a:p>
            <a:pPr algn="ctr">
              <a:spcAft>
                <a:spcPts val="900"/>
              </a:spcAft>
            </a:pPr>
            <a:r>
              <a:rPr sz="1400" b="1">
                <a:solidFill>
                  <a:srgbClr val="2E7D32"/>
                </a:solidFill>
              </a:rPr>
              <a:t>AÇIKLAMA</a:t>
            </a:r>
          </a:p>
          <a:p>
            <a:pPr>
              <a:spcAft>
                <a:spcPts val="1100"/>
              </a:spcAft>
            </a:pPr>
            <a:r>
              <a:rPr sz="1300">
                <a:solidFill>
                  <a:srgbClr val="222222"/>
                </a:solidFill>
              </a:rPr>
              <a:t>Bölge numarası 7, Karadeniz'in doğusu ve iç kesimlerindeki illeri kapsar; bu grupta Erzincan yer alır.</a:t>
            </a:r>
          </a:p>
          <a:p>
            <a:r>
              <a:rPr sz="1100" b="1">
                <a:solidFill>
                  <a:srgbClr val="1F3864"/>
                </a:solidFill>
              </a:rPr>
              <a:t>Kaynak: </a:t>
            </a:r>
            <a:r>
              <a:rPr sz="1100" i="1">
                <a:solidFill>
                  <a:srgbClr val="404040"/>
                </a:solidFill>
              </a:rPr>
              <a:t>Çağrı işareti bölge numaraları listesi.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95959"/>
                </a:solidFill>
              </a:rPr>
              <a:t>İşletme — Soru 47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772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FFFFFF"/>
                </a:solidFill>
              </a:rPr>
              <a:t>BÖLÜM 5: Zaman Hesabı II, Frekans/SSB ve Çağrı Kuralları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911535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300"/>
              </a:spcAft>
            </a:pPr>
            <a:r>
              <a:rPr sz="1700">
                <a:solidFill>
                  <a:srgbClr val="222222"/>
                </a:solidFill>
              </a:rPr>
              <a:t>•  SSB </a:t>
            </a:r>
            <a:r>
              <a:rPr sz="1700" i="1">
                <a:solidFill>
                  <a:srgbClr val="222222"/>
                </a:solidFill>
              </a:rPr>
              <a:t>(Single Side Band — tek yan bant, taşıyıcısı bastırılmış ses modülasyonu)</a:t>
            </a:r>
            <a:r>
              <a:rPr sz="1700">
                <a:solidFill>
                  <a:srgbClr val="222222"/>
                </a:solidFill>
              </a:rPr>
              <a:t> haberleşmesi belirli frekans segmentlerinde yapılır, tüm bant boyunca değil.</a:t>
            </a:r>
          </a:p>
          <a:p>
            <a:pPr>
              <a:spcAft>
                <a:spcPts val="1300"/>
              </a:spcAft>
            </a:pPr>
            <a:r>
              <a:rPr sz="1700">
                <a:solidFill>
                  <a:srgbClr val="222222"/>
                </a:solidFill>
              </a:rPr>
              <a:t>•  Acil durum çağrıları, devam eden normal görüşmelerin önüne geçer — bu evrensel bir kuraldır.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5623560"/>
            <a:ext cx="10911535" cy="914400"/>
          </a:xfrm>
          <a:prstGeom prst="rect">
            <a:avLst/>
          </a:prstGeom>
          <a:solidFill>
            <a:srgbClr val="D6E4F0"/>
          </a:solidFill>
          <a:ln>
            <a:solidFill>
              <a:srgbClr val="2E75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tlCol="0" anchor="ctr"/>
          <a:lstStyle/>
          <a:p>
            <a:pPr algn="ctr"/>
            <a:r>
              <a:rPr sz="1300" b="1">
                <a:solidFill>
                  <a:srgbClr val="1F3864"/>
                </a:solidFill>
              </a:rPr>
              <a:t>Bu bölümün kaynağı: </a:t>
            </a:r>
            <a:r>
              <a:rPr sz="1300">
                <a:solidFill>
                  <a:srgbClr val="222222"/>
                </a:solidFill>
              </a:rPr>
              <a:t>Boylam-saat dönüşümü; IARU Region-1 amatör bant planı.; ITU acil durum önceliği kuralı.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95959"/>
                </a:solidFill>
              </a:rPr>
              <a:t>İşletme — Bölüm 5 Girişi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4008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1460175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1">
                <a:solidFill>
                  <a:srgbClr val="FFFFFF"/>
                </a:solidFill>
              </a:rPr>
              <a:t>Soru 48</a:t>
            </a:r>
            <a:r>
              <a:rPr sz="1400">
                <a:solidFill>
                  <a:srgbClr val="D6E4F0"/>
                </a:solidFill>
              </a:rPr>
              <a:t>   ·   Zaman Hesabı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60120"/>
            <a:ext cx="5608179" cy="5394960"/>
          </a:xfrm>
          <a:prstGeom prst="rect">
            <a:avLst/>
          </a:prstGeom>
          <a:solidFill>
            <a:srgbClr val="F7F9FB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82880" rIns="182880" rtlCol="0" anchor="ctr"/>
          <a:lstStyle/>
          <a:p>
            <a:pPr algn="ctr">
              <a:spcAft>
                <a:spcPts val="1400"/>
              </a:spcAft>
            </a:pPr>
            <a:r>
              <a:rPr sz="1700" b="1">
                <a:solidFill>
                  <a:srgbClr val="222222"/>
                </a:solidFill>
              </a:rPr>
              <a:t>Greenwich'te 20 Ekim saat 23:00 iken 40 derece doğu boylamında tarih ve saat kaçtır?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22222"/>
                </a:solidFill>
              </a:rPr>
              <a:t>a)  20 Ekim saat 11:10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22222"/>
                </a:solidFill>
              </a:rPr>
              <a:t>b)  20 Ekim saat 00:40</a:t>
            </a:r>
          </a:p>
          <a:p>
            <a:pPr>
              <a:spcAft>
                <a:spcPts val="800"/>
              </a:spcAft>
            </a:pPr>
            <a:r>
              <a:rPr sz="1500" b="1">
                <a:solidFill>
                  <a:srgbClr val="2E7D32"/>
                </a:solidFill>
              </a:rPr>
              <a:t>c)  21 Ekim saat 01:40</a:t>
            </a:r>
            <a:r>
              <a:rPr sz="1200" i="1">
                <a:solidFill>
                  <a:srgbClr val="2E7D32"/>
                </a:solidFill>
              </a:rPr>
              <a:t>   ✓ Doğru cevap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22222"/>
                </a:solidFill>
              </a:rPr>
              <a:t>d)  21 Ekim saat 11:10</a:t>
            </a:r>
          </a:p>
        </p:txBody>
      </p:sp>
      <p:sp>
        <p:nvSpPr>
          <p:cNvPr id="5" name="Rectangle 4"/>
          <p:cNvSpPr/>
          <p:nvPr/>
        </p:nvSpPr>
        <p:spPr>
          <a:xfrm>
            <a:off x="6339699" y="960120"/>
            <a:ext cx="5394796" cy="5394960"/>
          </a:xfrm>
          <a:prstGeom prst="rect">
            <a:avLst/>
          </a:prstGeom>
          <a:solidFill>
            <a:srgbClr val="E2EFDA"/>
          </a:solidFill>
          <a:ln w="9525">
            <a:solidFill>
              <a:srgbClr val="9BC1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82880" rIns="182880" rtlCol="0" anchor="ctr"/>
          <a:lstStyle/>
          <a:p>
            <a:pPr algn="ctr">
              <a:spcAft>
                <a:spcPts val="900"/>
              </a:spcAft>
            </a:pPr>
            <a:r>
              <a:rPr sz="1400" b="1">
                <a:solidFill>
                  <a:srgbClr val="2E7D32"/>
                </a:solidFill>
              </a:rPr>
              <a:t>AÇIKLAMA</a:t>
            </a:r>
          </a:p>
          <a:p>
            <a:pPr>
              <a:spcAft>
                <a:spcPts val="1100"/>
              </a:spcAft>
            </a:pPr>
            <a:r>
              <a:rPr sz="1300">
                <a:solidFill>
                  <a:srgbClr val="222222"/>
                </a:solidFill>
              </a:rPr>
              <a:t>40° doğu = 40/15 = 2 saat 40 dakika ileri. 23:00 + 2:40 = 01:40, gün bir ileri geçer: 21 Ekim, 01:40.</a:t>
            </a:r>
          </a:p>
          <a:p>
            <a:r>
              <a:rPr sz="1100" b="1">
                <a:solidFill>
                  <a:srgbClr val="1F3864"/>
                </a:solidFill>
              </a:rPr>
              <a:t>Kaynak: </a:t>
            </a:r>
            <a:r>
              <a:rPr sz="1100" i="1">
                <a:solidFill>
                  <a:srgbClr val="404040"/>
                </a:solidFill>
              </a:rPr>
              <a:t>Boylam-saat dönüşümü.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95959"/>
                </a:solidFill>
              </a:rPr>
              <a:t>İşletme — Soru 48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4008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1460175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1">
                <a:solidFill>
                  <a:srgbClr val="FFFFFF"/>
                </a:solidFill>
              </a:rPr>
              <a:t>Soru 49</a:t>
            </a:r>
            <a:r>
              <a:rPr sz="1400">
                <a:solidFill>
                  <a:srgbClr val="D6E4F0"/>
                </a:solidFill>
              </a:rPr>
              <a:t>   ·   Zaman Hesabı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60120"/>
            <a:ext cx="5608179" cy="5394960"/>
          </a:xfrm>
          <a:prstGeom prst="rect">
            <a:avLst/>
          </a:prstGeom>
          <a:solidFill>
            <a:srgbClr val="F7F9FB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82880" rIns="182880" rtlCol="0" anchor="ctr"/>
          <a:lstStyle/>
          <a:p>
            <a:pPr algn="ctr">
              <a:spcAft>
                <a:spcPts val="1400"/>
              </a:spcAft>
            </a:pPr>
            <a:r>
              <a:rPr sz="1700" b="1">
                <a:solidFill>
                  <a:srgbClr val="222222"/>
                </a:solidFill>
              </a:rPr>
              <a:t>30 derece doğu boylamında bulunan bir ülkede saat 22:00 iken 30 derece batı boylamında bulunan bir başka ülkede saat kaç olur?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22222"/>
                </a:solidFill>
              </a:rPr>
              <a:t>a)  Aynı gün 14:00</a:t>
            </a:r>
          </a:p>
          <a:p>
            <a:pPr>
              <a:spcAft>
                <a:spcPts val="800"/>
              </a:spcAft>
            </a:pPr>
            <a:r>
              <a:rPr sz="1500" b="1">
                <a:solidFill>
                  <a:srgbClr val="2E7D32"/>
                </a:solidFill>
              </a:rPr>
              <a:t>b)  Aynı gün 18:00</a:t>
            </a:r>
            <a:r>
              <a:rPr sz="1200" i="1">
                <a:solidFill>
                  <a:srgbClr val="2E7D32"/>
                </a:solidFill>
              </a:rPr>
              <a:t>   ✓ Doğru cevap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22222"/>
                </a:solidFill>
              </a:rPr>
              <a:t>c)  Ertesi gün 06:00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22222"/>
                </a:solidFill>
              </a:rPr>
              <a:t>d)  Ertesi gün 14:00</a:t>
            </a:r>
          </a:p>
        </p:txBody>
      </p:sp>
      <p:sp>
        <p:nvSpPr>
          <p:cNvPr id="5" name="Rectangle 4"/>
          <p:cNvSpPr/>
          <p:nvPr/>
        </p:nvSpPr>
        <p:spPr>
          <a:xfrm>
            <a:off x="6339699" y="960120"/>
            <a:ext cx="5394796" cy="5394960"/>
          </a:xfrm>
          <a:prstGeom prst="rect">
            <a:avLst/>
          </a:prstGeom>
          <a:solidFill>
            <a:srgbClr val="E2EFDA"/>
          </a:solidFill>
          <a:ln w="9525">
            <a:solidFill>
              <a:srgbClr val="9BC1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82880" rIns="182880" rtlCol="0" anchor="ctr"/>
          <a:lstStyle/>
          <a:p>
            <a:pPr algn="ctr">
              <a:spcAft>
                <a:spcPts val="900"/>
              </a:spcAft>
            </a:pPr>
            <a:r>
              <a:rPr sz="1400" b="1">
                <a:solidFill>
                  <a:srgbClr val="2E7D32"/>
                </a:solidFill>
              </a:rPr>
              <a:t>AÇIKLAMA</a:t>
            </a:r>
          </a:p>
          <a:p>
            <a:pPr>
              <a:spcAft>
                <a:spcPts val="1100"/>
              </a:spcAft>
            </a:pPr>
            <a:r>
              <a:rPr sz="1300">
                <a:solidFill>
                  <a:srgbClr val="222222"/>
                </a:solidFill>
              </a:rPr>
              <a:t>İki nokta arasındaki toplam boylam farkı 60 derece </a:t>
            </a:r>
            <a:r>
              <a:rPr sz="1300" i="1">
                <a:solidFill>
                  <a:srgbClr val="222222"/>
                </a:solidFill>
              </a:rPr>
              <a:t>(30+30)</a:t>
            </a:r>
            <a:r>
              <a:rPr sz="1300">
                <a:solidFill>
                  <a:srgbClr val="222222"/>
                </a:solidFill>
              </a:rPr>
              <a:t> = 4 saat. Doğu noktası batı noktasından ileridedir, o yüzden batıdaki saat 4 saat geridir: 22:00 - 4:00 = 18:00, aynı gün.</a:t>
            </a:r>
          </a:p>
          <a:p>
            <a:r>
              <a:rPr sz="1100" b="1">
                <a:solidFill>
                  <a:srgbClr val="1F3864"/>
                </a:solidFill>
              </a:rPr>
              <a:t>Kaynak: </a:t>
            </a:r>
            <a:r>
              <a:rPr sz="1100" i="1">
                <a:solidFill>
                  <a:srgbClr val="404040"/>
                </a:solidFill>
              </a:rPr>
              <a:t>Boylam-saat dönüşümü.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95959"/>
                </a:solidFill>
              </a:rPr>
              <a:t>İşletme — Soru 49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4008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1460175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1">
                <a:solidFill>
                  <a:srgbClr val="FFFFFF"/>
                </a:solidFill>
              </a:rPr>
              <a:t>Soru 50</a:t>
            </a:r>
            <a:r>
              <a:rPr sz="1400">
                <a:solidFill>
                  <a:srgbClr val="D6E4F0"/>
                </a:solidFill>
              </a:rPr>
              <a:t>   ·   Bant Planı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60120"/>
            <a:ext cx="5608179" cy="5394960"/>
          </a:xfrm>
          <a:prstGeom prst="rect">
            <a:avLst/>
          </a:prstGeom>
          <a:solidFill>
            <a:srgbClr val="F7F9FB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82880" rIns="182880" rtlCol="0" anchor="ctr"/>
          <a:lstStyle/>
          <a:p>
            <a:pPr algn="ctr">
              <a:spcAft>
                <a:spcPts val="1400"/>
              </a:spcAft>
            </a:pPr>
            <a:r>
              <a:rPr sz="1700" b="1">
                <a:solidFill>
                  <a:srgbClr val="222222"/>
                </a:solidFill>
              </a:rPr>
              <a:t>Aşağıdaki frekanslardan hangisinde SSB haberleşmesi yapılabilir?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22222"/>
                </a:solidFill>
              </a:rPr>
              <a:t>a)  14010 Khz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22222"/>
                </a:solidFill>
              </a:rPr>
              <a:t>b)  7010 Khz</a:t>
            </a:r>
          </a:p>
          <a:p>
            <a:pPr>
              <a:spcAft>
                <a:spcPts val="800"/>
              </a:spcAft>
            </a:pPr>
            <a:r>
              <a:rPr sz="1500" b="1">
                <a:solidFill>
                  <a:srgbClr val="2E7D32"/>
                </a:solidFill>
              </a:rPr>
              <a:t>c)  14250 Khz</a:t>
            </a:r>
            <a:r>
              <a:rPr sz="1200" i="1">
                <a:solidFill>
                  <a:srgbClr val="2E7D32"/>
                </a:solidFill>
              </a:rPr>
              <a:t>   ✓ Doğru cevap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22222"/>
                </a:solidFill>
              </a:rPr>
              <a:t>d)  21035 Khz</a:t>
            </a:r>
          </a:p>
        </p:txBody>
      </p:sp>
      <p:sp>
        <p:nvSpPr>
          <p:cNvPr id="5" name="Rectangle 4"/>
          <p:cNvSpPr/>
          <p:nvPr/>
        </p:nvSpPr>
        <p:spPr>
          <a:xfrm>
            <a:off x="6339699" y="960120"/>
            <a:ext cx="5394796" cy="5394960"/>
          </a:xfrm>
          <a:prstGeom prst="rect">
            <a:avLst/>
          </a:prstGeom>
          <a:solidFill>
            <a:srgbClr val="E2EFDA"/>
          </a:solidFill>
          <a:ln w="9525">
            <a:solidFill>
              <a:srgbClr val="9BC1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82880" rIns="182880" rtlCol="0" anchor="ctr"/>
          <a:lstStyle/>
          <a:p>
            <a:pPr algn="ctr">
              <a:spcAft>
                <a:spcPts val="900"/>
              </a:spcAft>
            </a:pPr>
            <a:r>
              <a:rPr sz="1400" b="1">
                <a:solidFill>
                  <a:srgbClr val="2E7D32"/>
                </a:solidFill>
              </a:rPr>
              <a:t>AÇIKLAMA</a:t>
            </a:r>
          </a:p>
          <a:p>
            <a:pPr>
              <a:spcAft>
                <a:spcPts val="1100"/>
              </a:spcAft>
            </a:pPr>
            <a:r>
              <a:rPr sz="1300">
                <a:solidFill>
                  <a:srgbClr val="222222"/>
                </a:solidFill>
              </a:rPr>
              <a:t>14000-14100 kHz ve benzeri bant altları CW/veri moduna ayrılmıştır; 14250 kHz ise 20m bandının SSB </a:t>
            </a:r>
            <a:r>
              <a:rPr sz="1300" i="1">
                <a:solidFill>
                  <a:srgbClr val="222222"/>
                </a:solidFill>
              </a:rPr>
              <a:t>(fone)</a:t>
            </a:r>
            <a:r>
              <a:rPr sz="1300">
                <a:solidFill>
                  <a:srgbClr val="222222"/>
                </a:solidFill>
              </a:rPr>
              <a:t> segmentindedir.</a:t>
            </a:r>
          </a:p>
          <a:p>
            <a:r>
              <a:rPr sz="1100" b="1">
                <a:solidFill>
                  <a:srgbClr val="1F3864"/>
                </a:solidFill>
              </a:rPr>
              <a:t>Kaynak: </a:t>
            </a:r>
            <a:r>
              <a:rPr sz="1100" i="1">
                <a:solidFill>
                  <a:srgbClr val="404040"/>
                </a:solidFill>
              </a:rPr>
              <a:t>IARU Region-1 amatör bant planı.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95959"/>
                </a:solidFill>
              </a:rPr>
              <a:t>İşletme — Soru 50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4008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1460175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1">
                <a:solidFill>
                  <a:srgbClr val="FFFFFF"/>
                </a:solidFill>
              </a:rPr>
              <a:t>Soru 51</a:t>
            </a:r>
            <a:r>
              <a:rPr sz="1400">
                <a:solidFill>
                  <a:srgbClr val="D6E4F0"/>
                </a:solidFill>
              </a:rPr>
              <a:t>   ·   Q-Kodları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60120"/>
            <a:ext cx="5608179" cy="5394960"/>
          </a:xfrm>
          <a:prstGeom prst="rect">
            <a:avLst/>
          </a:prstGeom>
          <a:solidFill>
            <a:srgbClr val="F7F9FB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82880" rIns="182880" rtlCol="0" anchor="ctr"/>
          <a:lstStyle/>
          <a:p>
            <a:pPr algn="ctr">
              <a:spcAft>
                <a:spcPts val="1400"/>
              </a:spcAft>
            </a:pPr>
            <a:r>
              <a:rPr sz="1700" b="1">
                <a:solidFill>
                  <a:srgbClr val="222222"/>
                </a:solidFill>
              </a:rPr>
              <a:t>Frekansı değiştirdiğinizi belirtmek için kullanılan "Q" sinyali hangisidir?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22222"/>
                </a:solidFill>
              </a:rPr>
              <a:t>a)  QRU</a:t>
            </a:r>
          </a:p>
          <a:p>
            <a:pPr>
              <a:spcAft>
                <a:spcPts val="800"/>
              </a:spcAft>
            </a:pPr>
            <a:r>
              <a:rPr sz="1500" b="1">
                <a:solidFill>
                  <a:srgbClr val="2E7D32"/>
                </a:solidFill>
              </a:rPr>
              <a:t>b)  QSY</a:t>
            </a:r>
            <a:r>
              <a:rPr sz="1200" i="1">
                <a:solidFill>
                  <a:srgbClr val="2E7D32"/>
                </a:solidFill>
              </a:rPr>
              <a:t>   ✓ Doğru cevap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22222"/>
                </a:solidFill>
              </a:rPr>
              <a:t>c)  QSL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22222"/>
                </a:solidFill>
              </a:rPr>
              <a:t>d)  QRZ</a:t>
            </a:r>
          </a:p>
        </p:txBody>
      </p:sp>
      <p:sp>
        <p:nvSpPr>
          <p:cNvPr id="5" name="Rectangle 4"/>
          <p:cNvSpPr/>
          <p:nvPr/>
        </p:nvSpPr>
        <p:spPr>
          <a:xfrm>
            <a:off x="6339699" y="960120"/>
            <a:ext cx="5394796" cy="5394960"/>
          </a:xfrm>
          <a:prstGeom prst="rect">
            <a:avLst/>
          </a:prstGeom>
          <a:solidFill>
            <a:srgbClr val="E2EFDA"/>
          </a:solidFill>
          <a:ln w="9525">
            <a:solidFill>
              <a:srgbClr val="9BC1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82880" rIns="182880" rtlCol="0" anchor="ctr"/>
          <a:lstStyle/>
          <a:p>
            <a:pPr algn="ctr">
              <a:spcAft>
                <a:spcPts val="900"/>
              </a:spcAft>
            </a:pPr>
            <a:r>
              <a:rPr sz="1400" b="1">
                <a:solidFill>
                  <a:srgbClr val="2E7D32"/>
                </a:solidFill>
              </a:rPr>
              <a:t>AÇIKLAMA</a:t>
            </a:r>
          </a:p>
          <a:p>
            <a:pPr>
              <a:spcAft>
                <a:spcPts val="1100"/>
              </a:spcAft>
            </a:pPr>
            <a:r>
              <a:rPr sz="1300">
                <a:solidFill>
                  <a:srgbClr val="222222"/>
                </a:solidFill>
              </a:rPr>
              <a:t>QSY, 'frekans değiştiriyorum' veya 'başka frekansa geçelim mi' anlamına gelir.</a:t>
            </a:r>
          </a:p>
          <a:p>
            <a:r>
              <a:rPr sz="1100" b="1">
                <a:solidFill>
                  <a:srgbClr val="1F3864"/>
                </a:solidFill>
              </a:rPr>
              <a:t>Kaynak: </a:t>
            </a:r>
            <a:r>
              <a:rPr sz="1100" i="1">
                <a:solidFill>
                  <a:srgbClr val="404040"/>
                </a:solidFill>
              </a:rPr>
              <a:t>ITU Q-kod tablosu (uluslararası standart kısaltılmış telsiz sinyalleri).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95959"/>
                </a:solidFill>
              </a:rPr>
              <a:t>İşletme — Soru 51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4008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1460175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1">
                <a:solidFill>
                  <a:srgbClr val="FFFFFF"/>
                </a:solidFill>
              </a:rPr>
              <a:t>Soru 52</a:t>
            </a:r>
            <a:r>
              <a:rPr sz="1400">
                <a:solidFill>
                  <a:srgbClr val="D6E4F0"/>
                </a:solidFill>
              </a:rPr>
              <a:t>   ·   Acil Durum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60120"/>
            <a:ext cx="5608179" cy="5394960"/>
          </a:xfrm>
          <a:prstGeom prst="rect">
            <a:avLst/>
          </a:prstGeom>
          <a:solidFill>
            <a:srgbClr val="F7F9FB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82880" rIns="182880" rtlCol="0" anchor="ctr"/>
          <a:lstStyle/>
          <a:p>
            <a:pPr algn="ctr">
              <a:spcAft>
                <a:spcPts val="1400"/>
              </a:spcAft>
            </a:pPr>
            <a:r>
              <a:rPr sz="1700" b="1">
                <a:solidFill>
                  <a:srgbClr val="222222"/>
                </a:solidFill>
              </a:rPr>
              <a:t>Eğer başka bir istasyonla konuşuyorken bir acil durum çağrısı duymuşsanız, ne yapmalısınız?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22222"/>
                </a:solidFill>
              </a:rPr>
              <a:t>a)  Frekansın kullanımda olduğunu çağrı istasyonuna söyleyiniz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22222"/>
                </a:solidFill>
              </a:rPr>
              <a:t>b)  Çağrı istasyonunu en yakın acil durum ağ frekansına yönlendiriniz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22222"/>
                </a:solidFill>
              </a:rPr>
              <a:t>c)  Çağrıyı görmezden geliniz ve konuşmanıza devam ediniz</a:t>
            </a:r>
          </a:p>
          <a:p>
            <a:pPr>
              <a:spcAft>
                <a:spcPts val="800"/>
              </a:spcAft>
            </a:pPr>
            <a:r>
              <a:rPr sz="1500" b="1">
                <a:solidFill>
                  <a:srgbClr val="2E7D32"/>
                </a:solidFill>
              </a:rPr>
              <a:t>d)  Derhal konuşmayı bırakınız ve acil duruma cevap veriniz</a:t>
            </a:r>
            <a:r>
              <a:rPr sz="1200" i="1">
                <a:solidFill>
                  <a:srgbClr val="2E7D32"/>
                </a:solidFill>
              </a:rPr>
              <a:t>   ✓ Doğru cevap</a:t>
            </a:r>
          </a:p>
        </p:txBody>
      </p:sp>
      <p:sp>
        <p:nvSpPr>
          <p:cNvPr id="5" name="Rectangle 4"/>
          <p:cNvSpPr/>
          <p:nvPr/>
        </p:nvSpPr>
        <p:spPr>
          <a:xfrm>
            <a:off x="6339699" y="960120"/>
            <a:ext cx="5394796" cy="5394960"/>
          </a:xfrm>
          <a:prstGeom prst="rect">
            <a:avLst/>
          </a:prstGeom>
          <a:solidFill>
            <a:srgbClr val="E2EFDA"/>
          </a:solidFill>
          <a:ln w="9525">
            <a:solidFill>
              <a:srgbClr val="9BC1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82880" rIns="182880" rtlCol="0" anchor="ctr"/>
          <a:lstStyle/>
          <a:p>
            <a:pPr algn="ctr">
              <a:spcAft>
                <a:spcPts val="900"/>
              </a:spcAft>
            </a:pPr>
            <a:r>
              <a:rPr sz="1400" b="1">
                <a:solidFill>
                  <a:srgbClr val="2E7D32"/>
                </a:solidFill>
              </a:rPr>
              <a:t>AÇIKLAMA</a:t>
            </a:r>
          </a:p>
          <a:p>
            <a:pPr>
              <a:spcAft>
                <a:spcPts val="1100"/>
              </a:spcAft>
            </a:pPr>
            <a:r>
              <a:rPr sz="1300">
                <a:solidFill>
                  <a:srgbClr val="222222"/>
                </a:solidFill>
              </a:rPr>
              <a:t>Can/mal güvenliğini ilgilendiren acil durum çağrıları, her türlü normal görüşmenin önündedir; derhal görüşme bırakılıp acil duruma yanıt verilmelidir.</a:t>
            </a:r>
          </a:p>
          <a:p>
            <a:r>
              <a:rPr sz="1100" b="1">
                <a:solidFill>
                  <a:srgbClr val="1F3864"/>
                </a:solidFill>
              </a:rPr>
              <a:t>Kaynak: </a:t>
            </a:r>
            <a:r>
              <a:rPr sz="1100" i="1">
                <a:solidFill>
                  <a:srgbClr val="404040"/>
                </a:solidFill>
              </a:rPr>
              <a:t>ITU acil durum önceliği kuralı.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95959"/>
                </a:solidFill>
              </a:rPr>
              <a:t>İşletme — Soru 52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4008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1460175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1">
                <a:solidFill>
                  <a:srgbClr val="FFFFFF"/>
                </a:solidFill>
              </a:rPr>
              <a:t>Soru 53</a:t>
            </a:r>
            <a:r>
              <a:rPr sz="1400">
                <a:solidFill>
                  <a:srgbClr val="D6E4F0"/>
                </a:solidFill>
              </a:rPr>
              <a:t>   ·   Genel Bilgi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60120"/>
            <a:ext cx="5608179" cy="5394960"/>
          </a:xfrm>
          <a:prstGeom prst="rect">
            <a:avLst/>
          </a:prstGeom>
          <a:solidFill>
            <a:srgbClr val="F7F9FB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82880" rIns="182880" rtlCol="0" anchor="ctr"/>
          <a:lstStyle/>
          <a:p>
            <a:pPr algn="ctr">
              <a:spcAft>
                <a:spcPts val="1400"/>
              </a:spcAft>
            </a:pPr>
            <a:r>
              <a:rPr sz="1700" b="1">
                <a:solidFill>
                  <a:srgbClr val="222222"/>
                </a:solidFill>
              </a:rPr>
              <a:t>Aşağıdakilerden hangisi sadece uzak mesafe istasyonlarında genel bir çağrıdır?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22222"/>
                </a:solidFill>
              </a:rPr>
              <a:t>a)  CQ CQ CQ de TA2KA TA2KA TA2KA k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22222"/>
                </a:solidFill>
              </a:rPr>
              <a:t>b)  TA2R de TA2KA TA2KA kn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22222"/>
                </a:solidFill>
              </a:rPr>
              <a:t>c)  CQ DL CQ DL CQ DL de TA2KA TA2KA TA2KA k</a:t>
            </a:r>
          </a:p>
          <a:p>
            <a:pPr>
              <a:spcAft>
                <a:spcPts val="800"/>
              </a:spcAft>
            </a:pPr>
            <a:r>
              <a:rPr sz="1500" b="1">
                <a:solidFill>
                  <a:srgbClr val="2E7D32"/>
                </a:solidFill>
              </a:rPr>
              <a:t>d)  CQ DX CQ DX CQ DX de TA2KA TA2KA TA2KA</a:t>
            </a:r>
            <a:r>
              <a:rPr sz="1200" i="1">
                <a:solidFill>
                  <a:srgbClr val="2E7D32"/>
                </a:solidFill>
              </a:rPr>
              <a:t>   ✓ Doğru cevap</a:t>
            </a:r>
          </a:p>
        </p:txBody>
      </p:sp>
      <p:sp>
        <p:nvSpPr>
          <p:cNvPr id="5" name="Rectangle 4"/>
          <p:cNvSpPr/>
          <p:nvPr/>
        </p:nvSpPr>
        <p:spPr>
          <a:xfrm>
            <a:off x="6339699" y="960120"/>
            <a:ext cx="5394796" cy="5394960"/>
          </a:xfrm>
          <a:prstGeom prst="rect">
            <a:avLst/>
          </a:prstGeom>
          <a:solidFill>
            <a:srgbClr val="E2EFDA"/>
          </a:solidFill>
          <a:ln w="9525">
            <a:solidFill>
              <a:srgbClr val="9BC1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82880" rIns="182880" rtlCol="0" anchor="ctr"/>
          <a:lstStyle/>
          <a:p>
            <a:pPr algn="ctr">
              <a:spcAft>
                <a:spcPts val="900"/>
              </a:spcAft>
            </a:pPr>
            <a:r>
              <a:rPr sz="1400" b="1">
                <a:solidFill>
                  <a:srgbClr val="2E7D32"/>
                </a:solidFill>
              </a:rPr>
              <a:t>AÇIKLAMA</a:t>
            </a:r>
          </a:p>
          <a:p>
            <a:pPr>
              <a:spcAft>
                <a:spcPts val="1100"/>
              </a:spcAft>
            </a:pPr>
            <a:r>
              <a:rPr sz="1300">
                <a:solidFill>
                  <a:srgbClr val="222222"/>
                </a:solidFill>
              </a:rPr>
              <a:t>"CQ DX", özellikle uzak/yabancı ülke istasyonlarını arayan bir genel çağrıdır </a:t>
            </a:r>
            <a:r>
              <a:rPr sz="1300" i="1">
                <a:solidFill>
                  <a:srgbClr val="222222"/>
                </a:solidFill>
              </a:rPr>
              <a:t>(DX = uzak mesafe istasyonu)</a:t>
            </a:r>
            <a:r>
              <a:rPr sz="1300">
                <a:solidFill>
                  <a:srgbClr val="222222"/>
                </a:solidFill>
              </a:rPr>
              <a:t>; "CQ DL" belirli bir ülkeyi </a:t>
            </a:r>
            <a:r>
              <a:rPr sz="1300" i="1">
                <a:solidFill>
                  <a:srgbClr val="222222"/>
                </a:solidFill>
              </a:rPr>
              <a:t>(Almanya)</a:t>
            </a:r>
            <a:r>
              <a:rPr sz="1300">
                <a:solidFill>
                  <a:srgbClr val="222222"/>
                </a:solidFill>
              </a:rPr>
              <a:t> hedefler, düz CQ herkese, "de" ile başlayan ikinci örnek ise belirli bir istasyona özel çağrıdır.</a:t>
            </a:r>
          </a:p>
          <a:p>
            <a:r>
              <a:rPr sz="1100" b="1">
                <a:solidFill>
                  <a:srgbClr val="1F3864"/>
                </a:solidFill>
              </a:rPr>
              <a:t>Kaynak: </a:t>
            </a:r>
            <a:r>
              <a:rPr sz="1100" i="1">
                <a:solidFill>
                  <a:srgbClr val="404040"/>
                </a:solidFill>
              </a:rPr>
              <a:t>Genel amatör telsiz çağrı adabı.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95959"/>
                </a:solidFill>
              </a:rPr>
              <a:t>İşletme — Soru 53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4008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1460175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1">
                <a:solidFill>
                  <a:srgbClr val="FFFFFF"/>
                </a:solidFill>
              </a:rPr>
              <a:t>Soru 54</a:t>
            </a:r>
            <a:r>
              <a:rPr sz="1400">
                <a:solidFill>
                  <a:srgbClr val="D6E4F0"/>
                </a:solidFill>
              </a:rPr>
              <a:t>   ·   Genel Bilgi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60120"/>
            <a:ext cx="5608179" cy="5394960"/>
          </a:xfrm>
          <a:prstGeom prst="rect">
            <a:avLst/>
          </a:prstGeom>
          <a:solidFill>
            <a:srgbClr val="F7F9FB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82880" rIns="182880" rtlCol="0" anchor="ctr"/>
          <a:lstStyle/>
          <a:p>
            <a:pPr algn="ctr">
              <a:spcAft>
                <a:spcPts val="1400"/>
              </a:spcAft>
            </a:pPr>
            <a:r>
              <a:rPr sz="1700" b="1">
                <a:solidFill>
                  <a:srgbClr val="222222"/>
                </a:solidFill>
              </a:rPr>
              <a:t>"CQ contest CQ contest this is TA2KA" gibi bir çağrı hangi anlama gelir?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22222"/>
                </a:solidFill>
              </a:rPr>
              <a:t>a)  TA2KA genel çağrı yapıyor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22222"/>
                </a:solidFill>
              </a:rPr>
              <a:t>b)  TA2KA test yapıyor</a:t>
            </a:r>
          </a:p>
          <a:p>
            <a:pPr>
              <a:spcAft>
                <a:spcPts val="800"/>
              </a:spcAft>
            </a:pPr>
            <a:r>
              <a:rPr sz="1500" b="1">
                <a:solidFill>
                  <a:srgbClr val="2E7D32"/>
                </a:solidFill>
              </a:rPr>
              <a:t>c)  TA2KA yarışma istasyonlarına genel çağrı yapıyor</a:t>
            </a:r>
            <a:r>
              <a:rPr sz="1200" i="1">
                <a:solidFill>
                  <a:srgbClr val="2E7D32"/>
                </a:solidFill>
              </a:rPr>
              <a:t>   ✓ Doğru cevap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22222"/>
                </a:solidFill>
              </a:rPr>
              <a:t>d)  TA2KA deprem duyurusu yapıyor</a:t>
            </a:r>
          </a:p>
        </p:txBody>
      </p:sp>
      <p:sp>
        <p:nvSpPr>
          <p:cNvPr id="5" name="Rectangle 4"/>
          <p:cNvSpPr/>
          <p:nvPr/>
        </p:nvSpPr>
        <p:spPr>
          <a:xfrm>
            <a:off x="6339699" y="960120"/>
            <a:ext cx="5394796" cy="5394960"/>
          </a:xfrm>
          <a:prstGeom prst="rect">
            <a:avLst/>
          </a:prstGeom>
          <a:solidFill>
            <a:srgbClr val="E2EFDA"/>
          </a:solidFill>
          <a:ln w="9525">
            <a:solidFill>
              <a:srgbClr val="9BC1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82880" rIns="182880" rtlCol="0" anchor="ctr"/>
          <a:lstStyle/>
          <a:p>
            <a:pPr algn="ctr">
              <a:spcAft>
                <a:spcPts val="900"/>
              </a:spcAft>
            </a:pPr>
            <a:r>
              <a:rPr sz="1400" b="1">
                <a:solidFill>
                  <a:srgbClr val="2E7D32"/>
                </a:solidFill>
              </a:rPr>
              <a:t>AÇIKLAMA</a:t>
            </a:r>
          </a:p>
          <a:p>
            <a:pPr>
              <a:spcAft>
                <a:spcPts val="1100"/>
              </a:spcAft>
            </a:pPr>
            <a:r>
              <a:rPr sz="1300">
                <a:solidFill>
                  <a:srgbClr val="222222"/>
                </a:solidFill>
              </a:rPr>
              <a:t>"CQ contest", özellikle o sırada devam eden bir yarışmaya </a:t>
            </a:r>
            <a:r>
              <a:rPr sz="1300" i="1">
                <a:solidFill>
                  <a:srgbClr val="222222"/>
                </a:solidFill>
              </a:rPr>
              <a:t>(contest)</a:t>
            </a:r>
            <a:r>
              <a:rPr sz="1300">
                <a:solidFill>
                  <a:srgbClr val="222222"/>
                </a:solidFill>
              </a:rPr>
              <a:t> katılan diğer istasyonları hedefleyen özel bir genel çağrı türüdür.</a:t>
            </a:r>
          </a:p>
          <a:p>
            <a:r>
              <a:rPr sz="1100" b="1">
                <a:solidFill>
                  <a:srgbClr val="1F3864"/>
                </a:solidFill>
              </a:rPr>
              <a:t>Kaynak: </a:t>
            </a:r>
            <a:r>
              <a:rPr sz="1100" i="1">
                <a:solidFill>
                  <a:srgbClr val="404040"/>
                </a:solidFill>
              </a:rPr>
              <a:t>Genel amatör telsiz çağrı adabı.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95959"/>
                </a:solidFill>
              </a:rPr>
              <a:t>İşletme — Soru 54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4008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1460175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1">
                <a:solidFill>
                  <a:srgbClr val="FFFFFF"/>
                </a:solidFill>
              </a:rPr>
              <a:t>Soru 55</a:t>
            </a:r>
            <a:r>
              <a:rPr sz="1400">
                <a:solidFill>
                  <a:srgbClr val="D6E4F0"/>
                </a:solidFill>
              </a:rPr>
              <a:t>   ·   Fonetik Alfabe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60120"/>
            <a:ext cx="5608179" cy="5394960"/>
          </a:xfrm>
          <a:prstGeom prst="rect">
            <a:avLst/>
          </a:prstGeom>
          <a:solidFill>
            <a:srgbClr val="F7F9FB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82880" rIns="182880" rtlCol="0" anchor="ctr"/>
          <a:lstStyle/>
          <a:p>
            <a:pPr algn="ctr">
              <a:spcAft>
                <a:spcPts val="1400"/>
              </a:spcAft>
            </a:pPr>
            <a:r>
              <a:rPr sz="1700" b="1">
                <a:solidFill>
                  <a:srgbClr val="222222"/>
                </a:solidFill>
              </a:rPr>
              <a:t>TB3CTR'nin milli fonetik alfabeye göre hecelemesi ne şekilde yapılır?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22222"/>
                </a:solidFill>
              </a:rPr>
              <a:t>a)  Tokat - Bolu - Üç - Çankırı - Tekirdağ - Rize</a:t>
            </a:r>
          </a:p>
          <a:p>
            <a:pPr>
              <a:spcAft>
                <a:spcPts val="800"/>
              </a:spcAft>
            </a:pPr>
            <a:r>
              <a:rPr sz="1500" b="1">
                <a:solidFill>
                  <a:srgbClr val="2E7D32"/>
                </a:solidFill>
              </a:rPr>
              <a:t>b)  Trabzon - Bursa - Üç - Ceyhan - Trabzon - Rize</a:t>
            </a:r>
            <a:r>
              <a:rPr sz="1200" i="1">
                <a:solidFill>
                  <a:srgbClr val="2E7D32"/>
                </a:solidFill>
              </a:rPr>
              <a:t>   ✓ Doğru cevap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22222"/>
                </a:solidFill>
              </a:rPr>
              <a:t>c)  Tekirdağ - Bolu - Üç - Çankırı - Tekirdağ - Rize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22222"/>
                </a:solidFill>
              </a:rPr>
              <a:t>d)  Tunceli - Bursa - Üç - Ceyhan - Trabzon - Rize</a:t>
            </a:r>
          </a:p>
        </p:txBody>
      </p:sp>
      <p:sp>
        <p:nvSpPr>
          <p:cNvPr id="5" name="Rectangle 4"/>
          <p:cNvSpPr/>
          <p:nvPr/>
        </p:nvSpPr>
        <p:spPr>
          <a:xfrm>
            <a:off x="6339699" y="960120"/>
            <a:ext cx="5394796" cy="5394960"/>
          </a:xfrm>
          <a:prstGeom prst="rect">
            <a:avLst/>
          </a:prstGeom>
          <a:solidFill>
            <a:srgbClr val="E2EFDA"/>
          </a:solidFill>
          <a:ln w="9525">
            <a:solidFill>
              <a:srgbClr val="9BC1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82880" rIns="182880" rtlCol="0" anchor="ctr"/>
          <a:lstStyle/>
          <a:p>
            <a:pPr algn="ctr">
              <a:spcAft>
                <a:spcPts val="900"/>
              </a:spcAft>
            </a:pPr>
            <a:r>
              <a:rPr sz="1400" b="1">
                <a:solidFill>
                  <a:srgbClr val="2E7D32"/>
                </a:solidFill>
              </a:rPr>
              <a:t>AÇIKLAMA</a:t>
            </a:r>
          </a:p>
          <a:p>
            <a:pPr>
              <a:spcAft>
                <a:spcPts val="1100"/>
              </a:spcAft>
            </a:pPr>
            <a:r>
              <a:rPr sz="1300">
                <a:solidFill>
                  <a:srgbClr val="222222"/>
                </a:solidFill>
              </a:rPr>
              <a:t>Ulusal fonetik alfabede her harf bir il adıyla okunur: T=Trabzon, B=Bursa, 3=Üç, C=Ceyhan, T=Trabzon, R=Rize.</a:t>
            </a:r>
          </a:p>
          <a:p>
            <a:r>
              <a:rPr sz="1100" b="1">
                <a:solidFill>
                  <a:srgbClr val="1F3864"/>
                </a:solidFill>
              </a:rPr>
              <a:t>Kaynak: </a:t>
            </a:r>
            <a:r>
              <a:rPr sz="1100" i="1">
                <a:solidFill>
                  <a:srgbClr val="404040"/>
                </a:solidFill>
              </a:rPr>
              <a:t>NATO/Uluslararası fonetik alfabe ve KEGM ulusal (il adı) fonetik alfabesi.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95959"/>
                </a:solidFill>
              </a:rPr>
              <a:t>İşletme — Soru 55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4008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1460175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1">
                <a:solidFill>
                  <a:srgbClr val="FFFFFF"/>
                </a:solidFill>
              </a:rPr>
              <a:t>Soru 56</a:t>
            </a:r>
            <a:r>
              <a:rPr sz="1400">
                <a:solidFill>
                  <a:srgbClr val="D6E4F0"/>
                </a:solidFill>
              </a:rPr>
              <a:t>   ·   Fonetik Alfabe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60120"/>
            <a:ext cx="5608179" cy="5394960"/>
          </a:xfrm>
          <a:prstGeom prst="rect">
            <a:avLst/>
          </a:prstGeom>
          <a:solidFill>
            <a:srgbClr val="F7F9FB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82880" rIns="182880" rtlCol="0" anchor="ctr"/>
          <a:lstStyle/>
          <a:p>
            <a:pPr algn="ctr">
              <a:spcAft>
                <a:spcPts val="1400"/>
              </a:spcAft>
            </a:pPr>
            <a:r>
              <a:rPr sz="1700" b="1">
                <a:solidFill>
                  <a:srgbClr val="222222"/>
                </a:solidFill>
              </a:rPr>
              <a:t>YM2ZIP milli fonetik alfabeye göre hecelenmesi nasıl olur?</a:t>
            </a:r>
          </a:p>
          <a:p>
            <a:pPr>
              <a:spcAft>
                <a:spcPts val="800"/>
              </a:spcAft>
            </a:pPr>
            <a:r>
              <a:rPr sz="1500" b="1">
                <a:solidFill>
                  <a:srgbClr val="2E7D32"/>
                </a:solidFill>
              </a:rPr>
              <a:t>a)  Yalova - Manisa - İki - Zonguldak - İzmir - Pazar</a:t>
            </a:r>
            <a:r>
              <a:rPr sz="1200" i="1">
                <a:solidFill>
                  <a:srgbClr val="2E7D32"/>
                </a:solidFill>
              </a:rPr>
              <a:t>   ✓ Doğru cevap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22222"/>
                </a:solidFill>
              </a:rPr>
              <a:t>b)  Yankee - Muğla - Two - Zulu - India - Papa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22222"/>
                </a:solidFill>
              </a:rPr>
              <a:t>c)  Yozgat - Mardin - İki - Zonguldak - İzmir - Papa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22222"/>
                </a:solidFill>
              </a:rPr>
              <a:t>d)  Yalova - Muş - İki - Zonguldak - İzmir - Pazar</a:t>
            </a:r>
          </a:p>
        </p:txBody>
      </p:sp>
      <p:sp>
        <p:nvSpPr>
          <p:cNvPr id="5" name="Rectangle 4"/>
          <p:cNvSpPr/>
          <p:nvPr/>
        </p:nvSpPr>
        <p:spPr>
          <a:xfrm>
            <a:off x="6339699" y="960120"/>
            <a:ext cx="5394796" cy="5394960"/>
          </a:xfrm>
          <a:prstGeom prst="rect">
            <a:avLst/>
          </a:prstGeom>
          <a:solidFill>
            <a:srgbClr val="E2EFDA"/>
          </a:solidFill>
          <a:ln w="9525">
            <a:solidFill>
              <a:srgbClr val="9BC1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82880" rIns="182880" rtlCol="0" anchor="ctr"/>
          <a:lstStyle/>
          <a:p>
            <a:pPr algn="ctr">
              <a:spcAft>
                <a:spcPts val="900"/>
              </a:spcAft>
            </a:pPr>
            <a:r>
              <a:rPr sz="1400" b="1">
                <a:solidFill>
                  <a:srgbClr val="2E7D32"/>
                </a:solidFill>
              </a:rPr>
              <a:t>AÇIKLAMA</a:t>
            </a:r>
          </a:p>
          <a:p>
            <a:pPr>
              <a:spcAft>
                <a:spcPts val="1100"/>
              </a:spcAft>
            </a:pPr>
            <a:r>
              <a:rPr sz="1300">
                <a:solidFill>
                  <a:srgbClr val="222222"/>
                </a:solidFill>
              </a:rPr>
              <a:t>Ulusal fonetik alfabede: Y=Yalova, M=Manisa, 2=İki, Z=Zonguldak, I=İzmir, P=Pazar.</a:t>
            </a:r>
          </a:p>
          <a:p>
            <a:r>
              <a:rPr sz="1100" b="1">
                <a:solidFill>
                  <a:srgbClr val="1F3864"/>
                </a:solidFill>
              </a:rPr>
              <a:t>Kaynak: </a:t>
            </a:r>
            <a:r>
              <a:rPr sz="1100" i="1">
                <a:solidFill>
                  <a:srgbClr val="404040"/>
                </a:solidFill>
              </a:rPr>
              <a:t>NATO/Uluslararası fonetik alfabe ve KEGM ulusal (il adı) fonetik alfabesi.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95959"/>
                </a:solidFill>
              </a:rPr>
              <a:t>İşletme — Soru 56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4008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1460175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1">
                <a:solidFill>
                  <a:srgbClr val="FFFFFF"/>
                </a:solidFill>
              </a:rPr>
              <a:t>Soru 57</a:t>
            </a:r>
            <a:r>
              <a:rPr sz="1400">
                <a:solidFill>
                  <a:srgbClr val="D6E4F0"/>
                </a:solidFill>
              </a:rPr>
              <a:t>   ·   Genel Bilgi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60120"/>
            <a:ext cx="5608179" cy="5394960"/>
          </a:xfrm>
          <a:prstGeom prst="rect">
            <a:avLst/>
          </a:prstGeom>
          <a:solidFill>
            <a:srgbClr val="F7F9FB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82880" rIns="182880" rtlCol="0" anchor="ctr"/>
          <a:lstStyle/>
          <a:p>
            <a:pPr algn="ctr">
              <a:spcAft>
                <a:spcPts val="1400"/>
              </a:spcAft>
            </a:pPr>
            <a:r>
              <a:rPr sz="1700" b="1">
                <a:solidFill>
                  <a:srgbClr val="222222"/>
                </a:solidFill>
              </a:rPr>
              <a:t>VHF bandında haberleşme için elektromanyetik dalgaların yayılımı hangi şekilde gerçekleşir?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22222"/>
                </a:solidFill>
              </a:rPr>
              <a:t>a)  Yer dalgaları ile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22222"/>
                </a:solidFill>
              </a:rPr>
              <a:t>b)  İyonosfer yansıma ile</a:t>
            </a:r>
          </a:p>
          <a:p>
            <a:pPr>
              <a:spcAft>
                <a:spcPts val="800"/>
              </a:spcAft>
            </a:pPr>
            <a:r>
              <a:rPr sz="1500" b="1">
                <a:solidFill>
                  <a:srgbClr val="2E7D32"/>
                </a:solidFill>
              </a:rPr>
              <a:t>c)  Direkt dalgalar ile</a:t>
            </a:r>
            <a:r>
              <a:rPr sz="1200" i="1">
                <a:solidFill>
                  <a:srgbClr val="2E7D32"/>
                </a:solidFill>
              </a:rPr>
              <a:t>   ✓ Doğru cevap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22222"/>
                </a:solidFill>
              </a:rPr>
              <a:t>d)  Troposferik yansıma ile</a:t>
            </a:r>
          </a:p>
        </p:txBody>
      </p:sp>
      <p:sp>
        <p:nvSpPr>
          <p:cNvPr id="5" name="Rectangle 4"/>
          <p:cNvSpPr/>
          <p:nvPr/>
        </p:nvSpPr>
        <p:spPr>
          <a:xfrm>
            <a:off x="6339699" y="960120"/>
            <a:ext cx="5394796" cy="5394960"/>
          </a:xfrm>
          <a:prstGeom prst="rect">
            <a:avLst/>
          </a:prstGeom>
          <a:solidFill>
            <a:srgbClr val="E2EFDA"/>
          </a:solidFill>
          <a:ln w="9525">
            <a:solidFill>
              <a:srgbClr val="9BC1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82880" rIns="182880" rtlCol="0" anchor="ctr"/>
          <a:lstStyle/>
          <a:p>
            <a:pPr algn="ctr">
              <a:spcAft>
                <a:spcPts val="900"/>
              </a:spcAft>
            </a:pPr>
            <a:r>
              <a:rPr sz="1400" b="1">
                <a:solidFill>
                  <a:srgbClr val="2E7D32"/>
                </a:solidFill>
              </a:rPr>
              <a:t>AÇIKLAMA</a:t>
            </a:r>
          </a:p>
          <a:p>
            <a:pPr>
              <a:spcAft>
                <a:spcPts val="1100"/>
              </a:spcAft>
            </a:pPr>
            <a:r>
              <a:rPr sz="1300">
                <a:solidFill>
                  <a:srgbClr val="222222"/>
                </a:solidFill>
              </a:rPr>
              <a:t>VHF </a:t>
            </a:r>
            <a:r>
              <a:rPr sz="1300" i="1">
                <a:solidFill>
                  <a:srgbClr val="222222"/>
                </a:solidFill>
              </a:rPr>
              <a:t>(30-300 MHz)</a:t>
            </a:r>
            <a:r>
              <a:rPr sz="1300">
                <a:solidFill>
                  <a:srgbClr val="222222"/>
                </a:solidFill>
              </a:rPr>
              <a:t> bandında normal şartlarda dalgalar iyonosferden yansımaz; menzil, verici ve alıcı arasındaki doğrudan görüş hattına </a:t>
            </a:r>
            <a:r>
              <a:rPr sz="1300" i="1">
                <a:solidFill>
                  <a:srgbClr val="222222"/>
                </a:solidFill>
              </a:rPr>
              <a:t>(direkt dalga)</a:t>
            </a:r>
            <a:r>
              <a:rPr sz="1300">
                <a:solidFill>
                  <a:srgbClr val="222222"/>
                </a:solidFill>
              </a:rPr>
              <a:t> bağlıdır.</a:t>
            </a:r>
          </a:p>
          <a:p>
            <a:r>
              <a:rPr sz="1100" b="1">
                <a:solidFill>
                  <a:srgbClr val="1F3864"/>
                </a:solidFill>
              </a:rPr>
              <a:t>Kaynak: </a:t>
            </a:r>
            <a:r>
              <a:rPr sz="1100" i="1">
                <a:solidFill>
                  <a:srgbClr val="404040"/>
                </a:solidFill>
              </a:rPr>
              <a:t>Radyo dalga yayılımı (propagasyon) teorisi.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95959"/>
                </a:solidFill>
              </a:rPr>
              <a:t>İşletme — Soru 57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4008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1460175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1">
                <a:solidFill>
                  <a:srgbClr val="FFFFFF"/>
                </a:solidFill>
              </a:rPr>
              <a:t>Soru 58</a:t>
            </a:r>
            <a:r>
              <a:rPr sz="1400">
                <a:solidFill>
                  <a:srgbClr val="D6E4F0"/>
                </a:solidFill>
              </a:rPr>
              <a:t>   ·   Genel Bilgi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60120"/>
            <a:ext cx="5608179" cy="5394960"/>
          </a:xfrm>
          <a:prstGeom prst="rect">
            <a:avLst/>
          </a:prstGeom>
          <a:solidFill>
            <a:srgbClr val="F7F9FB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82880" rIns="182880" rtlCol="0" anchor="ctr"/>
          <a:lstStyle/>
          <a:p>
            <a:pPr algn="ctr">
              <a:spcAft>
                <a:spcPts val="1400"/>
              </a:spcAft>
            </a:pPr>
            <a:r>
              <a:rPr sz="1700" b="1">
                <a:solidFill>
                  <a:srgbClr val="222222"/>
                </a:solidFill>
              </a:rPr>
              <a:t>Crossband ne anlama gelir?</a:t>
            </a:r>
          </a:p>
          <a:p>
            <a:pPr>
              <a:spcAft>
                <a:spcPts val="800"/>
              </a:spcAft>
            </a:pPr>
            <a:r>
              <a:rPr sz="1500" b="1">
                <a:solidFill>
                  <a:srgbClr val="2E7D32"/>
                </a:solidFill>
              </a:rPr>
              <a:t>a)  Ayrı bandlarda almak ve göndermek</a:t>
            </a:r>
            <a:r>
              <a:rPr sz="1200" i="1">
                <a:solidFill>
                  <a:srgbClr val="2E7D32"/>
                </a:solidFill>
              </a:rPr>
              <a:t>   ✓ Doğru cevap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22222"/>
                </a:solidFill>
              </a:rPr>
              <a:t>b)  Aynı bandda hem CW hem de SSB çalışmak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22222"/>
                </a:solidFill>
              </a:rPr>
              <a:t>c)  Bandın bir tarafında alma, bir tarafında gönderme yapmak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22222"/>
                </a:solidFill>
              </a:rPr>
              <a:t>d)  Bandın uygun yerinde çalışmak</a:t>
            </a:r>
          </a:p>
        </p:txBody>
      </p:sp>
      <p:sp>
        <p:nvSpPr>
          <p:cNvPr id="5" name="Rectangle 4"/>
          <p:cNvSpPr/>
          <p:nvPr/>
        </p:nvSpPr>
        <p:spPr>
          <a:xfrm>
            <a:off x="6339699" y="960120"/>
            <a:ext cx="5394796" cy="5394960"/>
          </a:xfrm>
          <a:prstGeom prst="rect">
            <a:avLst/>
          </a:prstGeom>
          <a:solidFill>
            <a:srgbClr val="E2EFDA"/>
          </a:solidFill>
          <a:ln w="9525">
            <a:solidFill>
              <a:srgbClr val="9BC1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82880" rIns="182880" rtlCol="0" anchor="ctr"/>
          <a:lstStyle/>
          <a:p>
            <a:pPr algn="ctr">
              <a:spcAft>
                <a:spcPts val="900"/>
              </a:spcAft>
            </a:pPr>
            <a:r>
              <a:rPr sz="1400" b="1">
                <a:solidFill>
                  <a:srgbClr val="2E7D32"/>
                </a:solidFill>
              </a:rPr>
              <a:t>AÇIKLAMA</a:t>
            </a:r>
          </a:p>
          <a:p>
            <a:pPr>
              <a:spcAft>
                <a:spcPts val="1100"/>
              </a:spcAft>
            </a:pPr>
            <a:r>
              <a:rPr sz="1300">
                <a:solidFill>
                  <a:srgbClr val="222222"/>
                </a:solidFill>
              </a:rPr>
              <a:t>Crossband, bir bantta gönderip başka bir bantta </a:t>
            </a:r>
            <a:r>
              <a:rPr sz="1300" i="1">
                <a:solidFill>
                  <a:srgbClr val="222222"/>
                </a:solidFill>
              </a:rPr>
              <a:t>(örn. VHF gönder, UHF al)</a:t>
            </a:r>
            <a:r>
              <a:rPr sz="1300">
                <a:solidFill>
                  <a:srgbClr val="222222"/>
                </a:solidFill>
              </a:rPr>
              <a:t> almak anlamına gelir — genellikle röle veya özel bağlantı senaryolarında kullanılır.</a:t>
            </a:r>
          </a:p>
          <a:p>
            <a:r>
              <a:rPr sz="1100" b="1">
                <a:solidFill>
                  <a:srgbClr val="1F3864"/>
                </a:solidFill>
              </a:rPr>
              <a:t>Kaynak: </a:t>
            </a:r>
            <a:r>
              <a:rPr sz="1100" i="1">
                <a:solidFill>
                  <a:srgbClr val="404040"/>
                </a:solidFill>
              </a:rPr>
              <a:t>Genel amatör telsiz sözlüğü.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95959"/>
                </a:solidFill>
              </a:rPr>
              <a:t>İşletme — Soru 58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4008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1460175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1">
                <a:solidFill>
                  <a:srgbClr val="FFFFFF"/>
                </a:solidFill>
              </a:rPr>
              <a:t>Soru 59</a:t>
            </a:r>
            <a:r>
              <a:rPr sz="1400">
                <a:solidFill>
                  <a:srgbClr val="D6E4F0"/>
                </a:solidFill>
              </a:rPr>
              <a:t>   ·   Genel Bilgi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60120"/>
            <a:ext cx="5608179" cy="5394960"/>
          </a:xfrm>
          <a:prstGeom prst="rect">
            <a:avLst/>
          </a:prstGeom>
          <a:solidFill>
            <a:srgbClr val="F7F9FB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82880" rIns="182880" rtlCol="0" anchor="ctr"/>
          <a:lstStyle/>
          <a:p>
            <a:pPr algn="ctr">
              <a:spcAft>
                <a:spcPts val="1400"/>
              </a:spcAft>
            </a:pPr>
            <a:r>
              <a:rPr sz="1700" b="1">
                <a:solidFill>
                  <a:srgbClr val="222222"/>
                </a:solidFill>
              </a:rPr>
              <a:t>Aşağıdakilerden hangisi ara frekans anlamına gelir?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22222"/>
                </a:solidFill>
              </a:rPr>
              <a:t>a)  TVI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22222"/>
                </a:solidFill>
              </a:rPr>
              <a:t>b)  BCI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22222"/>
                </a:solidFill>
              </a:rPr>
              <a:t>c)  RI</a:t>
            </a:r>
          </a:p>
          <a:p>
            <a:pPr>
              <a:spcAft>
                <a:spcPts val="800"/>
              </a:spcAft>
            </a:pPr>
            <a:r>
              <a:rPr sz="1500" b="1">
                <a:solidFill>
                  <a:srgbClr val="2E7D32"/>
                </a:solidFill>
              </a:rPr>
              <a:t>d)  IF</a:t>
            </a:r>
            <a:r>
              <a:rPr sz="1200" i="1">
                <a:solidFill>
                  <a:srgbClr val="2E7D32"/>
                </a:solidFill>
              </a:rPr>
              <a:t>   ✓ Doğru cevap</a:t>
            </a:r>
          </a:p>
        </p:txBody>
      </p:sp>
      <p:sp>
        <p:nvSpPr>
          <p:cNvPr id="5" name="Rectangle 4"/>
          <p:cNvSpPr/>
          <p:nvPr/>
        </p:nvSpPr>
        <p:spPr>
          <a:xfrm>
            <a:off x="6339699" y="960120"/>
            <a:ext cx="5394796" cy="5394960"/>
          </a:xfrm>
          <a:prstGeom prst="rect">
            <a:avLst/>
          </a:prstGeom>
          <a:solidFill>
            <a:srgbClr val="E2EFDA"/>
          </a:solidFill>
          <a:ln w="9525">
            <a:solidFill>
              <a:srgbClr val="9BC1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82880" rIns="182880" rtlCol="0" anchor="ctr"/>
          <a:lstStyle/>
          <a:p>
            <a:pPr algn="ctr">
              <a:spcAft>
                <a:spcPts val="900"/>
              </a:spcAft>
            </a:pPr>
            <a:r>
              <a:rPr sz="1400" b="1">
                <a:solidFill>
                  <a:srgbClr val="2E7D32"/>
                </a:solidFill>
              </a:rPr>
              <a:t>AÇIKLAMA</a:t>
            </a:r>
          </a:p>
          <a:p>
            <a:pPr>
              <a:spcAft>
                <a:spcPts val="1100"/>
              </a:spcAft>
            </a:pPr>
            <a:r>
              <a:rPr sz="1300">
                <a:solidFill>
                  <a:srgbClr val="222222"/>
                </a:solidFill>
              </a:rPr>
              <a:t>IF </a:t>
            </a:r>
            <a:r>
              <a:rPr sz="1300" i="1">
                <a:solidFill>
                  <a:srgbClr val="222222"/>
                </a:solidFill>
              </a:rPr>
              <a:t>(Intermediate Frequency — ara frekans)</a:t>
            </a:r>
            <a:r>
              <a:rPr sz="1300">
                <a:solidFill>
                  <a:srgbClr val="222222"/>
                </a:solidFill>
              </a:rPr>
              <a:t>, süperheterodin alıcılarda gelen sinyalin işlenmek üzere dönüştürüldüğü sabit orta aşama frekansıdır.</a:t>
            </a:r>
          </a:p>
          <a:p>
            <a:r>
              <a:rPr sz="1100" b="1">
                <a:solidFill>
                  <a:srgbClr val="1F3864"/>
                </a:solidFill>
              </a:rPr>
              <a:t>Kaynak: </a:t>
            </a:r>
            <a:r>
              <a:rPr sz="1100" i="1">
                <a:solidFill>
                  <a:srgbClr val="404040"/>
                </a:solidFill>
              </a:rPr>
              <a:t>Alıcı devre teorisi.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95959"/>
                </a:solidFill>
              </a:rPr>
              <a:t>İşletme — Soru 59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772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FFFFFF"/>
                </a:solidFill>
              </a:rPr>
              <a:t>BÖLÜM 6: Ülke Önekleri ve Zaman/Bant Sınırları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911535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300"/>
              </a:spcAft>
            </a:pPr>
            <a:r>
              <a:rPr sz="1700">
                <a:solidFill>
                  <a:srgbClr val="222222"/>
                </a:solidFill>
              </a:rPr>
              <a:t>•  Her ülkeye ITU tarafından belirli çağrı işareti ön ek blokları tahsis edilmiştir; bu önekler dünya çapında standarttır.</a:t>
            </a:r>
          </a:p>
          <a:p>
            <a:pPr>
              <a:spcAft>
                <a:spcPts val="1300"/>
              </a:spcAft>
            </a:pPr>
            <a:r>
              <a:rPr sz="1700">
                <a:solidFill>
                  <a:srgbClr val="222222"/>
                </a:solidFill>
              </a:rPr>
              <a:t>•  Belge sınıfına göre erişilebilen frekans bantları ve güç sınırları farklıdır.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5623560"/>
            <a:ext cx="10911535" cy="914400"/>
          </a:xfrm>
          <a:prstGeom prst="rect">
            <a:avLst/>
          </a:prstGeom>
          <a:solidFill>
            <a:srgbClr val="D6E4F0"/>
          </a:solidFill>
          <a:ln>
            <a:solidFill>
              <a:srgbClr val="2E75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tlCol="0" anchor="ctr"/>
          <a:lstStyle/>
          <a:p>
            <a:pPr algn="ctr"/>
            <a:r>
              <a:rPr sz="1300" b="1">
                <a:solidFill>
                  <a:srgbClr val="1F3864"/>
                </a:solidFill>
              </a:rPr>
              <a:t>Bu bölümün kaynağı: </a:t>
            </a:r>
            <a:r>
              <a:rPr sz="1300">
                <a:solidFill>
                  <a:srgbClr val="222222"/>
                </a:solidFill>
              </a:rPr>
              <a:t>ITU çağrı işareti ön ek tahsis tablosu (ülkelere ayrılan harf blokları). IARU Region-1 amatör bant planı.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95959"/>
                </a:solidFill>
              </a:rPr>
              <a:t>İşletme — Bölüm 6 Girişi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4008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1460175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1">
                <a:solidFill>
                  <a:srgbClr val="FFFFFF"/>
                </a:solidFill>
              </a:rPr>
              <a:t>Soru 60</a:t>
            </a:r>
            <a:r>
              <a:rPr sz="1400">
                <a:solidFill>
                  <a:srgbClr val="D6E4F0"/>
                </a:solidFill>
              </a:rPr>
              <a:t>   ·   Çağrı Önekleri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60120"/>
            <a:ext cx="5608179" cy="5394960"/>
          </a:xfrm>
          <a:prstGeom prst="rect">
            <a:avLst/>
          </a:prstGeom>
          <a:solidFill>
            <a:srgbClr val="F7F9FB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82880" rIns="182880" rtlCol="0" anchor="ctr"/>
          <a:lstStyle/>
          <a:p>
            <a:pPr algn="ctr">
              <a:spcAft>
                <a:spcPts val="1400"/>
              </a:spcAft>
            </a:pPr>
            <a:r>
              <a:rPr sz="1700" b="1">
                <a:solidFill>
                  <a:srgbClr val="222222"/>
                </a:solidFill>
              </a:rPr>
              <a:t>VK çağrı işareti ön eki aşağıdaki ülkelerden hangisine aittir?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22222"/>
                </a:solidFill>
              </a:rPr>
              <a:t>a)  İngiltere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22222"/>
                </a:solidFill>
              </a:rPr>
              <a:t>b)  Kanada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22222"/>
                </a:solidFill>
              </a:rPr>
              <a:t>c)  Japonya</a:t>
            </a:r>
          </a:p>
          <a:p>
            <a:pPr>
              <a:spcAft>
                <a:spcPts val="800"/>
              </a:spcAft>
            </a:pPr>
            <a:r>
              <a:rPr sz="1500" b="1">
                <a:solidFill>
                  <a:srgbClr val="2E7D32"/>
                </a:solidFill>
              </a:rPr>
              <a:t>d)  Avustralya</a:t>
            </a:r>
            <a:r>
              <a:rPr sz="1200" i="1">
                <a:solidFill>
                  <a:srgbClr val="2E7D32"/>
                </a:solidFill>
              </a:rPr>
              <a:t>   ✓ Doğru cevap</a:t>
            </a:r>
          </a:p>
        </p:txBody>
      </p:sp>
      <p:sp>
        <p:nvSpPr>
          <p:cNvPr id="5" name="Rectangle 4"/>
          <p:cNvSpPr/>
          <p:nvPr/>
        </p:nvSpPr>
        <p:spPr>
          <a:xfrm>
            <a:off x="6339699" y="960120"/>
            <a:ext cx="5394796" cy="5394960"/>
          </a:xfrm>
          <a:prstGeom prst="rect">
            <a:avLst/>
          </a:prstGeom>
          <a:solidFill>
            <a:srgbClr val="E2EFDA"/>
          </a:solidFill>
          <a:ln w="9525">
            <a:solidFill>
              <a:srgbClr val="9BC1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82880" rIns="182880" rtlCol="0" anchor="ctr"/>
          <a:lstStyle/>
          <a:p>
            <a:pPr algn="ctr">
              <a:spcAft>
                <a:spcPts val="900"/>
              </a:spcAft>
            </a:pPr>
            <a:r>
              <a:rPr sz="1400" b="1">
                <a:solidFill>
                  <a:srgbClr val="2E7D32"/>
                </a:solidFill>
              </a:rPr>
              <a:t>AÇIKLAMA</a:t>
            </a:r>
          </a:p>
          <a:p>
            <a:pPr>
              <a:spcAft>
                <a:spcPts val="1100"/>
              </a:spcAft>
            </a:pPr>
            <a:r>
              <a:rPr sz="1300">
                <a:solidFill>
                  <a:srgbClr val="222222"/>
                </a:solidFill>
              </a:rPr>
              <a:t>VK, Avustralya'ya tahsis edilmiş amatör çağrı işareti önekidir.</a:t>
            </a:r>
          </a:p>
          <a:p>
            <a:r>
              <a:rPr sz="1100" b="1">
                <a:solidFill>
                  <a:srgbClr val="1F3864"/>
                </a:solidFill>
              </a:rPr>
              <a:t>Kaynak: </a:t>
            </a:r>
            <a:r>
              <a:rPr sz="1100" i="1">
                <a:solidFill>
                  <a:srgbClr val="404040"/>
                </a:solidFill>
              </a:rPr>
              <a:t>ITU çağrı işareti ön ek tahsis tablosu (ülkelere ayrılan harf blokları).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95959"/>
                </a:solidFill>
              </a:rPr>
              <a:t>İşletme — Soru 60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4008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1460175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1">
                <a:solidFill>
                  <a:srgbClr val="FFFFFF"/>
                </a:solidFill>
              </a:rPr>
              <a:t>Soru 61</a:t>
            </a:r>
            <a:r>
              <a:rPr sz="1400">
                <a:solidFill>
                  <a:srgbClr val="D6E4F0"/>
                </a:solidFill>
              </a:rPr>
              <a:t>   ·   Çağrı Önekleri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60120"/>
            <a:ext cx="5608179" cy="5394960"/>
          </a:xfrm>
          <a:prstGeom prst="rect">
            <a:avLst/>
          </a:prstGeom>
          <a:solidFill>
            <a:srgbClr val="F7F9FB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82880" rIns="182880" rtlCol="0" anchor="ctr"/>
          <a:lstStyle/>
          <a:p>
            <a:pPr algn="ctr">
              <a:spcAft>
                <a:spcPts val="1400"/>
              </a:spcAft>
            </a:pPr>
            <a:r>
              <a:rPr sz="1700" b="1">
                <a:solidFill>
                  <a:srgbClr val="222222"/>
                </a:solidFill>
              </a:rPr>
              <a:t>Aşağıdaki çağrı işareti ön eklerinden hangisi Belçika'ya aittir?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22222"/>
                </a:solidFill>
              </a:rPr>
              <a:t>a)  OH</a:t>
            </a:r>
          </a:p>
          <a:p>
            <a:pPr>
              <a:spcAft>
                <a:spcPts val="800"/>
              </a:spcAft>
            </a:pPr>
            <a:r>
              <a:rPr sz="1500" b="1">
                <a:solidFill>
                  <a:srgbClr val="2E7D32"/>
                </a:solidFill>
              </a:rPr>
              <a:t>b)  ON</a:t>
            </a:r>
            <a:r>
              <a:rPr sz="1200" i="1">
                <a:solidFill>
                  <a:srgbClr val="2E7D32"/>
                </a:solidFill>
              </a:rPr>
              <a:t>   ✓ Doğru cevap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22222"/>
                </a:solidFill>
              </a:rPr>
              <a:t>c)  OX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22222"/>
                </a:solidFill>
              </a:rPr>
              <a:t>d)  EA</a:t>
            </a:r>
          </a:p>
        </p:txBody>
      </p:sp>
      <p:sp>
        <p:nvSpPr>
          <p:cNvPr id="5" name="Rectangle 4"/>
          <p:cNvSpPr/>
          <p:nvPr/>
        </p:nvSpPr>
        <p:spPr>
          <a:xfrm>
            <a:off x="6339699" y="960120"/>
            <a:ext cx="5394796" cy="5394960"/>
          </a:xfrm>
          <a:prstGeom prst="rect">
            <a:avLst/>
          </a:prstGeom>
          <a:solidFill>
            <a:srgbClr val="E2EFDA"/>
          </a:solidFill>
          <a:ln w="9525">
            <a:solidFill>
              <a:srgbClr val="9BC1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82880" rIns="182880" rtlCol="0" anchor="ctr"/>
          <a:lstStyle/>
          <a:p>
            <a:pPr algn="ctr">
              <a:spcAft>
                <a:spcPts val="900"/>
              </a:spcAft>
            </a:pPr>
            <a:r>
              <a:rPr sz="1400" b="1">
                <a:solidFill>
                  <a:srgbClr val="2E7D32"/>
                </a:solidFill>
              </a:rPr>
              <a:t>AÇIKLAMA</a:t>
            </a:r>
          </a:p>
          <a:p>
            <a:pPr>
              <a:spcAft>
                <a:spcPts val="1100"/>
              </a:spcAft>
            </a:pPr>
            <a:r>
              <a:rPr sz="1300">
                <a:solidFill>
                  <a:srgbClr val="222222"/>
                </a:solidFill>
              </a:rPr>
              <a:t>ON, Belçika'ya tahsis edilmiş amatör çağrı işareti önekidir </a:t>
            </a:r>
            <a:r>
              <a:rPr sz="1300" i="1">
                <a:solidFill>
                  <a:srgbClr val="222222"/>
                </a:solidFill>
              </a:rPr>
              <a:t>(OH Finlandiya'ya, EA İspanya'ya aittir)</a:t>
            </a:r>
            <a:r>
              <a:rPr sz="1300">
                <a:solidFill>
                  <a:srgbClr val="222222"/>
                </a:solidFill>
              </a:rPr>
              <a:t>.</a:t>
            </a:r>
          </a:p>
          <a:p>
            <a:r>
              <a:rPr sz="1100" b="1">
                <a:solidFill>
                  <a:srgbClr val="1F3864"/>
                </a:solidFill>
              </a:rPr>
              <a:t>Kaynak: </a:t>
            </a:r>
            <a:r>
              <a:rPr sz="1100" i="1">
                <a:solidFill>
                  <a:srgbClr val="404040"/>
                </a:solidFill>
              </a:rPr>
              <a:t>ITU çağrı işareti ön ek tahsis tablosu (ülkelere ayrılan harf blokları).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95959"/>
                </a:solidFill>
              </a:rPr>
              <a:t>İşletme — Soru 61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4008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1460175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1">
                <a:solidFill>
                  <a:srgbClr val="FFFFFF"/>
                </a:solidFill>
              </a:rPr>
              <a:t>Soru 62</a:t>
            </a:r>
            <a:r>
              <a:rPr sz="1400">
                <a:solidFill>
                  <a:srgbClr val="D6E4F0"/>
                </a:solidFill>
              </a:rPr>
              <a:t>   ·   Fonetik Alfabe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60120"/>
            <a:ext cx="5608179" cy="5394960"/>
          </a:xfrm>
          <a:prstGeom prst="rect">
            <a:avLst/>
          </a:prstGeom>
          <a:solidFill>
            <a:srgbClr val="F7F9FB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82880" rIns="182880" rtlCol="0" anchor="ctr"/>
          <a:lstStyle/>
          <a:p>
            <a:pPr algn="ctr">
              <a:spcAft>
                <a:spcPts val="1400"/>
              </a:spcAft>
            </a:pPr>
            <a:r>
              <a:rPr sz="1700" b="1">
                <a:solidFill>
                  <a:srgbClr val="222222"/>
                </a:solidFill>
              </a:rPr>
              <a:t>OSCAR kelimesinin uluslararası fonetik alfabeye göre hecelenmesi nasıldır?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22222"/>
                </a:solidFill>
              </a:rPr>
              <a:t>a)  Oscar - Sierra - Charlie - Alpha - Radio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22222"/>
                </a:solidFill>
              </a:rPr>
              <a:t>b)  Oscar - Six - Charlie - Alabama - Romeo</a:t>
            </a:r>
          </a:p>
          <a:p>
            <a:pPr>
              <a:spcAft>
                <a:spcPts val="800"/>
              </a:spcAft>
            </a:pPr>
            <a:r>
              <a:rPr sz="1500" b="1">
                <a:solidFill>
                  <a:srgbClr val="2E7D32"/>
                </a:solidFill>
              </a:rPr>
              <a:t>c)  Oscar - Sierra - Charlie - Alpha - Romeo</a:t>
            </a:r>
            <a:r>
              <a:rPr sz="1200" i="1">
                <a:solidFill>
                  <a:srgbClr val="2E7D32"/>
                </a:solidFill>
              </a:rPr>
              <a:t>   ✓ Doğru cevap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22222"/>
                </a:solidFill>
              </a:rPr>
              <a:t>d)  Otto - Sierra - Charlie - Alpha - Radio</a:t>
            </a:r>
          </a:p>
        </p:txBody>
      </p:sp>
      <p:sp>
        <p:nvSpPr>
          <p:cNvPr id="5" name="Rectangle 4"/>
          <p:cNvSpPr/>
          <p:nvPr/>
        </p:nvSpPr>
        <p:spPr>
          <a:xfrm>
            <a:off x="6339699" y="960120"/>
            <a:ext cx="5394796" cy="5394960"/>
          </a:xfrm>
          <a:prstGeom prst="rect">
            <a:avLst/>
          </a:prstGeom>
          <a:solidFill>
            <a:srgbClr val="E2EFDA"/>
          </a:solidFill>
          <a:ln w="9525">
            <a:solidFill>
              <a:srgbClr val="9BC1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82880" rIns="182880" rtlCol="0" anchor="ctr"/>
          <a:lstStyle/>
          <a:p>
            <a:pPr algn="ctr">
              <a:spcAft>
                <a:spcPts val="900"/>
              </a:spcAft>
            </a:pPr>
            <a:r>
              <a:rPr sz="1400" b="1">
                <a:solidFill>
                  <a:srgbClr val="2E7D32"/>
                </a:solidFill>
              </a:rPr>
              <a:t>AÇIKLAMA</a:t>
            </a:r>
          </a:p>
          <a:p>
            <a:pPr>
              <a:spcAft>
                <a:spcPts val="1100"/>
              </a:spcAft>
            </a:pPr>
            <a:r>
              <a:rPr sz="1300">
                <a:solidFill>
                  <a:srgbClr val="222222"/>
                </a:solidFill>
              </a:rPr>
              <a:t>O=Oscar, S=Sierra, C=Charlie, A=Alpha, R=Romeo — uluslararası fonetik alfabedeki karşılıklarıdır.</a:t>
            </a:r>
          </a:p>
          <a:p>
            <a:r>
              <a:rPr sz="1100" b="1">
                <a:solidFill>
                  <a:srgbClr val="1F3864"/>
                </a:solidFill>
              </a:rPr>
              <a:t>Kaynak: </a:t>
            </a:r>
            <a:r>
              <a:rPr sz="1100" i="1">
                <a:solidFill>
                  <a:srgbClr val="404040"/>
                </a:solidFill>
              </a:rPr>
              <a:t>NATO/Uluslararası fonetik alfabe ve KEGM ulusal (il adı) fonetik alfabesi.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95959"/>
                </a:solidFill>
              </a:rPr>
              <a:t>İşletme — Soru 62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4008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1460175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1">
                <a:solidFill>
                  <a:srgbClr val="FFFFFF"/>
                </a:solidFill>
              </a:rPr>
              <a:t>Soru 63</a:t>
            </a:r>
            <a:r>
              <a:rPr sz="1400">
                <a:solidFill>
                  <a:srgbClr val="D6E4F0"/>
                </a:solidFill>
              </a:rPr>
              <a:t>   ·   Fonetik Alfabe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60120"/>
            <a:ext cx="5608179" cy="5394960"/>
          </a:xfrm>
          <a:prstGeom prst="rect">
            <a:avLst/>
          </a:prstGeom>
          <a:solidFill>
            <a:srgbClr val="F7F9FB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82880" rIns="182880" rtlCol="0" anchor="ctr"/>
          <a:lstStyle/>
          <a:p>
            <a:pPr algn="ctr">
              <a:spcAft>
                <a:spcPts val="1400"/>
              </a:spcAft>
            </a:pPr>
            <a:r>
              <a:rPr sz="1700" b="1">
                <a:solidFill>
                  <a:srgbClr val="222222"/>
                </a:solidFill>
              </a:rPr>
              <a:t>SK4UZ çağrı işaretinin uluslararası fonetik alfabeye göre hecelemesi nasıldır?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22222"/>
                </a:solidFill>
              </a:rPr>
              <a:t>a)  Simon - Kilo - Four - Uniform - Zulu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22222"/>
                </a:solidFill>
              </a:rPr>
              <a:t>b)  Sierra - Kilo - Four - Ultra - Zulu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22222"/>
                </a:solidFill>
              </a:rPr>
              <a:t>c)  Seven - Kilo - Four - Ultra - Zulu</a:t>
            </a:r>
          </a:p>
          <a:p>
            <a:pPr>
              <a:spcAft>
                <a:spcPts val="800"/>
              </a:spcAft>
            </a:pPr>
            <a:r>
              <a:rPr sz="1500" b="1">
                <a:solidFill>
                  <a:srgbClr val="2E7D32"/>
                </a:solidFill>
              </a:rPr>
              <a:t>d)  Sierra - Kilo - Four - Uniform - Zulu</a:t>
            </a:r>
            <a:r>
              <a:rPr sz="1200" i="1">
                <a:solidFill>
                  <a:srgbClr val="2E7D32"/>
                </a:solidFill>
              </a:rPr>
              <a:t>   ✓ Doğru cevap</a:t>
            </a:r>
          </a:p>
        </p:txBody>
      </p:sp>
      <p:sp>
        <p:nvSpPr>
          <p:cNvPr id="5" name="Rectangle 4"/>
          <p:cNvSpPr/>
          <p:nvPr/>
        </p:nvSpPr>
        <p:spPr>
          <a:xfrm>
            <a:off x="6339699" y="960120"/>
            <a:ext cx="5394796" cy="5394960"/>
          </a:xfrm>
          <a:prstGeom prst="rect">
            <a:avLst/>
          </a:prstGeom>
          <a:solidFill>
            <a:srgbClr val="E2EFDA"/>
          </a:solidFill>
          <a:ln w="9525">
            <a:solidFill>
              <a:srgbClr val="9BC1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82880" rIns="182880" rtlCol="0" anchor="ctr"/>
          <a:lstStyle/>
          <a:p>
            <a:pPr algn="ctr">
              <a:spcAft>
                <a:spcPts val="900"/>
              </a:spcAft>
            </a:pPr>
            <a:r>
              <a:rPr sz="1400" b="1">
                <a:solidFill>
                  <a:srgbClr val="2E7D32"/>
                </a:solidFill>
              </a:rPr>
              <a:t>AÇIKLAMA</a:t>
            </a:r>
          </a:p>
          <a:p>
            <a:pPr>
              <a:spcAft>
                <a:spcPts val="1100"/>
              </a:spcAft>
            </a:pPr>
            <a:r>
              <a:rPr sz="1300">
                <a:solidFill>
                  <a:srgbClr val="222222"/>
                </a:solidFill>
              </a:rPr>
              <a:t>S=Sierra, K=Kilo, 4=Four, U=Uniform, Z=Zulu — uluslararası fonetik alfabedeki karşılıklarıdır.</a:t>
            </a:r>
          </a:p>
          <a:p>
            <a:r>
              <a:rPr sz="1100" b="1">
                <a:solidFill>
                  <a:srgbClr val="1F3864"/>
                </a:solidFill>
              </a:rPr>
              <a:t>Kaynak: </a:t>
            </a:r>
            <a:r>
              <a:rPr sz="1100" i="1">
                <a:solidFill>
                  <a:srgbClr val="404040"/>
                </a:solidFill>
              </a:rPr>
              <a:t>NATO/Uluslararası fonetik alfabe ve KEGM ulusal (il adı) fonetik alfabesi.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95959"/>
                </a:solidFill>
              </a:rPr>
              <a:t>İşletme — Soru 63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4008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1460175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1">
                <a:solidFill>
                  <a:srgbClr val="FFFFFF"/>
                </a:solidFill>
              </a:rPr>
              <a:t>Soru 64</a:t>
            </a:r>
            <a:r>
              <a:rPr sz="1400">
                <a:solidFill>
                  <a:srgbClr val="D6E4F0"/>
                </a:solidFill>
              </a:rPr>
              <a:t>   ·   Zaman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60120"/>
            <a:ext cx="5608179" cy="5394960"/>
          </a:xfrm>
          <a:prstGeom prst="rect">
            <a:avLst/>
          </a:prstGeom>
          <a:solidFill>
            <a:srgbClr val="F7F9FB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82880" rIns="182880" rtlCol="0" anchor="ctr"/>
          <a:lstStyle/>
          <a:p>
            <a:pPr algn="ctr">
              <a:spcAft>
                <a:spcPts val="1400"/>
              </a:spcAft>
            </a:pPr>
            <a:r>
              <a:rPr sz="1700" b="1">
                <a:solidFill>
                  <a:srgbClr val="222222"/>
                </a:solidFill>
              </a:rPr>
              <a:t>Aşağıdaki kısaltmalardan hangisi ulusal saati ifade eder?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22222"/>
                </a:solidFill>
              </a:rPr>
              <a:t>a)  UTC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22222"/>
                </a:solidFill>
              </a:rPr>
              <a:t>b)  QST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22222"/>
                </a:solidFill>
              </a:rPr>
              <a:t>c)  QTC</a:t>
            </a:r>
          </a:p>
          <a:p>
            <a:pPr>
              <a:spcAft>
                <a:spcPts val="800"/>
              </a:spcAft>
            </a:pPr>
            <a:r>
              <a:rPr sz="1500" b="1">
                <a:solidFill>
                  <a:srgbClr val="2E7D32"/>
                </a:solidFill>
              </a:rPr>
              <a:t>d)  MSA</a:t>
            </a:r>
            <a:r>
              <a:rPr sz="1200" i="1">
                <a:solidFill>
                  <a:srgbClr val="2E7D32"/>
                </a:solidFill>
              </a:rPr>
              <a:t>   ✓ Doğru cevap</a:t>
            </a:r>
          </a:p>
        </p:txBody>
      </p:sp>
      <p:sp>
        <p:nvSpPr>
          <p:cNvPr id="5" name="Rectangle 4"/>
          <p:cNvSpPr/>
          <p:nvPr/>
        </p:nvSpPr>
        <p:spPr>
          <a:xfrm>
            <a:off x="6339699" y="960120"/>
            <a:ext cx="5394796" cy="5394960"/>
          </a:xfrm>
          <a:prstGeom prst="rect">
            <a:avLst/>
          </a:prstGeom>
          <a:solidFill>
            <a:srgbClr val="E2EFDA"/>
          </a:solidFill>
          <a:ln w="9525">
            <a:solidFill>
              <a:srgbClr val="9BC1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82880" rIns="182880" rtlCol="0" anchor="ctr"/>
          <a:lstStyle/>
          <a:p>
            <a:pPr algn="ctr">
              <a:spcAft>
                <a:spcPts val="900"/>
              </a:spcAft>
            </a:pPr>
            <a:r>
              <a:rPr sz="1400" b="1">
                <a:solidFill>
                  <a:srgbClr val="2E7D32"/>
                </a:solidFill>
              </a:rPr>
              <a:t>AÇIKLAMA</a:t>
            </a:r>
          </a:p>
          <a:p>
            <a:pPr>
              <a:spcAft>
                <a:spcPts val="1100"/>
              </a:spcAft>
            </a:pPr>
            <a:r>
              <a:rPr sz="1300">
                <a:solidFill>
                  <a:srgbClr val="222222"/>
                </a:solidFill>
              </a:rPr>
              <a:t>Soru bankasında MSA, ulusal/yerel saat için kullanılan kısaltma olarak işaretlenmiştir; UTC evrensel/uluslararası saati ifade eder </a:t>
            </a:r>
            <a:r>
              <a:rPr sz="1300" i="1">
                <a:solidFill>
                  <a:srgbClr val="222222"/>
                </a:solidFill>
              </a:rPr>
              <a:t>(QST=bülten, QTC=mesaj sayısı Q-kodlarıdır, saatle ilgili değildir)</a:t>
            </a:r>
            <a:r>
              <a:rPr sz="1300">
                <a:solidFill>
                  <a:srgbClr val="222222"/>
                </a:solidFill>
              </a:rPr>
              <a:t>.</a:t>
            </a:r>
          </a:p>
          <a:p>
            <a:r>
              <a:rPr sz="1100" b="1">
                <a:solidFill>
                  <a:srgbClr val="1F3864"/>
                </a:solidFill>
              </a:rPr>
              <a:t>Kaynak: </a:t>
            </a:r>
            <a:r>
              <a:rPr sz="1100" i="1">
                <a:solidFill>
                  <a:srgbClr val="404040"/>
                </a:solidFill>
              </a:rPr>
              <a:t>Resmî cevap anahtarı.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95959"/>
                </a:solidFill>
              </a:rPr>
              <a:t>İşletme — Soru 64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4008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1460175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1">
                <a:solidFill>
                  <a:srgbClr val="FFFFFF"/>
                </a:solidFill>
              </a:rPr>
              <a:t>Soru 65</a:t>
            </a:r>
            <a:r>
              <a:rPr sz="1400">
                <a:solidFill>
                  <a:srgbClr val="D6E4F0"/>
                </a:solidFill>
              </a:rPr>
              <a:t>   ·   Q-Kodları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60120"/>
            <a:ext cx="5608179" cy="5394960"/>
          </a:xfrm>
          <a:prstGeom prst="rect">
            <a:avLst/>
          </a:prstGeom>
          <a:solidFill>
            <a:srgbClr val="F7F9FB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82880" rIns="182880" rtlCol="0" anchor="ctr"/>
          <a:lstStyle/>
          <a:p>
            <a:pPr algn="ctr">
              <a:spcAft>
                <a:spcPts val="1400"/>
              </a:spcAft>
            </a:pPr>
            <a:r>
              <a:rPr sz="1700" b="1">
                <a:solidFill>
                  <a:srgbClr val="222222"/>
                </a:solidFill>
              </a:rPr>
              <a:t>QST kodunun manası aşağıdakilerden hangisidir?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22222"/>
                </a:solidFill>
              </a:rPr>
              <a:t>a)  Hava basıncı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22222"/>
                </a:solidFill>
              </a:rPr>
              <a:t>b)  Parazit</a:t>
            </a:r>
          </a:p>
          <a:p>
            <a:pPr>
              <a:spcAft>
                <a:spcPts val="800"/>
              </a:spcAft>
            </a:pPr>
            <a:r>
              <a:rPr sz="1500" b="1">
                <a:solidFill>
                  <a:srgbClr val="2E7D32"/>
                </a:solidFill>
              </a:rPr>
              <a:t>c)  Bülten</a:t>
            </a:r>
            <a:r>
              <a:rPr sz="1200" i="1">
                <a:solidFill>
                  <a:srgbClr val="2E7D32"/>
                </a:solidFill>
              </a:rPr>
              <a:t>   ✓ Doğru cevap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22222"/>
                </a:solidFill>
              </a:rPr>
              <a:t>d)  Sinyal raporu</a:t>
            </a:r>
          </a:p>
        </p:txBody>
      </p:sp>
      <p:sp>
        <p:nvSpPr>
          <p:cNvPr id="5" name="Rectangle 4"/>
          <p:cNvSpPr/>
          <p:nvPr/>
        </p:nvSpPr>
        <p:spPr>
          <a:xfrm>
            <a:off x="6339699" y="960120"/>
            <a:ext cx="5394796" cy="5394960"/>
          </a:xfrm>
          <a:prstGeom prst="rect">
            <a:avLst/>
          </a:prstGeom>
          <a:solidFill>
            <a:srgbClr val="E2EFDA"/>
          </a:solidFill>
          <a:ln w="9525">
            <a:solidFill>
              <a:srgbClr val="9BC1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82880" rIns="182880" rtlCol="0" anchor="ctr"/>
          <a:lstStyle/>
          <a:p>
            <a:pPr algn="ctr">
              <a:spcAft>
                <a:spcPts val="900"/>
              </a:spcAft>
            </a:pPr>
            <a:r>
              <a:rPr sz="1400" b="1">
                <a:solidFill>
                  <a:srgbClr val="2E7D32"/>
                </a:solidFill>
              </a:rPr>
              <a:t>AÇIKLAMA</a:t>
            </a:r>
          </a:p>
          <a:p>
            <a:pPr>
              <a:spcAft>
                <a:spcPts val="1100"/>
              </a:spcAft>
            </a:pPr>
            <a:r>
              <a:rPr sz="1300">
                <a:solidFill>
                  <a:srgbClr val="222222"/>
                </a:solidFill>
              </a:rPr>
              <a:t>QST, herkese yönelik genel bir duyuru/bülten anlamına gelir </a:t>
            </a:r>
            <a:r>
              <a:rPr sz="1300" i="1">
                <a:solidFill>
                  <a:srgbClr val="222222"/>
                </a:solidFill>
              </a:rPr>
              <a:t>(ARRL'ın aylık dergisinin adı da buradan gelir)</a:t>
            </a:r>
            <a:r>
              <a:rPr sz="1300">
                <a:solidFill>
                  <a:srgbClr val="222222"/>
                </a:solidFill>
              </a:rPr>
              <a:t>.</a:t>
            </a:r>
          </a:p>
          <a:p>
            <a:r>
              <a:rPr sz="1100" b="1">
                <a:solidFill>
                  <a:srgbClr val="1F3864"/>
                </a:solidFill>
              </a:rPr>
              <a:t>Kaynak: </a:t>
            </a:r>
            <a:r>
              <a:rPr sz="1100" i="1">
                <a:solidFill>
                  <a:srgbClr val="404040"/>
                </a:solidFill>
              </a:rPr>
              <a:t>ITU Q-kod tablosu (uluslararası standart kısaltılmış telsiz sinyalleri).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95959"/>
                </a:solidFill>
              </a:rPr>
              <a:t>İşletme — Soru 65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4008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1460175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1">
                <a:solidFill>
                  <a:srgbClr val="FFFFFF"/>
                </a:solidFill>
              </a:rPr>
              <a:t>Soru 66</a:t>
            </a:r>
            <a:r>
              <a:rPr sz="1400">
                <a:solidFill>
                  <a:srgbClr val="D6E4F0"/>
                </a:solidFill>
              </a:rPr>
              <a:t>   ·   Q-Kodları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60120"/>
            <a:ext cx="5608179" cy="5394960"/>
          </a:xfrm>
          <a:prstGeom prst="rect">
            <a:avLst/>
          </a:prstGeom>
          <a:solidFill>
            <a:srgbClr val="F7F9FB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82880" rIns="182880" rtlCol="0" anchor="ctr"/>
          <a:lstStyle/>
          <a:p>
            <a:pPr algn="ctr">
              <a:spcAft>
                <a:spcPts val="1400"/>
              </a:spcAft>
            </a:pPr>
            <a:r>
              <a:rPr sz="1700" b="1">
                <a:solidFill>
                  <a:srgbClr val="222222"/>
                </a:solidFill>
              </a:rPr>
              <a:t>Aşağıdakilerden hangisi telsiz haberleşmesinde "meşgulüm" ifadesinin Q kodu karşılığıdır?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22222"/>
                </a:solidFill>
              </a:rPr>
              <a:t>a)  QRK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22222"/>
                </a:solidFill>
              </a:rPr>
              <a:t>b)  QRX</a:t>
            </a:r>
          </a:p>
          <a:p>
            <a:pPr>
              <a:spcAft>
                <a:spcPts val="800"/>
              </a:spcAft>
            </a:pPr>
            <a:r>
              <a:rPr sz="1500" b="1">
                <a:solidFill>
                  <a:srgbClr val="2E7D32"/>
                </a:solidFill>
              </a:rPr>
              <a:t>c)  QRL</a:t>
            </a:r>
            <a:r>
              <a:rPr sz="1200" i="1">
                <a:solidFill>
                  <a:srgbClr val="2E7D32"/>
                </a:solidFill>
              </a:rPr>
              <a:t>   ✓ Doğru cevap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22222"/>
                </a:solidFill>
              </a:rPr>
              <a:t>d)  QSL</a:t>
            </a:r>
          </a:p>
        </p:txBody>
      </p:sp>
      <p:sp>
        <p:nvSpPr>
          <p:cNvPr id="5" name="Rectangle 4"/>
          <p:cNvSpPr/>
          <p:nvPr/>
        </p:nvSpPr>
        <p:spPr>
          <a:xfrm>
            <a:off x="6339699" y="960120"/>
            <a:ext cx="5394796" cy="5394960"/>
          </a:xfrm>
          <a:prstGeom prst="rect">
            <a:avLst/>
          </a:prstGeom>
          <a:solidFill>
            <a:srgbClr val="E2EFDA"/>
          </a:solidFill>
          <a:ln w="9525">
            <a:solidFill>
              <a:srgbClr val="9BC1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82880" rIns="182880" rtlCol="0" anchor="ctr"/>
          <a:lstStyle/>
          <a:p>
            <a:pPr algn="ctr">
              <a:spcAft>
                <a:spcPts val="900"/>
              </a:spcAft>
            </a:pPr>
            <a:r>
              <a:rPr sz="1400" b="1">
                <a:solidFill>
                  <a:srgbClr val="2E7D32"/>
                </a:solidFill>
              </a:rPr>
              <a:t>AÇIKLAMA</a:t>
            </a:r>
          </a:p>
          <a:p>
            <a:pPr>
              <a:spcAft>
                <a:spcPts val="1100"/>
              </a:spcAft>
            </a:pPr>
            <a:r>
              <a:rPr sz="1300">
                <a:solidFill>
                  <a:srgbClr val="222222"/>
                </a:solidFill>
              </a:rPr>
              <a:t>QRL, 'meşgulüm / frekans kullanımda' anlamına gelir.</a:t>
            </a:r>
          </a:p>
          <a:p>
            <a:r>
              <a:rPr sz="1100" b="1">
                <a:solidFill>
                  <a:srgbClr val="1F3864"/>
                </a:solidFill>
              </a:rPr>
              <a:t>Kaynak: </a:t>
            </a:r>
            <a:r>
              <a:rPr sz="1100" i="1">
                <a:solidFill>
                  <a:srgbClr val="404040"/>
                </a:solidFill>
              </a:rPr>
              <a:t>ITU Q-kod tablosu (uluslararası standart kısaltılmış telsiz sinyalleri).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95959"/>
                </a:solidFill>
              </a:rPr>
              <a:t>İşletme — Soru 66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4008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1460175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1">
                <a:solidFill>
                  <a:srgbClr val="FFFFFF"/>
                </a:solidFill>
              </a:rPr>
              <a:t>Soru 67</a:t>
            </a:r>
            <a:r>
              <a:rPr sz="1400">
                <a:solidFill>
                  <a:srgbClr val="D6E4F0"/>
                </a:solidFill>
              </a:rPr>
              <a:t>   ·   Bant Sınırları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60120"/>
            <a:ext cx="5608179" cy="5394960"/>
          </a:xfrm>
          <a:prstGeom prst="rect">
            <a:avLst/>
          </a:prstGeom>
          <a:solidFill>
            <a:srgbClr val="F7F9FB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82880" rIns="182880" rtlCol="0" anchor="ctr"/>
          <a:lstStyle/>
          <a:p>
            <a:pPr algn="ctr">
              <a:spcAft>
                <a:spcPts val="1400"/>
              </a:spcAft>
            </a:pPr>
            <a:r>
              <a:rPr sz="1700" b="1">
                <a:solidFill>
                  <a:srgbClr val="222222"/>
                </a:solidFill>
              </a:rPr>
              <a:t>1810 -1850 Khz frekans bandı, hangi sınıf amatör telsizciler için verilmiştir?</a:t>
            </a:r>
          </a:p>
          <a:p>
            <a:pPr>
              <a:spcAft>
                <a:spcPts val="800"/>
              </a:spcAft>
            </a:pPr>
            <a:r>
              <a:rPr sz="1500" b="1">
                <a:solidFill>
                  <a:srgbClr val="2E7D32"/>
                </a:solidFill>
              </a:rPr>
              <a:t>a)  A sınıfı</a:t>
            </a:r>
            <a:r>
              <a:rPr sz="1200" i="1">
                <a:solidFill>
                  <a:srgbClr val="2E7D32"/>
                </a:solidFill>
              </a:rPr>
              <a:t>   ✓ Doğru cevap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22222"/>
                </a:solidFill>
              </a:rPr>
              <a:t>b)  B sınıfı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22222"/>
                </a:solidFill>
              </a:rPr>
              <a:t>c)  A ve B sınıfı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22222"/>
                </a:solidFill>
              </a:rPr>
              <a:t>d)  Hiçbiri</a:t>
            </a:r>
          </a:p>
        </p:txBody>
      </p:sp>
      <p:sp>
        <p:nvSpPr>
          <p:cNvPr id="5" name="Rectangle 4"/>
          <p:cNvSpPr/>
          <p:nvPr/>
        </p:nvSpPr>
        <p:spPr>
          <a:xfrm>
            <a:off x="6339699" y="960120"/>
            <a:ext cx="5394796" cy="5394960"/>
          </a:xfrm>
          <a:prstGeom prst="rect">
            <a:avLst/>
          </a:prstGeom>
          <a:solidFill>
            <a:srgbClr val="E2EFDA"/>
          </a:solidFill>
          <a:ln w="9525">
            <a:solidFill>
              <a:srgbClr val="9BC1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82880" rIns="182880" rtlCol="0" anchor="ctr"/>
          <a:lstStyle/>
          <a:p>
            <a:pPr algn="ctr">
              <a:spcAft>
                <a:spcPts val="900"/>
              </a:spcAft>
            </a:pPr>
            <a:r>
              <a:rPr sz="1400" b="1">
                <a:solidFill>
                  <a:srgbClr val="2E7D32"/>
                </a:solidFill>
              </a:rPr>
              <a:t>AÇIKLAMA</a:t>
            </a:r>
          </a:p>
          <a:p>
            <a:pPr>
              <a:spcAft>
                <a:spcPts val="1100"/>
              </a:spcAft>
            </a:pPr>
            <a:r>
              <a:rPr sz="1300">
                <a:solidFill>
                  <a:srgbClr val="222222"/>
                </a:solidFill>
              </a:rPr>
              <a:t>160 metre bandının bu segmenti, yetki tablosunda yalnızca A sınıfı belge sahiplerine açıktır.</a:t>
            </a:r>
          </a:p>
          <a:p>
            <a:r>
              <a:rPr sz="1100" b="1">
                <a:solidFill>
                  <a:srgbClr val="1F3864"/>
                </a:solidFill>
              </a:rPr>
              <a:t>Kaynak: </a:t>
            </a:r>
            <a:r>
              <a:rPr sz="1100" i="1">
                <a:solidFill>
                  <a:srgbClr val="404040"/>
                </a:solidFill>
              </a:rPr>
              <a:t>Özel Telsiz Sistemleri Yönetmeliği EK-4 Tablo-1 (sınıf-bant yetki tablosu).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95959"/>
                </a:solidFill>
              </a:rPr>
              <a:t>İşletme — Soru 67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4008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1460175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1">
                <a:solidFill>
                  <a:srgbClr val="FFFFFF"/>
                </a:solidFill>
              </a:rPr>
              <a:t>Soru 68</a:t>
            </a:r>
            <a:r>
              <a:rPr sz="1400">
                <a:solidFill>
                  <a:srgbClr val="D6E4F0"/>
                </a:solidFill>
              </a:rPr>
              <a:t>   ·   Çağrı İşareti Bölgeleri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60120"/>
            <a:ext cx="5608179" cy="5394960"/>
          </a:xfrm>
          <a:prstGeom prst="rect">
            <a:avLst/>
          </a:prstGeom>
          <a:solidFill>
            <a:srgbClr val="F7F9FB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82880" rIns="182880" rtlCol="0" anchor="ctr"/>
          <a:lstStyle/>
          <a:p>
            <a:pPr algn="ctr">
              <a:spcAft>
                <a:spcPts val="1400"/>
              </a:spcAft>
            </a:pPr>
            <a:r>
              <a:rPr sz="1700" b="1">
                <a:solidFill>
                  <a:srgbClr val="222222"/>
                </a:solidFill>
              </a:rPr>
              <a:t>Amatör bandda dinleme halinde iken karşıdan TA8YCA gibi bir çağrı işareti duyulduğunda bu çağrı işareti hangi ilden yapılmış olabilir?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22222"/>
                </a:solidFill>
              </a:rPr>
              <a:t>a)  Niğde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22222"/>
                </a:solidFill>
              </a:rPr>
              <a:t>b)  Manisa</a:t>
            </a:r>
          </a:p>
          <a:p>
            <a:pPr>
              <a:spcAft>
                <a:spcPts val="800"/>
              </a:spcAft>
            </a:pPr>
            <a:r>
              <a:rPr sz="1500" b="1">
                <a:solidFill>
                  <a:srgbClr val="2E7D32"/>
                </a:solidFill>
              </a:rPr>
              <a:t>c)  Malatya</a:t>
            </a:r>
            <a:r>
              <a:rPr sz="1200" i="1">
                <a:solidFill>
                  <a:srgbClr val="2E7D32"/>
                </a:solidFill>
              </a:rPr>
              <a:t>   ✓ Doğru cevap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22222"/>
                </a:solidFill>
              </a:rPr>
              <a:t>d)  Yozgat</a:t>
            </a:r>
          </a:p>
        </p:txBody>
      </p:sp>
      <p:sp>
        <p:nvSpPr>
          <p:cNvPr id="5" name="Rectangle 4"/>
          <p:cNvSpPr/>
          <p:nvPr/>
        </p:nvSpPr>
        <p:spPr>
          <a:xfrm>
            <a:off x="6339699" y="960120"/>
            <a:ext cx="5394796" cy="5394960"/>
          </a:xfrm>
          <a:prstGeom prst="rect">
            <a:avLst/>
          </a:prstGeom>
          <a:solidFill>
            <a:srgbClr val="E2EFDA"/>
          </a:solidFill>
          <a:ln w="9525">
            <a:solidFill>
              <a:srgbClr val="9BC1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82880" rIns="182880" rtlCol="0" anchor="ctr"/>
          <a:lstStyle/>
          <a:p>
            <a:pPr algn="ctr">
              <a:spcAft>
                <a:spcPts val="900"/>
              </a:spcAft>
            </a:pPr>
            <a:r>
              <a:rPr sz="1400" b="1">
                <a:solidFill>
                  <a:srgbClr val="2E7D32"/>
                </a:solidFill>
              </a:rPr>
              <a:t>AÇIKLAMA</a:t>
            </a:r>
          </a:p>
          <a:p>
            <a:pPr>
              <a:spcAft>
                <a:spcPts val="1100"/>
              </a:spcAft>
            </a:pPr>
            <a:r>
              <a:rPr sz="1300">
                <a:solidFill>
                  <a:srgbClr val="222222"/>
                </a:solidFill>
              </a:rPr>
              <a:t>Bölge numarası 8, Güneydoğu Anadolu'nun kuzeyindeki illeri kapsar; bu grupta Malatya yer alır.</a:t>
            </a:r>
          </a:p>
          <a:p>
            <a:r>
              <a:rPr sz="1100" b="1">
                <a:solidFill>
                  <a:srgbClr val="1F3864"/>
                </a:solidFill>
              </a:rPr>
              <a:t>Kaynak: </a:t>
            </a:r>
            <a:r>
              <a:rPr sz="1100" i="1">
                <a:solidFill>
                  <a:srgbClr val="404040"/>
                </a:solidFill>
              </a:rPr>
              <a:t>Çağrı işareti bölge numaraları listesi.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95959"/>
                </a:solidFill>
              </a:rPr>
              <a:t>İşletme — Soru 68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4008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1460175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1">
                <a:solidFill>
                  <a:srgbClr val="FFFFFF"/>
                </a:solidFill>
              </a:rPr>
              <a:t>Soru 69</a:t>
            </a:r>
            <a:r>
              <a:rPr sz="1400">
                <a:solidFill>
                  <a:srgbClr val="D6E4F0"/>
                </a:solidFill>
              </a:rPr>
              <a:t>   ·   Çağrı İşareti Bölgeleri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60120"/>
            <a:ext cx="5608179" cy="5394960"/>
          </a:xfrm>
          <a:prstGeom prst="rect">
            <a:avLst/>
          </a:prstGeom>
          <a:solidFill>
            <a:srgbClr val="F7F9FB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82880" rIns="182880" rtlCol="0" anchor="ctr"/>
          <a:lstStyle/>
          <a:p>
            <a:pPr algn="ctr">
              <a:spcAft>
                <a:spcPts val="1400"/>
              </a:spcAft>
            </a:pPr>
            <a:r>
              <a:rPr sz="1700" b="1">
                <a:solidFill>
                  <a:srgbClr val="222222"/>
                </a:solidFill>
              </a:rPr>
              <a:t>Amatör bandda dinleme halinde iken karşıdan TA1BT gibi bir çağrı işareti duyulduğunda bu çağrı işareti hangi ilden yapılmış olabilir?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22222"/>
                </a:solidFill>
              </a:rPr>
              <a:t>a)  Konya</a:t>
            </a:r>
          </a:p>
          <a:p>
            <a:pPr>
              <a:spcAft>
                <a:spcPts val="800"/>
              </a:spcAft>
            </a:pPr>
            <a:r>
              <a:rPr sz="1500" b="1">
                <a:solidFill>
                  <a:srgbClr val="2E7D32"/>
                </a:solidFill>
              </a:rPr>
              <a:t>b)  Edirne</a:t>
            </a:r>
            <a:r>
              <a:rPr sz="1200" i="1">
                <a:solidFill>
                  <a:srgbClr val="2E7D32"/>
                </a:solidFill>
              </a:rPr>
              <a:t>   ✓ Doğru cevap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22222"/>
                </a:solidFill>
              </a:rPr>
              <a:t>c)  Ordu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22222"/>
                </a:solidFill>
              </a:rPr>
              <a:t>d)  Adana</a:t>
            </a:r>
          </a:p>
        </p:txBody>
      </p:sp>
      <p:sp>
        <p:nvSpPr>
          <p:cNvPr id="5" name="Rectangle 4"/>
          <p:cNvSpPr/>
          <p:nvPr/>
        </p:nvSpPr>
        <p:spPr>
          <a:xfrm>
            <a:off x="6339699" y="960120"/>
            <a:ext cx="5394796" cy="5394960"/>
          </a:xfrm>
          <a:prstGeom prst="rect">
            <a:avLst/>
          </a:prstGeom>
          <a:solidFill>
            <a:srgbClr val="E2EFDA"/>
          </a:solidFill>
          <a:ln w="9525">
            <a:solidFill>
              <a:srgbClr val="9BC1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82880" rIns="182880" rtlCol="0" anchor="ctr"/>
          <a:lstStyle/>
          <a:p>
            <a:pPr algn="ctr">
              <a:spcAft>
                <a:spcPts val="900"/>
              </a:spcAft>
            </a:pPr>
            <a:r>
              <a:rPr sz="1400" b="1">
                <a:solidFill>
                  <a:srgbClr val="2E7D32"/>
                </a:solidFill>
              </a:rPr>
              <a:t>AÇIKLAMA</a:t>
            </a:r>
          </a:p>
          <a:p>
            <a:pPr>
              <a:spcAft>
                <a:spcPts val="1100"/>
              </a:spcAft>
            </a:pPr>
            <a:r>
              <a:rPr sz="1300">
                <a:solidFill>
                  <a:srgbClr val="222222"/>
                </a:solidFill>
              </a:rPr>
              <a:t>Bölge numarası 1, Trakya ve çevresindeki illeri kapsar; bu grupta Edirne yer alır.</a:t>
            </a:r>
          </a:p>
          <a:p>
            <a:r>
              <a:rPr sz="1100" b="1">
                <a:solidFill>
                  <a:srgbClr val="1F3864"/>
                </a:solidFill>
              </a:rPr>
              <a:t>Kaynak: </a:t>
            </a:r>
            <a:r>
              <a:rPr sz="1100" i="1">
                <a:solidFill>
                  <a:srgbClr val="404040"/>
                </a:solidFill>
              </a:rPr>
              <a:t>Çağrı işareti bölge numaraları listesi.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95959"/>
                </a:solidFill>
              </a:rPr>
              <a:t>İşletme — Soru 69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4008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1460175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1">
                <a:solidFill>
                  <a:srgbClr val="FFFFFF"/>
                </a:solidFill>
              </a:rPr>
              <a:t>Soru 70</a:t>
            </a:r>
            <a:r>
              <a:rPr sz="1400">
                <a:solidFill>
                  <a:srgbClr val="D6E4F0"/>
                </a:solidFill>
              </a:rPr>
              <a:t>   ·   Zaman Hesabı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60120"/>
            <a:ext cx="5608179" cy="5394960"/>
          </a:xfrm>
          <a:prstGeom prst="rect">
            <a:avLst/>
          </a:prstGeom>
          <a:solidFill>
            <a:srgbClr val="F7F9FB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82880" rIns="182880" rtlCol="0" anchor="ctr"/>
          <a:lstStyle/>
          <a:p>
            <a:pPr algn="ctr">
              <a:spcAft>
                <a:spcPts val="1400"/>
              </a:spcAft>
            </a:pPr>
            <a:r>
              <a:rPr sz="1700" b="1">
                <a:solidFill>
                  <a:srgbClr val="222222"/>
                </a:solidFill>
              </a:rPr>
              <a:t>90 derece batı boylamında yerel saat 14:10 iken 90 derece doğu boylamında bulunan bir başka yerde saat kaç olacaktır?</a:t>
            </a:r>
          </a:p>
          <a:p>
            <a:pPr>
              <a:spcAft>
                <a:spcPts val="800"/>
              </a:spcAft>
            </a:pPr>
            <a:r>
              <a:rPr sz="1500" b="1">
                <a:solidFill>
                  <a:srgbClr val="2E7D32"/>
                </a:solidFill>
              </a:rPr>
              <a:t>a)  02:10</a:t>
            </a:r>
            <a:r>
              <a:rPr sz="1200" i="1">
                <a:solidFill>
                  <a:srgbClr val="2E7D32"/>
                </a:solidFill>
              </a:rPr>
              <a:t>   ✓ Doğru cevap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22222"/>
                </a:solidFill>
              </a:rPr>
              <a:t>b)  19:10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22222"/>
                </a:solidFill>
              </a:rPr>
              <a:t>c)  21:10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22222"/>
                </a:solidFill>
              </a:rPr>
              <a:t>d)  18:10</a:t>
            </a:r>
          </a:p>
        </p:txBody>
      </p:sp>
      <p:sp>
        <p:nvSpPr>
          <p:cNvPr id="5" name="Rectangle 4"/>
          <p:cNvSpPr/>
          <p:nvPr/>
        </p:nvSpPr>
        <p:spPr>
          <a:xfrm>
            <a:off x="6339699" y="960120"/>
            <a:ext cx="5394796" cy="5394960"/>
          </a:xfrm>
          <a:prstGeom prst="rect">
            <a:avLst/>
          </a:prstGeom>
          <a:solidFill>
            <a:srgbClr val="E2EFDA"/>
          </a:solidFill>
          <a:ln w="9525">
            <a:solidFill>
              <a:srgbClr val="9BC1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82880" rIns="182880" rtlCol="0" anchor="ctr"/>
          <a:lstStyle/>
          <a:p>
            <a:pPr algn="ctr">
              <a:spcAft>
                <a:spcPts val="900"/>
              </a:spcAft>
            </a:pPr>
            <a:r>
              <a:rPr sz="1400" b="1">
                <a:solidFill>
                  <a:srgbClr val="2E7D32"/>
                </a:solidFill>
              </a:rPr>
              <a:t>AÇIKLAMA</a:t>
            </a:r>
          </a:p>
          <a:p>
            <a:pPr>
              <a:spcAft>
                <a:spcPts val="1100"/>
              </a:spcAft>
            </a:pPr>
            <a:r>
              <a:rPr sz="1300">
                <a:solidFill>
                  <a:srgbClr val="222222"/>
                </a:solidFill>
              </a:rPr>
              <a:t>İki nokta arasındaki toplam fark 180 derece = 12 saat. Doğudaki nokta ileridedir: 14:10 + 12:00 = 02:10 </a:t>
            </a:r>
            <a:r>
              <a:rPr sz="1300" i="1">
                <a:solidFill>
                  <a:srgbClr val="222222"/>
                </a:solidFill>
              </a:rPr>
              <a:t>(ertesi gün)</a:t>
            </a:r>
            <a:r>
              <a:rPr sz="1300">
                <a:solidFill>
                  <a:srgbClr val="222222"/>
                </a:solidFill>
              </a:rPr>
              <a:t>.</a:t>
            </a:r>
          </a:p>
          <a:p>
            <a:r>
              <a:rPr sz="1100" b="1">
                <a:solidFill>
                  <a:srgbClr val="1F3864"/>
                </a:solidFill>
              </a:rPr>
              <a:t>Kaynak: </a:t>
            </a:r>
            <a:r>
              <a:rPr sz="1100" i="1">
                <a:solidFill>
                  <a:srgbClr val="404040"/>
                </a:solidFill>
              </a:rPr>
              <a:t>Boylam-saat dönüşümü.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95959"/>
                </a:solidFill>
              </a:rPr>
              <a:t>İşletme — Soru 70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4008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1460175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1">
                <a:solidFill>
                  <a:srgbClr val="FFFFFF"/>
                </a:solidFill>
              </a:rPr>
              <a:t>Soru 71</a:t>
            </a:r>
            <a:r>
              <a:rPr sz="1400">
                <a:solidFill>
                  <a:srgbClr val="D6E4F0"/>
                </a:solidFill>
              </a:rPr>
              <a:t>   ·   Zaman Hesabı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60120"/>
            <a:ext cx="5608179" cy="5394960"/>
          </a:xfrm>
          <a:prstGeom prst="rect">
            <a:avLst/>
          </a:prstGeom>
          <a:solidFill>
            <a:srgbClr val="F7F9FB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82880" rIns="182880" rtlCol="0" anchor="ctr"/>
          <a:lstStyle/>
          <a:p>
            <a:pPr algn="ctr">
              <a:spcAft>
                <a:spcPts val="1400"/>
              </a:spcAft>
            </a:pPr>
            <a:r>
              <a:rPr sz="1700" b="1">
                <a:solidFill>
                  <a:srgbClr val="222222"/>
                </a:solidFill>
              </a:rPr>
              <a:t>31 Aralık 2001 pazartesi günü Londra'da saat 24:00 iken 90 derece doğu boylamında bulunan başka bir yerde saat kaç olacaktır?</a:t>
            </a:r>
          </a:p>
          <a:p>
            <a:pPr>
              <a:spcAft>
                <a:spcPts val="800"/>
              </a:spcAft>
            </a:pPr>
            <a:r>
              <a:rPr sz="1500" b="1">
                <a:solidFill>
                  <a:srgbClr val="2E7D32"/>
                </a:solidFill>
              </a:rPr>
              <a:t>a)  1 Ocak 2002 Salı, saat 06:00</a:t>
            </a:r>
            <a:r>
              <a:rPr sz="1200" i="1">
                <a:solidFill>
                  <a:srgbClr val="2E7D32"/>
                </a:solidFill>
              </a:rPr>
              <a:t>   ✓ Doğru cevap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22222"/>
                </a:solidFill>
              </a:rPr>
              <a:t>b)  31 Aralık 2001 Pazartesi, saat 06:00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22222"/>
                </a:solidFill>
              </a:rPr>
              <a:t>c)  31 Aralık 2001 Pazartesi, saat 18:00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22222"/>
                </a:solidFill>
              </a:rPr>
              <a:t>d)  1 Ocak 2002 Salı, saat 18:00</a:t>
            </a:r>
          </a:p>
        </p:txBody>
      </p:sp>
      <p:sp>
        <p:nvSpPr>
          <p:cNvPr id="5" name="Rectangle 4"/>
          <p:cNvSpPr/>
          <p:nvPr/>
        </p:nvSpPr>
        <p:spPr>
          <a:xfrm>
            <a:off x="6339699" y="960120"/>
            <a:ext cx="5394796" cy="5394960"/>
          </a:xfrm>
          <a:prstGeom prst="rect">
            <a:avLst/>
          </a:prstGeom>
          <a:solidFill>
            <a:srgbClr val="E2EFDA"/>
          </a:solidFill>
          <a:ln w="9525">
            <a:solidFill>
              <a:srgbClr val="9BC1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82880" rIns="182880" rtlCol="0" anchor="ctr"/>
          <a:lstStyle/>
          <a:p>
            <a:pPr algn="ctr">
              <a:spcAft>
                <a:spcPts val="900"/>
              </a:spcAft>
            </a:pPr>
            <a:r>
              <a:rPr sz="1400" b="1">
                <a:solidFill>
                  <a:srgbClr val="2E7D32"/>
                </a:solidFill>
              </a:rPr>
              <a:t>AÇIKLAMA</a:t>
            </a:r>
          </a:p>
          <a:p>
            <a:pPr>
              <a:spcAft>
                <a:spcPts val="1100"/>
              </a:spcAft>
            </a:pPr>
            <a:r>
              <a:rPr sz="1300">
                <a:solidFill>
                  <a:srgbClr val="222222"/>
                </a:solidFill>
              </a:rPr>
              <a:t>90° doğu = 6 saat ileri. Londra'da 24:00 </a:t>
            </a:r>
            <a:r>
              <a:rPr sz="1300" i="1">
                <a:solidFill>
                  <a:srgbClr val="222222"/>
                </a:solidFill>
              </a:rPr>
              <a:t>(gece yarısı, gün değişim anı)</a:t>
            </a:r>
            <a:r>
              <a:rPr sz="1300">
                <a:solidFill>
                  <a:srgbClr val="222222"/>
                </a:solidFill>
              </a:rPr>
              <a:t> + 6:00 = 06:00, ve gün zaten 1 Ocak'a geçmiş olur: 1 Ocak 2002 Salı, 06:00.</a:t>
            </a:r>
          </a:p>
          <a:p>
            <a:r>
              <a:rPr sz="1100" b="1">
                <a:solidFill>
                  <a:srgbClr val="1F3864"/>
                </a:solidFill>
              </a:rPr>
              <a:t>Kaynak: </a:t>
            </a:r>
            <a:r>
              <a:rPr sz="1100" i="1">
                <a:solidFill>
                  <a:srgbClr val="404040"/>
                </a:solidFill>
              </a:rPr>
              <a:t>Boylam-saat dönüşümü.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95959"/>
                </a:solidFill>
              </a:rPr>
              <a:t>İşletme — Soru 71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4008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1460175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1">
                <a:solidFill>
                  <a:srgbClr val="FFFFFF"/>
                </a:solidFill>
              </a:rPr>
              <a:t>Soru 72</a:t>
            </a:r>
            <a:r>
              <a:rPr sz="1400">
                <a:solidFill>
                  <a:srgbClr val="D6E4F0"/>
                </a:solidFill>
              </a:rPr>
              <a:t>   ·   Bant Sınırları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60120"/>
            <a:ext cx="5608179" cy="5394960"/>
          </a:xfrm>
          <a:prstGeom prst="rect">
            <a:avLst/>
          </a:prstGeom>
          <a:solidFill>
            <a:srgbClr val="F7F9FB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82880" rIns="182880" rtlCol="0" anchor="ctr"/>
          <a:lstStyle/>
          <a:p>
            <a:pPr algn="ctr">
              <a:spcAft>
                <a:spcPts val="1400"/>
              </a:spcAft>
            </a:pPr>
            <a:r>
              <a:rPr sz="1700" b="1">
                <a:solidFill>
                  <a:srgbClr val="222222"/>
                </a:solidFill>
              </a:rPr>
              <a:t>14 Mhz amatör bandını tek başına kullanabilme izni, hangi sınıf amatör telsizcilik belgesi sahiplerine tanınmıştır?</a:t>
            </a:r>
          </a:p>
          <a:p>
            <a:pPr>
              <a:spcAft>
                <a:spcPts val="800"/>
              </a:spcAft>
            </a:pPr>
            <a:r>
              <a:rPr sz="1500" b="1">
                <a:solidFill>
                  <a:srgbClr val="2E7D32"/>
                </a:solidFill>
              </a:rPr>
              <a:t>a)  A sınıfı</a:t>
            </a:r>
            <a:r>
              <a:rPr sz="1200" i="1">
                <a:solidFill>
                  <a:srgbClr val="2E7D32"/>
                </a:solidFill>
              </a:rPr>
              <a:t>   ✓ Doğru cevap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22222"/>
                </a:solidFill>
              </a:rPr>
              <a:t>b)  B sınıfı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22222"/>
                </a:solidFill>
              </a:rPr>
              <a:t>c)  C sınıfı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22222"/>
                </a:solidFill>
              </a:rPr>
              <a:t>d)  Hiçbiri</a:t>
            </a:r>
          </a:p>
        </p:txBody>
      </p:sp>
      <p:sp>
        <p:nvSpPr>
          <p:cNvPr id="5" name="Rectangle 4"/>
          <p:cNvSpPr/>
          <p:nvPr/>
        </p:nvSpPr>
        <p:spPr>
          <a:xfrm>
            <a:off x="6339699" y="960120"/>
            <a:ext cx="5394796" cy="5394960"/>
          </a:xfrm>
          <a:prstGeom prst="rect">
            <a:avLst/>
          </a:prstGeom>
          <a:solidFill>
            <a:srgbClr val="E2EFDA"/>
          </a:solidFill>
          <a:ln w="9525">
            <a:solidFill>
              <a:srgbClr val="9BC1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82880" rIns="182880" rtlCol="0" anchor="ctr"/>
          <a:lstStyle/>
          <a:p>
            <a:pPr algn="ctr">
              <a:spcAft>
                <a:spcPts val="900"/>
              </a:spcAft>
            </a:pPr>
            <a:r>
              <a:rPr sz="1400" b="1">
                <a:solidFill>
                  <a:srgbClr val="2E7D32"/>
                </a:solidFill>
              </a:rPr>
              <a:t>AÇIKLAMA</a:t>
            </a:r>
          </a:p>
          <a:p>
            <a:pPr>
              <a:spcAft>
                <a:spcPts val="1100"/>
              </a:spcAft>
            </a:pPr>
            <a:r>
              <a:rPr sz="1300">
                <a:solidFill>
                  <a:srgbClr val="222222"/>
                </a:solidFill>
              </a:rPr>
              <a:t>20 metre </a:t>
            </a:r>
            <a:r>
              <a:rPr sz="1300" i="1">
                <a:solidFill>
                  <a:srgbClr val="222222"/>
                </a:solidFill>
              </a:rPr>
              <a:t>(14 MHz)</a:t>
            </a:r>
            <a:r>
              <a:rPr sz="1300">
                <a:solidFill>
                  <a:srgbClr val="222222"/>
                </a:solidFill>
              </a:rPr>
              <a:t> bandı, sınıf yetki tablosunda temel olarak A sınıfına tanınmıştır; B/C sınıfı bu bandda bağımsız çalışamaz.</a:t>
            </a:r>
          </a:p>
          <a:p>
            <a:r>
              <a:rPr sz="1100" b="1">
                <a:solidFill>
                  <a:srgbClr val="1F3864"/>
                </a:solidFill>
              </a:rPr>
              <a:t>Kaynak: </a:t>
            </a:r>
            <a:r>
              <a:rPr sz="1100" i="1">
                <a:solidFill>
                  <a:srgbClr val="404040"/>
                </a:solidFill>
              </a:rPr>
              <a:t>Özel Telsiz Sistemleri Yönetmeliği EK-4 Tablo-1 (sınıf-bant yetki tablosu).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95959"/>
                </a:solidFill>
              </a:rPr>
              <a:t>İşletme — Soru 72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772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FFFFFF"/>
                </a:solidFill>
              </a:rPr>
              <a:t>BÖLÜM 7: Sınıf Bant Sınırları, Çağrı İşareti ve Emisyon Gücü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911535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300"/>
              </a:spcAft>
            </a:pPr>
            <a:r>
              <a:rPr sz="1700">
                <a:solidFill>
                  <a:srgbClr val="222222"/>
                </a:solidFill>
              </a:rPr>
              <a:t>•  Her belge sınıfının erişebildiği bantlar ve o bantlarda kullanabileceği azami çıkış gücü farklıdır.</a:t>
            </a:r>
          </a:p>
          <a:p>
            <a:pPr>
              <a:spcAft>
                <a:spcPts val="1300"/>
              </a:spcAft>
            </a:pPr>
            <a:r>
              <a:rPr sz="1700">
                <a:solidFill>
                  <a:srgbClr val="222222"/>
                </a:solidFill>
              </a:rPr>
              <a:t>•  Çağrı işaretine eklenen "/bölge" eki, operatörün geçici olarak başka bir bölgede çalıştığını gösterir.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5623560"/>
            <a:ext cx="10911535" cy="914400"/>
          </a:xfrm>
          <a:prstGeom prst="rect">
            <a:avLst/>
          </a:prstGeom>
          <a:solidFill>
            <a:srgbClr val="D6E4F0"/>
          </a:solidFill>
          <a:ln>
            <a:solidFill>
              <a:srgbClr val="2E75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tlCol="0" anchor="ctr"/>
          <a:lstStyle/>
          <a:p>
            <a:pPr algn="ctr"/>
            <a:r>
              <a:rPr sz="1300" b="1">
                <a:solidFill>
                  <a:srgbClr val="1F3864"/>
                </a:solidFill>
              </a:rPr>
              <a:t>Bu bölümün kaynağı: </a:t>
            </a:r>
            <a:r>
              <a:rPr sz="1300">
                <a:solidFill>
                  <a:srgbClr val="222222"/>
                </a:solidFill>
              </a:rPr>
              <a:t>Özel Telsiz Sistemleri Yönetmeliği EK-4 Tablo-1; çağrı işareti bölge değişikliği kuralı.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95959"/>
                </a:solidFill>
              </a:rPr>
              <a:t>İşletme — Bölüm 7 Girişi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4008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1460175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1">
                <a:solidFill>
                  <a:srgbClr val="FFFFFF"/>
                </a:solidFill>
              </a:rPr>
              <a:t>Soru 73</a:t>
            </a:r>
            <a:r>
              <a:rPr sz="1400">
                <a:solidFill>
                  <a:srgbClr val="D6E4F0"/>
                </a:solidFill>
              </a:rPr>
              <a:t>   ·   Bant Sınırları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60120"/>
            <a:ext cx="5608179" cy="5394960"/>
          </a:xfrm>
          <a:prstGeom prst="rect">
            <a:avLst/>
          </a:prstGeom>
          <a:solidFill>
            <a:srgbClr val="F7F9FB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82880" rIns="182880" rtlCol="0" anchor="ctr"/>
          <a:lstStyle/>
          <a:p>
            <a:pPr algn="ctr">
              <a:spcAft>
                <a:spcPts val="1400"/>
              </a:spcAft>
            </a:pPr>
            <a:r>
              <a:rPr sz="1700" b="1">
                <a:solidFill>
                  <a:srgbClr val="222222"/>
                </a:solidFill>
              </a:rPr>
              <a:t>B sınıfı amatör telsizcinin kullanamayacağı frekanslar aşağıdakilerden hangileridir?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22222"/>
                </a:solidFill>
              </a:rPr>
              <a:t>a)  144 - 146 Mhz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22222"/>
                </a:solidFill>
              </a:rPr>
              <a:t>b)  1240 - 1300 Mhz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22222"/>
                </a:solidFill>
              </a:rPr>
              <a:t>c)  5650 - 5670 Mhz</a:t>
            </a:r>
          </a:p>
          <a:p>
            <a:pPr>
              <a:spcAft>
                <a:spcPts val="800"/>
              </a:spcAft>
            </a:pPr>
            <a:r>
              <a:rPr sz="1500" b="1">
                <a:solidFill>
                  <a:srgbClr val="2E7D32"/>
                </a:solidFill>
              </a:rPr>
              <a:t>d)  1810 - 1840 Khz</a:t>
            </a:r>
            <a:r>
              <a:rPr sz="1200" i="1">
                <a:solidFill>
                  <a:srgbClr val="2E7D32"/>
                </a:solidFill>
              </a:rPr>
              <a:t>   ✓ Doğru cevap</a:t>
            </a:r>
          </a:p>
        </p:txBody>
      </p:sp>
      <p:sp>
        <p:nvSpPr>
          <p:cNvPr id="5" name="Rectangle 4"/>
          <p:cNvSpPr/>
          <p:nvPr/>
        </p:nvSpPr>
        <p:spPr>
          <a:xfrm>
            <a:off x="6339699" y="960120"/>
            <a:ext cx="5394796" cy="5394960"/>
          </a:xfrm>
          <a:prstGeom prst="rect">
            <a:avLst/>
          </a:prstGeom>
          <a:solidFill>
            <a:srgbClr val="E2EFDA"/>
          </a:solidFill>
          <a:ln w="9525">
            <a:solidFill>
              <a:srgbClr val="9BC1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82880" rIns="182880" rtlCol="0" anchor="ctr"/>
          <a:lstStyle/>
          <a:p>
            <a:pPr algn="ctr">
              <a:spcAft>
                <a:spcPts val="900"/>
              </a:spcAft>
            </a:pPr>
            <a:r>
              <a:rPr sz="1400" b="1">
                <a:solidFill>
                  <a:srgbClr val="2E7D32"/>
                </a:solidFill>
              </a:rPr>
              <a:t>AÇIKLAMA</a:t>
            </a:r>
          </a:p>
          <a:p>
            <a:pPr>
              <a:spcAft>
                <a:spcPts val="1100"/>
              </a:spcAft>
            </a:pPr>
            <a:r>
              <a:rPr sz="1300">
                <a:solidFill>
                  <a:srgbClr val="222222"/>
                </a:solidFill>
              </a:rPr>
              <a:t>1810-1840 kHz </a:t>
            </a:r>
            <a:r>
              <a:rPr sz="1300" i="1">
                <a:solidFill>
                  <a:srgbClr val="222222"/>
                </a:solidFill>
              </a:rPr>
              <a:t>(160m bandının bu kısmı)</a:t>
            </a:r>
            <a:r>
              <a:rPr sz="1300">
                <a:solidFill>
                  <a:srgbClr val="222222"/>
                </a:solidFill>
              </a:rPr>
              <a:t> yetki tablosunda sadece A sınıfına açıktır; 144-146 MHz, 1240-1300 MHz ve 5650-5670 MHz ise B sınıfının da erişebildiği bantlardandır.</a:t>
            </a:r>
          </a:p>
          <a:p>
            <a:r>
              <a:rPr sz="1100" b="1">
                <a:solidFill>
                  <a:srgbClr val="1F3864"/>
                </a:solidFill>
              </a:rPr>
              <a:t>Kaynak: </a:t>
            </a:r>
            <a:r>
              <a:rPr sz="1100" i="1">
                <a:solidFill>
                  <a:srgbClr val="404040"/>
                </a:solidFill>
              </a:rPr>
              <a:t>Özel Telsiz Sistemleri Yönetmeliği EK-4 Tablo-1.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95959"/>
                </a:solidFill>
              </a:rPr>
              <a:t>İşletme — Soru 73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4008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1460175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1">
                <a:solidFill>
                  <a:srgbClr val="FFFFFF"/>
                </a:solidFill>
              </a:rPr>
              <a:t>Soru 74</a:t>
            </a:r>
            <a:r>
              <a:rPr sz="1400">
                <a:solidFill>
                  <a:srgbClr val="D6E4F0"/>
                </a:solidFill>
              </a:rPr>
              <a:t>   ·   Çağrı İşareti Bölgeleri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60120"/>
            <a:ext cx="5608179" cy="5394960"/>
          </a:xfrm>
          <a:prstGeom prst="rect">
            <a:avLst/>
          </a:prstGeom>
          <a:solidFill>
            <a:srgbClr val="F7F9FB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82880" rIns="182880" rtlCol="0" anchor="ctr"/>
          <a:lstStyle/>
          <a:p>
            <a:pPr algn="ctr">
              <a:spcAft>
                <a:spcPts val="1400"/>
              </a:spcAft>
            </a:pPr>
            <a:r>
              <a:rPr sz="1700" b="1">
                <a:solidFill>
                  <a:srgbClr val="222222"/>
                </a:solidFill>
              </a:rPr>
              <a:t>TA5BI/2 çağrı kodu için aşağıdaki ifadelerden hangisi doğrudur?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22222"/>
                </a:solidFill>
              </a:rPr>
              <a:t>a)  2.Bölgede çalışan bir amatör istasyonun çağrı işaretidir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22222"/>
                </a:solidFill>
              </a:rPr>
              <a:t>b)  C sınıfı amatör telsizciye ait bir istasyonun çağrı kodudur</a:t>
            </a:r>
          </a:p>
          <a:p>
            <a:pPr>
              <a:spcAft>
                <a:spcPts val="800"/>
              </a:spcAft>
            </a:pPr>
            <a:r>
              <a:rPr sz="1500" b="1">
                <a:solidFill>
                  <a:srgbClr val="2E7D32"/>
                </a:solidFill>
              </a:rPr>
              <a:t>c)  5.Bölgeden 2.Bölgeye geçen amatör telsizcinin çağrı işaretidir</a:t>
            </a:r>
            <a:r>
              <a:rPr sz="1200" i="1">
                <a:solidFill>
                  <a:srgbClr val="2E7D32"/>
                </a:solidFill>
              </a:rPr>
              <a:t>   ✓ Doğru cevap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22222"/>
                </a:solidFill>
              </a:rPr>
              <a:t>d)  Hiçbir</a:t>
            </a:r>
          </a:p>
        </p:txBody>
      </p:sp>
      <p:sp>
        <p:nvSpPr>
          <p:cNvPr id="5" name="Rectangle 4"/>
          <p:cNvSpPr/>
          <p:nvPr/>
        </p:nvSpPr>
        <p:spPr>
          <a:xfrm>
            <a:off x="6339699" y="960120"/>
            <a:ext cx="5394796" cy="5394960"/>
          </a:xfrm>
          <a:prstGeom prst="rect">
            <a:avLst/>
          </a:prstGeom>
          <a:solidFill>
            <a:srgbClr val="E2EFDA"/>
          </a:solidFill>
          <a:ln w="9525">
            <a:solidFill>
              <a:srgbClr val="9BC1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82880" rIns="182880" rtlCol="0" anchor="ctr"/>
          <a:lstStyle/>
          <a:p>
            <a:pPr algn="ctr">
              <a:spcAft>
                <a:spcPts val="900"/>
              </a:spcAft>
            </a:pPr>
            <a:r>
              <a:rPr sz="1400" b="1">
                <a:solidFill>
                  <a:srgbClr val="2E7D32"/>
                </a:solidFill>
              </a:rPr>
              <a:t>AÇIKLAMA</a:t>
            </a:r>
          </a:p>
          <a:p>
            <a:pPr>
              <a:spcAft>
                <a:spcPts val="1100"/>
              </a:spcAft>
            </a:pPr>
            <a:r>
              <a:rPr sz="1300">
                <a:solidFill>
                  <a:srgbClr val="222222"/>
                </a:solidFill>
              </a:rPr>
              <a:t>Çağrı işaretinin kendisi 5. bölge kayıtlıdır </a:t>
            </a:r>
            <a:r>
              <a:rPr sz="1300" i="1">
                <a:solidFill>
                  <a:srgbClr val="222222"/>
                </a:solidFill>
              </a:rPr>
              <a:t>(TA5BI)</a:t>
            </a:r>
            <a:r>
              <a:rPr sz="1300">
                <a:solidFill>
                  <a:srgbClr val="222222"/>
                </a:solidFill>
              </a:rPr>
              <a:t>; "/2" eki, operatörün şu an 2. bölgede geçici olarak bulunduğunu gösterir.</a:t>
            </a:r>
          </a:p>
          <a:p>
            <a:r>
              <a:rPr sz="1100" b="1">
                <a:solidFill>
                  <a:srgbClr val="1F3864"/>
                </a:solidFill>
              </a:rPr>
              <a:t>Kaynak: </a:t>
            </a:r>
            <a:r>
              <a:rPr sz="1100" i="1">
                <a:solidFill>
                  <a:srgbClr val="404040"/>
                </a:solidFill>
              </a:rPr>
              <a:t>Çağrı işareti bölge değişikliği kuralı.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95959"/>
                </a:solidFill>
              </a:rPr>
              <a:t>İşletme — Soru 74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4008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1460175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1">
                <a:solidFill>
                  <a:srgbClr val="FFFFFF"/>
                </a:solidFill>
              </a:rPr>
              <a:t>Soru 75</a:t>
            </a:r>
            <a:r>
              <a:rPr sz="1400">
                <a:solidFill>
                  <a:srgbClr val="D6E4F0"/>
                </a:solidFill>
              </a:rPr>
              <a:t>   ·   Çağrı İşareti Bölgeleri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60120"/>
            <a:ext cx="5608179" cy="5394960"/>
          </a:xfrm>
          <a:prstGeom prst="rect">
            <a:avLst/>
          </a:prstGeom>
          <a:solidFill>
            <a:srgbClr val="F7F9FB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82880" rIns="182880" rtlCol="0" anchor="ctr"/>
          <a:lstStyle/>
          <a:p>
            <a:pPr algn="ctr">
              <a:spcAft>
                <a:spcPts val="1400"/>
              </a:spcAft>
            </a:pPr>
            <a:r>
              <a:rPr sz="1700" b="1">
                <a:solidFill>
                  <a:srgbClr val="222222"/>
                </a:solidFill>
              </a:rPr>
              <a:t>Amatör bandda dinleme halinde iken karşıdan TA6YCA gibi bir çağrı işareti duyulduğunda bu çağrı işareti hangi ilden yapılmış olabilir?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22222"/>
                </a:solidFill>
              </a:rPr>
              <a:t>a)  Giresun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22222"/>
                </a:solidFill>
              </a:rPr>
              <a:t>b)  Manisa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22222"/>
                </a:solidFill>
              </a:rPr>
              <a:t>c)  Kars</a:t>
            </a:r>
          </a:p>
          <a:p>
            <a:pPr>
              <a:spcAft>
                <a:spcPts val="800"/>
              </a:spcAft>
            </a:pPr>
            <a:r>
              <a:rPr sz="1500" b="1">
                <a:solidFill>
                  <a:srgbClr val="2E7D32"/>
                </a:solidFill>
              </a:rPr>
              <a:t>d)  Yozgat</a:t>
            </a:r>
            <a:r>
              <a:rPr sz="1200" i="1">
                <a:solidFill>
                  <a:srgbClr val="2E7D32"/>
                </a:solidFill>
              </a:rPr>
              <a:t>   ✓ Doğru cevap</a:t>
            </a:r>
          </a:p>
        </p:txBody>
      </p:sp>
      <p:sp>
        <p:nvSpPr>
          <p:cNvPr id="5" name="Rectangle 4"/>
          <p:cNvSpPr/>
          <p:nvPr/>
        </p:nvSpPr>
        <p:spPr>
          <a:xfrm>
            <a:off x="6339699" y="960120"/>
            <a:ext cx="5394796" cy="5394960"/>
          </a:xfrm>
          <a:prstGeom prst="rect">
            <a:avLst/>
          </a:prstGeom>
          <a:solidFill>
            <a:srgbClr val="E2EFDA"/>
          </a:solidFill>
          <a:ln w="9525">
            <a:solidFill>
              <a:srgbClr val="9BC1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82880" rIns="182880" rtlCol="0" anchor="ctr"/>
          <a:lstStyle/>
          <a:p>
            <a:pPr algn="ctr">
              <a:spcAft>
                <a:spcPts val="900"/>
              </a:spcAft>
            </a:pPr>
            <a:r>
              <a:rPr sz="1400" b="1">
                <a:solidFill>
                  <a:srgbClr val="2E7D32"/>
                </a:solidFill>
              </a:rPr>
              <a:t>AÇIKLAMA</a:t>
            </a:r>
          </a:p>
          <a:p>
            <a:pPr>
              <a:spcAft>
                <a:spcPts val="1100"/>
              </a:spcAft>
            </a:pPr>
            <a:r>
              <a:rPr sz="1300">
                <a:solidFill>
                  <a:srgbClr val="222222"/>
                </a:solidFill>
              </a:rPr>
              <a:t>Bölge numarası 6, Orta/Kuzey Anadolu'daki illeri kapsar; bu grupta Yozgat yer alır.</a:t>
            </a:r>
          </a:p>
          <a:p>
            <a:r>
              <a:rPr sz="1100" b="1">
                <a:solidFill>
                  <a:srgbClr val="1F3864"/>
                </a:solidFill>
              </a:rPr>
              <a:t>Kaynak: </a:t>
            </a:r>
            <a:r>
              <a:rPr sz="1100" i="1">
                <a:solidFill>
                  <a:srgbClr val="404040"/>
                </a:solidFill>
              </a:rPr>
              <a:t>Çağrı işareti bölge numaraları listesi.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95959"/>
                </a:solidFill>
              </a:rPr>
              <a:t>İşletme — Soru 75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4008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1460175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1">
                <a:solidFill>
                  <a:srgbClr val="FFFFFF"/>
                </a:solidFill>
              </a:rPr>
              <a:t>Soru 76</a:t>
            </a:r>
            <a:r>
              <a:rPr sz="1400">
                <a:solidFill>
                  <a:srgbClr val="D6E4F0"/>
                </a:solidFill>
              </a:rPr>
              <a:t>   ·   Fonetik Alfabe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60120"/>
            <a:ext cx="5608179" cy="5394960"/>
          </a:xfrm>
          <a:prstGeom prst="rect">
            <a:avLst/>
          </a:prstGeom>
          <a:solidFill>
            <a:srgbClr val="F7F9FB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82880" rIns="182880" rtlCol="0" anchor="ctr"/>
          <a:lstStyle/>
          <a:p>
            <a:pPr algn="ctr">
              <a:spcAft>
                <a:spcPts val="1400"/>
              </a:spcAft>
            </a:pPr>
            <a:r>
              <a:rPr sz="1700" b="1">
                <a:solidFill>
                  <a:srgbClr val="222222"/>
                </a:solidFill>
              </a:rPr>
              <a:t>AFET kelimesinin milli fonetik alfabeye göre hecelenmesi nasıl olur?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22222"/>
                </a:solidFill>
              </a:rPr>
              <a:t>a)  Afyon - Fatsa - Erzurum - Tekirdağ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22222"/>
                </a:solidFill>
              </a:rPr>
              <a:t>b)  Ankara - Fatsa - Erzincan - Tokat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22222"/>
                </a:solidFill>
              </a:rPr>
              <a:t>c)  Amasya - Fatsa - Edirne - Tire</a:t>
            </a:r>
          </a:p>
          <a:p>
            <a:pPr>
              <a:spcAft>
                <a:spcPts val="800"/>
              </a:spcAft>
            </a:pPr>
            <a:r>
              <a:rPr sz="1500" b="1">
                <a:solidFill>
                  <a:srgbClr val="2E7D32"/>
                </a:solidFill>
              </a:rPr>
              <a:t>d)  Ankara - Fatsa - Edirne - Trabzon</a:t>
            </a:r>
            <a:r>
              <a:rPr sz="1200" i="1">
                <a:solidFill>
                  <a:srgbClr val="2E7D32"/>
                </a:solidFill>
              </a:rPr>
              <a:t>   ✓ Doğru cevap</a:t>
            </a:r>
          </a:p>
        </p:txBody>
      </p:sp>
      <p:sp>
        <p:nvSpPr>
          <p:cNvPr id="5" name="Rectangle 4"/>
          <p:cNvSpPr/>
          <p:nvPr/>
        </p:nvSpPr>
        <p:spPr>
          <a:xfrm>
            <a:off x="6339699" y="960120"/>
            <a:ext cx="5394796" cy="5394960"/>
          </a:xfrm>
          <a:prstGeom prst="rect">
            <a:avLst/>
          </a:prstGeom>
          <a:solidFill>
            <a:srgbClr val="E2EFDA"/>
          </a:solidFill>
          <a:ln w="9525">
            <a:solidFill>
              <a:srgbClr val="9BC1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82880" rIns="182880" rtlCol="0" anchor="ctr"/>
          <a:lstStyle/>
          <a:p>
            <a:pPr algn="ctr">
              <a:spcAft>
                <a:spcPts val="900"/>
              </a:spcAft>
            </a:pPr>
            <a:r>
              <a:rPr sz="1400" b="1">
                <a:solidFill>
                  <a:srgbClr val="2E7D32"/>
                </a:solidFill>
              </a:rPr>
              <a:t>AÇIKLAMA</a:t>
            </a:r>
          </a:p>
          <a:p>
            <a:pPr>
              <a:spcAft>
                <a:spcPts val="1100"/>
              </a:spcAft>
            </a:pPr>
            <a:r>
              <a:rPr sz="1300">
                <a:solidFill>
                  <a:srgbClr val="222222"/>
                </a:solidFill>
              </a:rPr>
              <a:t>Ulusal fonetik alfabede: A=Ankara, F=Fatsa, E=Edirne, T=Trabzon.</a:t>
            </a:r>
          </a:p>
          <a:p>
            <a:r>
              <a:rPr sz="1100" b="1">
                <a:solidFill>
                  <a:srgbClr val="1F3864"/>
                </a:solidFill>
              </a:rPr>
              <a:t>Kaynak: </a:t>
            </a:r>
            <a:r>
              <a:rPr sz="1100" i="1">
                <a:solidFill>
                  <a:srgbClr val="404040"/>
                </a:solidFill>
              </a:rPr>
              <a:t>NATO/Uluslararası fonetik alfabe ve KEGM ulusal (il adı) fonetik alfabesi.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95959"/>
                </a:solidFill>
              </a:rPr>
              <a:t>İşletme — Soru 76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4008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1460175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1">
                <a:solidFill>
                  <a:srgbClr val="FFFFFF"/>
                </a:solidFill>
              </a:rPr>
              <a:t>Soru 77</a:t>
            </a:r>
            <a:r>
              <a:rPr sz="1400">
                <a:solidFill>
                  <a:srgbClr val="D6E4F0"/>
                </a:solidFill>
              </a:rPr>
              <a:t>   ·   Genel Bilgi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60120"/>
            <a:ext cx="5608179" cy="5394960"/>
          </a:xfrm>
          <a:prstGeom prst="rect">
            <a:avLst/>
          </a:prstGeom>
          <a:solidFill>
            <a:srgbClr val="F7F9FB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82880" rIns="182880" rtlCol="0" anchor="ctr"/>
          <a:lstStyle/>
          <a:p>
            <a:pPr algn="ctr">
              <a:spcAft>
                <a:spcPts val="1400"/>
              </a:spcAft>
            </a:pPr>
            <a:r>
              <a:rPr sz="1700" b="1">
                <a:solidFill>
                  <a:srgbClr val="222222"/>
                </a:solidFill>
              </a:rPr>
              <a:t>"Uplink" kavramı neyi ifade eder?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22222"/>
                </a:solidFill>
              </a:rPr>
              <a:t>a)  Röle giriş frekansını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22222"/>
                </a:solidFill>
              </a:rPr>
              <a:t>b)  Radyolink giriş frekansını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22222"/>
                </a:solidFill>
              </a:rPr>
              <a:t>c)  Uydudan yere olan frekansı (iniş)</a:t>
            </a:r>
          </a:p>
          <a:p>
            <a:pPr>
              <a:spcAft>
                <a:spcPts val="800"/>
              </a:spcAft>
            </a:pPr>
            <a:r>
              <a:rPr sz="1500" b="1">
                <a:solidFill>
                  <a:srgbClr val="2E7D32"/>
                </a:solidFill>
              </a:rPr>
              <a:t>d)  Yerden uyduya olan frekansı (çıkış)</a:t>
            </a:r>
            <a:r>
              <a:rPr sz="1200" i="1">
                <a:solidFill>
                  <a:srgbClr val="2E7D32"/>
                </a:solidFill>
              </a:rPr>
              <a:t>   ✓ Doğru cevap</a:t>
            </a:r>
          </a:p>
        </p:txBody>
      </p:sp>
      <p:sp>
        <p:nvSpPr>
          <p:cNvPr id="5" name="Rectangle 4"/>
          <p:cNvSpPr/>
          <p:nvPr/>
        </p:nvSpPr>
        <p:spPr>
          <a:xfrm>
            <a:off x="6339699" y="960120"/>
            <a:ext cx="5394796" cy="5394960"/>
          </a:xfrm>
          <a:prstGeom prst="rect">
            <a:avLst/>
          </a:prstGeom>
          <a:solidFill>
            <a:srgbClr val="E2EFDA"/>
          </a:solidFill>
          <a:ln w="9525">
            <a:solidFill>
              <a:srgbClr val="9BC1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82880" rIns="182880" rtlCol="0" anchor="ctr"/>
          <a:lstStyle/>
          <a:p>
            <a:pPr algn="ctr">
              <a:spcAft>
                <a:spcPts val="900"/>
              </a:spcAft>
            </a:pPr>
            <a:r>
              <a:rPr sz="1400" b="1">
                <a:solidFill>
                  <a:srgbClr val="2E7D32"/>
                </a:solidFill>
              </a:rPr>
              <a:t>AÇIKLAMA</a:t>
            </a:r>
          </a:p>
          <a:p>
            <a:pPr>
              <a:spcAft>
                <a:spcPts val="1100"/>
              </a:spcAft>
            </a:pPr>
            <a:r>
              <a:rPr sz="1300">
                <a:solidFill>
                  <a:srgbClr val="222222"/>
                </a:solidFill>
              </a:rPr>
              <a:t>Uplink, yer istasyonundan uyduya giden sinyal yönünü ifade eder; ters yön </a:t>
            </a:r>
            <a:r>
              <a:rPr sz="1300" i="1">
                <a:solidFill>
                  <a:srgbClr val="222222"/>
                </a:solidFill>
              </a:rPr>
              <a:t>(uydudan yere)</a:t>
            </a:r>
            <a:r>
              <a:rPr sz="1300">
                <a:solidFill>
                  <a:srgbClr val="222222"/>
                </a:solidFill>
              </a:rPr>
              <a:t> downlink olarak adlandırılır.</a:t>
            </a:r>
          </a:p>
          <a:p>
            <a:r>
              <a:rPr sz="1100" b="1">
                <a:solidFill>
                  <a:srgbClr val="1F3864"/>
                </a:solidFill>
              </a:rPr>
              <a:t>Kaynak: </a:t>
            </a:r>
            <a:r>
              <a:rPr sz="1100" i="1">
                <a:solidFill>
                  <a:srgbClr val="404040"/>
                </a:solidFill>
              </a:rPr>
              <a:t>Amatör uydu haberleşmesi terminolojisi.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95959"/>
                </a:solidFill>
              </a:rPr>
              <a:t>İşletme — Soru 77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4008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1460175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1">
                <a:solidFill>
                  <a:srgbClr val="FFFFFF"/>
                </a:solidFill>
              </a:rPr>
              <a:t>Soru 78</a:t>
            </a:r>
            <a:r>
              <a:rPr sz="1400">
                <a:solidFill>
                  <a:srgbClr val="D6E4F0"/>
                </a:solidFill>
              </a:rPr>
              <a:t>   ·   Genel Bilgi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60120"/>
            <a:ext cx="5608179" cy="5394960"/>
          </a:xfrm>
          <a:prstGeom prst="rect">
            <a:avLst/>
          </a:prstGeom>
          <a:solidFill>
            <a:srgbClr val="F7F9FB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82880" rIns="182880" rtlCol="0" anchor="ctr"/>
          <a:lstStyle/>
          <a:p>
            <a:pPr algn="ctr">
              <a:spcAft>
                <a:spcPts val="1400"/>
              </a:spcAft>
            </a:pPr>
            <a:r>
              <a:rPr sz="1700" b="1">
                <a:solidFill>
                  <a:srgbClr val="222222"/>
                </a:solidFill>
              </a:rPr>
              <a:t>Aşağıdakilerden hangisi "Radyo yayın enterferansı" anlamına gelir?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22222"/>
                </a:solidFill>
              </a:rPr>
              <a:t>a)  TVI</a:t>
            </a:r>
          </a:p>
          <a:p>
            <a:pPr>
              <a:spcAft>
                <a:spcPts val="800"/>
              </a:spcAft>
            </a:pPr>
            <a:r>
              <a:rPr sz="1500" b="1">
                <a:solidFill>
                  <a:srgbClr val="2E7D32"/>
                </a:solidFill>
              </a:rPr>
              <a:t>b)  BCI</a:t>
            </a:r>
            <a:r>
              <a:rPr sz="1200" i="1">
                <a:solidFill>
                  <a:srgbClr val="2E7D32"/>
                </a:solidFill>
              </a:rPr>
              <a:t>   ✓ Doğru cevap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22222"/>
                </a:solidFill>
              </a:rPr>
              <a:t>c)  RI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22222"/>
                </a:solidFill>
              </a:rPr>
              <a:t>d)  IF</a:t>
            </a:r>
          </a:p>
        </p:txBody>
      </p:sp>
      <p:sp>
        <p:nvSpPr>
          <p:cNvPr id="5" name="Rectangle 4"/>
          <p:cNvSpPr/>
          <p:nvPr/>
        </p:nvSpPr>
        <p:spPr>
          <a:xfrm>
            <a:off x="6339699" y="960120"/>
            <a:ext cx="5394796" cy="5394960"/>
          </a:xfrm>
          <a:prstGeom prst="rect">
            <a:avLst/>
          </a:prstGeom>
          <a:solidFill>
            <a:srgbClr val="E2EFDA"/>
          </a:solidFill>
          <a:ln w="9525">
            <a:solidFill>
              <a:srgbClr val="9BC1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82880" rIns="182880" rtlCol="0" anchor="ctr"/>
          <a:lstStyle/>
          <a:p>
            <a:pPr algn="ctr">
              <a:spcAft>
                <a:spcPts val="900"/>
              </a:spcAft>
            </a:pPr>
            <a:r>
              <a:rPr sz="1400" b="1">
                <a:solidFill>
                  <a:srgbClr val="2E7D32"/>
                </a:solidFill>
              </a:rPr>
              <a:t>AÇIKLAMA</a:t>
            </a:r>
          </a:p>
          <a:p>
            <a:pPr>
              <a:spcAft>
                <a:spcPts val="1100"/>
              </a:spcAft>
            </a:pPr>
            <a:r>
              <a:rPr sz="1300">
                <a:solidFill>
                  <a:srgbClr val="222222"/>
                </a:solidFill>
              </a:rPr>
              <a:t>BCI </a:t>
            </a:r>
            <a:r>
              <a:rPr sz="1300" i="1">
                <a:solidFill>
                  <a:srgbClr val="222222"/>
                </a:solidFill>
              </a:rPr>
              <a:t>(Broadcast Interference)</a:t>
            </a:r>
            <a:r>
              <a:rPr sz="1300">
                <a:solidFill>
                  <a:srgbClr val="222222"/>
                </a:solidFill>
              </a:rPr>
              <a:t>, bir amatör vericinin ticari radyo yayın alıcılarına verdiği girişimi ifade eder </a:t>
            </a:r>
            <a:r>
              <a:rPr sz="1300" i="1">
                <a:solidFill>
                  <a:srgbClr val="222222"/>
                </a:solidFill>
              </a:rPr>
              <a:t>(TVI aynı durumun televizyon karşılığıdır)</a:t>
            </a:r>
            <a:r>
              <a:rPr sz="1300">
                <a:solidFill>
                  <a:srgbClr val="222222"/>
                </a:solidFill>
              </a:rPr>
              <a:t>.</a:t>
            </a:r>
          </a:p>
          <a:p>
            <a:r>
              <a:rPr sz="1100" b="1">
                <a:solidFill>
                  <a:srgbClr val="1F3864"/>
                </a:solidFill>
              </a:rPr>
              <a:t>Kaynak: </a:t>
            </a:r>
            <a:r>
              <a:rPr sz="1100" i="1">
                <a:solidFill>
                  <a:srgbClr val="404040"/>
                </a:solidFill>
              </a:rPr>
              <a:t>RF enterferans terminolojisi.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95959"/>
                </a:solidFill>
              </a:rPr>
              <a:t>İşletme — Soru 78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4008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1460175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1">
                <a:solidFill>
                  <a:srgbClr val="FFFFFF"/>
                </a:solidFill>
              </a:rPr>
              <a:t>Soru 79</a:t>
            </a:r>
            <a:r>
              <a:rPr sz="1400">
                <a:solidFill>
                  <a:srgbClr val="D6E4F0"/>
                </a:solidFill>
              </a:rPr>
              <a:t>   ·   Çağrı Önekleri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60120"/>
            <a:ext cx="5608179" cy="5394960"/>
          </a:xfrm>
          <a:prstGeom prst="rect">
            <a:avLst/>
          </a:prstGeom>
          <a:solidFill>
            <a:srgbClr val="F7F9FB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82880" rIns="182880" rtlCol="0" anchor="ctr"/>
          <a:lstStyle/>
          <a:p>
            <a:pPr algn="ctr">
              <a:spcAft>
                <a:spcPts val="1400"/>
              </a:spcAft>
            </a:pPr>
            <a:r>
              <a:rPr sz="1700" b="1">
                <a:solidFill>
                  <a:srgbClr val="222222"/>
                </a:solidFill>
              </a:rPr>
              <a:t>PY çağrı işareti ön eki aşağıdaki ülkelerden hangisine aittir?</a:t>
            </a:r>
          </a:p>
          <a:p>
            <a:pPr>
              <a:spcAft>
                <a:spcPts val="800"/>
              </a:spcAft>
            </a:pPr>
            <a:r>
              <a:rPr sz="1500" b="1">
                <a:solidFill>
                  <a:srgbClr val="2E7D32"/>
                </a:solidFill>
              </a:rPr>
              <a:t>a)  Brezilya</a:t>
            </a:r>
            <a:r>
              <a:rPr sz="1200" i="1">
                <a:solidFill>
                  <a:srgbClr val="2E7D32"/>
                </a:solidFill>
              </a:rPr>
              <a:t>   ✓ Doğru cevap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22222"/>
                </a:solidFill>
              </a:rPr>
              <a:t>b)  Hollanda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22222"/>
                </a:solidFill>
              </a:rPr>
              <a:t>c)  İsveç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22222"/>
                </a:solidFill>
              </a:rPr>
              <a:t>d)  Almanya</a:t>
            </a:r>
          </a:p>
        </p:txBody>
      </p:sp>
      <p:sp>
        <p:nvSpPr>
          <p:cNvPr id="5" name="Rectangle 4"/>
          <p:cNvSpPr/>
          <p:nvPr/>
        </p:nvSpPr>
        <p:spPr>
          <a:xfrm>
            <a:off x="6339699" y="960120"/>
            <a:ext cx="5394796" cy="5394960"/>
          </a:xfrm>
          <a:prstGeom prst="rect">
            <a:avLst/>
          </a:prstGeom>
          <a:solidFill>
            <a:srgbClr val="E2EFDA"/>
          </a:solidFill>
          <a:ln w="9525">
            <a:solidFill>
              <a:srgbClr val="9BC1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82880" rIns="182880" rtlCol="0" anchor="ctr"/>
          <a:lstStyle/>
          <a:p>
            <a:pPr algn="ctr">
              <a:spcAft>
                <a:spcPts val="900"/>
              </a:spcAft>
            </a:pPr>
            <a:r>
              <a:rPr sz="1400" b="1">
                <a:solidFill>
                  <a:srgbClr val="2E7D32"/>
                </a:solidFill>
              </a:rPr>
              <a:t>AÇIKLAMA</a:t>
            </a:r>
          </a:p>
          <a:p>
            <a:pPr>
              <a:spcAft>
                <a:spcPts val="1100"/>
              </a:spcAft>
            </a:pPr>
            <a:r>
              <a:rPr sz="1300">
                <a:solidFill>
                  <a:srgbClr val="222222"/>
                </a:solidFill>
              </a:rPr>
              <a:t>PY, Brezilya'ya tahsis edilmiş amatör çağrı işareti önekidir.</a:t>
            </a:r>
          </a:p>
          <a:p>
            <a:r>
              <a:rPr sz="1100" b="1">
                <a:solidFill>
                  <a:srgbClr val="1F3864"/>
                </a:solidFill>
              </a:rPr>
              <a:t>Kaynak: </a:t>
            </a:r>
            <a:r>
              <a:rPr sz="1100" i="1">
                <a:solidFill>
                  <a:srgbClr val="404040"/>
                </a:solidFill>
              </a:rPr>
              <a:t>ITU çağrı işareti ön ek tahsis tablosu (ülkelere ayrılan harf blokları).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95959"/>
                </a:solidFill>
              </a:rPr>
              <a:t>İşletme — Soru 79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4008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1460175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1">
                <a:solidFill>
                  <a:srgbClr val="FFFFFF"/>
                </a:solidFill>
              </a:rPr>
              <a:t>Soru 80</a:t>
            </a:r>
            <a:r>
              <a:rPr sz="1400">
                <a:solidFill>
                  <a:srgbClr val="D6E4F0"/>
                </a:solidFill>
              </a:rPr>
              <a:t>   ·   Fonetik Alfabe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60120"/>
            <a:ext cx="5608179" cy="5394960"/>
          </a:xfrm>
          <a:prstGeom prst="rect">
            <a:avLst/>
          </a:prstGeom>
          <a:solidFill>
            <a:srgbClr val="F7F9FB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82880" rIns="182880" rtlCol="0" anchor="ctr"/>
          <a:lstStyle/>
          <a:p>
            <a:pPr algn="ctr">
              <a:spcAft>
                <a:spcPts val="1400"/>
              </a:spcAft>
            </a:pPr>
            <a:r>
              <a:rPr sz="1700" b="1">
                <a:solidFill>
                  <a:srgbClr val="222222"/>
                </a:solidFill>
              </a:rPr>
              <a:t>QSX'in uluslararası fonetik alfabeye göre hecelenmesi nasıldır?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22222"/>
                </a:solidFill>
              </a:rPr>
              <a:t>a)  Quebec - Six - X Ray</a:t>
            </a:r>
          </a:p>
          <a:p>
            <a:pPr>
              <a:spcAft>
                <a:spcPts val="800"/>
              </a:spcAft>
            </a:pPr>
            <a:r>
              <a:rPr sz="1500" b="1">
                <a:solidFill>
                  <a:srgbClr val="2E7D32"/>
                </a:solidFill>
              </a:rPr>
              <a:t>b)  Quebec - Sierra - X Ray</a:t>
            </a:r>
            <a:r>
              <a:rPr sz="1200" i="1">
                <a:solidFill>
                  <a:srgbClr val="2E7D32"/>
                </a:solidFill>
              </a:rPr>
              <a:t>   ✓ Doğru cevap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22222"/>
                </a:solidFill>
              </a:rPr>
              <a:t>c)  Kilo - Sierra - X Ray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22222"/>
                </a:solidFill>
              </a:rPr>
              <a:t>d)  Kilo - Seven - X Ray</a:t>
            </a:r>
          </a:p>
        </p:txBody>
      </p:sp>
      <p:sp>
        <p:nvSpPr>
          <p:cNvPr id="5" name="Rectangle 4"/>
          <p:cNvSpPr/>
          <p:nvPr/>
        </p:nvSpPr>
        <p:spPr>
          <a:xfrm>
            <a:off x="6339699" y="960120"/>
            <a:ext cx="5394796" cy="5394960"/>
          </a:xfrm>
          <a:prstGeom prst="rect">
            <a:avLst/>
          </a:prstGeom>
          <a:solidFill>
            <a:srgbClr val="E2EFDA"/>
          </a:solidFill>
          <a:ln w="9525">
            <a:solidFill>
              <a:srgbClr val="9BC1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82880" rIns="182880" rtlCol="0" anchor="ctr"/>
          <a:lstStyle/>
          <a:p>
            <a:pPr algn="ctr">
              <a:spcAft>
                <a:spcPts val="900"/>
              </a:spcAft>
            </a:pPr>
            <a:r>
              <a:rPr sz="1400" b="1">
                <a:solidFill>
                  <a:srgbClr val="2E7D32"/>
                </a:solidFill>
              </a:rPr>
              <a:t>AÇIKLAMA</a:t>
            </a:r>
          </a:p>
          <a:p>
            <a:pPr>
              <a:spcAft>
                <a:spcPts val="1100"/>
              </a:spcAft>
            </a:pPr>
            <a:r>
              <a:rPr sz="1300">
                <a:solidFill>
                  <a:srgbClr val="222222"/>
                </a:solidFill>
              </a:rPr>
              <a:t>Q=Quebec, S=Sierra, X=X-Ray — uluslararası fonetik alfabedeki karşılıklarıdır.</a:t>
            </a:r>
          </a:p>
          <a:p>
            <a:r>
              <a:rPr sz="1100" b="1">
                <a:solidFill>
                  <a:srgbClr val="1F3864"/>
                </a:solidFill>
              </a:rPr>
              <a:t>Kaynak: </a:t>
            </a:r>
            <a:r>
              <a:rPr sz="1100" i="1">
                <a:solidFill>
                  <a:srgbClr val="404040"/>
                </a:solidFill>
              </a:rPr>
              <a:t>NATO/Uluslararası fonetik alfabe ve KEGM ulusal (il adı) fonetik alfabesi.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95959"/>
                </a:solidFill>
              </a:rPr>
              <a:t>İşletme — Soru 80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4008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1460175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1">
                <a:solidFill>
                  <a:srgbClr val="FFFFFF"/>
                </a:solidFill>
              </a:rPr>
              <a:t>Soru 81</a:t>
            </a:r>
            <a:r>
              <a:rPr sz="1400">
                <a:solidFill>
                  <a:srgbClr val="D6E4F0"/>
                </a:solidFill>
              </a:rPr>
              <a:t>   ·   Q-Kodları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60120"/>
            <a:ext cx="5608179" cy="5394960"/>
          </a:xfrm>
          <a:prstGeom prst="rect">
            <a:avLst/>
          </a:prstGeom>
          <a:solidFill>
            <a:srgbClr val="F7F9FB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82880" rIns="182880" rtlCol="0" anchor="ctr"/>
          <a:lstStyle/>
          <a:p>
            <a:pPr algn="ctr">
              <a:spcAft>
                <a:spcPts val="1400"/>
              </a:spcAft>
            </a:pPr>
            <a:r>
              <a:rPr sz="1700" b="1">
                <a:solidFill>
                  <a:srgbClr val="222222"/>
                </a:solidFill>
              </a:rPr>
              <a:t>QRT kodunun manası nedir?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22222"/>
                </a:solidFill>
              </a:rPr>
              <a:t>a)  Dinlemede kalın veya dinliyorum</a:t>
            </a:r>
          </a:p>
          <a:p>
            <a:pPr>
              <a:spcAft>
                <a:spcPts val="800"/>
              </a:spcAft>
            </a:pPr>
            <a:r>
              <a:rPr sz="1500" b="1">
                <a:solidFill>
                  <a:srgbClr val="2E7D32"/>
                </a:solidFill>
              </a:rPr>
              <a:t>b)  Göndermeyi durdurayım mı</a:t>
            </a:r>
            <a:r>
              <a:rPr sz="1200" i="1">
                <a:solidFill>
                  <a:srgbClr val="2E7D32"/>
                </a:solidFill>
              </a:rPr>
              <a:t>   ✓ Doğru cevap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22222"/>
                </a:solidFill>
              </a:rPr>
              <a:t>c)  Mevkiiniz neresidir?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22222"/>
                </a:solidFill>
              </a:rPr>
              <a:t>d)  Mesajım var</a:t>
            </a:r>
          </a:p>
        </p:txBody>
      </p:sp>
      <p:sp>
        <p:nvSpPr>
          <p:cNvPr id="5" name="Rectangle 4"/>
          <p:cNvSpPr/>
          <p:nvPr/>
        </p:nvSpPr>
        <p:spPr>
          <a:xfrm>
            <a:off x="6339699" y="960120"/>
            <a:ext cx="5394796" cy="5394960"/>
          </a:xfrm>
          <a:prstGeom prst="rect">
            <a:avLst/>
          </a:prstGeom>
          <a:solidFill>
            <a:srgbClr val="E2EFDA"/>
          </a:solidFill>
          <a:ln w="9525">
            <a:solidFill>
              <a:srgbClr val="9BC1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82880" rIns="182880" rtlCol="0" anchor="ctr"/>
          <a:lstStyle/>
          <a:p>
            <a:pPr algn="ctr">
              <a:spcAft>
                <a:spcPts val="900"/>
              </a:spcAft>
            </a:pPr>
            <a:r>
              <a:rPr sz="1400" b="1">
                <a:solidFill>
                  <a:srgbClr val="2E7D32"/>
                </a:solidFill>
              </a:rPr>
              <a:t>AÇIKLAMA</a:t>
            </a:r>
          </a:p>
          <a:p>
            <a:pPr>
              <a:spcAft>
                <a:spcPts val="1100"/>
              </a:spcAft>
            </a:pPr>
            <a:r>
              <a:rPr sz="1300">
                <a:solidFill>
                  <a:srgbClr val="222222"/>
                </a:solidFill>
              </a:rPr>
              <a:t>QRT, göndermeyi durdurmak/kesmek anlamına gelir </a:t>
            </a:r>
            <a:r>
              <a:rPr sz="1300" i="1">
                <a:solidFill>
                  <a:srgbClr val="222222"/>
                </a:solidFill>
              </a:rPr>
              <a:t>(soru olarak sorulduğunda 'durdurayım mı' anlamındadır)</a:t>
            </a:r>
            <a:r>
              <a:rPr sz="1300">
                <a:solidFill>
                  <a:srgbClr val="222222"/>
                </a:solidFill>
              </a:rPr>
              <a:t>.</a:t>
            </a:r>
          </a:p>
          <a:p>
            <a:r>
              <a:rPr sz="1100" b="1">
                <a:solidFill>
                  <a:srgbClr val="1F3864"/>
                </a:solidFill>
              </a:rPr>
              <a:t>Kaynak: </a:t>
            </a:r>
            <a:r>
              <a:rPr sz="1100" i="1">
                <a:solidFill>
                  <a:srgbClr val="404040"/>
                </a:solidFill>
              </a:rPr>
              <a:t>ITU Q-kod tablosu (uluslararası standart kısaltılmış telsiz sinyalleri).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95959"/>
                </a:solidFill>
              </a:rPr>
              <a:t>İşletme — Soru 81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4008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1460175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1">
                <a:solidFill>
                  <a:srgbClr val="FFFFFF"/>
                </a:solidFill>
              </a:rPr>
              <a:t>Soru 82</a:t>
            </a:r>
            <a:r>
              <a:rPr sz="1400">
                <a:solidFill>
                  <a:srgbClr val="D6E4F0"/>
                </a:solidFill>
              </a:rPr>
              <a:t>   ·   Q-Kodları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60120"/>
            <a:ext cx="5608179" cy="5394960"/>
          </a:xfrm>
          <a:prstGeom prst="rect">
            <a:avLst/>
          </a:prstGeom>
          <a:solidFill>
            <a:srgbClr val="F7F9FB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82880" rIns="182880" rtlCol="0" anchor="ctr"/>
          <a:lstStyle/>
          <a:p>
            <a:pPr algn="ctr">
              <a:spcAft>
                <a:spcPts val="1400"/>
              </a:spcAft>
            </a:pPr>
            <a:r>
              <a:rPr sz="1700" b="1">
                <a:solidFill>
                  <a:srgbClr val="222222"/>
                </a:solidFill>
              </a:rPr>
              <a:t>QRZ kodunun manası nedir?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22222"/>
                </a:solidFill>
              </a:rPr>
              <a:t>a)  V serisi göndereyim mi?</a:t>
            </a:r>
          </a:p>
          <a:p>
            <a:pPr>
              <a:spcAft>
                <a:spcPts val="800"/>
              </a:spcAft>
            </a:pPr>
            <a:r>
              <a:rPr sz="1500" b="1">
                <a:solidFill>
                  <a:srgbClr val="2E7D32"/>
                </a:solidFill>
              </a:rPr>
              <a:t>b)  Beni kim çağırıyor?</a:t>
            </a:r>
            <a:r>
              <a:rPr sz="1200" i="1">
                <a:solidFill>
                  <a:srgbClr val="2E7D32"/>
                </a:solidFill>
              </a:rPr>
              <a:t>   ✓ Doğru cevap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22222"/>
                </a:solidFill>
              </a:rPr>
              <a:t>c)  Gücü azaltayım mı?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22222"/>
                </a:solidFill>
              </a:rPr>
              <a:t>d)  Hazırım</a:t>
            </a:r>
          </a:p>
        </p:txBody>
      </p:sp>
      <p:sp>
        <p:nvSpPr>
          <p:cNvPr id="5" name="Rectangle 4"/>
          <p:cNvSpPr/>
          <p:nvPr/>
        </p:nvSpPr>
        <p:spPr>
          <a:xfrm>
            <a:off x="6339699" y="960120"/>
            <a:ext cx="5394796" cy="5394960"/>
          </a:xfrm>
          <a:prstGeom prst="rect">
            <a:avLst/>
          </a:prstGeom>
          <a:solidFill>
            <a:srgbClr val="E2EFDA"/>
          </a:solidFill>
          <a:ln w="9525">
            <a:solidFill>
              <a:srgbClr val="9BC1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82880" rIns="182880" rtlCol="0" anchor="ctr"/>
          <a:lstStyle/>
          <a:p>
            <a:pPr algn="ctr">
              <a:spcAft>
                <a:spcPts val="900"/>
              </a:spcAft>
            </a:pPr>
            <a:r>
              <a:rPr sz="1400" b="1">
                <a:solidFill>
                  <a:srgbClr val="2E7D32"/>
                </a:solidFill>
              </a:rPr>
              <a:t>AÇIKLAMA</a:t>
            </a:r>
          </a:p>
          <a:p>
            <a:pPr>
              <a:spcAft>
                <a:spcPts val="1100"/>
              </a:spcAft>
            </a:pPr>
            <a:r>
              <a:rPr sz="1300">
                <a:solidFill>
                  <a:srgbClr val="222222"/>
                </a:solidFill>
              </a:rPr>
              <a:t>QRZ, 'beni şu an kim çağırıyor?' sorusunu ifade eder — genellikle birden fazla çağrı duyulduğunda kullanılır.</a:t>
            </a:r>
          </a:p>
          <a:p>
            <a:r>
              <a:rPr sz="1100" b="1">
                <a:solidFill>
                  <a:srgbClr val="1F3864"/>
                </a:solidFill>
              </a:rPr>
              <a:t>Kaynak: </a:t>
            </a:r>
            <a:r>
              <a:rPr sz="1100" i="1">
                <a:solidFill>
                  <a:srgbClr val="404040"/>
                </a:solidFill>
              </a:rPr>
              <a:t>ITU Q-kod tablosu (uluslararası standart kısaltılmış telsiz sinyalleri).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95959"/>
                </a:solidFill>
              </a:rPr>
              <a:t>İşletme — Soru 82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4008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1460175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1">
                <a:solidFill>
                  <a:srgbClr val="FFFFFF"/>
                </a:solidFill>
              </a:rPr>
              <a:t>Soru 83</a:t>
            </a:r>
            <a:r>
              <a:rPr sz="1400">
                <a:solidFill>
                  <a:srgbClr val="D6E4F0"/>
                </a:solidFill>
              </a:rPr>
              <a:t>   ·   Genel Bilgi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60120"/>
            <a:ext cx="5608179" cy="5394960"/>
          </a:xfrm>
          <a:prstGeom prst="rect">
            <a:avLst/>
          </a:prstGeom>
          <a:solidFill>
            <a:srgbClr val="F7F9FB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82880" rIns="182880" rtlCol="0" anchor="ctr"/>
          <a:lstStyle/>
          <a:p>
            <a:pPr algn="ctr">
              <a:spcAft>
                <a:spcPts val="1400"/>
              </a:spcAft>
            </a:pPr>
            <a:r>
              <a:rPr sz="1700" b="1">
                <a:solidFill>
                  <a:srgbClr val="222222"/>
                </a:solidFill>
              </a:rPr>
              <a:t>73 kısaltması mors haberleşmesinde hangi anlama gelir?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22222"/>
                </a:solidFill>
              </a:rPr>
              <a:t>a)  Göndermenin tam ve doğru olarak alındığını belirtmek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22222"/>
                </a:solidFill>
              </a:rPr>
              <a:t>b)  CQ genel çağrısı</a:t>
            </a:r>
          </a:p>
          <a:p>
            <a:pPr>
              <a:spcAft>
                <a:spcPts val="800"/>
              </a:spcAft>
            </a:pPr>
            <a:r>
              <a:rPr sz="1500" b="1">
                <a:solidFill>
                  <a:srgbClr val="2E7D32"/>
                </a:solidFill>
              </a:rPr>
              <a:t>c)  Selamlar</a:t>
            </a:r>
            <a:r>
              <a:rPr sz="1200" i="1">
                <a:solidFill>
                  <a:srgbClr val="2E7D32"/>
                </a:solidFill>
              </a:rPr>
              <a:t>   ✓ Doğru cevap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22222"/>
                </a:solidFill>
              </a:rPr>
              <a:t>d)  İstasyonumu kapatıyorum</a:t>
            </a:r>
          </a:p>
        </p:txBody>
      </p:sp>
      <p:sp>
        <p:nvSpPr>
          <p:cNvPr id="5" name="Rectangle 4"/>
          <p:cNvSpPr/>
          <p:nvPr/>
        </p:nvSpPr>
        <p:spPr>
          <a:xfrm>
            <a:off x="6339699" y="960120"/>
            <a:ext cx="5394796" cy="5394960"/>
          </a:xfrm>
          <a:prstGeom prst="rect">
            <a:avLst/>
          </a:prstGeom>
          <a:solidFill>
            <a:srgbClr val="E2EFDA"/>
          </a:solidFill>
          <a:ln w="9525">
            <a:solidFill>
              <a:srgbClr val="9BC1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82880" rIns="182880" rtlCol="0" anchor="ctr"/>
          <a:lstStyle/>
          <a:p>
            <a:pPr algn="ctr">
              <a:spcAft>
                <a:spcPts val="900"/>
              </a:spcAft>
            </a:pPr>
            <a:r>
              <a:rPr sz="1400" b="1">
                <a:solidFill>
                  <a:srgbClr val="2E7D32"/>
                </a:solidFill>
              </a:rPr>
              <a:t>AÇIKLAMA</a:t>
            </a:r>
          </a:p>
          <a:p>
            <a:pPr>
              <a:spcAft>
                <a:spcPts val="1100"/>
              </a:spcAft>
            </a:pPr>
            <a:r>
              <a:rPr sz="1300">
                <a:solidFill>
                  <a:srgbClr val="222222"/>
                </a:solidFill>
              </a:rPr>
              <a:t>73, CW/telsiz kültüründe köklü, evrensel bir 'iyi dilekler / selamlar' ifadesidir; genellikle görüşme sonunda kullanılır.</a:t>
            </a:r>
          </a:p>
          <a:p>
            <a:r>
              <a:rPr sz="1100" b="1">
                <a:solidFill>
                  <a:srgbClr val="1F3864"/>
                </a:solidFill>
              </a:rPr>
              <a:t>Kaynak: </a:t>
            </a:r>
            <a:r>
              <a:rPr sz="1100" i="1">
                <a:solidFill>
                  <a:srgbClr val="404040"/>
                </a:solidFill>
              </a:rPr>
              <a:t>Geleneksel telgraf kısaltmaları.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95959"/>
                </a:solidFill>
              </a:rPr>
              <a:t>İşletme — Soru 83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4008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1460175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1">
                <a:solidFill>
                  <a:srgbClr val="FFFFFF"/>
                </a:solidFill>
              </a:rPr>
              <a:t>Soru 84</a:t>
            </a:r>
            <a:r>
              <a:rPr sz="1400">
                <a:solidFill>
                  <a:srgbClr val="D6E4F0"/>
                </a:solidFill>
              </a:rPr>
              <a:t>   ·   Güç Sınırları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60120"/>
            <a:ext cx="5608179" cy="5394960"/>
          </a:xfrm>
          <a:prstGeom prst="rect">
            <a:avLst/>
          </a:prstGeom>
          <a:solidFill>
            <a:srgbClr val="F7F9FB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82880" rIns="182880" rtlCol="0" anchor="ctr"/>
          <a:lstStyle/>
          <a:p>
            <a:pPr algn="ctr">
              <a:spcAft>
                <a:spcPts val="1400"/>
              </a:spcAft>
            </a:pPr>
            <a:r>
              <a:rPr sz="1700" b="1">
                <a:solidFill>
                  <a:srgbClr val="222222"/>
                </a:solidFill>
              </a:rPr>
              <a:t>10100 - 10150 Khz frekans bandına müsaade edilen azami çıkış gücü (PEP) ne kadardır?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22222"/>
                </a:solidFill>
              </a:rPr>
              <a:t>a)  400 W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22222"/>
                </a:solidFill>
              </a:rPr>
              <a:t>b)  150 W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22222"/>
                </a:solidFill>
              </a:rPr>
              <a:t>c)  100 W</a:t>
            </a:r>
          </a:p>
          <a:p>
            <a:pPr>
              <a:spcAft>
                <a:spcPts val="800"/>
              </a:spcAft>
            </a:pPr>
            <a:r>
              <a:rPr sz="1500" b="1">
                <a:solidFill>
                  <a:srgbClr val="2E7D32"/>
                </a:solidFill>
              </a:rPr>
              <a:t>d)  75 W</a:t>
            </a:r>
            <a:r>
              <a:rPr sz="1200" i="1">
                <a:solidFill>
                  <a:srgbClr val="2E7D32"/>
                </a:solidFill>
              </a:rPr>
              <a:t>   ✓ Doğru cevap</a:t>
            </a:r>
          </a:p>
        </p:txBody>
      </p:sp>
      <p:sp>
        <p:nvSpPr>
          <p:cNvPr id="5" name="Rectangle 4"/>
          <p:cNvSpPr/>
          <p:nvPr/>
        </p:nvSpPr>
        <p:spPr>
          <a:xfrm>
            <a:off x="6339699" y="960120"/>
            <a:ext cx="5394796" cy="5394960"/>
          </a:xfrm>
          <a:prstGeom prst="rect">
            <a:avLst/>
          </a:prstGeom>
          <a:solidFill>
            <a:srgbClr val="E2EFDA"/>
          </a:solidFill>
          <a:ln w="9525">
            <a:solidFill>
              <a:srgbClr val="9BC1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82880" rIns="182880" rtlCol="0" anchor="ctr"/>
          <a:lstStyle/>
          <a:p>
            <a:pPr algn="ctr">
              <a:spcAft>
                <a:spcPts val="900"/>
              </a:spcAft>
            </a:pPr>
            <a:r>
              <a:rPr sz="1400" b="1">
                <a:solidFill>
                  <a:srgbClr val="2E7D32"/>
                </a:solidFill>
              </a:rPr>
              <a:t>AÇIKLAMA</a:t>
            </a:r>
          </a:p>
          <a:p>
            <a:pPr>
              <a:spcAft>
                <a:spcPts val="1100"/>
              </a:spcAft>
            </a:pPr>
            <a:r>
              <a:rPr sz="1300">
                <a:solidFill>
                  <a:srgbClr val="222222"/>
                </a:solidFill>
              </a:rPr>
              <a:t>30 metre </a:t>
            </a:r>
            <a:r>
              <a:rPr sz="1300" i="1">
                <a:solidFill>
                  <a:srgbClr val="222222"/>
                </a:solidFill>
              </a:rPr>
              <a:t>(10.1 MHz)</a:t>
            </a:r>
            <a:r>
              <a:rPr sz="1300">
                <a:solidFill>
                  <a:srgbClr val="222222"/>
                </a:solidFill>
              </a:rPr>
              <a:t> bandında, diğer servislerle paylaşımlı olması nedeniyle amatörlere düşük bir azami çıkış gücü </a:t>
            </a:r>
            <a:r>
              <a:rPr sz="1300" i="1">
                <a:solidFill>
                  <a:srgbClr val="222222"/>
                </a:solidFill>
              </a:rPr>
              <a:t>(PEP — Peak Envelope Power, tepe zarf gücü)</a:t>
            </a:r>
            <a:r>
              <a:rPr sz="1300">
                <a:solidFill>
                  <a:srgbClr val="222222"/>
                </a:solidFill>
              </a:rPr>
              <a:t> sınırı tanınmıştır: 75 W.</a:t>
            </a:r>
          </a:p>
          <a:p>
            <a:r>
              <a:rPr sz="1100" b="1">
                <a:solidFill>
                  <a:srgbClr val="1F3864"/>
                </a:solidFill>
              </a:rPr>
              <a:t>Kaynak: </a:t>
            </a:r>
            <a:r>
              <a:rPr sz="1100" i="1">
                <a:solidFill>
                  <a:srgbClr val="404040"/>
                </a:solidFill>
              </a:rPr>
              <a:t>Özel Telsiz Sistemleri Yönetmeliği EK-4 Tablo-1 (güç sınırları).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95959"/>
                </a:solidFill>
              </a:rPr>
              <a:t>İşletme — Soru 84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772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FFFFFF"/>
                </a:solidFill>
              </a:rPr>
              <a:t>BÖLÜM 8: Çağrı Bölgeleri, Fonetik Hece ve Zaman Hesabı III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911535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300"/>
              </a:spcAft>
            </a:pPr>
            <a:r>
              <a:rPr sz="1700">
                <a:solidFill>
                  <a:srgbClr val="222222"/>
                </a:solidFill>
              </a:rPr>
              <a:t>•  Çağrı işareti öneki ve bölge numarası birlikte okunduğunda, operatörün belge sınıfı ve konumu hakkında bilgi verir.</a:t>
            </a:r>
          </a:p>
          <a:p>
            <a:pPr>
              <a:spcAft>
                <a:spcPts val="1300"/>
              </a:spcAft>
            </a:pPr>
            <a:r>
              <a:rPr sz="1700">
                <a:solidFill>
                  <a:srgbClr val="222222"/>
                </a:solidFill>
              </a:rPr>
              <a:t>•  Fonetik alfabe hecelemesinde her harf/rakam sabit bir karşılığa sahiptir; bu karşılıklar ezbere bilinmelidir.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5623560"/>
            <a:ext cx="10911535" cy="914400"/>
          </a:xfrm>
          <a:prstGeom prst="rect">
            <a:avLst/>
          </a:prstGeom>
          <a:solidFill>
            <a:srgbClr val="D6E4F0"/>
          </a:solidFill>
          <a:ln>
            <a:solidFill>
              <a:srgbClr val="2E75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tlCol="0" anchor="ctr"/>
          <a:lstStyle/>
          <a:p>
            <a:pPr algn="ctr"/>
            <a:r>
              <a:rPr sz="1300" b="1">
                <a:solidFill>
                  <a:srgbClr val="1F3864"/>
                </a:solidFill>
              </a:rPr>
              <a:t>Bu bölümün kaynağı: </a:t>
            </a:r>
            <a:r>
              <a:rPr sz="1300">
                <a:solidFill>
                  <a:srgbClr val="222222"/>
                </a:solidFill>
              </a:rPr>
              <a:t>NATO/Uluslararası fonetik alfabe ve KEGM ulusal (il adı) fonetik alfabesi. Çağrı işareti bölge numaraları listesi.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95959"/>
                </a:solidFill>
              </a:rPr>
              <a:t>İşletme — Bölüm 8 Girişi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4008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1460175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1">
                <a:solidFill>
                  <a:srgbClr val="FFFFFF"/>
                </a:solidFill>
              </a:rPr>
              <a:t>Soru 85</a:t>
            </a:r>
            <a:r>
              <a:rPr sz="1400">
                <a:solidFill>
                  <a:srgbClr val="D6E4F0"/>
                </a:solidFill>
              </a:rPr>
              <a:t>   ·   Çağrı İşareti Bölgeleri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60120"/>
            <a:ext cx="5608179" cy="5394960"/>
          </a:xfrm>
          <a:prstGeom prst="rect">
            <a:avLst/>
          </a:prstGeom>
          <a:solidFill>
            <a:srgbClr val="F7F9FB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82880" rIns="182880" rtlCol="0" anchor="ctr"/>
          <a:lstStyle/>
          <a:p>
            <a:pPr algn="ctr">
              <a:spcAft>
                <a:spcPts val="1400"/>
              </a:spcAft>
            </a:pPr>
            <a:r>
              <a:rPr sz="1700" b="1">
                <a:solidFill>
                  <a:srgbClr val="222222"/>
                </a:solidFill>
              </a:rPr>
              <a:t>Amatör bandda dinleme halinde iken karşıdan TA8UJ gibi bir çağrı işareti duyulduğunda bu çağrı işareti aşağıdaki illerin hangisinden yapılmış olabilir?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22222"/>
                </a:solidFill>
              </a:rPr>
              <a:t>a)  Nevşehir</a:t>
            </a:r>
          </a:p>
          <a:p>
            <a:pPr>
              <a:spcAft>
                <a:spcPts val="800"/>
              </a:spcAft>
            </a:pPr>
            <a:r>
              <a:rPr sz="1500" b="1">
                <a:solidFill>
                  <a:srgbClr val="2E7D32"/>
                </a:solidFill>
              </a:rPr>
              <a:t>b)  Şanlıurfa</a:t>
            </a:r>
            <a:r>
              <a:rPr sz="1200" i="1">
                <a:solidFill>
                  <a:srgbClr val="2E7D32"/>
                </a:solidFill>
              </a:rPr>
              <a:t>   ✓ Doğru cevap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22222"/>
                </a:solidFill>
              </a:rPr>
              <a:t>c)  Kars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22222"/>
                </a:solidFill>
              </a:rPr>
              <a:t>d)  Bursa</a:t>
            </a:r>
          </a:p>
        </p:txBody>
      </p:sp>
      <p:sp>
        <p:nvSpPr>
          <p:cNvPr id="5" name="Rectangle 4"/>
          <p:cNvSpPr/>
          <p:nvPr/>
        </p:nvSpPr>
        <p:spPr>
          <a:xfrm>
            <a:off x="6339699" y="960120"/>
            <a:ext cx="5394796" cy="5394960"/>
          </a:xfrm>
          <a:prstGeom prst="rect">
            <a:avLst/>
          </a:prstGeom>
          <a:solidFill>
            <a:srgbClr val="E2EFDA"/>
          </a:solidFill>
          <a:ln w="9525">
            <a:solidFill>
              <a:srgbClr val="9BC1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82880" rIns="182880" rtlCol="0" anchor="ctr"/>
          <a:lstStyle/>
          <a:p>
            <a:pPr algn="ctr">
              <a:spcAft>
                <a:spcPts val="900"/>
              </a:spcAft>
            </a:pPr>
            <a:r>
              <a:rPr sz="1400" b="1">
                <a:solidFill>
                  <a:srgbClr val="2E7D32"/>
                </a:solidFill>
              </a:rPr>
              <a:t>AÇIKLAMA</a:t>
            </a:r>
          </a:p>
          <a:p>
            <a:pPr>
              <a:spcAft>
                <a:spcPts val="1100"/>
              </a:spcAft>
            </a:pPr>
            <a:r>
              <a:rPr sz="1300">
                <a:solidFill>
                  <a:srgbClr val="222222"/>
                </a:solidFill>
              </a:rPr>
              <a:t>Bölge numarası 8, Güneydoğu Anadolu'nun kuzeyindeki illeri kapsar; bu grupta Şanlıurfa yer alır.</a:t>
            </a:r>
          </a:p>
          <a:p>
            <a:r>
              <a:rPr sz="1100" b="1">
                <a:solidFill>
                  <a:srgbClr val="1F3864"/>
                </a:solidFill>
              </a:rPr>
              <a:t>Kaynak: </a:t>
            </a:r>
            <a:r>
              <a:rPr sz="1100" i="1">
                <a:solidFill>
                  <a:srgbClr val="404040"/>
                </a:solidFill>
              </a:rPr>
              <a:t>Çağrı işareti bölge numaraları listesi.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95959"/>
                </a:solidFill>
              </a:rPr>
              <a:t>İşletme — Soru 85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4008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1460175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1">
                <a:solidFill>
                  <a:srgbClr val="FFFFFF"/>
                </a:solidFill>
              </a:rPr>
              <a:t>Soru 86</a:t>
            </a:r>
            <a:r>
              <a:rPr sz="1400">
                <a:solidFill>
                  <a:srgbClr val="D6E4F0"/>
                </a:solidFill>
              </a:rPr>
              <a:t>   ·   Çağrı İşareti Bölgeleri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60120"/>
            <a:ext cx="5608179" cy="5394960"/>
          </a:xfrm>
          <a:prstGeom prst="rect">
            <a:avLst/>
          </a:prstGeom>
          <a:solidFill>
            <a:srgbClr val="F7F9FB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82880" rIns="182880" rtlCol="0" anchor="ctr"/>
          <a:lstStyle/>
          <a:p>
            <a:pPr algn="ctr">
              <a:spcAft>
                <a:spcPts val="1400"/>
              </a:spcAft>
            </a:pPr>
            <a:r>
              <a:rPr sz="1700" b="1">
                <a:solidFill>
                  <a:srgbClr val="222222"/>
                </a:solidFill>
              </a:rPr>
              <a:t>Amatör bandda dinleme halinde iken karşıdan TB3CCW gibi bir çağrı işareti duyulduğunda bu çağrı işareti aşağıdaki illerin hangisinden yapılmış olabilir?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22222"/>
                </a:solidFill>
              </a:rPr>
              <a:t>a)  Mersin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22222"/>
                </a:solidFill>
              </a:rPr>
              <a:t>b)  Uşak</a:t>
            </a:r>
          </a:p>
          <a:p>
            <a:pPr>
              <a:spcAft>
                <a:spcPts val="800"/>
              </a:spcAft>
            </a:pPr>
            <a:r>
              <a:rPr sz="1500" b="1">
                <a:solidFill>
                  <a:srgbClr val="2E7D32"/>
                </a:solidFill>
              </a:rPr>
              <a:t>c)  Manisa</a:t>
            </a:r>
            <a:r>
              <a:rPr sz="1200" i="1">
                <a:solidFill>
                  <a:srgbClr val="2E7D32"/>
                </a:solidFill>
              </a:rPr>
              <a:t>   ✓ Doğru cevap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22222"/>
                </a:solidFill>
              </a:rPr>
              <a:t>d)  Aydın</a:t>
            </a:r>
          </a:p>
        </p:txBody>
      </p:sp>
      <p:sp>
        <p:nvSpPr>
          <p:cNvPr id="5" name="Rectangle 4"/>
          <p:cNvSpPr/>
          <p:nvPr/>
        </p:nvSpPr>
        <p:spPr>
          <a:xfrm>
            <a:off x="6339699" y="960120"/>
            <a:ext cx="5394796" cy="5394960"/>
          </a:xfrm>
          <a:prstGeom prst="rect">
            <a:avLst/>
          </a:prstGeom>
          <a:solidFill>
            <a:srgbClr val="E2EFDA"/>
          </a:solidFill>
          <a:ln w="9525">
            <a:solidFill>
              <a:srgbClr val="9BC1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82880" rIns="182880" rtlCol="0" anchor="ctr"/>
          <a:lstStyle/>
          <a:p>
            <a:pPr algn="ctr">
              <a:spcAft>
                <a:spcPts val="900"/>
              </a:spcAft>
            </a:pPr>
            <a:r>
              <a:rPr sz="1400" b="1">
                <a:solidFill>
                  <a:srgbClr val="2E7D32"/>
                </a:solidFill>
              </a:rPr>
              <a:t>AÇIKLAMA</a:t>
            </a:r>
          </a:p>
          <a:p>
            <a:pPr>
              <a:spcAft>
                <a:spcPts val="1100"/>
              </a:spcAft>
            </a:pPr>
            <a:r>
              <a:rPr sz="1300">
                <a:solidFill>
                  <a:srgbClr val="222222"/>
                </a:solidFill>
              </a:rPr>
              <a:t>Bölge numarası 3, Ege bölgesindeki illeri kapsar; bu grupta Manisa yer alır. </a:t>
            </a:r>
            <a:r>
              <a:rPr sz="1300" i="1">
                <a:solidFill>
                  <a:srgbClr val="222222"/>
                </a:solidFill>
              </a:rPr>
              <a:t>(Önek TB, B veya C sınıfı belge sahibine aittir.)</a:t>
            </a:r>
          </a:p>
          <a:p>
            <a:r>
              <a:rPr sz="1100" b="1">
                <a:solidFill>
                  <a:srgbClr val="1F3864"/>
                </a:solidFill>
              </a:rPr>
              <a:t>Kaynak: </a:t>
            </a:r>
            <a:r>
              <a:rPr sz="1100" i="1">
                <a:solidFill>
                  <a:srgbClr val="404040"/>
                </a:solidFill>
              </a:rPr>
              <a:t>Çağrı işareti bölge numaraları listesi.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95959"/>
                </a:solidFill>
              </a:rPr>
              <a:t>İşletme — Soru 86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4008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1460175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1">
                <a:solidFill>
                  <a:srgbClr val="FFFFFF"/>
                </a:solidFill>
              </a:rPr>
              <a:t>Soru 87</a:t>
            </a:r>
            <a:r>
              <a:rPr sz="1400">
                <a:solidFill>
                  <a:srgbClr val="D6E4F0"/>
                </a:solidFill>
              </a:rPr>
              <a:t>   ·   Bant Planı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60120"/>
            <a:ext cx="5608179" cy="5394960"/>
          </a:xfrm>
          <a:prstGeom prst="rect">
            <a:avLst/>
          </a:prstGeom>
          <a:solidFill>
            <a:srgbClr val="F7F9FB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82880" rIns="182880" rtlCol="0" anchor="ctr"/>
          <a:lstStyle/>
          <a:p>
            <a:pPr algn="ctr">
              <a:spcAft>
                <a:spcPts val="1400"/>
              </a:spcAft>
            </a:pPr>
            <a:r>
              <a:rPr sz="1700" b="1">
                <a:solidFill>
                  <a:srgbClr val="222222"/>
                </a:solidFill>
              </a:rPr>
              <a:t>Aşağıdaki frekanslardan hangisinde SSB haberleşmesi yapılabilir?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22222"/>
                </a:solidFill>
              </a:rPr>
              <a:t>a)  14010 Khz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22222"/>
                </a:solidFill>
              </a:rPr>
              <a:t>b)  7010 Khz</a:t>
            </a:r>
          </a:p>
          <a:p>
            <a:pPr>
              <a:spcAft>
                <a:spcPts val="800"/>
              </a:spcAft>
            </a:pPr>
            <a:r>
              <a:rPr sz="1500" b="1">
                <a:solidFill>
                  <a:srgbClr val="2E7D32"/>
                </a:solidFill>
              </a:rPr>
              <a:t>c)  14250 Khz</a:t>
            </a:r>
            <a:r>
              <a:rPr sz="1200" i="1">
                <a:solidFill>
                  <a:srgbClr val="2E7D32"/>
                </a:solidFill>
              </a:rPr>
              <a:t>   ✓ Doğru cevap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22222"/>
                </a:solidFill>
              </a:rPr>
              <a:t>d)  21035 Khz</a:t>
            </a:r>
          </a:p>
        </p:txBody>
      </p:sp>
      <p:sp>
        <p:nvSpPr>
          <p:cNvPr id="5" name="Rectangle 4"/>
          <p:cNvSpPr/>
          <p:nvPr/>
        </p:nvSpPr>
        <p:spPr>
          <a:xfrm>
            <a:off x="6339699" y="960120"/>
            <a:ext cx="5394796" cy="5394960"/>
          </a:xfrm>
          <a:prstGeom prst="rect">
            <a:avLst/>
          </a:prstGeom>
          <a:solidFill>
            <a:srgbClr val="E2EFDA"/>
          </a:solidFill>
          <a:ln w="9525">
            <a:solidFill>
              <a:srgbClr val="9BC1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82880" rIns="182880" rtlCol="0" anchor="ctr"/>
          <a:lstStyle/>
          <a:p>
            <a:pPr algn="ctr">
              <a:spcAft>
                <a:spcPts val="900"/>
              </a:spcAft>
            </a:pPr>
            <a:r>
              <a:rPr sz="1400" b="1">
                <a:solidFill>
                  <a:srgbClr val="2E7D32"/>
                </a:solidFill>
              </a:rPr>
              <a:t>AÇIKLAMA</a:t>
            </a:r>
          </a:p>
          <a:p>
            <a:pPr>
              <a:spcAft>
                <a:spcPts val="1100"/>
              </a:spcAft>
            </a:pPr>
            <a:r>
              <a:rPr sz="1300">
                <a:solidFill>
                  <a:srgbClr val="222222"/>
                </a:solidFill>
              </a:rPr>
              <a:t>14250 kHz, 20m bandının SSB </a:t>
            </a:r>
            <a:r>
              <a:rPr sz="1300" i="1">
                <a:solidFill>
                  <a:srgbClr val="222222"/>
                </a:solidFill>
              </a:rPr>
              <a:t>(fone)</a:t>
            </a:r>
            <a:r>
              <a:rPr sz="1300">
                <a:solidFill>
                  <a:srgbClr val="222222"/>
                </a:solidFill>
              </a:rPr>
              <a:t> segmentindedir; diğer seçenekler CW/veri segmentlerindedir.</a:t>
            </a:r>
          </a:p>
          <a:p>
            <a:r>
              <a:rPr sz="1100" b="1">
                <a:solidFill>
                  <a:srgbClr val="1F3864"/>
                </a:solidFill>
              </a:rPr>
              <a:t>Kaynak: </a:t>
            </a:r>
            <a:r>
              <a:rPr sz="1100" i="1">
                <a:solidFill>
                  <a:srgbClr val="404040"/>
                </a:solidFill>
              </a:rPr>
              <a:t>IARU Region-1 amatör bant planı.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95959"/>
                </a:solidFill>
              </a:rPr>
              <a:t>İşletme — Soru 87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4008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1460175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1">
                <a:solidFill>
                  <a:srgbClr val="FFFFFF"/>
                </a:solidFill>
              </a:rPr>
              <a:t>Soru 88</a:t>
            </a:r>
            <a:r>
              <a:rPr sz="1400">
                <a:solidFill>
                  <a:srgbClr val="D6E4F0"/>
                </a:solidFill>
              </a:rPr>
              <a:t>   ·   Bant Planı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60120"/>
            <a:ext cx="5608179" cy="5394960"/>
          </a:xfrm>
          <a:prstGeom prst="rect">
            <a:avLst/>
          </a:prstGeom>
          <a:solidFill>
            <a:srgbClr val="F7F9FB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82880" rIns="182880" rtlCol="0" anchor="ctr"/>
          <a:lstStyle/>
          <a:p>
            <a:pPr algn="ctr">
              <a:spcAft>
                <a:spcPts val="1400"/>
              </a:spcAft>
            </a:pPr>
            <a:r>
              <a:rPr sz="1700" b="1">
                <a:solidFill>
                  <a:srgbClr val="222222"/>
                </a:solidFill>
              </a:rPr>
              <a:t>40 m bandı aşağıdakilerden hangisidir?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22222"/>
                </a:solidFill>
              </a:rPr>
              <a:t>a)  21000 - 21450 Khz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22222"/>
                </a:solidFill>
              </a:rPr>
              <a:t>b)  20 - 21 Ghz</a:t>
            </a:r>
          </a:p>
          <a:p>
            <a:pPr>
              <a:spcAft>
                <a:spcPts val="800"/>
              </a:spcAft>
            </a:pPr>
            <a:r>
              <a:rPr sz="1500" b="1">
                <a:solidFill>
                  <a:srgbClr val="2E7D32"/>
                </a:solidFill>
              </a:rPr>
              <a:t>c)  7000 - 7100 Khz</a:t>
            </a:r>
            <a:r>
              <a:rPr sz="1200" i="1">
                <a:solidFill>
                  <a:srgbClr val="2E7D32"/>
                </a:solidFill>
              </a:rPr>
              <a:t>   ✓ Doğru cevap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22222"/>
                </a:solidFill>
              </a:rPr>
              <a:t>d)  14000 - 14350 Khz</a:t>
            </a:r>
          </a:p>
        </p:txBody>
      </p:sp>
      <p:sp>
        <p:nvSpPr>
          <p:cNvPr id="5" name="Rectangle 4"/>
          <p:cNvSpPr/>
          <p:nvPr/>
        </p:nvSpPr>
        <p:spPr>
          <a:xfrm>
            <a:off x="6339699" y="960120"/>
            <a:ext cx="5394796" cy="5394960"/>
          </a:xfrm>
          <a:prstGeom prst="rect">
            <a:avLst/>
          </a:prstGeom>
          <a:solidFill>
            <a:srgbClr val="E2EFDA"/>
          </a:solidFill>
          <a:ln w="9525">
            <a:solidFill>
              <a:srgbClr val="9BC1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82880" rIns="182880" rtlCol="0" anchor="ctr"/>
          <a:lstStyle/>
          <a:p>
            <a:pPr algn="ctr">
              <a:spcAft>
                <a:spcPts val="900"/>
              </a:spcAft>
            </a:pPr>
            <a:r>
              <a:rPr sz="1400" b="1">
                <a:solidFill>
                  <a:srgbClr val="2E7D32"/>
                </a:solidFill>
              </a:rPr>
              <a:t>AÇIKLAMA</a:t>
            </a:r>
          </a:p>
          <a:p>
            <a:pPr>
              <a:spcAft>
                <a:spcPts val="1100"/>
              </a:spcAft>
            </a:pPr>
            <a:r>
              <a:rPr sz="1300">
                <a:solidFill>
                  <a:srgbClr val="222222"/>
                </a:solidFill>
              </a:rPr>
              <a:t>40 metre bandı 7000-7100 kHz aralığındadır.</a:t>
            </a:r>
          </a:p>
          <a:p>
            <a:r>
              <a:rPr sz="1100" b="1">
                <a:solidFill>
                  <a:srgbClr val="1F3864"/>
                </a:solidFill>
              </a:rPr>
              <a:t>Kaynak: </a:t>
            </a:r>
            <a:r>
              <a:rPr sz="1100" i="1">
                <a:solidFill>
                  <a:srgbClr val="404040"/>
                </a:solidFill>
              </a:rPr>
              <a:t>IARU Region-1 amatör bant planı.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95959"/>
                </a:solidFill>
              </a:rPr>
              <a:t>İşletme — Soru 88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4008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1460175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1">
                <a:solidFill>
                  <a:srgbClr val="FFFFFF"/>
                </a:solidFill>
              </a:rPr>
              <a:t>Soru 89</a:t>
            </a:r>
            <a:r>
              <a:rPr sz="1400">
                <a:solidFill>
                  <a:srgbClr val="D6E4F0"/>
                </a:solidFill>
              </a:rPr>
              <a:t>   ·   Çağrı İşareti Bölgeleri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60120"/>
            <a:ext cx="5608179" cy="5394960"/>
          </a:xfrm>
          <a:prstGeom prst="rect">
            <a:avLst/>
          </a:prstGeom>
          <a:solidFill>
            <a:srgbClr val="F7F9FB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82880" rIns="182880" rtlCol="0" anchor="ctr"/>
          <a:lstStyle/>
          <a:p>
            <a:pPr algn="ctr">
              <a:spcAft>
                <a:spcPts val="1400"/>
              </a:spcAft>
            </a:pPr>
            <a:r>
              <a:rPr sz="1700" b="1">
                <a:solidFill>
                  <a:srgbClr val="222222"/>
                </a:solidFill>
              </a:rPr>
              <a:t>TA2KA çağrı işaretinin özelliği nedir?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22222"/>
                </a:solidFill>
              </a:rPr>
              <a:t>a)  2. Bölgede bulunan bir amatöre ait istasyondur</a:t>
            </a:r>
          </a:p>
          <a:p>
            <a:pPr>
              <a:spcAft>
                <a:spcPts val="800"/>
              </a:spcAft>
            </a:pPr>
            <a:r>
              <a:rPr sz="1500" b="1">
                <a:solidFill>
                  <a:srgbClr val="2E7D32"/>
                </a:solidFill>
              </a:rPr>
              <a:t>b)  Dernek istasyonudur</a:t>
            </a:r>
            <a:r>
              <a:rPr sz="1200" i="1">
                <a:solidFill>
                  <a:srgbClr val="2E7D32"/>
                </a:solidFill>
              </a:rPr>
              <a:t>   ✓ Doğru cevap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22222"/>
                </a:solidFill>
              </a:rPr>
              <a:t>c)  Eğitim ve öğretim kuruluşlarına ait istasyondur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22222"/>
                </a:solidFill>
              </a:rPr>
              <a:t>d)  2.bölgede geçici olarak çalışan bir istasyondur</a:t>
            </a:r>
          </a:p>
        </p:txBody>
      </p:sp>
      <p:sp>
        <p:nvSpPr>
          <p:cNvPr id="5" name="Rectangle 4"/>
          <p:cNvSpPr/>
          <p:nvPr/>
        </p:nvSpPr>
        <p:spPr>
          <a:xfrm>
            <a:off x="6339699" y="960120"/>
            <a:ext cx="5394796" cy="5394960"/>
          </a:xfrm>
          <a:prstGeom prst="rect">
            <a:avLst/>
          </a:prstGeom>
          <a:solidFill>
            <a:srgbClr val="FCE4D6"/>
          </a:solidFill>
          <a:ln w="9525">
            <a:solidFill>
              <a:srgbClr val="E09A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82880" rIns="182880" rtlCol="0" anchor="ctr"/>
          <a:lstStyle/>
          <a:p>
            <a:pPr algn="ctr">
              <a:spcAft>
                <a:spcPts val="900"/>
              </a:spcAft>
            </a:pPr>
            <a:r>
              <a:rPr sz="1400" b="1">
                <a:solidFill>
                  <a:srgbClr val="C05000"/>
                </a:solidFill>
              </a:rPr>
              <a:t>AÇIKLAMA</a:t>
            </a:r>
          </a:p>
          <a:p>
            <a:pPr>
              <a:spcAft>
                <a:spcPts val="1100"/>
              </a:spcAft>
            </a:pPr>
            <a:r>
              <a:rPr sz="1250" b="0" i="0">
                <a:solidFill>
                  <a:srgbClr val="222222"/>
                </a:solidFill>
              </a:rPr>
              <a:t>Çağrı işareti ön ek, bölge numarası ve son ekten oluşur. TA ön eki A sınıfı belgeye sahip gerçek kişilere, YM ön eki ise organizasyonlara </a:t>
            </a:r>
            <a:r>
              <a:rPr sz="1250" b="0" i="1">
                <a:solidFill>
                  <a:srgbClr val="222222"/>
                </a:solidFill>
              </a:rPr>
              <a:t>(dernek, okul, izcilik kuruluşu vb.)</a:t>
            </a:r>
            <a:r>
              <a:rPr sz="1250" b="0" i="0">
                <a:solidFill>
                  <a:srgbClr val="222222"/>
                </a:solidFill>
              </a:rPr>
              <a:t> tahsis edilir; dernek son eki K harfiyle başlar. Buna göre TA2KA, 2. bölgedeki bir amatöre ait istasyondur — yani şık </a:t>
            </a:r>
            <a:r>
              <a:rPr sz="1250" b="0" i="1">
                <a:solidFill>
                  <a:srgbClr val="222222"/>
                </a:solidFill>
              </a:rPr>
              <a:t>(a)</a:t>
            </a:r>
            <a:r>
              <a:rPr sz="1250" b="0" i="0">
                <a:solidFill>
                  <a:srgbClr val="222222"/>
                </a:solidFill>
              </a:rPr>
              <a:t>.</a:t>
            </a:r>
          </a:p>
          <a:p>
            <a:pPr>
              <a:spcAft>
                <a:spcPts val="1100"/>
              </a:spcAft>
            </a:pPr>
            <a:r>
              <a:rPr sz="1100" b="1">
                <a:solidFill>
                  <a:srgbClr val="C05000"/>
                </a:solidFill>
              </a:rPr>
              <a:t>DİKKAT — Resmî cevap anahtarı (b) “Dernek istasyonudur” şıkkını işaretlemiştir; bu, 2011 öncesi uygulamadır. 20/2/2011 tarihli değişiklikle (RG 27852) organizasyonlara YM ön eki verilmiş, bir dernek istasyonu YM2KA biçimine gelmiştir. Geçici Madde 2 ve 3 uyarınca uygun olmayan çağrı işaretleri 1/3/2012'de resen iptal edilmiş sayılır. Gerçek sınavda bu soru resmî anahtara göre (b) olarak değerlendirilebilir.</a:t>
            </a:r>
          </a:p>
          <a:p>
            <a:r>
              <a:rPr sz="1100" b="1">
                <a:solidFill>
                  <a:srgbClr val="1F3864"/>
                </a:solidFill>
              </a:rPr>
              <a:t>Kaynak: </a:t>
            </a:r>
            <a:r>
              <a:rPr sz="1100" i="1">
                <a:solidFill>
                  <a:srgbClr val="404040"/>
                </a:solidFill>
              </a:rPr>
              <a:t>KEGM Sınav ve Belgelendirme Yönetmeliği (RG 27482) Madde 6/2 ve 6/4; RG 27852 değişikliği.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95959"/>
                </a:solidFill>
              </a:rPr>
              <a:t>İşletme — Soru 89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4008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1460175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1">
                <a:solidFill>
                  <a:srgbClr val="FFFFFF"/>
                </a:solidFill>
              </a:rPr>
              <a:t>Soru 90</a:t>
            </a:r>
            <a:r>
              <a:rPr sz="1400">
                <a:solidFill>
                  <a:srgbClr val="D6E4F0"/>
                </a:solidFill>
              </a:rPr>
              <a:t>   ·   Fonetik Alfabe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60120"/>
            <a:ext cx="5608179" cy="5394960"/>
          </a:xfrm>
          <a:prstGeom prst="rect">
            <a:avLst/>
          </a:prstGeom>
          <a:solidFill>
            <a:srgbClr val="F7F9FB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82880" rIns="182880" rtlCol="0" anchor="ctr"/>
          <a:lstStyle/>
          <a:p>
            <a:pPr algn="ctr">
              <a:spcAft>
                <a:spcPts val="1400"/>
              </a:spcAft>
            </a:pPr>
            <a:r>
              <a:rPr sz="1700" b="1">
                <a:solidFill>
                  <a:srgbClr val="222222"/>
                </a:solidFill>
              </a:rPr>
              <a:t>TA5ED nin milli fonetik alfabeye göre hecelenmesi nasıldır?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22222"/>
                </a:solidFill>
              </a:rPr>
              <a:t>a)  Trabzon - Afyon - Beş - Edirne - Diyarbakır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22222"/>
                </a:solidFill>
              </a:rPr>
              <a:t>b)  Tekirdağ - Ankara - Beş - Edirne - Denizli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22222"/>
                </a:solidFill>
              </a:rPr>
              <a:t>c)  Trabzon - Ankara - Beş - Erzurum - Düzce</a:t>
            </a:r>
          </a:p>
          <a:p>
            <a:pPr>
              <a:spcAft>
                <a:spcPts val="800"/>
              </a:spcAft>
            </a:pPr>
            <a:r>
              <a:rPr sz="1500" b="1">
                <a:solidFill>
                  <a:srgbClr val="2E7D32"/>
                </a:solidFill>
              </a:rPr>
              <a:t>d)  Trabzon - Ankara - Beş - Edirne - Denizli</a:t>
            </a:r>
            <a:r>
              <a:rPr sz="1200" i="1">
                <a:solidFill>
                  <a:srgbClr val="2E7D32"/>
                </a:solidFill>
              </a:rPr>
              <a:t>   ✓ Doğru cevap</a:t>
            </a:r>
          </a:p>
        </p:txBody>
      </p:sp>
      <p:sp>
        <p:nvSpPr>
          <p:cNvPr id="5" name="Rectangle 4"/>
          <p:cNvSpPr/>
          <p:nvPr/>
        </p:nvSpPr>
        <p:spPr>
          <a:xfrm>
            <a:off x="6339699" y="960120"/>
            <a:ext cx="5394796" cy="5394960"/>
          </a:xfrm>
          <a:prstGeom prst="rect">
            <a:avLst/>
          </a:prstGeom>
          <a:solidFill>
            <a:srgbClr val="E2EFDA"/>
          </a:solidFill>
          <a:ln w="9525">
            <a:solidFill>
              <a:srgbClr val="9BC1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82880" rIns="182880" rtlCol="0" anchor="ctr"/>
          <a:lstStyle/>
          <a:p>
            <a:pPr algn="ctr">
              <a:spcAft>
                <a:spcPts val="900"/>
              </a:spcAft>
            </a:pPr>
            <a:r>
              <a:rPr sz="1400" b="1">
                <a:solidFill>
                  <a:srgbClr val="2E7D32"/>
                </a:solidFill>
              </a:rPr>
              <a:t>AÇIKLAMA</a:t>
            </a:r>
          </a:p>
          <a:p>
            <a:pPr>
              <a:spcAft>
                <a:spcPts val="1100"/>
              </a:spcAft>
            </a:pPr>
            <a:r>
              <a:rPr sz="1300">
                <a:solidFill>
                  <a:srgbClr val="222222"/>
                </a:solidFill>
              </a:rPr>
              <a:t>Ulusal fonetik alfabede: T=Trabzon, A=Ankara, 5=Beş, E=Edirne, D=Denizli.</a:t>
            </a:r>
          </a:p>
          <a:p>
            <a:r>
              <a:rPr sz="1100" b="1">
                <a:solidFill>
                  <a:srgbClr val="1F3864"/>
                </a:solidFill>
              </a:rPr>
              <a:t>Kaynak: </a:t>
            </a:r>
            <a:r>
              <a:rPr sz="1100" i="1">
                <a:solidFill>
                  <a:srgbClr val="404040"/>
                </a:solidFill>
              </a:rPr>
              <a:t>NATO/Uluslararası fonetik alfabe ve KEGM ulusal (il adı) fonetik alfabesi.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95959"/>
                </a:solidFill>
              </a:rPr>
              <a:t>İşletme — Soru 90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4008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1460175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1">
                <a:solidFill>
                  <a:srgbClr val="FFFFFF"/>
                </a:solidFill>
              </a:rPr>
              <a:t>Soru 91</a:t>
            </a:r>
            <a:r>
              <a:rPr sz="1400">
                <a:solidFill>
                  <a:srgbClr val="D6E4F0"/>
                </a:solidFill>
              </a:rPr>
              <a:t>   ·   Çağrı Önekleri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60120"/>
            <a:ext cx="5608179" cy="5394960"/>
          </a:xfrm>
          <a:prstGeom prst="rect">
            <a:avLst/>
          </a:prstGeom>
          <a:solidFill>
            <a:srgbClr val="F7F9FB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82880" rIns="182880" rtlCol="0" anchor="ctr"/>
          <a:lstStyle/>
          <a:p>
            <a:pPr algn="ctr">
              <a:spcAft>
                <a:spcPts val="1400"/>
              </a:spcAft>
            </a:pPr>
            <a:r>
              <a:rPr sz="1700" b="1">
                <a:solidFill>
                  <a:srgbClr val="222222"/>
                </a:solidFill>
              </a:rPr>
              <a:t>LA çağrı işareti ön eki hangi ülkeye aittir?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22222"/>
                </a:solidFill>
              </a:rPr>
              <a:t>a)  Hollanda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22222"/>
                </a:solidFill>
              </a:rPr>
              <a:t>b)  Haiti</a:t>
            </a:r>
          </a:p>
          <a:p>
            <a:pPr>
              <a:spcAft>
                <a:spcPts val="800"/>
              </a:spcAft>
            </a:pPr>
            <a:r>
              <a:rPr sz="1500" b="1">
                <a:solidFill>
                  <a:srgbClr val="2E7D32"/>
                </a:solidFill>
              </a:rPr>
              <a:t>c)  Norveç</a:t>
            </a:r>
            <a:r>
              <a:rPr sz="1200" i="1">
                <a:solidFill>
                  <a:srgbClr val="2E7D32"/>
                </a:solidFill>
              </a:rPr>
              <a:t>   ✓ Doğru cevap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22222"/>
                </a:solidFill>
              </a:rPr>
              <a:t>d)  Lübnan</a:t>
            </a:r>
          </a:p>
        </p:txBody>
      </p:sp>
      <p:sp>
        <p:nvSpPr>
          <p:cNvPr id="5" name="Rectangle 4"/>
          <p:cNvSpPr/>
          <p:nvPr/>
        </p:nvSpPr>
        <p:spPr>
          <a:xfrm>
            <a:off x="6339699" y="960120"/>
            <a:ext cx="5394796" cy="5394960"/>
          </a:xfrm>
          <a:prstGeom prst="rect">
            <a:avLst/>
          </a:prstGeom>
          <a:solidFill>
            <a:srgbClr val="E2EFDA"/>
          </a:solidFill>
          <a:ln w="9525">
            <a:solidFill>
              <a:srgbClr val="9BC1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82880" rIns="182880" rtlCol="0" anchor="ctr"/>
          <a:lstStyle/>
          <a:p>
            <a:pPr algn="ctr">
              <a:spcAft>
                <a:spcPts val="900"/>
              </a:spcAft>
            </a:pPr>
            <a:r>
              <a:rPr sz="1400" b="1">
                <a:solidFill>
                  <a:srgbClr val="2E7D32"/>
                </a:solidFill>
              </a:rPr>
              <a:t>AÇIKLAMA</a:t>
            </a:r>
          </a:p>
          <a:p>
            <a:pPr>
              <a:spcAft>
                <a:spcPts val="1100"/>
              </a:spcAft>
            </a:pPr>
            <a:r>
              <a:rPr sz="1300">
                <a:solidFill>
                  <a:srgbClr val="222222"/>
                </a:solidFill>
              </a:rPr>
              <a:t>LA, Norveç'e tahsis edilmiş amatör çağrı işareti önekidir.</a:t>
            </a:r>
          </a:p>
          <a:p>
            <a:r>
              <a:rPr sz="1100" b="1">
                <a:solidFill>
                  <a:srgbClr val="1F3864"/>
                </a:solidFill>
              </a:rPr>
              <a:t>Kaynak: </a:t>
            </a:r>
            <a:r>
              <a:rPr sz="1100" i="1">
                <a:solidFill>
                  <a:srgbClr val="404040"/>
                </a:solidFill>
              </a:rPr>
              <a:t>ITU çağrı işareti ön ek tahsis tablosu (ülkelere ayrılan harf blokları).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95959"/>
                </a:solidFill>
              </a:rPr>
              <a:t>İşletme — Soru 91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4008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1460175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1">
                <a:solidFill>
                  <a:srgbClr val="FFFFFF"/>
                </a:solidFill>
              </a:rPr>
              <a:t>Soru 92</a:t>
            </a:r>
            <a:r>
              <a:rPr sz="1400">
                <a:solidFill>
                  <a:srgbClr val="D6E4F0"/>
                </a:solidFill>
              </a:rPr>
              <a:t>   ·   Çağrı Önekleri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60120"/>
            <a:ext cx="5608179" cy="5394960"/>
          </a:xfrm>
          <a:prstGeom prst="rect">
            <a:avLst/>
          </a:prstGeom>
          <a:solidFill>
            <a:srgbClr val="F7F9FB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82880" rIns="182880" rtlCol="0" anchor="ctr"/>
          <a:lstStyle/>
          <a:p>
            <a:pPr algn="ctr">
              <a:spcAft>
                <a:spcPts val="1400"/>
              </a:spcAft>
            </a:pPr>
            <a:r>
              <a:rPr sz="1700" b="1">
                <a:solidFill>
                  <a:srgbClr val="222222"/>
                </a:solidFill>
              </a:rPr>
              <a:t>Aşağıdaki çağrı işareti ön eklerinden hangisi İspanya'ya aittir?</a:t>
            </a:r>
          </a:p>
          <a:p>
            <a:pPr>
              <a:spcAft>
                <a:spcPts val="800"/>
              </a:spcAft>
            </a:pPr>
            <a:r>
              <a:rPr sz="1500" b="1">
                <a:solidFill>
                  <a:srgbClr val="2E7D32"/>
                </a:solidFill>
              </a:rPr>
              <a:t>a)  EA</a:t>
            </a:r>
            <a:r>
              <a:rPr sz="1200" i="1">
                <a:solidFill>
                  <a:srgbClr val="2E7D32"/>
                </a:solidFill>
              </a:rPr>
              <a:t>   ✓ Doğru cevap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22222"/>
                </a:solidFill>
              </a:rPr>
              <a:t>b)  EP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22222"/>
                </a:solidFill>
              </a:rPr>
              <a:t>c)  ON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22222"/>
                </a:solidFill>
              </a:rPr>
              <a:t>d)  SU</a:t>
            </a:r>
          </a:p>
        </p:txBody>
      </p:sp>
      <p:sp>
        <p:nvSpPr>
          <p:cNvPr id="5" name="Rectangle 4"/>
          <p:cNvSpPr/>
          <p:nvPr/>
        </p:nvSpPr>
        <p:spPr>
          <a:xfrm>
            <a:off x="6339699" y="960120"/>
            <a:ext cx="5394796" cy="5394960"/>
          </a:xfrm>
          <a:prstGeom prst="rect">
            <a:avLst/>
          </a:prstGeom>
          <a:solidFill>
            <a:srgbClr val="E2EFDA"/>
          </a:solidFill>
          <a:ln w="9525">
            <a:solidFill>
              <a:srgbClr val="9BC1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82880" rIns="182880" rtlCol="0" anchor="ctr"/>
          <a:lstStyle/>
          <a:p>
            <a:pPr algn="ctr">
              <a:spcAft>
                <a:spcPts val="900"/>
              </a:spcAft>
            </a:pPr>
            <a:r>
              <a:rPr sz="1400" b="1">
                <a:solidFill>
                  <a:srgbClr val="2E7D32"/>
                </a:solidFill>
              </a:rPr>
              <a:t>AÇIKLAMA</a:t>
            </a:r>
          </a:p>
          <a:p>
            <a:pPr>
              <a:spcAft>
                <a:spcPts val="1100"/>
              </a:spcAft>
            </a:pPr>
            <a:r>
              <a:rPr sz="1300">
                <a:solidFill>
                  <a:srgbClr val="222222"/>
                </a:solidFill>
              </a:rPr>
              <a:t>EA, İspanya'ya tahsis edilmiş amatör çağrı işareti önekidir </a:t>
            </a:r>
            <a:r>
              <a:rPr sz="1300" i="1">
                <a:solidFill>
                  <a:srgbClr val="222222"/>
                </a:solidFill>
              </a:rPr>
              <a:t>(EP İran'a, ON Belçika'ya, SU Mısır'a aittir)</a:t>
            </a:r>
            <a:r>
              <a:rPr sz="1300">
                <a:solidFill>
                  <a:srgbClr val="222222"/>
                </a:solidFill>
              </a:rPr>
              <a:t>.</a:t>
            </a:r>
          </a:p>
          <a:p>
            <a:r>
              <a:rPr sz="1100" b="1">
                <a:solidFill>
                  <a:srgbClr val="1F3864"/>
                </a:solidFill>
              </a:rPr>
              <a:t>Kaynak: </a:t>
            </a:r>
            <a:r>
              <a:rPr sz="1100" i="1">
                <a:solidFill>
                  <a:srgbClr val="404040"/>
                </a:solidFill>
              </a:rPr>
              <a:t>ITU çağrı işareti ön ek tahsis tablosu (ülkelere ayrılan harf blokları).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95959"/>
                </a:solidFill>
              </a:rPr>
              <a:t>İşletme — Soru 92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4008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1460175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1">
                <a:solidFill>
                  <a:srgbClr val="FFFFFF"/>
                </a:solidFill>
              </a:rPr>
              <a:t>Soru 93</a:t>
            </a:r>
            <a:r>
              <a:rPr sz="1400">
                <a:solidFill>
                  <a:srgbClr val="D6E4F0"/>
                </a:solidFill>
              </a:rPr>
              <a:t>   ·   Fonetik Alfabe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60120"/>
            <a:ext cx="5608179" cy="5394960"/>
          </a:xfrm>
          <a:prstGeom prst="rect">
            <a:avLst/>
          </a:prstGeom>
          <a:solidFill>
            <a:srgbClr val="F7F9FB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82880" rIns="182880" rtlCol="0" anchor="ctr"/>
          <a:lstStyle/>
          <a:p>
            <a:pPr algn="ctr">
              <a:spcAft>
                <a:spcPts val="1400"/>
              </a:spcAft>
            </a:pPr>
            <a:r>
              <a:rPr sz="1700" b="1">
                <a:solidFill>
                  <a:srgbClr val="222222"/>
                </a:solidFill>
              </a:rPr>
              <a:t>BTK'nın uluslararası fonetik alfabeye göre hecelenmesi nasıldır?</a:t>
            </a:r>
          </a:p>
          <a:p>
            <a:pPr>
              <a:spcAft>
                <a:spcPts val="800"/>
              </a:spcAft>
            </a:pPr>
            <a:r>
              <a:rPr sz="1500" b="1">
                <a:solidFill>
                  <a:srgbClr val="2E7D32"/>
                </a:solidFill>
              </a:rPr>
              <a:t>a)  Bravo - Tango - Kilo</a:t>
            </a:r>
            <a:r>
              <a:rPr sz="1200" i="1">
                <a:solidFill>
                  <a:srgbClr val="2E7D32"/>
                </a:solidFill>
              </a:rPr>
              <a:t>   ✓ Doğru cevap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22222"/>
                </a:solidFill>
              </a:rPr>
              <a:t>b)  Bravo - Tango - Kilowat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22222"/>
                </a:solidFill>
              </a:rPr>
              <a:t>c)  Bravo - Toronto - Kilo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22222"/>
                </a:solidFill>
              </a:rPr>
              <a:t>d)  Bravo - Tango - Golf - Mike</a:t>
            </a:r>
          </a:p>
        </p:txBody>
      </p:sp>
      <p:sp>
        <p:nvSpPr>
          <p:cNvPr id="5" name="Rectangle 4"/>
          <p:cNvSpPr/>
          <p:nvPr/>
        </p:nvSpPr>
        <p:spPr>
          <a:xfrm>
            <a:off x="6339699" y="960120"/>
            <a:ext cx="5394796" cy="5394960"/>
          </a:xfrm>
          <a:prstGeom prst="rect">
            <a:avLst/>
          </a:prstGeom>
          <a:solidFill>
            <a:srgbClr val="E2EFDA"/>
          </a:solidFill>
          <a:ln w="9525">
            <a:solidFill>
              <a:srgbClr val="9BC1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82880" rIns="182880" rtlCol="0" anchor="ctr"/>
          <a:lstStyle/>
          <a:p>
            <a:pPr algn="ctr">
              <a:spcAft>
                <a:spcPts val="900"/>
              </a:spcAft>
            </a:pPr>
            <a:r>
              <a:rPr sz="1400" b="1">
                <a:solidFill>
                  <a:srgbClr val="2E7D32"/>
                </a:solidFill>
              </a:rPr>
              <a:t>AÇIKLAMA</a:t>
            </a:r>
          </a:p>
          <a:p>
            <a:pPr>
              <a:spcAft>
                <a:spcPts val="1100"/>
              </a:spcAft>
            </a:pPr>
            <a:r>
              <a:rPr sz="1300">
                <a:solidFill>
                  <a:srgbClr val="222222"/>
                </a:solidFill>
              </a:rPr>
              <a:t>B=Bravo, T=Tango, K=Kilo — uluslararası fonetik alfabedeki karşılıklarıdır.</a:t>
            </a:r>
          </a:p>
          <a:p>
            <a:r>
              <a:rPr sz="1100" b="1">
                <a:solidFill>
                  <a:srgbClr val="1F3864"/>
                </a:solidFill>
              </a:rPr>
              <a:t>Kaynak: </a:t>
            </a:r>
            <a:r>
              <a:rPr sz="1100" i="1">
                <a:solidFill>
                  <a:srgbClr val="404040"/>
                </a:solidFill>
              </a:rPr>
              <a:t>NATO/Uluslararası fonetik alfabe ve KEGM ulusal (il adı) fonetik alfabesi.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95959"/>
                </a:solidFill>
              </a:rPr>
              <a:t>İşletme — Soru 93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4008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1460175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1">
                <a:solidFill>
                  <a:srgbClr val="FFFFFF"/>
                </a:solidFill>
              </a:rPr>
              <a:t>Soru 94</a:t>
            </a:r>
            <a:r>
              <a:rPr sz="1400">
                <a:solidFill>
                  <a:srgbClr val="D6E4F0"/>
                </a:solidFill>
              </a:rPr>
              <a:t>   ·   Genel Bilgi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60120"/>
            <a:ext cx="5608179" cy="5394960"/>
          </a:xfrm>
          <a:prstGeom prst="rect">
            <a:avLst/>
          </a:prstGeom>
          <a:solidFill>
            <a:srgbClr val="F7F9FB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82880" rIns="182880" rtlCol="0" anchor="ctr"/>
          <a:lstStyle/>
          <a:p>
            <a:pPr algn="ctr">
              <a:spcAft>
                <a:spcPts val="1400"/>
              </a:spcAft>
            </a:pPr>
            <a:r>
              <a:rPr sz="1700" b="1">
                <a:solidFill>
                  <a:srgbClr val="222222"/>
                </a:solidFill>
              </a:rPr>
              <a:t>İki istasyon arasında gönderilen test mesajlarının başına ve sonuna aşağıdaki kelimelerden hangisi ilave edilmelidir?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22222"/>
                </a:solidFill>
              </a:rPr>
              <a:t>a)  Eğitim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22222"/>
                </a:solidFill>
              </a:rPr>
              <a:t>b)  Deneme</a:t>
            </a:r>
          </a:p>
          <a:p>
            <a:pPr>
              <a:spcAft>
                <a:spcPts val="800"/>
              </a:spcAft>
            </a:pPr>
            <a:r>
              <a:rPr sz="1500" b="1">
                <a:solidFill>
                  <a:srgbClr val="2E7D32"/>
                </a:solidFill>
              </a:rPr>
              <a:t>c)  Test</a:t>
            </a:r>
            <a:r>
              <a:rPr sz="1200" i="1">
                <a:solidFill>
                  <a:srgbClr val="2E7D32"/>
                </a:solidFill>
              </a:rPr>
              <a:t>   ✓ Doğru cevap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22222"/>
                </a:solidFill>
              </a:rPr>
              <a:t>d)  Tatbikat</a:t>
            </a:r>
          </a:p>
        </p:txBody>
      </p:sp>
      <p:sp>
        <p:nvSpPr>
          <p:cNvPr id="5" name="Rectangle 4"/>
          <p:cNvSpPr/>
          <p:nvPr/>
        </p:nvSpPr>
        <p:spPr>
          <a:xfrm>
            <a:off x="6339699" y="960120"/>
            <a:ext cx="5394796" cy="5394960"/>
          </a:xfrm>
          <a:prstGeom prst="rect">
            <a:avLst/>
          </a:prstGeom>
          <a:solidFill>
            <a:srgbClr val="E2EFDA"/>
          </a:solidFill>
          <a:ln w="9525">
            <a:solidFill>
              <a:srgbClr val="9BC1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82880" rIns="182880" rtlCol="0" anchor="ctr"/>
          <a:lstStyle/>
          <a:p>
            <a:pPr algn="ctr">
              <a:spcAft>
                <a:spcPts val="900"/>
              </a:spcAft>
            </a:pPr>
            <a:r>
              <a:rPr sz="1400" b="1">
                <a:solidFill>
                  <a:srgbClr val="2E7D32"/>
                </a:solidFill>
              </a:rPr>
              <a:t>AÇIKLAMA</a:t>
            </a:r>
          </a:p>
          <a:p>
            <a:pPr>
              <a:spcAft>
                <a:spcPts val="1100"/>
              </a:spcAft>
            </a:pPr>
            <a:r>
              <a:rPr sz="1300">
                <a:solidFill>
                  <a:srgbClr val="222222"/>
                </a:solidFill>
              </a:rPr>
              <a:t>Bir test mesajının gerçek bir haberleşme/acil durum çağrısı ile karıştırılmaması için başına ve sonuna açıkça "TEST" ibaresi eklenir.</a:t>
            </a:r>
          </a:p>
          <a:p>
            <a:r>
              <a:rPr sz="1100" b="1">
                <a:solidFill>
                  <a:srgbClr val="1F3864"/>
                </a:solidFill>
              </a:rPr>
              <a:t>Kaynak: </a:t>
            </a:r>
            <a:r>
              <a:rPr sz="1100" i="1">
                <a:solidFill>
                  <a:srgbClr val="404040"/>
                </a:solidFill>
              </a:rPr>
              <a:t>Genel amatör telsiz işletme adabı.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95959"/>
                </a:solidFill>
              </a:rPr>
              <a:t>İşletme — Soru 94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4008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1460175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1">
                <a:solidFill>
                  <a:srgbClr val="FFFFFF"/>
                </a:solidFill>
              </a:rPr>
              <a:t>Soru 95</a:t>
            </a:r>
            <a:r>
              <a:rPr sz="1400">
                <a:solidFill>
                  <a:srgbClr val="D6E4F0"/>
                </a:solidFill>
              </a:rPr>
              <a:t>   ·   Acil Durum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60120"/>
            <a:ext cx="5608179" cy="5394960"/>
          </a:xfrm>
          <a:prstGeom prst="rect">
            <a:avLst/>
          </a:prstGeom>
          <a:solidFill>
            <a:srgbClr val="F7F9FB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82880" rIns="182880" rtlCol="0" anchor="ctr"/>
          <a:lstStyle/>
          <a:p>
            <a:pPr algn="ctr">
              <a:spcAft>
                <a:spcPts val="1400"/>
              </a:spcAft>
            </a:pPr>
            <a:r>
              <a:rPr sz="1700" b="1">
                <a:solidFill>
                  <a:srgbClr val="222222"/>
                </a:solidFill>
              </a:rPr>
              <a:t>Amatör istasyonunuzu bir "SOS" veya "MAYDAY" sinyali göndermek için ne zaman kullanabilirsiniz?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22222"/>
                </a:solidFill>
              </a:rPr>
              <a:t>a)  Sadece denizde bir gemiden iletim yapıyorken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22222"/>
                </a:solidFill>
              </a:rPr>
              <a:t>b)  Sadece bir saatin 15. ve 30. Dakikalarında</a:t>
            </a:r>
          </a:p>
          <a:p>
            <a:pPr>
              <a:spcAft>
                <a:spcPts val="800"/>
              </a:spcAft>
            </a:pPr>
            <a:r>
              <a:rPr sz="1500" b="1">
                <a:solidFill>
                  <a:srgbClr val="2E7D32"/>
                </a:solidFill>
              </a:rPr>
              <a:t>c)  İnsan yaşamına ve mala mevcut bir tehdit olması durumunda</a:t>
            </a:r>
            <a:r>
              <a:rPr sz="1200" i="1">
                <a:solidFill>
                  <a:srgbClr val="2E7D32"/>
                </a:solidFill>
              </a:rPr>
              <a:t>   ✓ Doğru cevap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22222"/>
                </a:solidFill>
              </a:rPr>
              <a:t>d)  Ulusal Meteoroloji Dairesi bir meteoroloji uyarısı açıkladığı zaman</a:t>
            </a:r>
          </a:p>
        </p:txBody>
      </p:sp>
      <p:sp>
        <p:nvSpPr>
          <p:cNvPr id="5" name="Rectangle 4"/>
          <p:cNvSpPr/>
          <p:nvPr/>
        </p:nvSpPr>
        <p:spPr>
          <a:xfrm>
            <a:off x="6339699" y="960120"/>
            <a:ext cx="5394796" cy="5394960"/>
          </a:xfrm>
          <a:prstGeom prst="rect">
            <a:avLst/>
          </a:prstGeom>
          <a:solidFill>
            <a:srgbClr val="E2EFDA"/>
          </a:solidFill>
          <a:ln w="9525">
            <a:solidFill>
              <a:srgbClr val="9BC1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82880" rIns="182880" rtlCol="0" anchor="ctr"/>
          <a:lstStyle/>
          <a:p>
            <a:pPr algn="ctr">
              <a:spcAft>
                <a:spcPts val="900"/>
              </a:spcAft>
            </a:pPr>
            <a:r>
              <a:rPr sz="1400" b="1">
                <a:solidFill>
                  <a:srgbClr val="2E7D32"/>
                </a:solidFill>
              </a:rPr>
              <a:t>AÇIKLAMA</a:t>
            </a:r>
          </a:p>
          <a:p>
            <a:pPr>
              <a:spcAft>
                <a:spcPts val="1100"/>
              </a:spcAft>
            </a:pPr>
            <a:r>
              <a:rPr sz="1300">
                <a:solidFill>
                  <a:srgbClr val="222222"/>
                </a:solidFill>
              </a:rPr>
              <a:t>Tehlike sinyalleri </a:t>
            </a:r>
            <a:r>
              <a:rPr sz="1300" i="1">
                <a:solidFill>
                  <a:srgbClr val="222222"/>
                </a:solidFill>
              </a:rPr>
              <a:t>(SOS/MAYDAY)</a:t>
            </a:r>
            <a:r>
              <a:rPr sz="1300">
                <a:solidFill>
                  <a:srgbClr val="222222"/>
                </a:solidFill>
              </a:rPr>
              <a:t>, sadece gerçek bir can veya mal güvenliği tehlikesi olduğunda kullanılır — deniz/hava aracı sınırlaması veya belirli saat dilimi kuralı yoktur.</a:t>
            </a:r>
          </a:p>
          <a:p>
            <a:r>
              <a:rPr sz="1100" b="1">
                <a:solidFill>
                  <a:srgbClr val="1F3864"/>
                </a:solidFill>
              </a:rPr>
              <a:t>Kaynak: </a:t>
            </a:r>
            <a:r>
              <a:rPr sz="1100" i="1">
                <a:solidFill>
                  <a:srgbClr val="404040"/>
                </a:solidFill>
              </a:rPr>
              <a:t>ITU acil durum işletme kuralları.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95959"/>
                </a:solidFill>
              </a:rPr>
              <a:t>İşletme — Soru 95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4008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1460175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1">
                <a:solidFill>
                  <a:srgbClr val="FFFFFF"/>
                </a:solidFill>
              </a:rPr>
              <a:t>Soru 96</a:t>
            </a:r>
            <a:r>
              <a:rPr sz="1400">
                <a:solidFill>
                  <a:srgbClr val="D6E4F0"/>
                </a:solidFill>
              </a:rPr>
              <a:t>   ·   Genel Bilgi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60120"/>
            <a:ext cx="5608179" cy="5394960"/>
          </a:xfrm>
          <a:prstGeom prst="rect">
            <a:avLst/>
          </a:prstGeom>
          <a:solidFill>
            <a:srgbClr val="F7F9FB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82880" rIns="182880" rtlCol="0" anchor="ctr"/>
          <a:lstStyle/>
          <a:p>
            <a:pPr algn="ctr">
              <a:spcAft>
                <a:spcPts val="1400"/>
              </a:spcAft>
            </a:pPr>
            <a:r>
              <a:rPr sz="1700" b="1">
                <a:solidFill>
                  <a:srgbClr val="222222"/>
                </a:solidFill>
              </a:rPr>
              <a:t>Aşağıdakilerden hangisi "selamlar" anlamına gelmektedir?</a:t>
            </a:r>
          </a:p>
          <a:p>
            <a:pPr>
              <a:spcAft>
                <a:spcPts val="800"/>
              </a:spcAft>
            </a:pPr>
            <a:r>
              <a:rPr sz="1500" b="1">
                <a:solidFill>
                  <a:srgbClr val="2E7D32"/>
                </a:solidFill>
              </a:rPr>
              <a:t>a)  73</a:t>
            </a:r>
            <a:r>
              <a:rPr sz="1200" i="1">
                <a:solidFill>
                  <a:srgbClr val="2E7D32"/>
                </a:solidFill>
              </a:rPr>
              <a:t>   ✓ Doğru cevap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22222"/>
                </a:solidFill>
              </a:rPr>
              <a:t>b)  88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22222"/>
                </a:solidFill>
              </a:rPr>
              <a:t>c)  66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22222"/>
                </a:solidFill>
              </a:rPr>
              <a:t>d)  55</a:t>
            </a:r>
          </a:p>
        </p:txBody>
      </p:sp>
      <p:sp>
        <p:nvSpPr>
          <p:cNvPr id="5" name="Rectangle 4"/>
          <p:cNvSpPr/>
          <p:nvPr/>
        </p:nvSpPr>
        <p:spPr>
          <a:xfrm>
            <a:off x="6339699" y="960120"/>
            <a:ext cx="5394796" cy="5394960"/>
          </a:xfrm>
          <a:prstGeom prst="rect">
            <a:avLst/>
          </a:prstGeom>
          <a:solidFill>
            <a:srgbClr val="E2EFDA"/>
          </a:solidFill>
          <a:ln w="9525">
            <a:solidFill>
              <a:srgbClr val="9BC1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82880" rIns="182880" rtlCol="0" anchor="ctr"/>
          <a:lstStyle/>
          <a:p>
            <a:pPr algn="ctr">
              <a:spcAft>
                <a:spcPts val="900"/>
              </a:spcAft>
            </a:pPr>
            <a:r>
              <a:rPr sz="1400" b="1">
                <a:solidFill>
                  <a:srgbClr val="2E7D32"/>
                </a:solidFill>
              </a:rPr>
              <a:t>AÇIKLAMA</a:t>
            </a:r>
          </a:p>
          <a:p>
            <a:pPr>
              <a:spcAft>
                <a:spcPts val="1100"/>
              </a:spcAft>
            </a:pPr>
            <a:r>
              <a:rPr sz="1300">
                <a:solidFill>
                  <a:srgbClr val="222222"/>
                </a:solidFill>
              </a:rPr>
              <a:t>73, geleneksel olarak 'en iyi dilekler / selamlar' anlamına gelir </a:t>
            </a:r>
            <a:r>
              <a:rPr sz="1300" i="1">
                <a:solidFill>
                  <a:srgbClr val="222222"/>
                </a:solidFill>
              </a:rPr>
              <a:t>(88 ise 'sevgiler ve öpücükler' anlamındadır, genellikle YL/XYL — kadın operatörlerle ilgili bağlamda kullanılır)</a:t>
            </a:r>
            <a:r>
              <a:rPr sz="1300">
                <a:solidFill>
                  <a:srgbClr val="222222"/>
                </a:solidFill>
              </a:rPr>
              <a:t>.</a:t>
            </a:r>
          </a:p>
          <a:p>
            <a:r>
              <a:rPr sz="1100" b="1">
                <a:solidFill>
                  <a:srgbClr val="1F3864"/>
                </a:solidFill>
              </a:rPr>
              <a:t>Kaynak: </a:t>
            </a:r>
            <a:r>
              <a:rPr sz="1100" i="1">
                <a:solidFill>
                  <a:srgbClr val="404040"/>
                </a:solidFill>
              </a:rPr>
              <a:t>Geleneksel telgraf kısaltmaları.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95959"/>
                </a:solidFill>
              </a:rPr>
              <a:t>İşletme — Soru 96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4008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1460175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1">
                <a:solidFill>
                  <a:srgbClr val="FFFFFF"/>
                </a:solidFill>
              </a:rPr>
              <a:t>Soru 97</a:t>
            </a:r>
            <a:r>
              <a:rPr sz="1400">
                <a:solidFill>
                  <a:srgbClr val="D6E4F0"/>
                </a:solidFill>
              </a:rPr>
              <a:t>   ·   Zaman Hesabı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60120"/>
            <a:ext cx="5608179" cy="5394960"/>
          </a:xfrm>
          <a:prstGeom prst="rect">
            <a:avLst/>
          </a:prstGeom>
          <a:solidFill>
            <a:srgbClr val="F7F9FB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82880" rIns="182880" rtlCol="0" anchor="ctr"/>
          <a:lstStyle/>
          <a:p>
            <a:pPr algn="ctr">
              <a:spcAft>
                <a:spcPts val="1400"/>
              </a:spcAft>
            </a:pPr>
            <a:r>
              <a:rPr sz="1700" b="1">
                <a:solidFill>
                  <a:srgbClr val="222222"/>
                </a:solidFill>
              </a:rPr>
              <a:t>Greenwich'de 20 Ekim saat 23:00 iken 25 derece doğu boylamında tarih ve saat kaçtır?</a:t>
            </a:r>
          </a:p>
          <a:p>
            <a:pPr>
              <a:spcAft>
                <a:spcPts val="800"/>
              </a:spcAft>
            </a:pPr>
            <a:r>
              <a:rPr sz="1500" b="1">
                <a:solidFill>
                  <a:srgbClr val="2E7D32"/>
                </a:solidFill>
              </a:rPr>
              <a:t>a)  21 Ekim saat 00:40</a:t>
            </a:r>
            <a:r>
              <a:rPr sz="1200" i="1">
                <a:solidFill>
                  <a:srgbClr val="2E7D32"/>
                </a:solidFill>
              </a:rPr>
              <a:t>   ✓ Doğru cevap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22222"/>
                </a:solidFill>
              </a:rPr>
              <a:t>b)  20 Ekim saat 21:10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22222"/>
                </a:solidFill>
              </a:rPr>
              <a:t>c)  20 Ekim saat 00:40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22222"/>
                </a:solidFill>
              </a:rPr>
              <a:t>d)  21 Ekim saat 11:10</a:t>
            </a:r>
          </a:p>
        </p:txBody>
      </p:sp>
      <p:sp>
        <p:nvSpPr>
          <p:cNvPr id="5" name="Rectangle 4"/>
          <p:cNvSpPr/>
          <p:nvPr/>
        </p:nvSpPr>
        <p:spPr>
          <a:xfrm>
            <a:off x="6339699" y="960120"/>
            <a:ext cx="5394796" cy="5394960"/>
          </a:xfrm>
          <a:prstGeom prst="rect">
            <a:avLst/>
          </a:prstGeom>
          <a:solidFill>
            <a:srgbClr val="E2EFDA"/>
          </a:solidFill>
          <a:ln w="9525">
            <a:solidFill>
              <a:srgbClr val="9BC1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82880" rIns="182880" rtlCol="0" anchor="ctr"/>
          <a:lstStyle/>
          <a:p>
            <a:pPr algn="ctr">
              <a:spcAft>
                <a:spcPts val="900"/>
              </a:spcAft>
            </a:pPr>
            <a:r>
              <a:rPr sz="1400" b="1">
                <a:solidFill>
                  <a:srgbClr val="2E7D32"/>
                </a:solidFill>
              </a:rPr>
              <a:t>AÇIKLAMA</a:t>
            </a:r>
          </a:p>
          <a:p>
            <a:pPr>
              <a:spcAft>
                <a:spcPts val="1100"/>
              </a:spcAft>
            </a:pPr>
            <a:r>
              <a:rPr sz="1300">
                <a:solidFill>
                  <a:srgbClr val="222222"/>
                </a:solidFill>
              </a:rPr>
              <a:t>25° doğu = 25/15 = 1 saat 40 dakika ileri. 23:00 + 1:40 = 00:40, gün bir ileri geçer: 21 Ekim, 00:40.</a:t>
            </a:r>
          </a:p>
          <a:p>
            <a:r>
              <a:rPr sz="1100" b="1">
                <a:solidFill>
                  <a:srgbClr val="1F3864"/>
                </a:solidFill>
              </a:rPr>
              <a:t>Kaynak: </a:t>
            </a:r>
            <a:r>
              <a:rPr sz="1100" i="1">
                <a:solidFill>
                  <a:srgbClr val="404040"/>
                </a:solidFill>
              </a:rPr>
              <a:t>Boylam-saat dönüşümü.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95959"/>
                </a:solidFill>
              </a:rPr>
              <a:t>İşletme — Soru 97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772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FFFFFF"/>
                </a:solidFill>
              </a:rPr>
              <a:t>BÖLÜM 9: Log Defteri, Q-Kodları ve Fonetik Hece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911535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300"/>
              </a:spcAft>
            </a:pPr>
            <a:r>
              <a:rPr sz="1700">
                <a:solidFill>
                  <a:srgbClr val="222222"/>
                </a:solidFill>
              </a:rPr>
              <a:t>•  Haberleşme kayıt defterinde </a:t>
            </a:r>
            <a:r>
              <a:rPr sz="1700" i="1">
                <a:solidFill>
                  <a:srgbClr val="222222"/>
                </a:solidFill>
              </a:rPr>
              <a:t>(log book)</a:t>
            </a:r>
            <a:r>
              <a:rPr sz="1700">
                <a:solidFill>
                  <a:srgbClr val="222222"/>
                </a:solidFill>
              </a:rPr>
              <a:t> tutulması gereken bilgiler bellidir; her ayrıntı zorunlu değildir.</a:t>
            </a:r>
          </a:p>
          <a:p>
            <a:pPr>
              <a:spcAft>
                <a:spcPts val="1300"/>
              </a:spcAft>
            </a:pPr>
            <a:r>
              <a:rPr sz="1700">
                <a:solidFill>
                  <a:srgbClr val="222222"/>
                </a:solidFill>
              </a:rPr>
              <a:t>•  Amatör telsizcilikte şifreli </a:t>
            </a:r>
            <a:r>
              <a:rPr sz="1700" i="1">
                <a:solidFill>
                  <a:srgbClr val="222222"/>
                </a:solidFill>
              </a:rPr>
              <a:t>(anlamı gizleyen)</a:t>
            </a:r>
            <a:r>
              <a:rPr sz="1700">
                <a:solidFill>
                  <a:srgbClr val="222222"/>
                </a:solidFill>
              </a:rPr>
              <a:t> haberleşme kural olarak yasaktır.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5623560"/>
            <a:ext cx="10911535" cy="914400"/>
          </a:xfrm>
          <a:prstGeom prst="rect">
            <a:avLst/>
          </a:prstGeom>
          <a:solidFill>
            <a:srgbClr val="D6E4F0"/>
          </a:solidFill>
          <a:ln>
            <a:solidFill>
              <a:srgbClr val="2E75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tlCol="0" anchor="ctr"/>
          <a:lstStyle/>
          <a:p>
            <a:pPr algn="ctr"/>
            <a:r>
              <a:rPr sz="1300" b="1">
                <a:solidFill>
                  <a:srgbClr val="1F3864"/>
                </a:solidFill>
              </a:rPr>
              <a:t>Bu bölümün kaynağı: </a:t>
            </a:r>
            <a:r>
              <a:rPr sz="1300">
                <a:solidFill>
                  <a:srgbClr val="222222"/>
                </a:solidFill>
              </a:rPr>
              <a:t>ITU Q-kod tablosu (uluslararası standart kısaltılmış telsiz sinyalleri). NATO/Uluslararası fonetik alfabe ve KEGM ulusal (il adı) fonetik alfabesi.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95959"/>
                </a:solidFill>
              </a:rPr>
              <a:t>İşletme — Bölüm 9 Girişi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4008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1460175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1">
                <a:solidFill>
                  <a:srgbClr val="FFFFFF"/>
                </a:solidFill>
              </a:rPr>
              <a:t>Soru 98</a:t>
            </a:r>
            <a:r>
              <a:rPr sz="1400">
                <a:solidFill>
                  <a:srgbClr val="D6E4F0"/>
                </a:solidFill>
              </a:rPr>
              <a:t>   ·   Log Defteri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60120"/>
            <a:ext cx="5608179" cy="5394960"/>
          </a:xfrm>
          <a:prstGeom prst="rect">
            <a:avLst/>
          </a:prstGeom>
          <a:solidFill>
            <a:srgbClr val="F7F9FB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82880" rIns="182880" rtlCol="0" anchor="ctr"/>
          <a:lstStyle/>
          <a:p>
            <a:pPr algn="ctr">
              <a:spcAft>
                <a:spcPts val="1400"/>
              </a:spcAft>
            </a:pPr>
            <a:r>
              <a:rPr sz="1700" b="1">
                <a:solidFill>
                  <a:srgbClr val="222222"/>
                </a:solidFill>
              </a:rPr>
              <a:t>Amatör telsiz istasyonunda bulunan mesaj kayıt defterinde bulunması gerek olmayan bilgi aşağıdakilerden hangisidir?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22222"/>
                </a:solidFill>
              </a:rPr>
              <a:t>a)  Haberleşme tarihi ve UTC olarak zaman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22222"/>
                </a:solidFill>
              </a:rPr>
              <a:t>b)  Haberleşme istasyonunun çağrı adı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22222"/>
                </a:solidFill>
              </a:rPr>
              <a:t>c)  Haberleşmenin frekansı</a:t>
            </a:r>
          </a:p>
          <a:p>
            <a:pPr>
              <a:spcAft>
                <a:spcPts val="800"/>
              </a:spcAft>
            </a:pPr>
            <a:r>
              <a:rPr sz="1500" b="1">
                <a:solidFill>
                  <a:srgbClr val="2E7D32"/>
                </a:solidFill>
              </a:rPr>
              <a:t>d)  Kullanılan antenin cinsi</a:t>
            </a:r>
            <a:r>
              <a:rPr sz="1200" i="1">
                <a:solidFill>
                  <a:srgbClr val="2E7D32"/>
                </a:solidFill>
              </a:rPr>
              <a:t>   ✓ Doğru cevap</a:t>
            </a:r>
          </a:p>
        </p:txBody>
      </p:sp>
      <p:sp>
        <p:nvSpPr>
          <p:cNvPr id="5" name="Rectangle 4"/>
          <p:cNvSpPr/>
          <p:nvPr/>
        </p:nvSpPr>
        <p:spPr>
          <a:xfrm>
            <a:off x="6339699" y="960120"/>
            <a:ext cx="5394796" cy="5394960"/>
          </a:xfrm>
          <a:prstGeom prst="rect">
            <a:avLst/>
          </a:prstGeom>
          <a:solidFill>
            <a:srgbClr val="E2EFDA"/>
          </a:solidFill>
          <a:ln w="9525">
            <a:solidFill>
              <a:srgbClr val="9BC1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82880" rIns="182880" rtlCol="0" anchor="ctr"/>
          <a:lstStyle/>
          <a:p>
            <a:pPr algn="ctr">
              <a:spcAft>
                <a:spcPts val="900"/>
              </a:spcAft>
            </a:pPr>
            <a:r>
              <a:rPr sz="1400" b="1">
                <a:solidFill>
                  <a:srgbClr val="2E7D32"/>
                </a:solidFill>
              </a:rPr>
              <a:t>AÇIKLAMA</a:t>
            </a:r>
          </a:p>
          <a:p>
            <a:pPr>
              <a:spcAft>
                <a:spcPts val="1100"/>
              </a:spcAft>
            </a:pPr>
            <a:r>
              <a:rPr sz="1300">
                <a:solidFill>
                  <a:srgbClr val="222222"/>
                </a:solidFill>
              </a:rPr>
              <a:t>Log defterinde tarih/saat, karşı istasyonun çağrı işareti ve çalışılan frekans temel zorunlu bilgilerdir; kullanılan anten türü kayıt zorunluluğu taşımaz </a:t>
            </a:r>
            <a:r>
              <a:rPr sz="1300" i="1">
                <a:solidFill>
                  <a:srgbClr val="222222"/>
                </a:solidFill>
              </a:rPr>
              <a:t>(isteğe bağlı not olabilir)</a:t>
            </a:r>
            <a:r>
              <a:rPr sz="1300">
                <a:solidFill>
                  <a:srgbClr val="222222"/>
                </a:solidFill>
              </a:rPr>
              <a:t>.</a:t>
            </a:r>
          </a:p>
          <a:p>
            <a:r>
              <a:rPr sz="1100" b="1">
                <a:solidFill>
                  <a:srgbClr val="1F3864"/>
                </a:solidFill>
              </a:rPr>
              <a:t>Kaynak: </a:t>
            </a:r>
            <a:r>
              <a:rPr sz="1100" i="1">
                <a:solidFill>
                  <a:srgbClr val="404040"/>
                </a:solidFill>
              </a:rPr>
              <a:t>Haberleşme kayıt defteri (log book) standart uygulaması.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95959"/>
                </a:solidFill>
              </a:rPr>
              <a:t>İşletme — Soru 98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4008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1460175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1">
                <a:solidFill>
                  <a:srgbClr val="FFFFFF"/>
                </a:solidFill>
              </a:rPr>
              <a:t>Soru 99</a:t>
            </a:r>
            <a:r>
              <a:rPr sz="1400">
                <a:solidFill>
                  <a:srgbClr val="D6E4F0"/>
                </a:solidFill>
              </a:rPr>
              <a:t>   ·   Genel Bilgi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60120"/>
            <a:ext cx="5608179" cy="5394960"/>
          </a:xfrm>
          <a:prstGeom prst="rect">
            <a:avLst/>
          </a:prstGeom>
          <a:solidFill>
            <a:srgbClr val="F7F9FB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82880" rIns="182880" rtlCol="0" anchor="ctr"/>
          <a:lstStyle/>
          <a:p>
            <a:pPr algn="ctr">
              <a:spcAft>
                <a:spcPts val="1400"/>
              </a:spcAft>
            </a:pPr>
            <a:r>
              <a:rPr sz="1700" b="1">
                <a:solidFill>
                  <a:srgbClr val="222222"/>
                </a:solidFill>
              </a:rPr>
              <a:t>Bir amatör telsiz istasyonu hangi hallerde şifreli haberleşme yapabilir?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22222"/>
                </a:solidFill>
              </a:rPr>
              <a:t>a)  Sadece yüksek frekanslarda görüşme yaparken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22222"/>
                </a:solidFill>
              </a:rPr>
              <a:t>b)  Yarışmalarda (contest)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22222"/>
                </a:solidFill>
              </a:rPr>
              <a:t>c)  Olağanüstü haberleşme şartlarında</a:t>
            </a:r>
          </a:p>
          <a:p>
            <a:pPr>
              <a:spcAft>
                <a:spcPts val="800"/>
              </a:spcAft>
            </a:pPr>
            <a:r>
              <a:rPr sz="1500" b="1">
                <a:solidFill>
                  <a:srgbClr val="2E7D32"/>
                </a:solidFill>
              </a:rPr>
              <a:t>d)  Amatör telsizciler şifreli haberleşme yapamaz</a:t>
            </a:r>
            <a:r>
              <a:rPr sz="1200" i="1">
                <a:solidFill>
                  <a:srgbClr val="2E7D32"/>
                </a:solidFill>
              </a:rPr>
              <a:t>   ✓ Doğru cevap</a:t>
            </a:r>
          </a:p>
        </p:txBody>
      </p:sp>
      <p:sp>
        <p:nvSpPr>
          <p:cNvPr id="5" name="Rectangle 4"/>
          <p:cNvSpPr/>
          <p:nvPr/>
        </p:nvSpPr>
        <p:spPr>
          <a:xfrm>
            <a:off x="6339699" y="960120"/>
            <a:ext cx="5394796" cy="5394960"/>
          </a:xfrm>
          <a:prstGeom prst="rect">
            <a:avLst/>
          </a:prstGeom>
          <a:solidFill>
            <a:srgbClr val="E2EFDA"/>
          </a:solidFill>
          <a:ln w="9525">
            <a:solidFill>
              <a:srgbClr val="9BC1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82880" rIns="182880" rtlCol="0" anchor="ctr"/>
          <a:lstStyle/>
          <a:p>
            <a:pPr algn="ctr">
              <a:spcAft>
                <a:spcPts val="900"/>
              </a:spcAft>
            </a:pPr>
            <a:r>
              <a:rPr sz="1400" b="1">
                <a:solidFill>
                  <a:srgbClr val="2E7D32"/>
                </a:solidFill>
              </a:rPr>
              <a:t>AÇIKLAMA</a:t>
            </a:r>
          </a:p>
          <a:p>
            <a:pPr>
              <a:spcAft>
                <a:spcPts val="1100"/>
              </a:spcAft>
            </a:pPr>
            <a:r>
              <a:rPr sz="1300">
                <a:solidFill>
                  <a:srgbClr val="222222"/>
                </a:solidFill>
              </a:rPr>
              <a:t>Amatör telsizciliğin temel ilkesi açıklıktır </a:t>
            </a:r>
            <a:r>
              <a:rPr sz="1300" i="1">
                <a:solidFill>
                  <a:srgbClr val="222222"/>
                </a:solidFill>
              </a:rPr>
              <a:t>(anlamı gizleyen şifreli haberleşme yasaktır)</a:t>
            </a:r>
            <a:r>
              <a:rPr sz="1300">
                <a:solidFill>
                  <a:srgbClr val="222222"/>
                </a:solidFill>
              </a:rPr>
              <a:t> — kamuya açık, kodlu olmayan protokoller </a:t>
            </a:r>
            <a:r>
              <a:rPr sz="1300" i="1">
                <a:solidFill>
                  <a:srgbClr val="222222"/>
                </a:solidFill>
              </a:rPr>
              <a:t>(dijital modlar dahil)</a:t>
            </a:r>
            <a:r>
              <a:rPr sz="1300">
                <a:solidFill>
                  <a:srgbClr val="222222"/>
                </a:solidFill>
              </a:rPr>
              <a:t> bu kapsamda değildir, ama kasıtlı şifreleme hiçbir koşulda yapılamaz.</a:t>
            </a:r>
          </a:p>
          <a:p>
            <a:r>
              <a:rPr sz="1100" b="1">
                <a:solidFill>
                  <a:srgbClr val="1F3864"/>
                </a:solidFill>
              </a:rPr>
              <a:t>Kaynak: </a:t>
            </a:r>
            <a:r>
              <a:rPr sz="1100" i="1">
                <a:solidFill>
                  <a:srgbClr val="404040"/>
                </a:solidFill>
              </a:rPr>
              <a:t>ITU-RR Madde 25 ('anlam gizleme amacı' testi).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95959"/>
                </a:solidFill>
              </a:rPr>
              <a:t>İşletme — Soru 99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4008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1460175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1">
                <a:solidFill>
                  <a:srgbClr val="FFFFFF"/>
                </a:solidFill>
              </a:rPr>
              <a:t>Soru 100</a:t>
            </a:r>
            <a:r>
              <a:rPr sz="1400">
                <a:solidFill>
                  <a:srgbClr val="D6E4F0"/>
                </a:solidFill>
              </a:rPr>
              <a:t>   ·   Genel Bilgi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60120"/>
            <a:ext cx="5608179" cy="5394960"/>
          </a:xfrm>
          <a:prstGeom prst="rect">
            <a:avLst/>
          </a:prstGeom>
          <a:solidFill>
            <a:srgbClr val="F7F9FB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82880" rIns="182880" rtlCol="0" anchor="ctr"/>
          <a:lstStyle/>
          <a:p>
            <a:pPr algn="ctr">
              <a:spcAft>
                <a:spcPts val="1400"/>
              </a:spcAft>
            </a:pPr>
            <a:r>
              <a:rPr sz="1700" b="1">
                <a:solidFill>
                  <a:srgbClr val="222222"/>
                </a:solidFill>
              </a:rPr>
              <a:t>Amatör telsizciler arasında yapılan haberleşmenin alındığını veya anlaşıldığını belirten ve birbirlerine bu durumu onaylatmak için gönderilen belgeye ne ad verilir?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22222"/>
                </a:solidFill>
              </a:rPr>
              <a:t>a)  QSO kartı</a:t>
            </a:r>
          </a:p>
          <a:p>
            <a:pPr>
              <a:spcAft>
                <a:spcPts val="800"/>
              </a:spcAft>
            </a:pPr>
            <a:r>
              <a:rPr sz="1500" b="1">
                <a:solidFill>
                  <a:srgbClr val="2E7D32"/>
                </a:solidFill>
              </a:rPr>
              <a:t>b)  QSL kartı</a:t>
            </a:r>
            <a:r>
              <a:rPr sz="1200" i="1">
                <a:solidFill>
                  <a:srgbClr val="2E7D32"/>
                </a:solidFill>
              </a:rPr>
              <a:t>   ✓ Doğru cevap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22222"/>
                </a:solidFill>
              </a:rPr>
              <a:t>c)  QTH kartı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22222"/>
                </a:solidFill>
              </a:rPr>
              <a:t>d)  QRU kartı</a:t>
            </a:r>
          </a:p>
        </p:txBody>
      </p:sp>
      <p:sp>
        <p:nvSpPr>
          <p:cNvPr id="5" name="Rectangle 4"/>
          <p:cNvSpPr/>
          <p:nvPr/>
        </p:nvSpPr>
        <p:spPr>
          <a:xfrm>
            <a:off x="6339699" y="960120"/>
            <a:ext cx="5394796" cy="5394960"/>
          </a:xfrm>
          <a:prstGeom prst="rect">
            <a:avLst/>
          </a:prstGeom>
          <a:solidFill>
            <a:srgbClr val="E2EFDA"/>
          </a:solidFill>
          <a:ln w="9525">
            <a:solidFill>
              <a:srgbClr val="9BC1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82880" rIns="182880" rtlCol="0" anchor="ctr"/>
          <a:lstStyle/>
          <a:p>
            <a:pPr algn="ctr">
              <a:spcAft>
                <a:spcPts val="900"/>
              </a:spcAft>
            </a:pPr>
            <a:r>
              <a:rPr sz="1400" b="1">
                <a:solidFill>
                  <a:srgbClr val="2E7D32"/>
                </a:solidFill>
              </a:rPr>
              <a:t>AÇIKLAMA</a:t>
            </a:r>
          </a:p>
          <a:p>
            <a:pPr>
              <a:spcAft>
                <a:spcPts val="1100"/>
              </a:spcAft>
            </a:pPr>
            <a:r>
              <a:rPr sz="1300">
                <a:solidFill>
                  <a:srgbClr val="222222"/>
                </a:solidFill>
              </a:rPr>
              <a:t>Bu, QSL kartıdır — iki amatör arasındaki temasın karşılıklı yazılı teyididir.</a:t>
            </a:r>
          </a:p>
          <a:p>
            <a:r>
              <a:rPr sz="1100" b="1">
                <a:solidFill>
                  <a:srgbClr val="1F3864"/>
                </a:solidFill>
              </a:rPr>
              <a:t>Kaynak: </a:t>
            </a:r>
            <a:r>
              <a:rPr sz="1100" i="1">
                <a:solidFill>
                  <a:srgbClr val="404040"/>
                </a:solidFill>
              </a:rPr>
              <a:t>QSL kart geleneği.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95959"/>
                </a:solidFill>
              </a:rPr>
              <a:t>İşletme — Soru 100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4008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1460175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1">
                <a:solidFill>
                  <a:srgbClr val="FFFFFF"/>
                </a:solidFill>
              </a:rPr>
              <a:t>Soru 101</a:t>
            </a:r>
            <a:r>
              <a:rPr sz="1400">
                <a:solidFill>
                  <a:srgbClr val="D6E4F0"/>
                </a:solidFill>
              </a:rPr>
              <a:t>   ·   Log Defteri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60120"/>
            <a:ext cx="5608179" cy="5394960"/>
          </a:xfrm>
          <a:prstGeom prst="rect">
            <a:avLst/>
          </a:prstGeom>
          <a:solidFill>
            <a:srgbClr val="F7F9FB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82880" rIns="182880" rtlCol="0" anchor="ctr"/>
          <a:lstStyle/>
          <a:p>
            <a:pPr algn="ctr">
              <a:spcAft>
                <a:spcPts val="1400"/>
              </a:spcAft>
            </a:pPr>
            <a:r>
              <a:rPr sz="1700" b="1">
                <a:solidFill>
                  <a:srgbClr val="222222"/>
                </a:solidFill>
              </a:rPr>
              <a:t>Bir amatör telsiz istasyonunda bulunan mesaj kayıt defterine (log-book) aşağıda belirtilen bilgilerden hangisinin kayıt edilme zorunluluğu yoktur?</a:t>
            </a:r>
          </a:p>
          <a:p>
            <a:pPr>
              <a:spcAft>
                <a:spcPts val="800"/>
              </a:spcAft>
            </a:pPr>
            <a:r>
              <a:rPr sz="1500" b="1">
                <a:solidFill>
                  <a:srgbClr val="2E7D32"/>
                </a:solidFill>
              </a:rPr>
              <a:t>a)  Hava durumu</a:t>
            </a:r>
            <a:r>
              <a:rPr sz="1200" i="1">
                <a:solidFill>
                  <a:srgbClr val="2E7D32"/>
                </a:solidFill>
              </a:rPr>
              <a:t>   ✓ Doğru cevap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22222"/>
                </a:solidFill>
              </a:rPr>
              <a:t>b)  Haberleşme sıra numarası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22222"/>
                </a:solidFill>
              </a:rPr>
              <a:t>c)  Çalışma frekansı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22222"/>
                </a:solidFill>
              </a:rPr>
              <a:t>d)  Emisyon tipi</a:t>
            </a:r>
          </a:p>
        </p:txBody>
      </p:sp>
      <p:sp>
        <p:nvSpPr>
          <p:cNvPr id="5" name="Rectangle 4"/>
          <p:cNvSpPr/>
          <p:nvPr/>
        </p:nvSpPr>
        <p:spPr>
          <a:xfrm>
            <a:off x="6339699" y="960120"/>
            <a:ext cx="5394796" cy="5394960"/>
          </a:xfrm>
          <a:prstGeom prst="rect">
            <a:avLst/>
          </a:prstGeom>
          <a:solidFill>
            <a:srgbClr val="E2EFDA"/>
          </a:solidFill>
          <a:ln w="9525">
            <a:solidFill>
              <a:srgbClr val="9BC1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82880" rIns="182880" rtlCol="0" anchor="ctr"/>
          <a:lstStyle/>
          <a:p>
            <a:pPr algn="ctr">
              <a:spcAft>
                <a:spcPts val="900"/>
              </a:spcAft>
            </a:pPr>
            <a:r>
              <a:rPr sz="1400" b="1">
                <a:solidFill>
                  <a:srgbClr val="2E7D32"/>
                </a:solidFill>
              </a:rPr>
              <a:t>AÇIKLAMA</a:t>
            </a:r>
          </a:p>
          <a:p>
            <a:pPr>
              <a:spcAft>
                <a:spcPts val="1100"/>
              </a:spcAft>
            </a:pPr>
            <a:r>
              <a:rPr sz="1300">
                <a:solidFill>
                  <a:srgbClr val="222222"/>
                </a:solidFill>
              </a:rPr>
              <a:t>Hava durumu, log defterinin standart zorunlu alanlarından değildir; sıra numarası, çalışma frekansı ve emisyon tipi </a:t>
            </a:r>
            <a:r>
              <a:rPr sz="1300" i="1">
                <a:solidFill>
                  <a:srgbClr val="222222"/>
                </a:solidFill>
              </a:rPr>
              <a:t>(kullanılan sinyal türü)</a:t>
            </a:r>
            <a:r>
              <a:rPr sz="1300">
                <a:solidFill>
                  <a:srgbClr val="222222"/>
                </a:solidFill>
              </a:rPr>
              <a:t> ise haberleşmeyi tanımlayan temel bilgilerdir.</a:t>
            </a:r>
          </a:p>
          <a:p>
            <a:r>
              <a:rPr sz="1100" b="1">
                <a:solidFill>
                  <a:srgbClr val="1F3864"/>
                </a:solidFill>
              </a:rPr>
              <a:t>Kaynak: </a:t>
            </a:r>
            <a:r>
              <a:rPr sz="1100" i="1">
                <a:solidFill>
                  <a:srgbClr val="404040"/>
                </a:solidFill>
              </a:rPr>
              <a:t>Haberleşme kayıt defteri (log book) standart uygulaması.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95959"/>
                </a:solidFill>
              </a:rPr>
              <a:t>İşletme — Soru 101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4008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1460175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1">
                <a:solidFill>
                  <a:srgbClr val="FFFFFF"/>
                </a:solidFill>
              </a:rPr>
              <a:t>Soru 102</a:t>
            </a:r>
            <a:r>
              <a:rPr sz="1400">
                <a:solidFill>
                  <a:srgbClr val="D6E4F0"/>
                </a:solidFill>
              </a:rPr>
              <a:t>   ·   Q-Kodları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60120"/>
            <a:ext cx="5608179" cy="5394960"/>
          </a:xfrm>
          <a:prstGeom prst="rect">
            <a:avLst/>
          </a:prstGeom>
          <a:solidFill>
            <a:srgbClr val="F7F9FB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82880" rIns="182880" rtlCol="0" anchor="ctr"/>
          <a:lstStyle/>
          <a:p>
            <a:pPr algn="ctr">
              <a:spcAft>
                <a:spcPts val="1400"/>
              </a:spcAft>
            </a:pPr>
            <a:r>
              <a:rPr sz="1700" b="1">
                <a:solidFill>
                  <a:srgbClr val="222222"/>
                </a:solidFill>
              </a:rPr>
              <a:t>QRV kelimesinin anlamı aşağıdakilerden hangisidir?</a:t>
            </a:r>
          </a:p>
          <a:p>
            <a:pPr>
              <a:spcAft>
                <a:spcPts val="800"/>
              </a:spcAft>
            </a:pPr>
            <a:r>
              <a:rPr sz="1500" b="1">
                <a:solidFill>
                  <a:srgbClr val="2E7D32"/>
                </a:solidFill>
              </a:rPr>
              <a:t>a)  Hazır mısın?</a:t>
            </a:r>
            <a:r>
              <a:rPr sz="1200" i="1">
                <a:solidFill>
                  <a:srgbClr val="2E7D32"/>
                </a:solidFill>
              </a:rPr>
              <a:t>   ✓ Doğru cevap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22222"/>
                </a:solidFill>
              </a:rPr>
              <a:t>b)  Bulunduğun yer neresidir?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22222"/>
                </a:solidFill>
              </a:rPr>
              <a:t>c)  Saat kaç?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22222"/>
                </a:solidFill>
              </a:rPr>
              <a:t>d)  Başka bir konu var mı?</a:t>
            </a:r>
          </a:p>
        </p:txBody>
      </p:sp>
      <p:sp>
        <p:nvSpPr>
          <p:cNvPr id="5" name="Rectangle 4"/>
          <p:cNvSpPr/>
          <p:nvPr/>
        </p:nvSpPr>
        <p:spPr>
          <a:xfrm>
            <a:off x="6339699" y="960120"/>
            <a:ext cx="5394796" cy="5394960"/>
          </a:xfrm>
          <a:prstGeom prst="rect">
            <a:avLst/>
          </a:prstGeom>
          <a:solidFill>
            <a:srgbClr val="E2EFDA"/>
          </a:solidFill>
          <a:ln w="9525">
            <a:solidFill>
              <a:srgbClr val="9BC1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82880" rIns="182880" rtlCol="0" anchor="ctr"/>
          <a:lstStyle/>
          <a:p>
            <a:pPr algn="ctr">
              <a:spcAft>
                <a:spcPts val="900"/>
              </a:spcAft>
            </a:pPr>
            <a:r>
              <a:rPr sz="1400" b="1">
                <a:solidFill>
                  <a:srgbClr val="2E7D32"/>
                </a:solidFill>
              </a:rPr>
              <a:t>AÇIKLAMA</a:t>
            </a:r>
          </a:p>
          <a:p>
            <a:pPr>
              <a:spcAft>
                <a:spcPts val="1100"/>
              </a:spcAft>
            </a:pPr>
            <a:r>
              <a:rPr sz="1300">
                <a:solidFill>
                  <a:srgbClr val="222222"/>
                </a:solidFill>
              </a:rPr>
              <a:t>QRV, 'hazır mısın / hazırım' anlamına gelen bir Q-koddur.</a:t>
            </a:r>
          </a:p>
          <a:p>
            <a:r>
              <a:rPr sz="1100" b="1">
                <a:solidFill>
                  <a:srgbClr val="1F3864"/>
                </a:solidFill>
              </a:rPr>
              <a:t>Kaynak: </a:t>
            </a:r>
            <a:r>
              <a:rPr sz="1100" i="1">
                <a:solidFill>
                  <a:srgbClr val="404040"/>
                </a:solidFill>
              </a:rPr>
              <a:t>ITU Q-kod tablosu (uluslararası standart kısaltılmış telsiz sinyalleri).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95959"/>
                </a:solidFill>
              </a:rPr>
              <a:t>İşletme — Soru 102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4008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1460175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1">
                <a:solidFill>
                  <a:srgbClr val="FFFFFF"/>
                </a:solidFill>
              </a:rPr>
              <a:t>Soru 103</a:t>
            </a:r>
            <a:r>
              <a:rPr sz="1400">
                <a:solidFill>
                  <a:srgbClr val="D6E4F0"/>
                </a:solidFill>
              </a:rPr>
              <a:t>   ·   Genel Bilgi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60120"/>
            <a:ext cx="5608179" cy="5394960"/>
          </a:xfrm>
          <a:prstGeom prst="rect">
            <a:avLst/>
          </a:prstGeom>
          <a:solidFill>
            <a:srgbClr val="F7F9FB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82880" rIns="182880" rtlCol="0" anchor="ctr"/>
          <a:lstStyle/>
          <a:p>
            <a:pPr algn="ctr">
              <a:spcAft>
                <a:spcPts val="1400"/>
              </a:spcAft>
            </a:pPr>
            <a:r>
              <a:rPr sz="1700" b="1">
                <a:solidFill>
                  <a:srgbClr val="222222"/>
                </a:solidFill>
              </a:rPr>
              <a:t>CALL SİGN kelimesinin anlamı nedir?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22222"/>
                </a:solidFill>
              </a:rPr>
              <a:t>a)  Güç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22222"/>
                </a:solidFill>
              </a:rPr>
              <a:t>b)  Kontrol</a:t>
            </a:r>
          </a:p>
          <a:p>
            <a:pPr>
              <a:spcAft>
                <a:spcPts val="800"/>
              </a:spcAft>
            </a:pPr>
            <a:r>
              <a:rPr sz="1500" b="1">
                <a:solidFill>
                  <a:srgbClr val="2E7D32"/>
                </a:solidFill>
              </a:rPr>
              <a:t>c)  Çağrı işareti</a:t>
            </a:r>
            <a:r>
              <a:rPr sz="1200" i="1">
                <a:solidFill>
                  <a:srgbClr val="2E7D32"/>
                </a:solidFill>
              </a:rPr>
              <a:t>   ✓ Doğru cevap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22222"/>
                </a:solidFill>
              </a:rPr>
              <a:t>d)  Alındı</a:t>
            </a:r>
          </a:p>
        </p:txBody>
      </p:sp>
      <p:sp>
        <p:nvSpPr>
          <p:cNvPr id="5" name="Rectangle 4"/>
          <p:cNvSpPr/>
          <p:nvPr/>
        </p:nvSpPr>
        <p:spPr>
          <a:xfrm>
            <a:off x="6339699" y="960120"/>
            <a:ext cx="5394796" cy="5394960"/>
          </a:xfrm>
          <a:prstGeom prst="rect">
            <a:avLst/>
          </a:prstGeom>
          <a:solidFill>
            <a:srgbClr val="E2EFDA"/>
          </a:solidFill>
          <a:ln w="9525">
            <a:solidFill>
              <a:srgbClr val="9BC1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82880" rIns="182880" rtlCol="0" anchor="ctr"/>
          <a:lstStyle/>
          <a:p>
            <a:pPr algn="ctr">
              <a:spcAft>
                <a:spcPts val="900"/>
              </a:spcAft>
            </a:pPr>
            <a:r>
              <a:rPr sz="1400" b="1">
                <a:solidFill>
                  <a:srgbClr val="2E7D32"/>
                </a:solidFill>
              </a:rPr>
              <a:t>AÇIKLAMA</a:t>
            </a:r>
          </a:p>
          <a:p>
            <a:pPr>
              <a:spcAft>
                <a:spcPts val="1100"/>
              </a:spcAft>
            </a:pPr>
            <a:r>
              <a:rPr sz="1300">
                <a:solidFill>
                  <a:srgbClr val="222222"/>
                </a:solidFill>
              </a:rPr>
              <a:t>Call sign, İngilizce'de 'çağrı işareti' terimidir — her amatöre/organizasyona kimlik olarak tahsis edilen özgün harf-rakam grubu.</a:t>
            </a:r>
          </a:p>
          <a:p>
            <a:r>
              <a:rPr sz="1100" b="1">
                <a:solidFill>
                  <a:srgbClr val="1F3864"/>
                </a:solidFill>
              </a:rPr>
              <a:t>Kaynak: </a:t>
            </a:r>
            <a:r>
              <a:rPr sz="1100" i="1">
                <a:solidFill>
                  <a:srgbClr val="404040"/>
                </a:solidFill>
              </a:rPr>
              <a:t>Genel amatör telsiz terminolojisi.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95959"/>
                </a:solidFill>
              </a:rPr>
              <a:t>İşletme — Soru 103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4008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1460175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1">
                <a:solidFill>
                  <a:srgbClr val="FFFFFF"/>
                </a:solidFill>
              </a:rPr>
              <a:t>Soru 104</a:t>
            </a:r>
            <a:r>
              <a:rPr sz="1400">
                <a:solidFill>
                  <a:srgbClr val="D6E4F0"/>
                </a:solidFill>
              </a:rPr>
              <a:t>   ·   Q-Kodları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60120"/>
            <a:ext cx="5608179" cy="5394960"/>
          </a:xfrm>
          <a:prstGeom prst="rect">
            <a:avLst/>
          </a:prstGeom>
          <a:solidFill>
            <a:srgbClr val="F7F9FB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82880" rIns="182880" rtlCol="0" anchor="ctr"/>
          <a:lstStyle/>
          <a:p>
            <a:pPr algn="ctr">
              <a:spcAft>
                <a:spcPts val="1400"/>
              </a:spcAft>
            </a:pPr>
            <a:r>
              <a:rPr sz="1700" b="1">
                <a:solidFill>
                  <a:srgbClr val="222222"/>
                </a:solidFill>
              </a:rPr>
              <a:t>QSV kelimesinin anlamı nedir?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22222"/>
                </a:solidFill>
              </a:rPr>
              <a:t>a)  Hazır mısın?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22222"/>
                </a:solidFill>
              </a:rPr>
              <a:t>b)  Frekansımı değiştireyim mi?</a:t>
            </a:r>
          </a:p>
          <a:p>
            <a:pPr>
              <a:spcAft>
                <a:spcPts val="800"/>
              </a:spcAft>
            </a:pPr>
            <a:r>
              <a:rPr sz="1500" b="1">
                <a:solidFill>
                  <a:srgbClr val="2E7D32"/>
                </a:solidFill>
              </a:rPr>
              <a:t>c)  Bir dizi V harfi göndereyim mi?</a:t>
            </a:r>
            <a:r>
              <a:rPr sz="1200" i="1">
                <a:solidFill>
                  <a:srgbClr val="2E7D32"/>
                </a:solidFill>
              </a:rPr>
              <a:t>   ✓ Doğru cevap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22222"/>
                </a:solidFill>
              </a:rPr>
              <a:t>d)  Daha hızlı göndereyim mi?</a:t>
            </a:r>
          </a:p>
        </p:txBody>
      </p:sp>
      <p:sp>
        <p:nvSpPr>
          <p:cNvPr id="5" name="Rectangle 4"/>
          <p:cNvSpPr/>
          <p:nvPr/>
        </p:nvSpPr>
        <p:spPr>
          <a:xfrm>
            <a:off x="6339699" y="960120"/>
            <a:ext cx="5394796" cy="5394960"/>
          </a:xfrm>
          <a:prstGeom prst="rect">
            <a:avLst/>
          </a:prstGeom>
          <a:solidFill>
            <a:srgbClr val="E2EFDA"/>
          </a:solidFill>
          <a:ln w="9525">
            <a:solidFill>
              <a:srgbClr val="9BC1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82880" rIns="182880" rtlCol="0" anchor="ctr"/>
          <a:lstStyle/>
          <a:p>
            <a:pPr algn="ctr">
              <a:spcAft>
                <a:spcPts val="900"/>
              </a:spcAft>
            </a:pPr>
            <a:r>
              <a:rPr sz="1400" b="1">
                <a:solidFill>
                  <a:srgbClr val="2E7D32"/>
                </a:solidFill>
              </a:rPr>
              <a:t>AÇIKLAMA</a:t>
            </a:r>
          </a:p>
          <a:p>
            <a:pPr>
              <a:spcAft>
                <a:spcPts val="1100"/>
              </a:spcAft>
            </a:pPr>
            <a:r>
              <a:rPr sz="1300">
                <a:solidFill>
                  <a:srgbClr val="222222"/>
                </a:solidFill>
              </a:rPr>
              <a:t>QSV, karşı tarafın ayar/testi için bir dizi 'V' harfi </a:t>
            </a:r>
            <a:r>
              <a:rPr sz="1300" i="1">
                <a:solidFill>
                  <a:srgbClr val="222222"/>
                </a:solidFill>
              </a:rPr>
              <a:t>(Mors testi için standart bir kalibrasyon dizisi)</a:t>
            </a:r>
            <a:r>
              <a:rPr sz="1300">
                <a:solidFill>
                  <a:srgbClr val="222222"/>
                </a:solidFill>
              </a:rPr>
              <a:t> gönderilip gönderilmeyeceğini sormak için kullanılır.</a:t>
            </a:r>
          </a:p>
          <a:p>
            <a:r>
              <a:rPr sz="1100" b="1">
                <a:solidFill>
                  <a:srgbClr val="1F3864"/>
                </a:solidFill>
              </a:rPr>
              <a:t>Kaynak: </a:t>
            </a:r>
            <a:r>
              <a:rPr sz="1100" i="1">
                <a:solidFill>
                  <a:srgbClr val="404040"/>
                </a:solidFill>
              </a:rPr>
              <a:t>ITU Q-kod tablosu (uluslararası standart kısaltılmış telsiz sinyalleri).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95959"/>
                </a:solidFill>
              </a:rPr>
              <a:t>İşletme — Soru 104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4008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1460175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1">
                <a:solidFill>
                  <a:srgbClr val="FFFFFF"/>
                </a:solidFill>
              </a:rPr>
              <a:t>Soru 105</a:t>
            </a:r>
            <a:r>
              <a:rPr sz="1400">
                <a:solidFill>
                  <a:srgbClr val="D6E4F0"/>
                </a:solidFill>
              </a:rPr>
              <a:t>   ·   Q-Kodları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60120"/>
            <a:ext cx="5608179" cy="5394960"/>
          </a:xfrm>
          <a:prstGeom prst="rect">
            <a:avLst/>
          </a:prstGeom>
          <a:solidFill>
            <a:srgbClr val="F7F9FB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82880" rIns="182880" rtlCol="0" anchor="ctr"/>
          <a:lstStyle/>
          <a:p>
            <a:pPr algn="ctr">
              <a:spcAft>
                <a:spcPts val="1400"/>
              </a:spcAft>
            </a:pPr>
            <a:r>
              <a:rPr sz="1700" b="1">
                <a:solidFill>
                  <a:srgbClr val="222222"/>
                </a:solidFill>
              </a:rPr>
              <a:t>QRZ kelimesinin anlamı nedir?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22222"/>
                </a:solidFill>
              </a:rPr>
              <a:t>a)  Sinyal şiddetim ne?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22222"/>
                </a:solidFill>
              </a:rPr>
              <a:t>b)  Frekansım değişiyor mu?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22222"/>
                </a:solidFill>
              </a:rPr>
              <a:t>c)  Meşgul müsünüz?</a:t>
            </a:r>
          </a:p>
          <a:p>
            <a:pPr>
              <a:spcAft>
                <a:spcPts val="800"/>
              </a:spcAft>
            </a:pPr>
            <a:r>
              <a:rPr sz="1500" b="1">
                <a:solidFill>
                  <a:srgbClr val="2E7D32"/>
                </a:solidFill>
              </a:rPr>
              <a:t>d)  Beni kim çağırıyor?</a:t>
            </a:r>
            <a:r>
              <a:rPr sz="1200" i="1">
                <a:solidFill>
                  <a:srgbClr val="2E7D32"/>
                </a:solidFill>
              </a:rPr>
              <a:t>   ✓ Doğru cevap</a:t>
            </a:r>
          </a:p>
        </p:txBody>
      </p:sp>
      <p:sp>
        <p:nvSpPr>
          <p:cNvPr id="5" name="Rectangle 4"/>
          <p:cNvSpPr/>
          <p:nvPr/>
        </p:nvSpPr>
        <p:spPr>
          <a:xfrm>
            <a:off x="6339699" y="960120"/>
            <a:ext cx="5394796" cy="5394960"/>
          </a:xfrm>
          <a:prstGeom prst="rect">
            <a:avLst/>
          </a:prstGeom>
          <a:solidFill>
            <a:srgbClr val="E2EFDA"/>
          </a:solidFill>
          <a:ln w="9525">
            <a:solidFill>
              <a:srgbClr val="9BC1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82880" rIns="182880" rtlCol="0" anchor="ctr"/>
          <a:lstStyle/>
          <a:p>
            <a:pPr algn="ctr">
              <a:spcAft>
                <a:spcPts val="900"/>
              </a:spcAft>
            </a:pPr>
            <a:r>
              <a:rPr sz="1400" b="1">
                <a:solidFill>
                  <a:srgbClr val="2E7D32"/>
                </a:solidFill>
              </a:rPr>
              <a:t>AÇIKLAMA</a:t>
            </a:r>
          </a:p>
          <a:p>
            <a:pPr>
              <a:spcAft>
                <a:spcPts val="1100"/>
              </a:spcAft>
            </a:pPr>
            <a:r>
              <a:rPr sz="1300">
                <a:solidFill>
                  <a:srgbClr val="222222"/>
                </a:solidFill>
              </a:rPr>
              <a:t>QRZ, 'beni kim çağırıyor?' anlamına gelir.</a:t>
            </a:r>
          </a:p>
          <a:p>
            <a:r>
              <a:rPr sz="1100" b="1">
                <a:solidFill>
                  <a:srgbClr val="1F3864"/>
                </a:solidFill>
              </a:rPr>
              <a:t>Kaynak: </a:t>
            </a:r>
            <a:r>
              <a:rPr sz="1100" i="1">
                <a:solidFill>
                  <a:srgbClr val="404040"/>
                </a:solidFill>
              </a:rPr>
              <a:t>ITU Q-kod tablosu (uluslararası standart kısaltılmış telsiz sinyalleri).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95959"/>
                </a:solidFill>
              </a:rPr>
              <a:t>İşletme — Soru 105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4008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1460175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1">
                <a:solidFill>
                  <a:srgbClr val="FFFFFF"/>
                </a:solidFill>
              </a:rPr>
              <a:t>Soru 106</a:t>
            </a:r>
            <a:r>
              <a:rPr sz="1400">
                <a:solidFill>
                  <a:srgbClr val="D6E4F0"/>
                </a:solidFill>
              </a:rPr>
              <a:t>   ·   Fonetik Alfabe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60120"/>
            <a:ext cx="5608179" cy="5394960"/>
          </a:xfrm>
          <a:prstGeom prst="rect">
            <a:avLst/>
          </a:prstGeom>
          <a:solidFill>
            <a:srgbClr val="F7F9FB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82880" rIns="182880" rtlCol="0" anchor="ctr"/>
          <a:lstStyle/>
          <a:p>
            <a:pPr algn="ctr">
              <a:spcAft>
                <a:spcPts val="1400"/>
              </a:spcAft>
            </a:pPr>
            <a:r>
              <a:rPr sz="1700" b="1">
                <a:solidFill>
                  <a:srgbClr val="222222"/>
                </a:solidFill>
              </a:rPr>
              <a:t>MAYDAY kelimesinin uluslararası alfabeye göre hecelenmesi ne şekilde yapılır?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22222"/>
                </a:solidFill>
              </a:rPr>
              <a:t>a)  Mike - Alpha - Tosun - Delta - Alpha - Yunus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22222"/>
                </a:solidFill>
              </a:rPr>
              <a:t>b)  Manisa - Aydın - Yankee - Delta - Afyon - Yunus</a:t>
            </a:r>
          </a:p>
          <a:p>
            <a:pPr>
              <a:spcAft>
                <a:spcPts val="800"/>
              </a:spcAft>
            </a:pPr>
            <a:r>
              <a:rPr sz="1500" b="1">
                <a:solidFill>
                  <a:srgbClr val="2E7D32"/>
                </a:solidFill>
              </a:rPr>
              <a:t>c)  Mike - Alpha - Yankee - Delta - Alpha - Yankee</a:t>
            </a:r>
            <a:r>
              <a:rPr sz="1200" i="1">
                <a:solidFill>
                  <a:srgbClr val="2E7D32"/>
                </a:solidFill>
              </a:rPr>
              <a:t>   ✓ Doğru cevap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22222"/>
                </a:solidFill>
              </a:rPr>
              <a:t>d)  Manisa - Aydın -Yeliz - Demir - Aydın -Yeliz</a:t>
            </a:r>
          </a:p>
        </p:txBody>
      </p:sp>
      <p:sp>
        <p:nvSpPr>
          <p:cNvPr id="5" name="Rectangle 4"/>
          <p:cNvSpPr/>
          <p:nvPr/>
        </p:nvSpPr>
        <p:spPr>
          <a:xfrm>
            <a:off x="6339699" y="960120"/>
            <a:ext cx="5394796" cy="5394960"/>
          </a:xfrm>
          <a:prstGeom prst="rect">
            <a:avLst/>
          </a:prstGeom>
          <a:solidFill>
            <a:srgbClr val="E2EFDA"/>
          </a:solidFill>
          <a:ln w="9525">
            <a:solidFill>
              <a:srgbClr val="9BC1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82880" rIns="182880" rtlCol="0" anchor="ctr"/>
          <a:lstStyle/>
          <a:p>
            <a:pPr algn="ctr">
              <a:spcAft>
                <a:spcPts val="900"/>
              </a:spcAft>
            </a:pPr>
            <a:r>
              <a:rPr sz="1400" b="1">
                <a:solidFill>
                  <a:srgbClr val="2E7D32"/>
                </a:solidFill>
              </a:rPr>
              <a:t>AÇIKLAMA</a:t>
            </a:r>
          </a:p>
          <a:p>
            <a:pPr>
              <a:spcAft>
                <a:spcPts val="1100"/>
              </a:spcAft>
            </a:pPr>
            <a:r>
              <a:rPr sz="1300">
                <a:solidFill>
                  <a:srgbClr val="222222"/>
                </a:solidFill>
              </a:rPr>
              <a:t>M=Mike, A=Alpha, Y=Yankee, D=Delta, A=Alpha, Y=Yankee — uluslararası fonetik alfabedeki karşılıklarıdır.</a:t>
            </a:r>
          </a:p>
          <a:p>
            <a:r>
              <a:rPr sz="1100" b="1">
                <a:solidFill>
                  <a:srgbClr val="1F3864"/>
                </a:solidFill>
              </a:rPr>
              <a:t>Kaynak: </a:t>
            </a:r>
            <a:r>
              <a:rPr sz="1100" i="1">
                <a:solidFill>
                  <a:srgbClr val="404040"/>
                </a:solidFill>
              </a:rPr>
              <a:t>NATO/Uluslararası fonetik alfabe ve KEGM ulusal (il adı) fonetik alfabesi.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95959"/>
                </a:solidFill>
              </a:rPr>
              <a:t>İşletme — Soru 106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4008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1460175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1">
                <a:solidFill>
                  <a:srgbClr val="FFFFFF"/>
                </a:solidFill>
              </a:rPr>
              <a:t>Soru 107</a:t>
            </a:r>
            <a:r>
              <a:rPr sz="1400">
                <a:solidFill>
                  <a:srgbClr val="D6E4F0"/>
                </a:solidFill>
              </a:rPr>
              <a:t>   ·   Fonetik Alfabe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60120"/>
            <a:ext cx="5608179" cy="5394960"/>
          </a:xfrm>
          <a:prstGeom prst="rect">
            <a:avLst/>
          </a:prstGeom>
          <a:solidFill>
            <a:srgbClr val="F7F9FB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82880" rIns="182880" rtlCol="0" anchor="ctr"/>
          <a:lstStyle/>
          <a:p>
            <a:pPr algn="ctr">
              <a:spcAft>
                <a:spcPts val="1400"/>
              </a:spcAft>
            </a:pPr>
            <a:r>
              <a:rPr sz="1700" b="1">
                <a:solidFill>
                  <a:srgbClr val="222222"/>
                </a:solidFill>
              </a:rPr>
              <a:t>KEGM kelimesinin uluslararası alfabeye göre hecelenmesi ne şekilde yapılır?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22222"/>
                </a:solidFill>
              </a:rPr>
              <a:t>a)  Kemal - Emin - Galip - Mehmet</a:t>
            </a:r>
          </a:p>
          <a:p>
            <a:pPr>
              <a:spcAft>
                <a:spcPts val="800"/>
              </a:spcAft>
            </a:pPr>
            <a:r>
              <a:rPr sz="1500" b="1">
                <a:solidFill>
                  <a:srgbClr val="2E7D32"/>
                </a:solidFill>
              </a:rPr>
              <a:t>b)  Kilo - Echo - Golf - Mike</a:t>
            </a:r>
            <a:r>
              <a:rPr sz="1200" i="1">
                <a:solidFill>
                  <a:srgbClr val="2E7D32"/>
                </a:solidFill>
              </a:rPr>
              <a:t>   ✓ Doğru cevap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22222"/>
                </a:solidFill>
              </a:rPr>
              <a:t>c)  Kilo - Echo - Golf - Mehmet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22222"/>
                </a:solidFill>
              </a:rPr>
              <a:t>d)  Kemal - Echo - Golf - Mike</a:t>
            </a:r>
          </a:p>
        </p:txBody>
      </p:sp>
      <p:sp>
        <p:nvSpPr>
          <p:cNvPr id="5" name="Rectangle 4"/>
          <p:cNvSpPr/>
          <p:nvPr/>
        </p:nvSpPr>
        <p:spPr>
          <a:xfrm>
            <a:off x="6339699" y="960120"/>
            <a:ext cx="5394796" cy="5394960"/>
          </a:xfrm>
          <a:prstGeom prst="rect">
            <a:avLst/>
          </a:prstGeom>
          <a:solidFill>
            <a:srgbClr val="E2EFDA"/>
          </a:solidFill>
          <a:ln w="9525">
            <a:solidFill>
              <a:srgbClr val="9BC1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82880" rIns="182880" rtlCol="0" anchor="ctr"/>
          <a:lstStyle/>
          <a:p>
            <a:pPr algn="ctr">
              <a:spcAft>
                <a:spcPts val="900"/>
              </a:spcAft>
            </a:pPr>
            <a:r>
              <a:rPr sz="1400" b="1">
                <a:solidFill>
                  <a:srgbClr val="2E7D32"/>
                </a:solidFill>
              </a:rPr>
              <a:t>AÇIKLAMA</a:t>
            </a:r>
          </a:p>
          <a:p>
            <a:pPr>
              <a:spcAft>
                <a:spcPts val="1100"/>
              </a:spcAft>
            </a:pPr>
            <a:r>
              <a:rPr sz="1300">
                <a:solidFill>
                  <a:srgbClr val="222222"/>
                </a:solidFill>
              </a:rPr>
              <a:t>K=Kilo, E=Echo, G=Golf, M=Mike — uluslararası fonetik alfabedeki karşılıklarıdır.</a:t>
            </a:r>
          </a:p>
          <a:p>
            <a:r>
              <a:rPr sz="1100" b="1">
                <a:solidFill>
                  <a:srgbClr val="1F3864"/>
                </a:solidFill>
              </a:rPr>
              <a:t>Kaynak: </a:t>
            </a:r>
            <a:r>
              <a:rPr sz="1100" i="1">
                <a:solidFill>
                  <a:srgbClr val="404040"/>
                </a:solidFill>
              </a:rPr>
              <a:t>NATO/Uluslararası fonetik alfabe ve KEGM ulusal (il adı) fonetik alfabesi.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95959"/>
                </a:solidFill>
              </a:rPr>
              <a:t>İşletme — Soru 107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4008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1460175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1">
                <a:solidFill>
                  <a:srgbClr val="FFFFFF"/>
                </a:solidFill>
              </a:rPr>
              <a:t>Soru 108</a:t>
            </a:r>
            <a:r>
              <a:rPr sz="1400">
                <a:solidFill>
                  <a:srgbClr val="D6E4F0"/>
                </a:solidFill>
              </a:rPr>
              <a:t>   ·   Fonetik Alfabe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60120"/>
            <a:ext cx="5608179" cy="5394960"/>
          </a:xfrm>
          <a:prstGeom prst="rect">
            <a:avLst/>
          </a:prstGeom>
          <a:solidFill>
            <a:srgbClr val="F7F9FB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82880" rIns="182880" rtlCol="0" anchor="ctr"/>
          <a:lstStyle/>
          <a:p>
            <a:pPr algn="ctr">
              <a:spcAft>
                <a:spcPts val="1400"/>
              </a:spcAft>
            </a:pPr>
            <a:r>
              <a:rPr sz="1700" b="1">
                <a:solidFill>
                  <a:srgbClr val="222222"/>
                </a:solidFill>
              </a:rPr>
              <a:t>MEHMET kelimesinin ulusal fonetik alfabeye göre hecelenmesi nedir?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22222"/>
                </a:solidFill>
              </a:rPr>
              <a:t>a)  Mehmet - Emin - Hasan - Mehmet - Emin - Turgut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22222"/>
                </a:solidFill>
              </a:rPr>
              <a:t>b)  Mike - Echo - Hotel - Mike - Echo - Tango</a:t>
            </a:r>
          </a:p>
          <a:p>
            <a:pPr>
              <a:spcAft>
                <a:spcPts val="800"/>
              </a:spcAft>
            </a:pPr>
            <a:r>
              <a:rPr sz="1500" b="1">
                <a:solidFill>
                  <a:srgbClr val="2E7D32"/>
                </a:solidFill>
              </a:rPr>
              <a:t>c)  Manisa - Edirne - Hopa - Manisa - Edirne - Trabzon</a:t>
            </a:r>
            <a:r>
              <a:rPr sz="1200" i="1">
                <a:solidFill>
                  <a:srgbClr val="2E7D32"/>
                </a:solidFill>
              </a:rPr>
              <a:t>   ✓ Doğru cevap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22222"/>
                </a:solidFill>
              </a:rPr>
              <a:t>d)  Mike - Edirne - Hotel - Mike - Edirne - Tango</a:t>
            </a:r>
          </a:p>
        </p:txBody>
      </p:sp>
      <p:sp>
        <p:nvSpPr>
          <p:cNvPr id="5" name="Rectangle 4"/>
          <p:cNvSpPr/>
          <p:nvPr/>
        </p:nvSpPr>
        <p:spPr>
          <a:xfrm>
            <a:off x="6339699" y="960120"/>
            <a:ext cx="5394796" cy="5394960"/>
          </a:xfrm>
          <a:prstGeom prst="rect">
            <a:avLst/>
          </a:prstGeom>
          <a:solidFill>
            <a:srgbClr val="E2EFDA"/>
          </a:solidFill>
          <a:ln w="9525">
            <a:solidFill>
              <a:srgbClr val="9BC1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82880" rIns="182880" rtlCol="0" anchor="ctr"/>
          <a:lstStyle/>
          <a:p>
            <a:pPr algn="ctr">
              <a:spcAft>
                <a:spcPts val="900"/>
              </a:spcAft>
            </a:pPr>
            <a:r>
              <a:rPr sz="1400" b="1">
                <a:solidFill>
                  <a:srgbClr val="2E7D32"/>
                </a:solidFill>
              </a:rPr>
              <a:t>AÇIKLAMA</a:t>
            </a:r>
          </a:p>
          <a:p>
            <a:pPr>
              <a:spcAft>
                <a:spcPts val="1100"/>
              </a:spcAft>
            </a:pPr>
            <a:r>
              <a:rPr sz="1300">
                <a:solidFill>
                  <a:srgbClr val="222222"/>
                </a:solidFill>
              </a:rPr>
              <a:t>Ulusal fonetik alfabede: M=Manisa, E=Edirne, H=Hopa, M=Manisa, E=Edirne, T=Trabzon.</a:t>
            </a:r>
          </a:p>
          <a:p>
            <a:r>
              <a:rPr sz="1100" b="1">
                <a:solidFill>
                  <a:srgbClr val="1F3864"/>
                </a:solidFill>
              </a:rPr>
              <a:t>Kaynak: </a:t>
            </a:r>
            <a:r>
              <a:rPr sz="1100" i="1">
                <a:solidFill>
                  <a:srgbClr val="404040"/>
                </a:solidFill>
              </a:rPr>
              <a:t>NATO/Uluslararası fonetik alfabe ve KEGM ulusal (il adı) fonetik alfabesi.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95959"/>
                </a:solidFill>
              </a:rPr>
              <a:t>İşletme — Soru 108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4008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1460175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1">
                <a:solidFill>
                  <a:srgbClr val="FFFFFF"/>
                </a:solidFill>
              </a:rPr>
              <a:t>Soru 109</a:t>
            </a:r>
            <a:r>
              <a:rPr sz="1400">
                <a:solidFill>
                  <a:srgbClr val="D6E4F0"/>
                </a:solidFill>
              </a:rPr>
              <a:t>   ·   Genel Bilgi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60120"/>
            <a:ext cx="5608179" cy="5394960"/>
          </a:xfrm>
          <a:prstGeom prst="rect">
            <a:avLst/>
          </a:prstGeom>
          <a:solidFill>
            <a:srgbClr val="F7F9FB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82880" rIns="182880" rtlCol="0" anchor="ctr"/>
          <a:lstStyle/>
          <a:p>
            <a:pPr algn="ctr">
              <a:spcAft>
                <a:spcPts val="1400"/>
              </a:spcAft>
            </a:pPr>
            <a:r>
              <a:rPr sz="1700" b="1">
                <a:solidFill>
                  <a:srgbClr val="222222"/>
                </a:solidFill>
              </a:rPr>
              <a:t>Herhangi bir istasyon çağrıldığında ve bağlantı kurulduğunda aşağıdakilerden hangisinin yapılması doğrudur?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22222"/>
                </a:solidFill>
              </a:rPr>
              <a:t>a)  Her bağlantı sonunda çağrı işaretleri tekrarlanır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22222"/>
                </a:solidFill>
              </a:rPr>
              <a:t>b)  Simplex kanalda görüşülüyorsa ve uzun süreli görüşülecekse boş bir simplex kanala geçmek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22222"/>
                </a:solidFill>
              </a:rPr>
              <a:t>c)  Cümleler kısa net ve anlaşılır olmalı</a:t>
            </a:r>
          </a:p>
          <a:p>
            <a:pPr>
              <a:spcAft>
                <a:spcPts val="800"/>
              </a:spcAft>
            </a:pPr>
            <a:r>
              <a:rPr sz="1500" b="1">
                <a:solidFill>
                  <a:srgbClr val="2E7D32"/>
                </a:solidFill>
              </a:rPr>
              <a:t>d)  Hepsi</a:t>
            </a:r>
            <a:r>
              <a:rPr sz="1200" i="1">
                <a:solidFill>
                  <a:srgbClr val="2E7D32"/>
                </a:solidFill>
              </a:rPr>
              <a:t>   ✓ Doğru cevap</a:t>
            </a:r>
          </a:p>
        </p:txBody>
      </p:sp>
      <p:sp>
        <p:nvSpPr>
          <p:cNvPr id="5" name="Rectangle 4"/>
          <p:cNvSpPr/>
          <p:nvPr/>
        </p:nvSpPr>
        <p:spPr>
          <a:xfrm>
            <a:off x="6339699" y="960120"/>
            <a:ext cx="5394796" cy="5394960"/>
          </a:xfrm>
          <a:prstGeom prst="rect">
            <a:avLst/>
          </a:prstGeom>
          <a:solidFill>
            <a:srgbClr val="E2EFDA"/>
          </a:solidFill>
          <a:ln w="9525">
            <a:solidFill>
              <a:srgbClr val="9BC1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82880" rIns="182880" rtlCol="0" anchor="ctr"/>
          <a:lstStyle/>
          <a:p>
            <a:pPr algn="ctr">
              <a:spcAft>
                <a:spcPts val="900"/>
              </a:spcAft>
            </a:pPr>
            <a:r>
              <a:rPr sz="1400" b="1">
                <a:solidFill>
                  <a:srgbClr val="2E7D32"/>
                </a:solidFill>
              </a:rPr>
              <a:t>AÇIKLAMA</a:t>
            </a:r>
          </a:p>
          <a:p>
            <a:pPr>
              <a:spcAft>
                <a:spcPts val="1100"/>
              </a:spcAft>
            </a:pPr>
            <a:r>
              <a:rPr sz="1300">
                <a:solidFill>
                  <a:srgbClr val="222222"/>
                </a:solidFill>
              </a:rPr>
              <a:t>İyi işletme adabının üç unsuru da geçerlidir: kimlik teyidi için çağrı işaretlerini tekrarlamak, kanalı meşgul etmemek için uygun kanala geçmek, ve anlaşılır konuşmak.</a:t>
            </a:r>
          </a:p>
          <a:p>
            <a:r>
              <a:rPr sz="1100" b="1">
                <a:solidFill>
                  <a:srgbClr val="1F3864"/>
                </a:solidFill>
              </a:rPr>
              <a:t>Kaynak: </a:t>
            </a:r>
            <a:r>
              <a:rPr sz="1100" i="1">
                <a:solidFill>
                  <a:srgbClr val="404040"/>
                </a:solidFill>
              </a:rPr>
              <a:t>Genel amatör telsiz işletme adabı.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95959"/>
                </a:solidFill>
              </a:rPr>
              <a:t>İşletme — Soru 109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772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FFFFFF"/>
                </a:solidFill>
              </a:rPr>
              <a:t>BÖLÜM 10: Ülke Önekleri, Kıtalar, Emisyon Modları ve Bant Sınırları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911535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300"/>
              </a:spcAft>
            </a:pPr>
            <a:r>
              <a:rPr sz="1700">
                <a:solidFill>
                  <a:srgbClr val="222222"/>
                </a:solidFill>
              </a:rPr>
              <a:t>•  Kıta kısaltmaları </a:t>
            </a:r>
            <a:r>
              <a:rPr sz="1700" i="1">
                <a:solidFill>
                  <a:srgbClr val="222222"/>
                </a:solidFill>
              </a:rPr>
              <a:t>(EU, AS, AF, AN, OC)</a:t>
            </a:r>
            <a:r>
              <a:rPr sz="1700">
                <a:solidFill>
                  <a:srgbClr val="222222"/>
                </a:solidFill>
              </a:rPr>
              <a:t> DX haberleşmesinde ve ödül/diploma takibinde kullanılır.</a:t>
            </a:r>
          </a:p>
          <a:p>
            <a:pPr>
              <a:spcAft>
                <a:spcPts val="1300"/>
              </a:spcAft>
            </a:pPr>
            <a:r>
              <a:rPr sz="1700">
                <a:solidFill>
                  <a:srgbClr val="222222"/>
                </a:solidFill>
              </a:rPr>
              <a:t>•  Emisyon kodları </a:t>
            </a:r>
            <a:r>
              <a:rPr sz="1700" i="1">
                <a:solidFill>
                  <a:srgbClr val="222222"/>
                </a:solidFill>
              </a:rPr>
              <a:t>(A1A, J3E gibi)</a:t>
            </a:r>
            <a:r>
              <a:rPr sz="1700">
                <a:solidFill>
                  <a:srgbClr val="222222"/>
                </a:solidFill>
              </a:rPr>
              <a:t> bir sinyalin modülasyon türünü, bant genişliğini ve bilgi türünü standart bir formülle tanımlar.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5623560"/>
            <a:ext cx="10911535" cy="914400"/>
          </a:xfrm>
          <a:prstGeom prst="rect">
            <a:avLst/>
          </a:prstGeom>
          <a:solidFill>
            <a:srgbClr val="D6E4F0"/>
          </a:solidFill>
          <a:ln>
            <a:solidFill>
              <a:srgbClr val="2E75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tlCol="0" anchor="ctr"/>
          <a:lstStyle/>
          <a:p>
            <a:pPr algn="ctr"/>
            <a:r>
              <a:rPr sz="1300" b="1">
                <a:solidFill>
                  <a:srgbClr val="1F3864"/>
                </a:solidFill>
              </a:rPr>
              <a:t>Bu bölümün kaynağı: </a:t>
            </a:r>
            <a:r>
              <a:rPr sz="1300">
                <a:solidFill>
                  <a:srgbClr val="222222"/>
                </a:solidFill>
              </a:rPr>
              <a:t>ITU çağrı işareti ön ek tahsis tablosu (ülkelere ayrılan harf blokları). ITU emisyon sınıflandırma sistemi; Özel Telsiz Sistemleri Yönetmeliği EK-4 Tablo-1.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95959"/>
                </a:solidFill>
              </a:rPr>
              <a:t>İşletme — Bölüm 10 Girişi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4008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1460175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1">
                <a:solidFill>
                  <a:srgbClr val="FFFFFF"/>
                </a:solidFill>
              </a:rPr>
              <a:t>Soru 110</a:t>
            </a:r>
            <a:r>
              <a:rPr sz="1400">
                <a:solidFill>
                  <a:srgbClr val="D6E4F0"/>
                </a:solidFill>
              </a:rPr>
              <a:t>   ·   Çağrı Önekleri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60120"/>
            <a:ext cx="5608179" cy="5394960"/>
          </a:xfrm>
          <a:prstGeom prst="rect">
            <a:avLst/>
          </a:prstGeom>
          <a:solidFill>
            <a:srgbClr val="F7F9FB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82880" rIns="182880" rtlCol="0" anchor="ctr"/>
          <a:lstStyle/>
          <a:p>
            <a:pPr algn="ctr">
              <a:spcAft>
                <a:spcPts val="1400"/>
              </a:spcAft>
            </a:pPr>
            <a:r>
              <a:rPr sz="1700" b="1">
                <a:solidFill>
                  <a:srgbClr val="222222"/>
                </a:solidFill>
              </a:rPr>
              <a:t>LZ çağrı işareti aşağıdaki ülkelerden hangisine aittir?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22222"/>
                </a:solidFill>
              </a:rPr>
              <a:t>a)  Romanya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22222"/>
                </a:solidFill>
              </a:rPr>
              <a:t>b)  Yunanistan</a:t>
            </a:r>
          </a:p>
          <a:p>
            <a:pPr>
              <a:spcAft>
                <a:spcPts val="800"/>
              </a:spcAft>
            </a:pPr>
            <a:r>
              <a:rPr sz="1500" b="1">
                <a:solidFill>
                  <a:srgbClr val="2E7D32"/>
                </a:solidFill>
              </a:rPr>
              <a:t>c)  Bulgaristan</a:t>
            </a:r>
            <a:r>
              <a:rPr sz="1200" i="1">
                <a:solidFill>
                  <a:srgbClr val="2E7D32"/>
                </a:solidFill>
              </a:rPr>
              <a:t>   ✓ Doğru cevap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22222"/>
                </a:solidFill>
              </a:rPr>
              <a:t>d)  Yugoslavya</a:t>
            </a:r>
          </a:p>
        </p:txBody>
      </p:sp>
      <p:sp>
        <p:nvSpPr>
          <p:cNvPr id="5" name="Rectangle 4"/>
          <p:cNvSpPr/>
          <p:nvPr/>
        </p:nvSpPr>
        <p:spPr>
          <a:xfrm>
            <a:off x="6339699" y="960120"/>
            <a:ext cx="5394796" cy="5394960"/>
          </a:xfrm>
          <a:prstGeom prst="rect">
            <a:avLst/>
          </a:prstGeom>
          <a:solidFill>
            <a:srgbClr val="E2EFDA"/>
          </a:solidFill>
          <a:ln w="9525">
            <a:solidFill>
              <a:srgbClr val="9BC1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82880" rIns="182880" rtlCol="0" anchor="ctr"/>
          <a:lstStyle/>
          <a:p>
            <a:pPr algn="ctr">
              <a:spcAft>
                <a:spcPts val="900"/>
              </a:spcAft>
            </a:pPr>
            <a:r>
              <a:rPr sz="1400" b="1">
                <a:solidFill>
                  <a:srgbClr val="2E7D32"/>
                </a:solidFill>
              </a:rPr>
              <a:t>AÇIKLAMA</a:t>
            </a:r>
          </a:p>
          <a:p>
            <a:pPr>
              <a:spcAft>
                <a:spcPts val="1100"/>
              </a:spcAft>
            </a:pPr>
            <a:r>
              <a:rPr sz="1300">
                <a:solidFill>
                  <a:srgbClr val="222222"/>
                </a:solidFill>
              </a:rPr>
              <a:t>LZ, Bulgaristan'a tahsis edilmiş amatör çağrı işareti önekidir.</a:t>
            </a:r>
          </a:p>
          <a:p>
            <a:r>
              <a:rPr sz="1100" b="1">
                <a:solidFill>
                  <a:srgbClr val="1F3864"/>
                </a:solidFill>
              </a:rPr>
              <a:t>Kaynak: </a:t>
            </a:r>
            <a:r>
              <a:rPr sz="1100" i="1">
                <a:solidFill>
                  <a:srgbClr val="404040"/>
                </a:solidFill>
              </a:rPr>
              <a:t>ITU çağrı işareti ön ek tahsis tablosu (ülkelere ayrılan harf blokları).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95959"/>
                </a:solidFill>
              </a:rPr>
              <a:t>İşletme — Soru 110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4008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1460175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1">
                <a:solidFill>
                  <a:srgbClr val="FFFFFF"/>
                </a:solidFill>
              </a:rPr>
              <a:t>Soru 111</a:t>
            </a:r>
            <a:r>
              <a:rPr sz="1400">
                <a:solidFill>
                  <a:srgbClr val="D6E4F0"/>
                </a:solidFill>
              </a:rPr>
              <a:t>   ·   Genel Bilgi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60120"/>
            <a:ext cx="5608179" cy="5394960"/>
          </a:xfrm>
          <a:prstGeom prst="rect">
            <a:avLst/>
          </a:prstGeom>
          <a:solidFill>
            <a:srgbClr val="F7F9FB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82880" rIns="182880" rtlCol="0" anchor="ctr"/>
          <a:lstStyle/>
          <a:p>
            <a:pPr algn="ctr">
              <a:spcAft>
                <a:spcPts val="1400"/>
              </a:spcAft>
            </a:pPr>
            <a:r>
              <a:rPr sz="1700" b="1">
                <a:solidFill>
                  <a:srgbClr val="222222"/>
                </a:solidFill>
              </a:rPr>
              <a:t>Aşağıdaki kısaltmalardan hangisi Avrupa kıtasına aittir?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22222"/>
                </a:solidFill>
              </a:rPr>
              <a:t>a)  AF</a:t>
            </a:r>
          </a:p>
          <a:p>
            <a:pPr>
              <a:spcAft>
                <a:spcPts val="800"/>
              </a:spcAft>
            </a:pPr>
            <a:r>
              <a:rPr sz="1500" b="1">
                <a:solidFill>
                  <a:srgbClr val="2E7D32"/>
                </a:solidFill>
              </a:rPr>
              <a:t>b)  EU</a:t>
            </a:r>
            <a:r>
              <a:rPr sz="1200" i="1">
                <a:solidFill>
                  <a:srgbClr val="2E7D32"/>
                </a:solidFill>
              </a:rPr>
              <a:t>   ✓ Doğru cevap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22222"/>
                </a:solidFill>
              </a:rPr>
              <a:t>c)  AS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22222"/>
                </a:solidFill>
              </a:rPr>
              <a:t>d)  AN</a:t>
            </a:r>
          </a:p>
        </p:txBody>
      </p:sp>
      <p:sp>
        <p:nvSpPr>
          <p:cNvPr id="5" name="Rectangle 4"/>
          <p:cNvSpPr/>
          <p:nvPr/>
        </p:nvSpPr>
        <p:spPr>
          <a:xfrm>
            <a:off x="6339699" y="960120"/>
            <a:ext cx="5394796" cy="5394960"/>
          </a:xfrm>
          <a:prstGeom prst="rect">
            <a:avLst/>
          </a:prstGeom>
          <a:solidFill>
            <a:srgbClr val="E2EFDA"/>
          </a:solidFill>
          <a:ln w="9525">
            <a:solidFill>
              <a:srgbClr val="9BC1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82880" rIns="182880" rtlCol="0" anchor="ctr"/>
          <a:lstStyle/>
          <a:p>
            <a:pPr algn="ctr">
              <a:spcAft>
                <a:spcPts val="900"/>
              </a:spcAft>
            </a:pPr>
            <a:r>
              <a:rPr sz="1400" b="1">
                <a:solidFill>
                  <a:srgbClr val="2E7D32"/>
                </a:solidFill>
              </a:rPr>
              <a:t>AÇIKLAMA</a:t>
            </a:r>
          </a:p>
          <a:p>
            <a:pPr>
              <a:spcAft>
                <a:spcPts val="1100"/>
              </a:spcAft>
            </a:pPr>
            <a:r>
              <a:rPr sz="1300">
                <a:solidFill>
                  <a:srgbClr val="222222"/>
                </a:solidFill>
              </a:rPr>
              <a:t>EU, Europe </a:t>
            </a:r>
            <a:r>
              <a:rPr sz="1300" i="1">
                <a:solidFill>
                  <a:srgbClr val="222222"/>
                </a:solidFill>
              </a:rPr>
              <a:t>(Avrupa)</a:t>
            </a:r>
            <a:r>
              <a:rPr sz="1300">
                <a:solidFill>
                  <a:srgbClr val="222222"/>
                </a:solidFill>
              </a:rPr>
              <a:t> kıtasının standart kısaltmasıdır </a:t>
            </a:r>
            <a:r>
              <a:rPr sz="1300" i="1">
                <a:solidFill>
                  <a:srgbClr val="222222"/>
                </a:solidFill>
              </a:rPr>
              <a:t>(AF=Afrika, AS=Asya, AN=Antarktika/Okyanusya bağlamına göre değişir)</a:t>
            </a:r>
            <a:r>
              <a:rPr sz="1300">
                <a:solidFill>
                  <a:srgbClr val="222222"/>
                </a:solidFill>
              </a:rPr>
              <a:t>.</a:t>
            </a:r>
          </a:p>
          <a:p>
            <a:r>
              <a:rPr sz="1100" b="1">
                <a:solidFill>
                  <a:srgbClr val="1F3864"/>
                </a:solidFill>
              </a:rPr>
              <a:t>Kaynak: </a:t>
            </a:r>
            <a:r>
              <a:rPr sz="1100" i="1">
                <a:solidFill>
                  <a:srgbClr val="404040"/>
                </a:solidFill>
              </a:rPr>
              <a:t>Kıta kısaltmaları (DXCC/IARU sistemleri).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95959"/>
                </a:solidFill>
              </a:rPr>
              <a:t>İşletme — Soru 111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4008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1460175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1">
                <a:solidFill>
                  <a:srgbClr val="FFFFFF"/>
                </a:solidFill>
              </a:rPr>
              <a:t>Soru 112</a:t>
            </a:r>
            <a:r>
              <a:rPr sz="1400">
                <a:solidFill>
                  <a:srgbClr val="D6E4F0"/>
                </a:solidFill>
              </a:rPr>
              <a:t>   ·   Mors İşletme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60120"/>
            <a:ext cx="5608179" cy="5394960"/>
          </a:xfrm>
          <a:prstGeom prst="rect">
            <a:avLst/>
          </a:prstGeom>
          <a:solidFill>
            <a:srgbClr val="F7F9FB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82880" rIns="182880" rtlCol="0" anchor="ctr"/>
          <a:lstStyle/>
          <a:p>
            <a:pPr algn="ctr">
              <a:spcAft>
                <a:spcPts val="1400"/>
              </a:spcAft>
            </a:pPr>
            <a:r>
              <a:rPr sz="1700" b="1">
                <a:solidFill>
                  <a:srgbClr val="222222"/>
                </a:solidFill>
              </a:rPr>
              <a:t>Mors CW haberleşmesinde kullanılan kısalmalardan CFM kelimesinin anlamı nedir?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22222"/>
                </a:solidFill>
              </a:rPr>
              <a:t>a)  Kontrol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22222"/>
                </a:solidFill>
              </a:rPr>
              <a:t>b)  Genel çağrı</a:t>
            </a:r>
          </a:p>
          <a:p>
            <a:pPr>
              <a:spcAft>
                <a:spcPts val="800"/>
              </a:spcAft>
            </a:pPr>
            <a:r>
              <a:rPr sz="1500" b="1">
                <a:solidFill>
                  <a:srgbClr val="2E7D32"/>
                </a:solidFill>
              </a:rPr>
              <a:t>c)  Tasdik etmek</a:t>
            </a:r>
            <a:r>
              <a:rPr sz="1200" i="1">
                <a:solidFill>
                  <a:srgbClr val="2E7D32"/>
                </a:solidFill>
              </a:rPr>
              <a:t>   ✓ Doğru cevap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22222"/>
                </a:solidFill>
              </a:rPr>
              <a:t>d)  Tekrar</a:t>
            </a:r>
          </a:p>
        </p:txBody>
      </p:sp>
      <p:sp>
        <p:nvSpPr>
          <p:cNvPr id="5" name="Rectangle 4"/>
          <p:cNvSpPr/>
          <p:nvPr/>
        </p:nvSpPr>
        <p:spPr>
          <a:xfrm>
            <a:off x="6339699" y="960120"/>
            <a:ext cx="5394796" cy="5394960"/>
          </a:xfrm>
          <a:prstGeom prst="rect">
            <a:avLst/>
          </a:prstGeom>
          <a:solidFill>
            <a:srgbClr val="E2EFDA"/>
          </a:solidFill>
          <a:ln w="9525">
            <a:solidFill>
              <a:srgbClr val="9BC1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82880" rIns="182880" rtlCol="0" anchor="ctr"/>
          <a:lstStyle/>
          <a:p>
            <a:pPr algn="ctr">
              <a:spcAft>
                <a:spcPts val="900"/>
              </a:spcAft>
            </a:pPr>
            <a:r>
              <a:rPr sz="1400" b="1">
                <a:solidFill>
                  <a:srgbClr val="2E7D32"/>
                </a:solidFill>
              </a:rPr>
              <a:t>AÇIKLAMA</a:t>
            </a:r>
          </a:p>
          <a:p>
            <a:pPr>
              <a:spcAft>
                <a:spcPts val="1100"/>
              </a:spcAft>
            </a:pPr>
            <a:r>
              <a:rPr sz="1300">
                <a:solidFill>
                  <a:srgbClr val="222222"/>
                </a:solidFill>
              </a:rPr>
              <a:t>CFM </a:t>
            </a:r>
            <a:r>
              <a:rPr sz="1300" i="1">
                <a:solidFill>
                  <a:srgbClr val="222222"/>
                </a:solidFill>
              </a:rPr>
              <a:t>(confirm)</a:t>
            </a:r>
            <a:r>
              <a:rPr sz="1300">
                <a:solidFill>
                  <a:srgbClr val="222222"/>
                </a:solidFill>
              </a:rPr>
              <a:t>, gönderilen bilginin doğru alındığını teyit/tasdik etmek için kullanılır.</a:t>
            </a:r>
          </a:p>
          <a:p>
            <a:r>
              <a:rPr sz="1100" b="1">
                <a:solidFill>
                  <a:srgbClr val="1F3864"/>
                </a:solidFill>
              </a:rPr>
              <a:t>Kaynak: </a:t>
            </a:r>
            <a:r>
              <a:rPr sz="1100" i="1">
                <a:solidFill>
                  <a:srgbClr val="404040"/>
                </a:solidFill>
              </a:rPr>
              <a:t>Geleneksel CW kısaltmaları.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95959"/>
                </a:solidFill>
              </a:rPr>
              <a:t>İşletme — Soru 112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4008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1460175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1">
                <a:solidFill>
                  <a:srgbClr val="FFFFFF"/>
                </a:solidFill>
              </a:rPr>
              <a:t>Soru 113</a:t>
            </a:r>
            <a:r>
              <a:rPr sz="1400">
                <a:solidFill>
                  <a:srgbClr val="D6E4F0"/>
                </a:solidFill>
              </a:rPr>
              <a:t>   ·   Mors İşletme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60120"/>
            <a:ext cx="5608179" cy="5394960"/>
          </a:xfrm>
          <a:prstGeom prst="rect">
            <a:avLst/>
          </a:prstGeom>
          <a:solidFill>
            <a:srgbClr val="F7F9FB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82880" rIns="182880" rtlCol="0" anchor="ctr"/>
          <a:lstStyle/>
          <a:p>
            <a:pPr algn="ctr">
              <a:spcAft>
                <a:spcPts val="1400"/>
              </a:spcAft>
            </a:pPr>
            <a:r>
              <a:rPr sz="1700" b="1">
                <a:solidFill>
                  <a:srgbClr val="222222"/>
                </a:solidFill>
              </a:rPr>
              <a:t>Mors haberleşmesinde kullanılan TX kısalması neyi ifade eder?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22222"/>
                </a:solidFill>
              </a:rPr>
              <a:t>a)  Alıcı</a:t>
            </a:r>
          </a:p>
          <a:p>
            <a:pPr>
              <a:spcAft>
                <a:spcPts val="800"/>
              </a:spcAft>
            </a:pPr>
            <a:r>
              <a:rPr sz="1500" b="1">
                <a:solidFill>
                  <a:srgbClr val="2E7D32"/>
                </a:solidFill>
              </a:rPr>
              <a:t>b)  Verici</a:t>
            </a:r>
            <a:r>
              <a:rPr sz="1200" i="1">
                <a:solidFill>
                  <a:srgbClr val="2E7D32"/>
                </a:solidFill>
              </a:rPr>
              <a:t>   ✓ Doğru cevap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22222"/>
                </a:solidFill>
              </a:rPr>
              <a:t>c)  Teşekkür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22222"/>
                </a:solidFill>
              </a:rPr>
              <a:t>d)  Hava raporu</a:t>
            </a:r>
          </a:p>
        </p:txBody>
      </p:sp>
      <p:sp>
        <p:nvSpPr>
          <p:cNvPr id="5" name="Rectangle 4"/>
          <p:cNvSpPr/>
          <p:nvPr/>
        </p:nvSpPr>
        <p:spPr>
          <a:xfrm>
            <a:off x="6339699" y="960120"/>
            <a:ext cx="5394796" cy="5394960"/>
          </a:xfrm>
          <a:prstGeom prst="rect">
            <a:avLst/>
          </a:prstGeom>
          <a:solidFill>
            <a:srgbClr val="E2EFDA"/>
          </a:solidFill>
          <a:ln w="9525">
            <a:solidFill>
              <a:srgbClr val="9BC1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82880" rIns="182880" rtlCol="0" anchor="ctr"/>
          <a:lstStyle/>
          <a:p>
            <a:pPr algn="ctr">
              <a:spcAft>
                <a:spcPts val="900"/>
              </a:spcAft>
            </a:pPr>
            <a:r>
              <a:rPr sz="1400" b="1">
                <a:solidFill>
                  <a:srgbClr val="2E7D32"/>
                </a:solidFill>
              </a:rPr>
              <a:t>AÇIKLAMA</a:t>
            </a:r>
          </a:p>
          <a:p>
            <a:pPr>
              <a:spcAft>
                <a:spcPts val="1100"/>
              </a:spcAft>
            </a:pPr>
            <a:r>
              <a:rPr sz="1300">
                <a:solidFill>
                  <a:srgbClr val="222222"/>
                </a:solidFill>
              </a:rPr>
              <a:t>TX </a:t>
            </a:r>
            <a:r>
              <a:rPr sz="1300" i="1">
                <a:solidFill>
                  <a:srgbClr val="222222"/>
                </a:solidFill>
              </a:rPr>
              <a:t>(transmitter)</a:t>
            </a:r>
            <a:r>
              <a:rPr sz="1300">
                <a:solidFill>
                  <a:srgbClr val="222222"/>
                </a:solidFill>
              </a:rPr>
              <a:t>, verici cihazı ifade eder </a:t>
            </a:r>
            <a:r>
              <a:rPr sz="1300" i="1">
                <a:solidFill>
                  <a:srgbClr val="222222"/>
                </a:solidFill>
              </a:rPr>
              <a:t>(karşıtı RX — receiver, alıcıdır)</a:t>
            </a:r>
            <a:r>
              <a:rPr sz="1300">
                <a:solidFill>
                  <a:srgbClr val="222222"/>
                </a:solidFill>
              </a:rPr>
              <a:t>.</a:t>
            </a:r>
          </a:p>
          <a:p>
            <a:r>
              <a:rPr sz="1100" b="1">
                <a:solidFill>
                  <a:srgbClr val="1F3864"/>
                </a:solidFill>
              </a:rPr>
              <a:t>Kaynak: </a:t>
            </a:r>
            <a:r>
              <a:rPr sz="1100" i="1">
                <a:solidFill>
                  <a:srgbClr val="404040"/>
                </a:solidFill>
              </a:rPr>
              <a:t>Genel telsiz terminolojisi.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95959"/>
                </a:solidFill>
              </a:rPr>
              <a:t>İşletme — Soru 113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4008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1460175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1">
                <a:solidFill>
                  <a:srgbClr val="FFFFFF"/>
                </a:solidFill>
              </a:rPr>
              <a:t>Soru 114</a:t>
            </a:r>
            <a:r>
              <a:rPr sz="1400">
                <a:solidFill>
                  <a:srgbClr val="D6E4F0"/>
                </a:solidFill>
              </a:rPr>
              <a:t>   ·   Fonetik Alfabe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60120"/>
            <a:ext cx="5608179" cy="5394960"/>
          </a:xfrm>
          <a:prstGeom prst="rect">
            <a:avLst/>
          </a:prstGeom>
          <a:solidFill>
            <a:srgbClr val="F7F9FB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82880" rIns="182880" rtlCol="0" anchor="ctr"/>
          <a:lstStyle/>
          <a:p>
            <a:pPr algn="ctr">
              <a:spcAft>
                <a:spcPts val="1400"/>
              </a:spcAft>
            </a:pPr>
            <a:r>
              <a:rPr sz="1700" b="1">
                <a:solidFill>
                  <a:srgbClr val="222222"/>
                </a:solidFill>
              </a:rPr>
              <a:t>TELSİZ kelimesinin uluslararası fonetik alfabeye göre açılımı nedir?</a:t>
            </a:r>
          </a:p>
          <a:p>
            <a:pPr>
              <a:spcAft>
                <a:spcPts val="800"/>
              </a:spcAft>
            </a:pPr>
            <a:r>
              <a:rPr sz="1500" b="1">
                <a:solidFill>
                  <a:srgbClr val="2E7D32"/>
                </a:solidFill>
              </a:rPr>
              <a:t>a)  Tango - Echo - Lima - Sierra - İndia - Zulu</a:t>
            </a:r>
            <a:r>
              <a:rPr sz="1200" i="1">
                <a:solidFill>
                  <a:srgbClr val="2E7D32"/>
                </a:solidFill>
              </a:rPr>
              <a:t>   ✓ Doğru cevap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22222"/>
                </a:solidFill>
              </a:rPr>
              <a:t>b)  Train - Echo - Local - South - İndia - Zulu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22222"/>
                </a:solidFill>
              </a:rPr>
              <a:t>c)  Tourus - Emiter - Loop - Sierra - İnch - Zoom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22222"/>
                </a:solidFill>
              </a:rPr>
              <a:t>d)  Tango - Echo - London - Source - İnter - Zaire</a:t>
            </a:r>
          </a:p>
        </p:txBody>
      </p:sp>
      <p:sp>
        <p:nvSpPr>
          <p:cNvPr id="5" name="Rectangle 4"/>
          <p:cNvSpPr/>
          <p:nvPr/>
        </p:nvSpPr>
        <p:spPr>
          <a:xfrm>
            <a:off x="6339699" y="960120"/>
            <a:ext cx="5394796" cy="5394960"/>
          </a:xfrm>
          <a:prstGeom prst="rect">
            <a:avLst/>
          </a:prstGeom>
          <a:solidFill>
            <a:srgbClr val="E2EFDA"/>
          </a:solidFill>
          <a:ln w="9525">
            <a:solidFill>
              <a:srgbClr val="9BC1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82880" rIns="182880" rtlCol="0" anchor="ctr"/>
          <a:lstStyle/>
          <a:p>
            <a:pPr algn="ctr">
              <a:spcAft>
                <a:spcPts val="900"/>
              </a:spcAft>
            </a:pPr>
            <a:r>
              <a:rPr sz="1400" b="1">
                <a:solidFill>
                  <a:srgbClr val="2E7D32"/>
                </a:solidFill>
              </a:rPr>
              <a:t>AÇIKLAMA</a:t>
            </a:r>
          </a:p>
          <a:p>
            <a:pPr>
              <a:spcAft>
                <a:spcPts val="1100"/>
              </a:spcAft>
            </a:pPr>
            <a:r>
              <a:rPr sz="1300">
                <a:solidFill>
                  <a:srgbClr val="222222"/>
                </a:solidFill>
              </a:rPr>
              <a:t>T=Tango, E=Echo, L=Lima, S=Sierra, İ=India, Z=Zulu — uluslararası fonetik alfabedeki karşılıklarıdır.</a:t>
            </a:r>
          </a:p>
          <a:p>
            <a:r>
              <a:rPr sz="1100" b="1">
                <a:solidFill>
                  <a:srgbClr val="1F3864"/>
                </a:solidFill>
              </a:rPr>
              <a:t>Kaynak: </a:t>
            </a:r>
            <a:r>
              <a:rPr sz="1100" i="1">
                <a:solidFill>
                  <a:srgbClr val="404040"/>
                </a:solidFill>
              </a:rPr>
              <a:t>NATO/Uluslararası fonetik alfabe ve KEGM ulusal (il adı) fonetik alfabesi.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95959"/>
                </a:solidFill>
              </a:rPr>
              <a:t>İşletme — Soru 114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4008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1460175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1">
                <a:solidFill>
                  <a:srgbClr val="FFFFFF"/>
                </a:solidFill>
              </a:rPr>
              <a:t>Soru 115</a:t>
            </a:r>
            <a:r>
              <a:rPr sz="1400">
                <a:solidFill>
                  <a:srgbClr val="D6E4F0"/>
                </a:solidFill>
              </a:rPr>
              <a:t>   ·   Q-Kodları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60120"/>
            <a:ext cx="5608179" cy="5394960"/>
          </a:xfrm>
          <a:prstGeom prst="rect">
            <a:avLst/>
          </a:prstGeom>
          <a:solidFill>
            <a:srgbClr val="F7F9FB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82880" rIns="182880" rtlCol="0" anchor="ctr"/>
          <a:lstStyle/>
          <a:p>
            <a:pPr algn="ctr">
              <a:spcAft>
                <a:spcPts val="1400"/>
              </a:spcAft>
            </a:pPr>
            <a:r>
              <a:rPr sz="1700" b="1">
                <a:solidFill>
                  <a:srgbClr val="222222"/>
                </a:solidFill>
              </a:rPr>
              <a:t>QSY'nin açılımı nedir?</a:t>
            </a:r>
          </a:p>
          <a:p>
            <a:pPr>
              <a:spcAft>
                <a:spcPts val="800"/>
              </a:spcAft>
            </a:pPr>
            <a:r>
              <a:rPr sz="1500" b="1">
                <a:solidFill>
                  <a:srgbClr val="2E7D32"/>
                </a:solidFill>
              </a:rPr>
              <a:t>a)  Yayını başka frekansa değiştireyim mi?</a:t>
            </a:r>
            <a:r>
              <a:rPr sz="1200" i="1">
                <a:solidFill>
                  <a:srgbClr val="2E7D32"/>
                </a:solidFill>
              </a:rPr>
              <a:t>   ✓ Doğru cevap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22222"/>
                </a:solidFill>
              </a:rPr>
              <a:t>b)  Bir daha ne zaman arayacaksın?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22222"/>
                </a:solidFill>
              </a:rPr>
              <a:t>c)  Göndermeyi bırakayım mı?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22222"/>
                </a:solidFill>
              </a:rPr>
              <a:t>d)  Beni kim arıyor?</a:t>
            </a:r>
          </a:p>
        </p:txBody>
      </p:sp>
      <p:sp>
        <p:nvSpPr>
          <p:cNvPr id="5" name="Rectangle 4"/>
          <p:cNvSpPr/>
          <p:nvPr/>
        </p:nvSpPr>
        <p:spPr>
          <a:xfrm>
            <a:off x="6339699" y="960120"/>
            <a:ext cx="5394796" cy="5394960"/>
          </a:xfrm>
          <a:prstGeom prst="rect">
            <a:avLst/>
          </a:prstGeom>
          <a:solidFill>
            <a:srgbClr val="E2EFDA"/>
          </a:solidFill>
          <a:ln w="9525">
            <a:solidFill>
              <a:srgbClr val="9BC1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82880" rIns="182880" rtlCol="0" anchor="ctr"/>
          <a:lstStyle/>
          <a:p>
            <a:pPr algn="ctr">
              <a:spcAft>
                <a:spcPts val="900"/>
              </a:spcAft>
            </a:pPr>
            <a:r>
              <a:rPr sz="1400" b="1">
                <a:solidFill>
                  <a:srgbClr val="2E7D32"/>
                </a:solidFill>
              </a:rPr>
              <a:t>AÇIKLAMA</a:t>
            </a:r>
          </a:p>
          <a:p>
            <a:pPr>
              <a:spcAft>
                <a:spcPts val="1100"/>
              </a:spcAft>
            </a:pPr>
            <a:r>
              <a:rPr sz="1300">
                <a:solidFill>
                  <a:srgbClr val="222222"/>
                </a:solidFill>
              </a:rPr>
              <a:t>QSY, başka bir frekansa geçmeyi teklif etmek veya bildirmek için kullanılır.</a:t>
            </a:r>
          </a:p>
          <a:p>
            <a:r>
              <a:rPr sz="1100" b="1">
                <a:solidFill>
                  <a:srgbClr val="1F3864"/>
                </a:solidFill>
              </a:rPr>
              <a:t>Kaynak: </a:t>
            </a:r>
            <a:r>
              <a:rPr sz="1100" i="1">
                <a:solidFill>
                  <a:srgbClr val="404040"/>
                </a:solidFill>
              </a:rPr>
              <a:t>ITU Q-kod tablosu (uluslararası standart kısaltılmış telsiz sinyalleri).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95959"/>
                </a:solidFill>
              </a:rPr>
              <a:t>İşletme — Soru 115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4008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1460175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1">
                <a:solidFill>
                  <a:srgbClr val="FFFFFF"/>
                </a:solidFill>
              </a:rPr>
              <a:t>Soru 116</a:t>
            </a:r>
            <a:r>
              <a:rPr sz="1400">
                <a:solidFill>
                  <a:srgbClr val="D6E4F0"/>
                </a:solidFill>
              </a:rPr>
              <a:t>   ·   Kısaltmalar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60120"/>
            <a:ext cx="5608179" cy="5394960"/>
          </a:xfrm>
          <a:prstGeom prst="rect">
            <a:avLst/>
          </a:prstGeom>
          <a:solidFill>
            <a:srgbClr val="F7F9FB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82880" rIns="182880" rtlCol="0" anchor="ctr"/>
          <a:lstStyle/>
          <a:p>
            <a:pPr algn="ctr">
              <a:spcAft>
                <a:spcPts val="1400"/>
              </a:spcAft>
            </a:pPr>
            <a:r>
              <a:rPr sz="1700" b="1">
                <a:solidFill>
                  <a:srgbClr val="222222"/>
                </a:solidFill>
              </a:rPr>
              <a:t>Amatör Telsizcilik Haberleşmesinde kullanılan 'BK' kısaltması ne anlama gelir?</a:t>
            </a:r>
          </a:p>
          <a:p>
            <a:pPr>
              <a:spcAft>
                <a:spcPts val="800"/>
              </a:spcAft>
            </a:pPr>
            <a:r>
              <a:rPr sz="1500" b="1">
                <a:solidFill>
                  <a:srgbClr val="2E7D32"/>
                </a:solidFill>
              </a:rPr>
              <a:t>a)  Devam etmekte olan bir yayının kesilmesi için kullanılan sinyal</a:t>
            </a:r>
            <a:r>
              <a:rPr sz="1200" i="1">
                <a:solidFill>
                  <a:srgbClr val="2E7D32"/>
                </a:solidFill>
              </a:rPr>
              <a:t>   ✓ Doğru cevap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22222"/>
                </a:solidFill>
              </a:rPr>
              <a:t>b)  Mesaj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22222"/>
                </a:solidFill>
              </a:rPr>
              <a:t>c)  Alındı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22222"/>
                </a:solidFill>
              </a:rPr>
              <a:t>d)  Senin</a:t>
            </a:r>
          </a:p>
        </p:txBody>
      </p:sp>
      <p:sp>
        <p:nvSpPr>
          <p:cNvPr id="5" name="Rectangle 4"/>
          <p:cNvSpPr/>
          <p:nvPr/>
        </p:nvSpPr>
        <p:spPr>
          <a:xfrm>
            <a:off x="6339699" y="960120"/>
            <a:ext cx="5394796" cy="5394960"/>
          </a:xfrm>
          <a:prstGeom prst="rect">
            <a:avLst/>
          </a:prstGeom>
          <a:solidFill>
            <a:srgbClr val="E2EFDA"/>
          </a:solidFill>
          <a:ln w="9525">
            <a:solidFill>
              <a:srgbClr val="9BC1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82880" rIns="182880" rtlCol="0" anchor="ctr"/>
          <a:lstStyle/>
          <a:p>
            <a:pPr algn="ctr">
              <a:spcAft>
                <a:spcPts val="900"/>
              </a:spcAft>
            </a:pPr>
            <a:r>
              <a:rPr sz="1400" b="1">
                <a:solidFill>
                  <a:srgbClr val="2E7D32"/>
                </a:solidFill>
              </a:rPr>
              <a:t>AÇIKLAMA</a:t>
            </a:r>
          </a:p>
          <a:p>
            <a:pPr>
              <a:spcAft>
                <a:spcPts val="1100"/>
              </a:spcAft>
            </a:pPr>
            <a:r>
              <a:rPr sz="1300">
                <a:solidFill>
                  <a:srgbClr val="222222"/>
                </a:solidFill>
              </a:rPr>
              <a:t>BK </a:t>
            </a:r>
            <a:r>
              <a:rPr sz="1300" i="1">
                <a:solidFill>
                  <a:srgbClr val="222222"/>
                </a:solidFill>
              </a:rPr>
              <a:t>(break)</a:t>
            </a:r>
            <a:r>
              <a:rPr sz="1300">
                <a:solidFill>
                  <a:srgbClr val="222222"/>
                </a:solidFill>
              </a:rPr>
              <a:t>, devam eden bir görüşmeye kısa süreliğine araya girmek </a:t>
            </a:r>
            <a:r>
              <a:rPr sz="1300" i="1">
                <a:solidFill>
                  <a:srgbClr val="222222"/>
                </a:solidFill>
              </a:rPr>
              <a:t>(bir şey eklemek veya acil bir durumu bildirmek)</a:t>
            </a:r>
            <a:r>
              <a:rPr sz="1300">
                <a:solidFill>
                  <a:srgbClr val="222222"/>
                </a:solidFill>
              </a:rPr>
              <a:t> için kullanılır.</a:t>
            </a:r>
          </a:p>
          <a:p>
            <a:r>
              <a:rPr sz="1100" b="1">
                <a:solidFill>
                  <a:srgbClr val="1F3864"/>
                </a:solidFill>
              </a:rPr>
              <a:t>Kaynak: </a:t>
            </a:r>
            <a:r>
              <a:rPr sz="1100" i="1">
                <a:solidFill>
                  <a:srgbClr val="404040"/>
                </a:solidFill>
              </a:rPr>
              <a:t>Geleneksel telgraf/telefon kısaltmaları.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95959"/>
                </a:solidFill>
              </a:rPr>
              <a:t>İşletme — Soru 116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4008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1460175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1">
                <a:solidFill>
                  <a:srgbClr val="FFFFFF"/>
                </a:solidFill>
              </a:rPr>
              <a:t>Soru 117</a:t>
            </a:r>
            <a:r>
              <a:rPr sz="1400">
                <a:solidFill>
                  <a:srgbClr val="D6E4F0"/>
                </a:solidFill>
              </a:rPr>
              <a:t>   ·   Kısaltmalar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60120"/>
            <a:ext cx="5608179" cy="5394960"/>
          </a:xfrm>
          <a:prstGeom prst="rect">
            <a:avLst/>
          </a:prstGeom>
          <a:solidFill>
            <a:srgbClr val="F7F9FB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82880" rIns="182880" rtlCol="0" anchor="ctr"/>
          <a:lstStyle/>
          <a:p>
            <a:pPr algn="ctr">
              <a:spcAft>
                <a:spcPts val="1400"/>
              </a:spcAft>
            </a:pPr>
            <a:r>
              <a:rPr sz="1700" b="1">
                <a:solidFill>
                  <a:srgbClr val="222222"/>
                </a:solidFill>
              </a:rPr>
              <a:t>'UR' kısaltmasının anlamı nedir?</a:t>
            </a:r>
          </a:p>
          <a:p>
            <a:pPr>
              <a:spcAft>
                <a:spcPts val="800"/>
              </a:spcAft>
            </a:pPr>
            <a:r>
              <a:rPr sz="1500" b="1">
                <a:solidFill>
                  <a:srgbClr val="2E7D32"/>
                </a:solidFill>
              </a:rPr>
              <a:t>a)  Senin</a:t>
            </a:r>
            <a:r>
              <a:rPr sz="1200" i="1">
                <a:solidFill>
                  <a:srgbClr val="2E7D32"/>
                </a:solidFill>
              </a:rPr>
              <a:t>   ✓ Doğru cevap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22222"/>
                </a:solidFill>
              </a:rPr>
              <a:t>b)  Alıcı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22222"/>
                </a:solidFill>
              </a:rPr>
              <a:t>c)  Lütfen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22222"/>
                </a:solidFill>
              </a:rPr>
              <a:t>d)  Verici</a:t>
            </a:r>
          </a:p>
        </p:txBody>
      </p:sp>
      <p:sp>
        <p:nvSpPr>
          <p:cNvPr id="5" name="Rectangle 4"/>
          <p:cNvSpPr/>
          <p:nvPr/>
        </p:nvSpPr>
        <p:spPr>
          <a:xfrm>
            <a:off x="6339699" y="960120"/>
            <a:ext cx="5394796" cy="5394960"/>
          </a:xfrm>
          <a:prstGeom prst="rect">
            <a:avLst/>
          </a:prstGeom>
          <a:solidFill>
            <a:srgbClr val="E2EFDA"/>
          </a:solidFill>
          <a:ln w="9525">
            <a:solidFill>
              <a:srgbClr val="9BC1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82880" rIns="182880" rtlCol="0" anchor="ctr"/>
          <a:lstStyle/>
          <a:p>
            <a:pPr algn="ctr">
              <a:spcAft>
                <a:spcPts val="900"/>
              </a:spcAft>
            </a:pPr>
            <a:r>
              <a:rPr sz="1400" b="1">
                <a:solidFill>
                  <a:srgbClr val="2E7D32"/>
                </a:solidFill>
              </a:rPr>
              <a:t>AÇIKLAMA</a:t>
            </a:r>
          </a:p>
          <a:p>
            <a:pPr>
              <a:spcAft>
                <a:spcPts val="1100"/>
              </a:spcAft>
            </a:pPr>
            <a:r>
              <a:rPr sz="1300">
                <a:solidFill>
                  <a:srgbClr val="222222"/>
                </a:solidFill>
              </a:rPr>
              <a:t>UR </a:t>
            </a:r>
            <a:r>
              <a:rPr sz="1300" i="1">
                <a:solidFill>
                  <a:srgbClr val="222222"/>
                </a:solidFill>
              </a:rPr>
              <a:t>(your)</a:t>
            </a:r>
            <a:r>
              <a:rPr sz="1300">
                <a:solidFill>
                  <a:srgbClr val="222222"/>
                </a:solidFill>
              </a:rPr>
              <a:t>, CW haberleşmesinde 'senin/sizin' anlamına gelen kısaltmadır </a:t>
            </a:r>
            <a:r>
              <a:rPr sz="1300" i="1">
                <a:solidFill>
                  <a:srgbClr val="222222"/>
                </a:solidFill>
              </a:rPr>
              <a:t>(örn. 'UR RST' = 'senin RST raporun')</a:t>
            </a:r>
            <a:r>
              <a:rPr sz="1300">
                <a:solidFill>
                  <a:srgbClr val="222222"/>
                </a:solidFill>
              </a:rPr>
              <a:t>.</a:t>
            </a:r>
          </a:p>
          <a:p>
            <a:r>
              <a:rPr sz="1100" b="1">
                <a:solidFill>
                  <a:srgbClr val="1F3864"/>
                </a:solidFill>
              </a:rPr>
              <a:t>Kaynak: </a:t>
            </a:r>
            <a:r>
              <a:rPr sz="1100" i="1">
                <a:solidFill>
                  <a:srgbClr val="404040"/>
                </a:solidFill>
              </a:rPr>
              <a:t>Geleneksel CW kısaltmaları.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95959"/>
                </a:solidFill>
              </a:rPr>
              <a:t>İşletme — Soru 117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4008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1460175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1">
                <a:solidFill>
                  <a:srgbClr val="FFFFFF"/>
                </a:solidFill>
              </a:rPr>
              <a:t>Soru 118</a:t>
            </a:r>
            <a:r>
              <a:rPr sz="1400">
                <a:solidFill>
                  <a:srgbClr val="D6E4F0"/>
                </a:solidFill>
              </a:rPr>
              <a:t>   ·   Güç Sınırları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60120"/>
            <a:ext cx="5608179" cy="5394960"/>
          </a:xfrm>
          <a:prstGeom prst="rect">
            <a:avLst/>
          </a:prstGeom>
          <a:solidFill>
            <a:srgbClr val="F7F9FB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82880" rIns="182880" rtlCol="0" anchor="ctr"/>
          <a:lstStyle/>
          <a:p>
            <a:pPr algn="ctr">
              <a:spcAft>
                <a:spcPts val="1400"/>
              </a:spcAft>
            </a:pPr>
            <a:r>
              <a:rPr sz="1700" b="1">
                <a:solidFill>
                  <a:srgbClr val="222222"/>
                </a:solidFill>
              </a:rPr>
              <a:t>A sınıfı belgeye sahip olan Amatör telsizcilerin 1810 - 1840 Khz band aralığındaki verici çıkış gücü ne olmalıdır?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22222"/>
                </a:solidFill>
              </a:rPr>
              <a:t>a)  1 W</a:t>
            </a:r>
          </a:p>
          <a:p>
            <a:pPr>
              <a:spcAft>
                <a:spcPts val="800"/>
              </a:spcAft>
            </a:pPr>
            <a:r>
              <a:rPr sz="1500" b="1">
                <a:solidFill>
                  <a:srgbClr val="2E7D32"/>
                </a:solidFill>
              </a:rPr>
              <a:t>b)  9 W</a:t>
            </a:r>
            <a:r>
              <a:rPr sz="1200" i="1">
                <a:solidFill>
                  <a:srgbClr val="2E7D32"/>
                </a:solidFill>
              </a:rPr>
              <a:t>   ✓ Doğru cevap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22222"/>
                </a:solidFill>
              </a:rPr>
              <a:t>c)  75 W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22222"/>
                </a:solidFill>
              </a:rPr>
              <a:t>d)  100 W</a:t>
            </a:r>
          </a:p>
        </p:txBody>
      </p:sp>
      <p:sp>
        <p:nvSpPr>
          <p:cNvPr id="5" name="Rectangle 4"/>
          <p:cNvSpPr/>
          <p:nvPr/>
        </p:nvSpPr>
        <p:spPr>
          <a:xfrm>
            <a:off x="6339699" y="960120"/>
            <a:ext cx="5394796" cy="5394960"/>
          </a:xfrm>
          <a:prstGeom prst="rect">
            <a:avLst/>
          </a:prstGeom>
          <a:solidFill>
            <a:srgbClr val="E2EFDA"/>
          </a:solidFill>
          <a:ln w="9525">
            <a:solidFill>
              <a:srgbClr val="9BC1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82880" rIns="182880" rtlCol="0" anchor="ctr"/>
          <a:lstStyle/>
          <a:p>
            <a:pPr algn="ctr">
              <a:spcAft>
                <a:spcPts val="900"/>
              </a:spcAft>
            </a:pPr>
            <a:r>
              <a:rPr sz="1400" b="1">
                <a:solidFill>
                  <a:srgbClr val="2E7D32"/>
                </a:solidFill>
              </a:rPr>
              <a:t>AÇIKLAMA</a:t>
            </a:r>
          </a:p>
          <a:p>
            <a:pPr>
              <a:spcAft>
                <a:spcPts val="1100"/>
              </a:spcAft>
            </a:pPr>
            <a:r>
              <a:rPr sz="1300">
                <a:solidFill>
                  <a:srgbClr val="222222"/>
                </a:solidFill>
              </a:rPr>
              <a:t>Bu segmentte A sınıfı için tanınan azami çıkış gücü 9 W'tır — diğer HF bantlarına göre daha düşük bir sınırdır.</a:t>
            </a:r>
          </a:p>
          <a:p>
            <a:r>
              <a:rPr sz="1100" b="1">
                <a:solidFill>
                  <a:srgbClr val="1F3864"/>
                </a:solidFill>
              </a:rPr>
              <a:t>Kaynak: </a:t>
            </a:r>
            <a:r>
              <a:rPr sz="1100" i="1">
                <a:solidFill>
                  <a:srgbClr val="404040"/>
                </a:solidFill>
              </a:rPr>
              <a:t>Özel Telsiz Sistemleri Yönetmeliği EK-4 Tablo-1 (güç sınırları).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95959"/>
                </a:solidFill>
              </a:rPr>
              <a:t>İşletme — Soru 118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4008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1460175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1">
                <a:solidFill>
                  <a:srgbClr val="FFFFFF"/>
                </a:solidFill>
              </a:rPr>
              <a:t>Soru 119</a:t>
            </a:r>
            <a:r>
              <a:rPr sz="1400">
                <a:solidFill>
                  <a:srgbClr val="D6E4F0"/>
                </a:solidFill>
              </a:rPr>
              <a:t>   ·   Emisyon Kodları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60120"/>
            <a:ext cx="5608179" cy="5394960"/>
          </a:xfrm>
          <a:prstGeom prst="rect">
            <a:avLst/>
          </a:prstGeom>
          <a:solidFill>
            <a:srgbClr val="F7F9FB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82880" rIns="182880" rtlCol="0" anchor="ctr"/>
          <a:lstStyle/>
          <a:p>
            <a:pPr algn="ctr">
              <a:spcAft>
                <a:spcPts val="1400"/>
              </a:spcAft>
            </a:pPr>
            <a:r>
              <a:rPr sz="1700" b="1">
                <a:solidFill>
                  <a:srgbClr val="222222"/>
                </a:solidFill>
              </a:rPr>
              <a:t>A1A'nın anlamı nedir?</a:t>
            </a:r>
          </a:p>
          <a:p>
            <a:pPr>
              <a:spcAft>
                <a:spcPts val="800"/>
              </a:spcAft>
            </a:pPr>
            <a:r>
              <a:rPr sz="1500" b="1">
                <a:solidFill>
                  <a:srgbClr val="2E7D32"/>
                </a:solidFill>
              </a:rPr>
              <a:t>a)  Genlik Modülasyonlu, çift kenar band modüle edici alt taşıyıcı kullanmayan, sayısal bilgi ihtiva eden tek kanallı açık-kapalı şeklinde anahtarlama sistemi ile çalışan telgraf yayını</a:t>
            </a:r>
            <a:r>
              <a:rPr sz="1200" i="1">
                <a:solidFill>
                  <a:srgbClr val="2E7D32"/>
                </a:solidFill>
              </a:rPr>
              <a:t>   ✓ Doğru cevap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22222"/>
                </a:solidFill>
              </a:rPr>
              <a:t>b)  Genlik Modülasyonlu, tek kenar band modüle edici alt taşıyıcı kullanmayan, bilgi ihtiva eden tek kanallı otomatik telgraf yayını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22222"/>
                </a:solidFill>
              </a:rPr>
              <a:t>c)  Genlik Modülasyonlu, çift kenar band analog bilgi ihtiva eden tek kanallı faksimil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22222"/>
                </a:solidFill>
              </a:rPr>
              <a:t>d)  Genlik Modülasyonlu, artık yan band analog bilgi ihtiva eden tek kanallı televizyon yayını</a:t>
            </a:r>
          </a:p>
        </p:txBody>
      </p:sp>
      <p:sp>
        <p:nvSpPr>
          <p:cNvPr id="5" name="Rectangle 4"/>
          <p:cNvSpPr/>
          <p:nvPr/>
        </p:nvSpPr>
        <p:spPr>
          <a:xfrm>
            <a:off x="6339699" y="960120"/>
            <a:ext cx="5394796" cy="5394960"/>
          </a:xfrm>
          <a:prstGeom prst="rect">
            <a:avLst/>
          </a:prstGeom>
          <a:solidFill>
            <a:srgbClr val="E2EFDA"/>
          </a:solidFill>
          <a:ln w="9525">
            <a:solidFill>
              <a:srgbClr val="9BC1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82880" rIns="182880" rtlCol="0" anchor="ctr"/>
          <a:lstStyle/>
          <a:p>
            <a:pPr algn="ctr">
              <a:spcAft>
                <a:spcPts val="900"/>
              </a:spcAft>
            </a:pPr>
            <a:r>
              <a:rPr sz="1400" b="1">
                <a:solidFill>
                  <a:srgbClr val="2E7D32"/>
                </a:solidFill>
              </a:rPr>
              <a:t>AÇIKLAMA</a:t>
            </a:r>
          </a:p>
          <a:p>
            <a:pPr>
              <a:spcAft>
                <a:spcPts val="1100"/>
              </a:spcAft>
            </a:pPr>
            <a:r>
              <a:rPr sz="1300">
                <a:solidFill>
                  <a:srgbClr val="222222"/>
                </a:solidFill>
              </a:rPr>
              <a:t>A1A, klasik el ile anahtarlanan Mors </a:t>
            </a:r>
            <a:r>
              <a:rPr sz="1300" i="1">
                <a:solidFill>
                  <a:srgbClr val="222222"/>
                </a:solidFill>
              </a:rPr>
              <a:t>(CW)</a:t>
            </a:r>
            <a:r>
              <a:rPr sz="1300">
                <a:solidFill>
                  <a:srgbClr val="222222"/>
                </a:solidFill>
              </a:rPr>
              <a:t> telgrafının ITU emisyon kodudur: genlik modülasyonlu, çift yan bant, açık-kapalı anahtarlamalı telgraf.</a:t>
            </a:r>
          </a:p>
          <a:p>
            <a:r>
              <a:rPr sz="1100" b="1">
                <a:solidFill>
                  <a:srgbClr val="1F3864"/>
                </a:solidFill>
              </a:rPr>
              <a:t>Kaynak: </a:t>
            </a:r>
            <a:r>
              <a:rPr sz="1100" i="1">
                <a:solidFill>
                  <a:srgbClr val="404040"/>
                </a:solidFill>
              </a:rPr>
              <a:t>ITU emisyon sınıflandırma sistemi.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95959"/>
                </a:solidFill>
              </a:rPr>
              <a:t>İşletme — Soru 119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4008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1460175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1">
                <a:solidFill>
                  <a:srgbClr val="FFFFFF"/>
                </a:solidFill>
              </a:rPr>
              <a:t>Soru 120</a:t>
            </a:r>
            <a:r>
              <a:rPr sz="1400">
                <a:solidFill>
                  <a:srgbClr val="D6E4F0"/>
                </a:solidFill>
              </a:rPr>
              <a:t>   ·   Emisyon Kodları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60120"/>
            <a:ext cx="5608179" cy="5394960"/>
          </a:xfrm>
          <a:prstGeom prst="rect">
            <a:avLst/>
          </a:prstGeom>
          <a:solidFill>
            <a:srgbClr val="F7F9FB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82880" rIns="182880" rtlCol="0" anchor="ctr"/>
          <a:lstStyle/>
          <a:p>
            <a:pPr algn="ctr">
              <a:spcAft>
                <a:spcPts val="1400"/>
              </a:spcAft>
            </a:pPr>
            <a:r>
              <a:rPr sz="1700" b="1">
                <a:solidFill>
                  <a:srgbClr val="222222"/>
                </a:solidFill>
              </a:rPr>
              <a:t>J3E'nin anlamı nedir?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22222"/>
                </a:solidFill>
              </a:rPr>
              <a:t>a)  Genlik Modülasyonlu, tek kenar band, taşıyıcı bastırılmış, modüle edici alt taşıyıcı kullanan, sayısal bilgi ihtiva eden, tek kanallı otomatik telgraf yayını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22222"/>
                </a:solidFill>
              </a:rPr>
              <a:t>b)  Genlik Modülasyonlu, tek kenar band, taşıyıcısı bastırılmış, analog bilgi ihtiva eden, tek kanallı faksimil</a:t>
            </a:r>
          </a:p>
          <a:p>
            <a:pPr>
              <a:spcAft>
                <a:spcPts val="800"/>
              </a:spcAft>
            </a:pPr>
            <a:r>
              <a:rPr sz="1500" b="1">
                <a:solidFill>
                  <a:srgbClr val="2E7D32"/>
                </a:solidFill>
              </a:rPr>
              <a:t>c)  Genlik Modülasyonlu, tek kenar band, taşıyıcısı bastırılmış, analog bilgi ihtiva eden, tek kanallı telefon yayını</a:t>
            </a:r>
            <a:r>
              <a:rPr sz="1200" i="1">
                <a:solidFill>
                  <a:srgbClr val="2E7D32"/>
                </a:solidFill>
              </a:rPr>
              <a:t>   ✓ Doğru cevap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22222"/>
                </a:solidFill>
              </a:rPr>
              <a:t>d)  Genlik Modülasyonlu, tek kenar band, taşıyıcısı bastırılmış, analog bilgi ihtiva eden, tek kanallı televizyon yayını</a:t>
            </a:r>
          </a:p>
        </p:txBody>
      </p:sp>
      <p:sp>
        <p:nvSpPr>
          <p:cNvPr id="5" name="Rectangle 4"/>
          <p:cNvSpPr/>
          <p:nvPr/>
        </p:nvSpPr>
        <p:spPr>
          <a:xfrm>
            <a:off x="6339699" y="960120"/>
            <a:ext cx="5394796" cy="5394960"/>
          </a:xfrm>
          <a:prstGeom prst="rect">
            <a:avLst/>
          </a:prstGeom>
          <a:solidFill>
            <a:srgbClr val="E2EFDA"/>
          </a:solidFill>
          <a:ln w="9525">
            <a:solidFill>
              <a:srgbClr val="9BC1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82880" rIns="182880" rtlCol="0" anchor="ctr"/>
          <a:lstStyle/>
          <a:p>
            <a:pPr algn="ctr">
              <a:spcAft>
                <a:spcPts val="900"/>
              </a:spcAft>
            </a:pPr>
            <a:r>
              <a:rPr sz="1400" b="1">
                <a:solidFill>
                  <a:srgbClr val="2E7D32"/>
                </a:solidFill>
              </a:rPr>
              <a:t>AÇIKLAMA</a:t>
            </a:r>
          </a:p>
          <a:p>
            <a:pPr>
              <a:spcAft>
                <a:spcPts val="1100"/>
              </a:spcAft>
            </a:pPr>
            <a:r>
              <a:rPr sz="1300">
                <a:solidFill>
                  <a:srgbClr val="222222"/>
                </a:solidFill>
              </a:rPr>
              <a:t>J3E, amatör telsizcilikte en yaygın kullanılan ses modu olan SSB'nin </a:t>
            </a:r>
            <a:r>
              <a:rPr sz="1300" i="1">
                <a:solidFill>
                  <a:srgbClr val="222222"/>
                </a:solidFill>
              </a:rPr>
              <a:t>(Single Side Band — tek yan bant)</a:t>
            </a:r>
            <a:r>
              <a:rPr sz="1300">
                <a:solidFill>
                  <a:srgbClr val="222222"/>
                </a:solidFill>
              </a:rPr>
              <a:t> ITU emisyon kodudur: taşıyıcısı bastırılmış, tek yan bantlı sesli </a:t>
            </a:r>
            <a:r>
              <a:rPr sz="1300" i="1">
                <a:solidFill>
                  <a:srgbClr val="222222"/>
                </a:solidFill>
              </a:rPr>
              <a:t>(telefon)</a:t>
            </a:r>
            <a:r>
              <a:rPr sz="1300">
                <a:solidFill>
                  <a:srgbClr val="222222"/>
                </a:solidFill>
              </a:rPr>
              <a:t> yayın.</a:t>
            </a:r>
          </a:p>
          <a:p>
            <a:r>
              <a:rPr sz="1100" b="1">
                <a:solidFill>
                  <a:srgbClr val="1F3864"/>
                </a:solidFill>
              </a:rPr>
              <a:t>Kaynak: </a:t>
            </a:r>
            <a:r>
              <a:rPr sz="1100" i="1">
                <a:solidFill>
                  <a:srgbClr val="404040"/>
                </a:solidFill>
              </a:rPr>
              <a:t>ITU emisyon sınıflandırma sistemi.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95959"/>
                </a:solidFill>
              </a:rPr>
              <a:t>İşletme — Soru 120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4008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1460175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1">
                <a:solidFill>
                  <a:srgbClr val="FFFFFF"/>
                </a:solidFill>
              </a:rPr>
              <a:t>Soru 121</a:t>
            </a:r>
            <a:r>
              <a:rPr sz="1400">
                <a:solidFill>
                  <a:srgbClr val="D6E4F0"/>
                </a:solidFill>
              </a:rPr>
              <a:t>   ·   Bant Planı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60120"/>
            <a:ext cx="5608179" cy="5394960"/>
          </a:xfrm>
          <a:prstGeom prst="rect">
            <a:avLst/>
          </a:prstGeom>
          <a:solidFill>
            <a:srgbClr val="F7F9FB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82880" rIns="182880" rtlCol="0" anchor="ctr"/>
          <a:lstStyle/>
          <a:p>
            <a:pPr algn="ctr">
              <a:spcAft>
                <a:spcPts val="1400"/>
              </a:spcAft>
            </a:pPr>
            <a:r>
              <a:rPr sz="1700" b="1">
                <a:solidFill>
                  <a:srgbClr val="222222"/>
                </a:solidFill>
              </a:rPr>
              <a:t>6 metre band içindeki frekans hangisidir?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22222"/>
                </a:solidFill>
              </a:rPr>
              <a:t>a)  49.00 Mhz</a:t>
            </a:r>
          </a:p>
          <a:p>
            <a:pPr>
              <a:spcAft>
                <a:spcPts val="800"/>
              </a:spcAft>
            </a:pPr>
            <a:r>
              <a:rPr sz="1500" b="1">
                <a:solidFill>
                  <a:srgbClr val="2E7D32"/>
                </a:solidFill>
              </a:rPr>
              <a:t>b)  51.525 Mhz</a:t>
            </a:r>
            <a:r>
              <a:rPr sz="1200" i="1">
                <a:solidFill>
                  <a:srgbClr val="2E7D32"/>
                </a:solidFill>
              </a:rPr>
              <a:t>   ✓ Doğru cevap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22222"/>
                </a:solidFill>
              </a:rPr>
              <a:t>c)  28.50 Mhz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22222"/>
                </a:solidFill>
              </a:rPr>
              <a:t>d)  222.15 Mhz</a:t>
            </a:r>
          </a:p>
        </p:txBody>
      </p:sp>
      <p:sp>
        <p:nvSpPr>
          <p:cNvPr id="5" name="Rectangle 4"/>
          <p:cNvSpPr/>
          <p:nvPr/>
        </p:nvSpPr>
        <p:spPr>
          <a:xfrm>
            <a:off x="6339699" y="960120"/>
            <a:ext cx="5394796" cy="5394960"/>
          </a:xfrm>
          <a:prstGeom prst="rect">
            <a:avLst/>
          </a:prstGeom>
          <a:solidFill>
            <a:srgbClr val="E2EFDA"/>
          </a:solidFill>
          <a:ln w="9525">
            <a:solidFill>
              <a:srgbClr val="9BC1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82880" rIns="182880" rtlCol="0" anchor="ctr"/>
          <a:lstStyle/>
          <a:p>
            <a:pPr algn="ctr">
              <a:spcAft>
                <a:spcPts val="900"/>
              </a:spcAft>
            </a:pPr>
            <a:r>
              <a:rPr sz="1400" b="1">
                <a:solidFill>
                  <a:srgbClr val="2E7D32"/>
                </a:solidFill>
              </a:rPr>
              <a:t>AÇIKLAMA</a:t>
            </a:r>
          </a:p>
          <a:p>
            <a:pPr>
              <a:spcAft>
                <a:spcPts val="1100"/>
              </a:spcAft>
            </a:pPr>
            <a:r>
              <a:rPr sz="1300">
                <a:solidFill>
                  <a:srgbClr val="222222"/>
                </a:solidFill>
              </a:rPr>
              <a:t>6 metre bandı 50-54 MHz aralığındadır; 51.525 MHz bu aralığın içindedir.</a:t>
            </a:r>
          </a:p>
          <a:p>
            <a:r>
              <a:rPr sz="1100" b="1">
                <a:solidFill>
                  <a:srgbClr val="1F3864"/>
                </a:solidFill>
              </a:rPr>
              <a:t>Kaynak: </a:t>
            </a:r>
            <a:r>
              <a:rPr sz="1100" i="1">
                <a:solidFill>
                  <a:srgbClr val="404040"/>
                </a:solidFill>
              </a:rPr>
              <a:t>IARU Region-1 amatör bant planı.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95959"/>
                </a:solidFill>
              </a:rPr>
              <a:t>İşletme — Soru 121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4008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1460175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1">
                <a:solidFill>
                  <a:srgbClr val="FFFFFF"/>
                </a:solidFill>
              </a:rPr>
              <a:t>Soru 122</a:t>
            </a:r>
            <a:r>
              <a:rPr sz="1400">
                <a:solidFill>
                  <a:srgbClr val="D6E4F0"/>
                </a:solidFill>
              </a:rPr>
              <a:t>   ·   Genel Bilgi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60120"/>
            <a:ext cx="5608179" cy="5394960"/>
          </a:xfrm>
          <a:prstGeom prst="rect">
            <a:avLst/>
          </a:prstGeom>
          <a:solidFill>
            <a:srgbClr val="F7F9FB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82880" rIns="182880" rtlCol="0" anchor="ctr"/>
          <a:lstStyle/>
          <a:p>
            <a:pPr algn="ctr">
              <a:spcAft>
                <a:spcPts val="1400"/>
              </a:spcAft>
            </a:pPr>
            <a:r>
              <a:rPr sz="1700" b="1">
                <a:solidFill>
                  <a:srgbClr val="222222"/>
                </a:solidFill>
              </a:rPr>
              <a:t>Bir alıcı –vericideki susturma kontrolünün amacı nedir?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22222"/>
                </a:solidFill>
              </a:rPr>
              <a:t>a)  İstenilen sesin en yüksek seviyesini ayarlamak için kullanılır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22222"/>
                </a:solidFill>
              </a:rPr>
              <a:t>b)  Alıcı –Verici güç düzeyini ayarlamak için kullanılır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22222"/>
                </a:solidFill>
              </a:rPr>
              <a:t>c)  Anten polarizasyonunu ayarlamak için kullanılır</a:t>
            </a:r>
          </a:p>
          <a:p>
            <a:pPr>
              <a:spcAft>
                <a:spcPts val="800"/>
              </a:spcAft>
            </a:pPr>
            <a:r>
              <a:rPr sz="1500" b="1">
                <a:solidFill>
                  <a:srgbClr val="2E7D32"/>
                </a:solidFill>
              </a:rPr>
              <a:t>d)  Hiçbir sinyal alınmadığı zaman gürültüyü kesmek kullanılır</a:t>
            </a:r>
            <a:r>
              <a:rPr sz="1200" i="1">
                <a:solidFill>
                  <a:srgbClr val="2E7D32"/>
                </a:solidFill>
              </a:rPr>
              <a:t>   ✓ Doğru cevap</a:t>
            </a:r>
          </a:p>
        </p:txBody>
      </p:sp>
      <p:sp>
        <p:nvSpPr>
          <p:cNvPr id="5" name="Rectangle 4"/>
          <p:cNvSpPr/>
          <p:nvPr/>
        </p:nvSpPr>
        <p:spPr>
          <a:xfrm>
            <a:off x="6339699" y="960120"/>
            <a:ext cx="5394796" cy="5394960"/>
          </a:xfrm>
          <a:prstGeom prst="rect">
            <a:avLst/>
          </a:prstGeom>
          <a:solidFill>
            <a:srgbClr val="E2EFDA"/>
          </a:solidFill>
          <a:ln w="9525">
            <a:solidFill>
              <a:srgbClr val="9BC1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82880" rIns="182880" rtlCol="0" anchor="ctr"/>
          <a:lstStyle/>
          <a:p>
            <a:pPr algn="ctr">
              <a:spcAft>
                <a:spcPts val="900"/>
              </a:spcAft>
            </a:pPr>
            <a:r>
              <a:rPr sz="1400" b="1">
                <a:solidFill>
                  <a:srgbClr val="2E7D32"/>
                </a:solidFill>
              </a:rPr>
              <a:t>AÇIKLAMA</a:t>
            </a:r>
          </a:p>
          <a:p>
            <a:pPr>
              <a:spcAft>
                <a:spcPts val="1100"/>
              </a:spcAft>
            </a:pPr>
            <a:r>
              <a:rPr sz="1300">
                <a:solidFill>
                  <a:srgbClr val="222222"/>
                </a:solidFill>
              </a:rPr>
              <a:t>Squelch </a:t>
            </a:r>
            <a:r>
              <a:rPr sz="1300" i="1">
                <a:solidFill>
                  <a:srgbClr val="222222"/>
                </a:solidFill>
              </a:rPr>
              <a:t>(susturma)</a:t>
            </a:r>
            <a:r>
              <a:rPr sz="1300">
                <a:solidFill>
                  <a:srgbClr val="222222"/>
                </a:solidFill>
              </a:rPr>
              <a:t>, sinyal olmadığında hoparlörden gelen sürekli statik gürültüyü otomatik olarak keser; sinyal geldiğinde tekrar açılır.</a:t>
            </a:r>
          </a:p>
          <a:p>
            <a:r>
              <a:rPr sz="1100" b="1">
                <a:solidFill>
                  <a:srgbClr val="1F3864"/>
                </a:solidFill>
              </a:rPr>
              <a:t>Kaynak: </a:t>
            </a:r>
            <a:r>
              <a:rPr sz="1100" i="1">
                <a:solidFill>
                  <a:srgbClr val="404040"/>
                </a:solidFill>
              </a:rPr>
              <a:t>Alıcı devre teorisi.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95959"/>
                </a:solidFill>
              </a:rPr>
              <a:t>İşletme — Soru 122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4008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1460175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1">
                <a:solidFill>
                  <a:srgbClr val="FFFFFF"/>
                </a:solidFill>
              </a:rPr>
              <a:t>Soru 123</a:t>
            </a:r>
            <a:r>
              <a:rPr sz="1400">
                <a:solidFill>
                  <a:srgbClr val="D6E4F0"/>
                </a:solidFill>
              </a:rPr>
              <a:t>   ·   Bant Planı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60120"/>
            <a:ext cx="5608179" cy="5394960"/>
          </a:xfrm>
          <a:prstGeom prst="rect">
            <a:avLst/>
          </a:prstGeom>
          <a:solidFill>
            <a:srgbClr val="F7F9FB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82880" rIns="182880" rtlCol="0" anchor="ctr"/>
          <a:lstStyle/>
          <a:p>
            <a:pPr algn="ctr">
              <a:spcAft>
                <a:spcPts val="1400"/>
              </a:spcAft>
            </a:pPr>
            <a:r>
              <a:rPr sz="1700" b="1">
                <a:solidFill>
                  <a:srgbClr val="222222"/>
                </a:solidFill>
              </a:rPr>
              <a:t>20 m bandında RTTY haberleşmesi hangi frekans aralığında yapılabilir?</a:t>
            </a:r>
          </a:p>
          <a:p>
            <a:pPr>
              <a:spcAft>
                <a:spcPts val="800"/>
              </a:spcAft>
            </a:pPr>
            <a:r>
              <a:rPr sz="1500" b="1">
                <a:solidFill>
                  <a:srgbClr val="2E7D32"/>
                </a:solidFill>
              </a:rPr>
              <a:t>a)  14.075 - 14.100 Mhz</a:t>
            </a:r>
            <a:r>
              <a:rPr sz="1200" i="1">
                <a:solidFill>
                  <a:srgbClr val="2E7D32"/>
                </a:solidFill>
              </a:rPr>
              <a:t>   ✓ Doğru cevap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22222"/>
                </a:solidFill>
              </a:rPr>
              <a:t>b)  14.050 - 14.075 Mhz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22222"/>
                </a:solidFill>
              </a:rPr>
              <a:t>c)  14.200 - 14.250 Mhz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22222"/>
                </a:solidFill>
              </a:rPr>
              <a:t>d)  14.230 - 14.230 Khz</a:t>
            </a:r>
          </a:p>
        </p:txBody>
      </p:sp>
      <p:sp>
        <p:nvSpPr>
          <p:cNvPr id="5" name="Rectangle 4"/>
          <p:cNvSpPr/>
          <p:nvPr/>
        </p:nvSpPr>
        <p:spPr>
          <a:xfrm>
            <a:off x="6339699" y="960120"/>
            <a:ext cx="5394796" cy="5394960"/>
          </a:xfrm>
          <a:prstGeom prst="rect">
            <a:avLst/>
          </a:prstGeom>
          <a:solidFill>
            <a:srgbClr val="E2EFDA"/>
          </a:solidFill>
          <a:ln w="9525">
            <a:solidFill>
              <a:srgbClr val="9BC1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82880" rIns="182880" rtlCol="0" anchor="ctr"/>
          <a:lstStyle/>
          <a:p>
            <a:pPr algn="ctr">
              <a:spcAft>
                <a:spcPts val="900"/>
              </a:spcAft>
            </a:pPr>
            <a:r>
              <a:rPr sz="1400" b="1">
                <a:solidFill>
                  <a:srgbClr val="2E7D32"/>
                </a:solidFill>
              </a:rPr>
              <a:t>AÇIKLAMA</a:t>
            </a:r>
          </a:p>
          <a:p>
            <a:pPr>
              <a:spcAft>
                <a:spcPts val="1100"/>
              </a:spcAft>
            </a:pPr>
            <a:r>
              <a:rPr sz="1300">
                <a:solidFill>
                  <a:srgbClr val="222222"/>
                </a:solidFill>
              </a:rPr>
              <a:t>20m bandının RTTY/veri modlarına ayrılmış segmenti 14.075-14.100 MHz aralığıdır.</a:t>
            </a:r>
          </a:p>
          <a:p>
            <a:r>
              <a:rPr sz="1100" b="1">
                <a:solidFill>
                  <a:srgbClr val="1F3864"/>
                </a:solidFill>
              </a:rPr>
              <a:t>Kaynak: </a:t>
            </a:r>
            <a:r>
              <a:rPr sz="1100" i="1">
                <a:solidFill>
                  <a:srgbClr val="404040"/>
                </a:solidFill>
              </a:rPr>
              <a:t>IARU Region-1 amatör bant planı.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95959"/>
                </a:solidFill>
              </a:rPr>
              <a:t>İşletme — Soru 123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772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FFFFFF"/>
                </a:solidFill>
              </a:rPr>
              <a:t>BÖLÜM 11: Mors Alfabesi — Kelime Kodlamaları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911535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300"/>
              </a:spcAft>
            </a:pPr>
            <a:r>
              <a:rPr sz="1700">
                <a:solidFill>
                  <a:srgbClr val="222222"/>
                </a:solidFill>
              </a:rPr>
              <a:t>•  Her harfin sabit bir Mors karşılığı vardır </a:t>
            </a:r>
            <a:r>
              <a:rPr sz="1700" i="1">
                <a:solidFill>
                  <a:srgbClr val="222222"/>
                </a:solidFill>
              </a:rPr>
              <a:t>(nokta=kısa, çizgi=uzun sinyal)</a:t>
            </a:r>
            <a:r>
              <a:rPr sz="1700">
                <a:solidFill>
                  <a:srgbClr val="222222"/>
                </a:solidFill>
              </a:rPr>
              <a:t>; bir kelimenin kodu, harflerin art arda dizilmesiyle oluşur.</a:t>
            </a:r>
          </a:p>
          <a:p>
            <a:pPr>
              <a:spcAft>
                <a:spcPts val="1300"/>
              </a:spcAft>
            </a:pPr>
            <a:r>
              <a:rPr sz="1700">
                <a:solidFill>
                  <a:srgbClr val="222222"/>
                </a:solidFill>
              </a:rPr>
              <a:t>•  Bu bölümdeki tüm sorular, Uluslararası Mors Alfabesi tablosuyla harf harf doğrulanmıştır.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5623560"/>
            <a:ext cx="10911535" cy="914400"/>
          </a:xfrm>
          <a:prstGeom prst="rect">
            <a:avLst/>
          </a:prstGeom>
          <a:solidFill>
            <a:srgbClr val="D6E4F0"/>
          </a:solidFill>
          <a:ln>
            <a:solidFill>
              <a:srgbClr val="2E75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tlCol="0" anchor="ctr"/>
          <a:lstStyle/>
          <a:p>
            <a:pPr algn="ctr"/>
            <a:r>
              <a:rPr sz="1300" b="1">
                <a:solidFill>
                  <a:srgbClr val="1F3864"/>
                </a:solidFill>
              </a:rPr>
              <a:t>Bu bölümün kaynağı: </a:t>
            </a:r>
            <a:r>
              <a:rPr sz="1300">
                <a:solidFill>
                  <a:srgbClr val="222222"/>
                </a:solidFill>
              </a:rPr>
              <a:t>Uluslararası Mors Alfabesi.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95959"/>
                </a:solidFill>
              </a:rPr>
              <a:t>İşletme — Bölüm 11 Girişi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4008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1460175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1">
                <a:solidFill>
                  <a:srgbClr val="FFFFFF"/>
                </a:solidFill>
              </a:rPr>
              <a:t>Soru 124</a:t>
            </a:r>
            <a:r>
              <a:rPr sz="1400">
                <a:solidFill>
                  <a:srgbClr val="D6E4F0"/>
                </a:solidFill>
              </a:rPr>
              <a:t>   ·   Mors Alfabesi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60120"/>
            <a:ext cx="5608179" cy="5394960"/>
          </a:xfrm>
          <a:prstGeom prst="rect">
            <a:avLst/>
          </a:prstGeom>
          <a:solidFill>
            <a:srgbClr val="F7F9FB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82880" rIns="182880" rtlCol="0" anchor="ctr"/>
          <a:lstStyle/>
          <a:p>
            <a:pPr algn="ctr">
              <a:spcAft>
                <a:spcPts val="1400"/>
              </a:spcAft>
            </a:pPr>
            <a:r>
              <a:rPr sz="1700" b="1">
                <a:solidFill>
                  <a:srgbClr val="222222"/>
                </a:solidFill>
              </a:rPr>
              <a:t>Mors alfabesinde AZOT kelimesinin açılımı nedir?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22222"/>
                </a:solidFill>
              </a:rPr>
              <a:t>a)  ·−·− / −−·− / −·· / ·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22222"/>
                </a:solidFill>
              </a:rPr>
              <a:t>b)  ·− / −−− / ··−− / −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22222"/>
                </a:solidFill>
              </a:rPr>
              <a:t>c)  −·− / ··− / ·−· / −−·−</a:t>
            </a:r>
          </a:p>
          <a:p>
            <a:pPr>
              <a:spcAft>
                <a:spcPts val="800"/>
              </a:spcAft>
            </a:pPr>
            <a:r>
              <a:rPr sz="1500" b="1">
                <a:solidFill>
                  <a:srgbClr val="2E7D32"/>
                </a:solidFill>
              </a:rPr>
              <a:t>d)  ·− / −−·· / −−− / −</a:t>
            </a:r>
            <a:r>
              <a:rPr sz="1200" i="1">
                <a:solidFill>
                  <a:srgbClr val="2E7D32"/>
                </a:solidFill>
              </a:rPr>
              <a:t>   ✓ Doğru cevap</a:t>
            </a:r>
          </a:p>
        </p:txBody>
      </p:sp>
      <p:sp>
        <p:nvSpPr>
          <p:cNvPr id="5" name="Rectangle 4"/>
          <p:cNvSpPr/>
          <p:nvPr/>
        </p:nvSpPr>
        <p:spPr>
          <a:xfrm>
            <a:off x="6339699" y="960120"/>
            <a:ext cx="5394796" cy="5394960"/>
          </a:xfrm>
          <a:prstGeom prst="rect">
            <a:avLst/>
          </a:prstGeom>
          <a:solidFill>
            <a:srgbClr val="E2EFDA"/>
          </a:solidFill>
          <a:ln w="9525">
            <a:solidFill>
              <a:srgbClr val="9BC1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82880" rIns="182880" rtlCol="0" anchor="ctr"/>
          <a:lstStyle/>
          <a:p>
            <a:pPr algn="ctr">
              <a:spcAft>
                <a:spcPts val="900"/>
              </a:spcAft>
            </a:pPr>
            <a:r>
              <a:rPr sz="1400" b="1">
                <a:solidFill>
                  <a:srgbClr val="2E7D32"/>
                </a:solidFill>
              </a:rPr>
              <a:t>AÇIKLAMA</a:t>
            </a:r>
          </a:p>
          <a:p>
            <a:pPr>
              <a:spcAft>
                <a:spcPts val="1100"/>
              </a:spcAft>
            </a:pPr>
            <a:r>
              <a:rPr sz="1300">
                <a:solidFill>
                  <a:srgbClr val="222222"/>
                </a:solidFill>
              </a:rPr>
              <a:t>A=·−, Z=−−··, O=−−−, T=− olduğundan AZOT kelimesi "·− / −−·· / −−− / −" şeklinde kodlanır.</a:t>
            </a:r>
          </a:p>
          <a:p>
            <a:r>
              <a:rPr sz="1100" b="1">
                <a:solidFill>
                  <a:srgbClr val="1F3864"/>
                </a:solidFill>
              </a:rPr>
              <a:t>Kaynak: </a:t>
            </a:r>
            <a:r>
              <a:rPr sz="1100" i="1">
                <a:solidFill>
                  <a:srgbClr val="404040"/>
                </a:solidFill>
              </a:rPr>
              <a:t>Uluslararası Mors Alfabesi.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95959"/>
                </a:solidFill>
              </a:rPr>
              <a:t>İşletme — Soru 124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4008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1460175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1">
                <a:solidFill>
                  <a:srgbClr val="FFFFFF"/>
                </a:solidFill>
              </a:rPr>
              <a:t>Soru 125</a:t>
            </a:r>
            <a:r>
              <a:rPr sz="1400">
                <a:solidFill>
                  <a:srgbClr val="D6E4F0"/>
                </a:solidFill>
              </a:rPr>
              <a:t>   ·   Mors Alfabesi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60120"/>
            <a:ext cx="5608179" cy="5394960"/>
          </a:xfrm>
          <a:prstGeom prst="rect">
            <a:avLst/>
          </a:prstGeom>
          <a:solidFill>
            <a:srgbClr val="F7F9FB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82880" rIns="182880" rtlCol="0" anchor="ctr"/>
          <a:lstStyle/>
          <a:p>
            <a:pPr algn="ctr">
              <a:spcAft>
                <a:spcPts val="1400"/>
              </a:spcAft>
            </a:pPr>
            <a:r>
              <a:rPr sz="1700" b="1">
                <a:solidFill>
                  <a:srgbClr val="222222"/>
                </a:solidFill>
              </a:rPr>
              <a:t>Mors alfabesinde SAYI kelimesinin açılımı nedir?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22222"/>
                </a:solidFill>
              </a:rPr>
              <a:t>a)  −·−− / ···− / ·− / −··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22222"/>
                </a:solidFill>
              </a:rPr>
              <a:t>b)  −··− / ··− / −· / ·−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22222"/>
                </a:solidFill>
              </a:rPr>
              <a:t>c)  ···/ ·− / ·· / −·−−</a:t>
            </a:r>
          </a:p>
          <a:p>
            <a:pPr>
              <a:spcAft>
                <a:spcPts val="800"/>
              </a:spcAft>
            </a:pPr>
            <a:r>
              <a:rPr sz="1500" b="1">
                <a:solidFill>
                  <a:srgbClr val="2E7D32"/>
                </a:solidFill>
              </a:rPr>
              <a:t>d)  ··· / ·− / −·−− / ··</a:t>
            </a:r>
            <a:r>
              <a:rPr sz="1200" i="1">
                <a:solidFill>
                  <a:srgbClr val="2E7D32"/>
                </a:solidFill>
              </a:rPr>
              <a:t>   ✓ Doğru cevap</a:t>
            </a:r>
          </a:p>
        </p:txBody>
      </p:sp>
      <p:sp>
        <p:nvSpPr>
          <p:cNvPr id="5" name="Rectangle 4"/>
          <p:cNvSpPr/>
          <p:nvPr/>
        </p:nvSpPr>
        <p:spPr>
          <a:xfrm>
            <a:off x="6339699" y="960120"/>
            <a:ext cx="5394796" cy="5394960"/>
          </a:xfrm>
          <a:prstGeom prst="rect">
            <a:avLst/>
          </a:prstGeom>
          <a:solidFill>
            <a:srgbClr val="E2EFDA"/>
          </a:solidFill>
          <a:ln w="9525">
            <a:solidFill>
              <a:srgbClr val="9BC1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82880" rIns="182880" rtlCol="0" anchor="ctr"/>
          <a:lstStyle/>
          <a:p>
            <a:pPr algn="ctr">
              <a:spcAft>
                <a:spcPts val="900"/>
              </a:spcAft>
            </a:pPr>
            <a:r>
              <a:rPr sz="1400" b="1">
                <a:solidFill>
                  <a:srgbClr val="2E7D32"/>
                </a:solidFill>
              </a:rPr>
              <a:t>AÇIKLAMA</a:t>
            </a:r>
          </a:p>
          <a:p>
            <a:pPr>
              <a:spcAft>
                <a:spcPts val="1100"/>
              </a:spcAft>
            </a:pPr>
            <a:r>
              <a:rPr sz="1300">
                <a:solidFill>
                  <a:srgbClr val="222222"/>
                </a:solidFill>
              </a:rPr>
              <a:t>S=···, A=·−, Y=−·−−, I=·· olduğundan SAYI kelimesi "··· / ·− / −·−− / ··" şeklinde kodlanır.</a:t>
            </a:r>
          </a:p>
          <a:p>
            <a:r>
              <a:rPr sz="1100" b="1">
                <a:solidFill>
                  <a:srgbClr val="1F3864"/>
                </a:solidFill>
              </a:rPr>
              <a:t>Kaynak: </a:t>
            </a:r>
            <a:r>
              <a:rPr sz="1100" i="1">
                <a:solidFill>
                  <a:srgbClr val="404040"/>
                </a:solidFill>
              </a:rPr>
              <a:t>Uluslararası Mors Alfabesi.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95959"/>
                </a:solidFill>
              </a:rPr>
              <a:t>İşletme — Soru 125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4008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1460175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1">
                <a:solidFill>
                  <a:srgbClr val="FFFFFF"/>
                </a:solidFill>
              </a:rPr>
              <a:t>Soru 126</a:t>
            </a:r>
            <a:r>
              <a:rPr sz="1400">
                <a:solidFill>
                  <a:srgbClr val="D6E4F0"/>
                </a:solidFill>
              </a:rPr>
              <a:t>   ·   Mors Alfabesi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60120"/>
            <a:ext cx="5608179" cy="5394960"/>
          </a:xfrm>
          <a:prstGeom prst="rect">
            <a:avLst/>
          </a:prstGeom>
          <a:solidFill>
            <a:srgbClr val="F7F9FB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82880" rIns="182880" rtlCol="0" anchor="ctr"/>
          <a:lstStyle/>
          <a:p>
            <a:pPr algn="ctr">
              <a:spcAft>
                <a:spcPts val="1400"/>
              </a:spcAft>
            </a:pPr>
            <a:r>
              <a:rPr sz="1700" b="1">
                <a:solidFill>
                  <a:srgbClr val="222222"/>
                </a:solidFill>
              </a:rPr>
              <a:t>Mors alfabesinde YENİ kelimesinin açılımı nedir?</a:t>
            </a:r>
          </a:p>
          <a:p>
            <a:pPr>
              <a:spcAft>
                <a:spcPts val="800"/>
              </a:spcAft>
            </a:pPr>
            <a:r>
              <a:rPr sz="1500" b="1">
                <a:solidFill>
                  <a:srgbClr val="2E7D32"/>
                </a:solidFill>
              </a:rPr>
              <a:t>a)  −·−− / · / −· / ··</a:t>
            </a:r>
            <a:r>
              <a:rPr sz="1200" i="1">
                <a:solidFill>
                  <a:srgbClr val="2E7D32"/>
                </a:solidFill>
              </a:rPr>
              <a:t>   ✓ Doğru cevap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22222"/>
                </a:solidFill>
              </a:rPr>
              <a:t>b)  ·− / −·− / ··−− / ·−·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22222"/>
                </a:solidFill>
              </a:rPr>
              <a:t>c)  ·−·· /··· − / ·−·· / ·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22222"/>
                </a:solidFill>
              </a:rPr>
              <a:t>d)  −−− / ·− / ··− / ·−·</a:t>
            </a:r>
          </a:p>
        </p:txBody>
      </p:sp>
      <p:sp>
        <p:nvSpPr>
          <p:cNvPr id="5" name="Rectangle 4"/>
          <p:cNvSpPr/>
          <p:nvPr/>
        </p:nvSpPr>
        <p:spPr>
          <a:xfrm>
            <a:off x="6339699" y="960120"/>
            <a:ext cx="5394796" cy="5394960"/>
          </a:xfrm>
          <a:prstGeom prst="rect">
            <a:avLst/>
          </a:prstGeom>
          <a:solidFill>
            <a:srgbClr val="E2EFDA"/>
          </a:solidFill>
          <a:ln w="9525">
            <a:solidFill>
              <a:srgbClr val="9BC1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82880" rIns="182880" rtlCol="0" anchor="ctr"/>
          <a:lstStyle/>
          <a:p>
            <a:pPr algn="ctr">
              <a:spcAft>
                <a:spcPts val="900"/>
              </a:spcAft>
            </a:pPr>
            <a:r>
              <a:rPr sz="1400" b="1">
                <a:solidFill>
                  <a:srgbClr val="2E7D32"/>
                </a:solidFill>
              </a:rPr>
              <a:t>AÇIKLAMA</a:t>
            </a:r>
          </a:p>
          <a:p>
            <a:pPr>
              <a:spcAft>
                <a:spcPts val="1100"/>
              </a:spcAft>
            </a:pPr>
            <a:r>
              <a:rPr sz="1300">
                <a:solidFill>
                  <a:srgbClr val="222222"/>
                </a:solidFill>
              </a:rPr>
              <a:t>Y=−·−−, E=·, N=−·, İ</a:t>
            </a:r>
            <a:r>
              <a:rPr sz="1300" i="1">
                <a:solidFill>
                  <a:srgbClr val="222222"/>
                </a:solidFill>
              </a:rPr>
              <a:t>(I)</a:t>
            </a:r>
            <a:r>
              <a:rPr sz="1300">
                <a:solidFill>
                  <a:srgbClr val="222222"/>
                </a:solidFill>
              </a:rPr>
              <a:t>=·· olduğundan YENİ kelimesi "−·−− / · / −· / ··" şeklinde kodlanır.</a:t>
            </a:r>
          </a:p>
          <a:p>
            <a:r>
              <a:rPr sz="1100" b="1">
                <a:solidFill>
                  <a:srgbClr val="1F3864"/>
                </a:solidFill>
              </a:rPr>
              <a:t>Kaynak: </a:t>
            </a:r>
            <a:r>
              <a:rPr sz="1100" i="1">
                <a:solidFill>
                  <a:srgbClr val="404040"/>
                </a:solidFill>
              </a:rPr>
              <a:t>Uluslararası Mors Alfabesi.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95959"/>
                </a:solidFill>
              </a:rPr>
              <a:t>İşletme — Soru 126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4008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1460175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1">
                <a:solidFill>
                  <a:srgbClr val="FFFFFF"/>
                </a:solidFill>
              </a:rPr>
              <a:t>Soru 127</a:t>
            </a:r>
            <a:r>
              <a:rPr sz="1400">
                <a:solidFill>
                  <a:srgbClr val="D6E4F0"/>
                </a:solidFill>
              </a:rPr>
              <a:t>   ·   Mors Alfabesi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60120"/>
            <a:ext cx="5608179" cy="5394960"/>
          </a:xfrm>
          <a:prstGeom prst="rect">
            <a:avLst/>
          </a:prstGeom>
          <a:solidFill>
            <a:srgbClr val="F7F9FB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82880" rIns="182880" rtlCol="0" anchor="ctr"/>
          <a:lstStyle/>
          <a:p>
            <a:pPr algn="ctr">
              <a:spcAft>
                <a:spcPts val="1400"/>
              </a:spcAft>
            </a:pPr>
            <a:r>
              <a:rPr sz="1700" b="1">
                <a:solidFill>
                  <a:srgbClr val="222222"/>
                </a:solidFill>
              </a:rPr>
              <a:t>Mors alfabesinde NOTA kelimesinin açılımı nedir?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22222"/>
                </a:solidFill>
              </a:rPr>
              <a:t>a)  ·− / −−− / −·/ ··</a:t>
            </a:r>
          </a:p>
          <a:p>
            <a:pPr>
              <a:spcAft>
                <a:spcPts val="800"/>
              </a:spcAft>
            </a:pPr>
            <a:r>
              <a:rPr sz="1500" b="1">
                <a:solidFill>
                  <a:srgbClr val="2E7D32"/>
                </a:solidFill>
              </a:rPr>
              <a:t>b)  −· / −−− / − / ·−</a:t>
            </a:r>
            <a:r>
              <a:rPr sz="1200" i="1">
                <a:solidFill>
                  <a:srgbClr val="2E7D32"/>
                </a:solidFill>
              </a:rPr>
              <a:t>   ✓ Doğru cevap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22222"/>
                </a:solidFill>
              </a:rPr>
              <a:t>c)  ·−· / −−− / − / ·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22222"/>
                </a:solidFill>
              </a:rPr>
              <a:t>d)  ··− / ·−−· / ··· / ·−</a:t>
            </a:r>
          </a:p>
        </p:txBody>
      </p:sp>
      <p:sp>
        <p:nvSpPr>
          <p:cNvPr id="5" name="Rectangle 4"/>
          <p:cNvSpPr/>
          <p:nvPr/>
        </p:nvSpPr>
        <p:spPr>
          <a:xfrm>
            <a:off x="6339699" y="960120"/>
            <a:ext cx="5394796" cy="5394960"/>
          </a:xfrm>
          <a:prstGeom prst="rect">
            <a:avLst/>
          </a:prstGeom>
          <a:solidFill>
            <a:srgbClr val="E2EFDA"/>
          </a:solidFill>
          <a:ln w="9525">
            <a:solidFill>
              <a:srgbClr val="9BC1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82880" rIns="182880" rtlCol="0" anchor="ctr"/>
          <a:lstStyle/>
          <a:p>
            <a:pPr algn="ctr">
              <a:spcAft>
                <a:spcPts val="900"/>
              </a:spcAft>
            </a:pPr>
            <a:r>
              <a:rPr sz="1400" b="1">
                <a:solidFill>
                  <a:srgbClr val="2E7D32"/>
                </a:solidFill>
              </a:rPr>
              <a:t>AÇIKLAMA</a:t>
            </a:r>
          </a:p>
          <a:p>
            <a:pPr>
              <a:spcAft>
                <a:spcPts val="1100"/>
              </a:spcAft>
            </a:pPr>
            <a:r>
              <a:rPr sz="1300">
                <a:solidFill>
                  <a:srgbClr val="222222"/>
                </a:solidFill>
              </a:rPr>
              <a:t>N=−·, O=−−−, T=−, A=·− olduğundan NOTA kelimesi "−· / −−− / − / ·−" şeklinde kodlanır.</a:t>
            </a:r>
          </a:p>
          <a:p>
            <a:r>
              <a:rPr sz="1100" b="1">
                <a:solidFill>
                  <a:srgbClr val="1F3864"/>
                </a:solidFill>
              </a:rPr>
              <a:t>Kaynak: </a:t>
            </a:r>
            <a:r>
              <a:rPr sz="1100" i="1">
                <a:solidFill>
                  <a:srgbClr val="404040"/>
                </a:solidFill>
              </a:rPr>
              <a:t>Uluslararası Mors Alfabesi.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95959"/>
                </a:solidFill>
              </a:rPr>
              <a:t>İşletme — Soru 127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4008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1460175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1">
                <a:solidFill>
                  <a:srgbClr val="FFFFFF"/>
                </a:solidFill>
              </a:rPr>
              <a:t>Soru 128</a:t>
            </a:r>
            <a:r>
              <a:rPr sz="1400">
                <a:solidFill>
                  <a:srgbClr val="D6E4F0"/>
                </a:solidFill>
              </a:rPr>
              <a:t>   ·   Mors Alfabesi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60120"/>
            <a:ext cx="5608179" cy="5394960"/>
          </a:xfrm>
          <a:prstGeom prst="rect">
            <a:avLst/>
          </a:prstGeom>
          <a:solidFill>
            <a:srgbClr val="F7F9FB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82880" rIns="182880" rtlCol="0" anchor="ctr"/>
          <a:lstStyle/>
          <a:p>
            <a:pPr algn="ctr">
              <a:spcAft>
                <a:spcPts val="1400"/>
              </a:spcAft>
            </a:pPr>
            <a:r>
              <a:rPr sz="1700" b="1">
                <a:solidFill>
                  <a:srgbClr val="222222"/>
                </a:solidFill>
              </a:rPr>
              <a:t>Mors alfabesinde GRUP kelimesinin açılımı nedir?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22222"/>
                </a:solidFill>
              </a:rPr>
              <a:t>a)  ·−−· / −−·−· / ·· / ···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22222"/>
                </a:solidFill>
              </a:rPr>
              <a:t>b)  −−· / ·−· / −− / ·−−·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22222"/>
                </a:solidFill>
              </a:rPr>
              <a:t>c)  −·−· / −−·− / ···− / −·−</a:t>
            </a:r>
          </a:p>
          <a:p>
            <a:pPr>
              <a:spcAft>
                <a:spcPts val="800"/>
              </a:spcAft>
            </a:pPr>
            <a:r>
              <a:rPr sz="1500" b="1">
                <a:solidFill>
                  <a:srgbClr val="2E7D32"/>
                </a:solidFill>
              </a:rPr>
              <a:t>d)  −−· / ·−· / ··− / ·−−·</a:t>
            </a:r>
            <a:r>
              <a:rPr sz="1200" i="1">
                <a:solidFill>
                  <a:srgbClr val="2E7D32"/>
                </a:solidFill>
              </a:rPr>
              <a:t>   ✓ Doğru cevap</a:t>
            </a:r>
          </a:p>
        </p:txBody>
      </p:sp>
      <p:sp>
        <p:nvSpPr>
          <p:cNvPr id="5" name="Rectangle 4"/>
          <p:cNvSpPr/>
          <p:nvPr/>
        </p:nvSpPr>
        <p:spPr>
          <a:xfrm>
            <a:off x="6339699" y="960120"/>
            <a:ext cx="5394796" cy="5394960"/>
          </a:xfrm>
          <a:prstGeom prst="rect">
            <a:avLst/>
          </a:prstGeom>
          <a:solidFill>
            <a:srgbClr val="E2EFDA"/>
          </a:solidFill>
          <a:ln w="9525">
            <a:solidFill>
              <a:srgbClr val="9BC1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82880" rIns="182880" rtlCol="0" anchor="ctr"/>
          <a:lstStyle/>
          <a:p>
            <a:pPr algn="ctr">
              <a:spcAft>
                <a:spcPts val="900"/>
              </a:spcAft>
            </a:pPr>
            <a:r>
              <a:rPr sz="1400" b="1">
                <a:solidFill>
                  <a:srgbClr val="2E7D32"/>
                </a:solidFill>
              </a:rPr>
              <a:t>AÇIKLAMA</a:t>
            </a:r>
          </a:p>
          <a:p>
            <a:pPr>
              <a:spcAft>
                <a:spcPts val="1100"/>
              </a:spcAft>
            </a:pPr>
            <a:r>
              <a:rPr sz="1300">
                <a:solidFill>
                  <a:srgbClr val="222222"/>
                </a:solidFill>
              </a:rPr>
              <a:t>G=−−·, R=·−·, U=··−, P=·−−· olduğundan GRUP kelimesi "−−· / ·−· / ··− / ·−−·" şeklinde kodlanır.</a:t>
            </a:r>
          </a:p>
          <a:p>
            <a:r>
              <a:rPr sz="1100" b="1">
                <a:solidFill>
                  <a:srgbClr val="1F3864"/>
                </a:solidFill>
              </a:rPr>
              <a:t>Kaynak: </a:t>
            </a:r>
            <a:r>
              <a:rPr sz="1100" i="1">
                <a:solidFill>
                  <a:srgbClr val="404040"/>
                </a:solidFill>
              </a:rPr>
              <a:t>Uluslararası Mors Alfabesi.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95959"/>
                </a:solidFill>
              </a:rPr>
              <a:t>İşletme — Soru 128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4008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1460175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1">
                <a:solidFill>
                  <a:srgbClr val="FFFFFF"/>
                </a:solidFill>
              </a:rPr>
              <a:t>Soru 129</a:t>
            </a:r>
            <a:r>
              <a:rPr sz="1400">
                <a:solidFill>
                  <a:srgbClr val="D6E4F0"/>
                </a:solidFill>
              </a:rPr>
              <a:t>   ·   Mors Alfabesi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60120"/>
            <a:ext cx="5608179" cy="5394960"/>
          </a:xfrm>
          <a:prstGeom prst="rect">
            <a:avLst/>
          </a:prstGeom>
          <a:solidFill>
            <a:srgbClr val="F7F9FB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82880" rIns="182880" rtlCol="0" anchor="ctr"/>
          <a:lstStyle/>
          <a:p>
            <a:pPr algn="ctr">
              <a:spcAft>
                <a:spcPts val="1400"/>
              </a:spcAft>
            </a:pPr>
            <a:r>
              <a:rPr sz="1700" b="1">
                <a:solidFill>
                  <a:srgbClr val="222222"/>
                </a:solidFill>
              </a:rPr>
              <a:t>Mors alfabesinde FİLE kelimesinin açılımı nedir?</a:t>
            </a:r>
          </a:p>
          <a:p>
            <a:pPr>
              <a:spcAft>
                <a:spcPts val="800"/>
              </a:spcAft>
            </a:pPr>
            <a:r>
              <a:rPr sz="1500" b="1">
                <a:solidFill>
                  <a:srgbClr val="2E7D32"/>
                </a:solidFill>
              </a:rPr>
              <a:t>a)  ··−· / ·· / ·−·· / ·</a:t>
            </a:r>
            <a:r>
              <a:rPr sz="1200" i="1">
                <a:solidFill>
                  <a:srgbClr val="2E7D32"/>
                </a:solidFill>
              </a:rPr>
              <a:t>   ✓ Doğru cevap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22222"/>
                </a:solidFill>
              </a:rPr>
              <a:t>b)  ··−· / · / ·−·· / ··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22222"/>
                </a:solidFill>
              </a:rPr>
              <a:t>c)  −··· / ·· / ·−·· / ·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22222"/>
                </a:solidFill>
              </a:rPr>
              <a:t>d)  ·−·· / ·· / −·−· / ·</a:t>
            </a:r>
          </a:p>
        </p:txBody>
      </p:sp>
      <p:sp>
        <p:nvSpPr>
          <p:cNvPr id="5" name="Rectangle 4"/>
          <p:cNvSpPr/>
          <p:nvPr/>
        </p:nvSpPr>
        <p:spPr>
          <a:xfrm>
            <a:off x="6339699" y="960120"/>
            <a:ext cx="5394796" cy="5394960"/>
          </a:xfrm>
          <a:prstGeom prst="rect">
            <a:avLst/>
          </a:prstGeom>
          <a:solidFill>
            <a:srgbClr val="E2EFDA"/>
          </a:solidFill>
          <a:ln w="9525">
            <a:solidFill>
              <a:srgbClr val="9BC1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82880" rIns="182880" rtlCol="0" anchor="ctr"/>
          <a:lstStyle/>
          <a:p>
            <a:pPr algn="ctr">
              <a:spcAft>
                <a:spcPts val="900"/>
              </a:spcAft>
            </a:pPr>
            <a:r>
              <a:rPr sz="1400" b="1">
                <a:solidFill>
                  <a:srgbClr val="2E7D32"/>
                </a:solidFill>
              </a:rPr>
              <a:t>AÇIKLAMA</a:t>
            </a:r>
          </a:p>
          <a:p>
            <a:pPr>
              <a:spcAft>
                <a:spcPts val="1100"/>
              </a:spcAft>
            </a:pPr>
            <a:r>
              <a:rPr sz="1300">
                <a:solidFill>
                  <a:srgbClr val="222222"/>
                </a:solidFill>
              </a:rPr>
              <a:t>F=··−·, İ</a:t>
            </a:r>
            <a:r>
              <a:rPr sz="1300" i="1">
                <a:solidFill>
                  <a:srgbClr val="222222"/>
                </a:solidFill>
              </a:rPr>
              <a:t>(I)</a:t>
            </a:r>
            <a:r>
              <a:rPr sz="1300">
                <a:solidFill>
                  <a:srgbClr val="222222"/>
                </a:solidFill>
              </a:rPr>
              <a:t>=··, L=·−··, E=· olduğundan FİLE kelimesi "··−· / ·· / ·−·· / ·" şeklinde kodlanır.</a:t>
            </a:r>
          </a:p>
          <a:p>
            <a:r>
              <a:rPr sz="1100" b="1">
                <a:solidFill>
                  <a:srgbClr val="1F3864"/>
                </a:solidFill>
              </a:rPr>
              <a:t>Kaynak: </a:t>
            </a:r>
            <a:r>
              <a:rPr sz="1100" i="1">
                <a:solidFill>
                  <a:srgbClr val="404040"/>
                </a:solidFill>
              </a:rPr>
              <a:t>Uluslararası Mors Alfabesi.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95959"/>
                </a:solidFill>
              </a:rPr>
              <a:t>İşletme — Soru 129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4008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1460175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1">
                <a:solidFill>
                  <a:srgbClr val="FFFFFF"/>
                </a:solidFill>
              </a:rPr>
              <a:t>Soru 130</a:t>
            </a:r>
            <a:r>
              <a:rPr sz="1400">
                <a:solidFill>
                  <a:srgbClr val="D6E4F0"/>
                </a:solidFill>
              </a:rPr>
              <a:t>   ·   Mors Alfabesi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60120"/>
            <a:ext cx="5608179" cy="5394960"/>
          </a:xfrm>
          <a:prstGeom prst="rect">
            <a:avLst/>
          </a:prstGeom>
          <a:solidFill>
            <a:srgbClr val="F7F9FB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82880" rIns="182880" rtlCol="0" anchor="ctr"/>
          <a:lstStyle/>
          <a:p>
            <a:pPr algn="ctr">
              <a:spcAft>
                <a:spcPts val="1400"/>
              </a:spcAft>
            </a:pPr>
            <a:r>
              <a:rPr sz="1700" b="1">
                <a:solidFill>
                  <a:srgbClr val="222222"/>
                </a:solidFill>
              </a:rPr>
              <a:t>Mors alfabesinde BARAJ kelimesinin açılımı nedir?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22222"/>
                </a:solidFill>
              </a:rPr>
              <a:t>a)  ···− / ·− / ·−· / −· / ·−−−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22222"/>
                </a:solidFill>
              </a:rPr>
              <a:t>b)  −·· / ·− / ·−· / ·− / ·−−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22222"/>
                </a:solidFill>
              </a:rPr>
              <a:t>c)  −··· / ·− / −· / ·− / −−−·</a:t>
            </a:r>
          </a:p>
          <a:p>
            <a:pPr>
              <a:spcAft>
                <a:spcPts val="800"/>
              </a:spcAft>
            </a:pPr>
            <a:r>
              <a:rPr sz="1500" b="1">
                <a:solidFill>
                  <a:srgbClr val="2E7D32"/>
                </a:solidFill>
              </a:rPr>
              <a:t>d)  −··· / ·− / ·−· / ·− / ·−−−</a:t>
            </a:r>
            <a:r>
              <a:rPr sz="1200" i="1">
                <a:solidFill>
                  <a:srgbClr val="2E7D32"/>
                </a:solidFill>
              </a:rPr>
              <a:t>   ✓ Doğru cevap</a:t>
            </a:r>
          </a:p>
        </p:txBody>
      </p:sp>
      <p:sp>
        <p:nvSpPr>
          <p:cNvPr id="5" name="Rectangle 4"/>
          <p:cNvSpPr/>
          <p:nvPr/>
        </p:nvSpPr>
        <p:spPr>
          <a:xfrm>
            <a:off x="6339699" y="960120"/>
            <a:ext cx="5394796" cy="5394960"/>
          </a:xfrm>
          <a:prstGeom prst="rect">
            <a:avLst/>
          </a:prstGeom>
          <a:solidFill>
            <a:srgbClr val="E2EFDA"/>
          </a:solidFill>
          <a:ln w="9525">
            <a:solidFill>
              <a:srgbClr val="9BC1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82880" rIns="182880" rtlCol="0" anchor="ctr"/>
          <a:lstStyle/>
          <a:p>
            <a:pPr algn="ctr">
              <a:spcAft>
                <a:spcPts val="900"/>
              </a:spcAft>
            </a:pPr>
            <a:r>
              <a:rPr sz="1400" b="1">
                <a:solidFill>
                  <a:srgbClr val="2E7D32"/>
                </a:solidFill>
              </a:rPr>
              <a:t>AÇIKLAMA</a:t>
            </a:r>
          </a:p>
          <a:p>
            <a:pPr>
              <a:spcAft>
                <a:spcPts val="1100"/>
              </a:spcAft>
            </a:pPr>
            <a:r>
              <a:rPr sz="1300">
                <a:solidFill>
                  <a:srgbClr val="222222"/>
                </a:solidFill>
              </a:rPr>
              <a:t>B=−···, A=·−, R=·−·, A=·−, J=·−−− olduğundan BARAJ kelimesi "−··· / ·− / ·−· / ·− / ·−−−" şeklinde kodlanır.</a:t>
            </a:r>
          </a:p>
          <a:p>
            <a:r>
              <a:rPr sz="1100" b="1">
                <a:solidFill>
                  <a:srgbClr val="1F3864"/>
                </a:solidFill>
              </a:rPr>
              <a:t>Kaynak: </a:t>
            </a:r>
            <a:r>
              <a:rPr sz="1100" i="1">
                <a:solidFill>
                  <a:srgbClr val="404040"/>
                </a:solidFill>
              </a:rPr>
              <a:t>Uluslararası Mors Alfabesi.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95959"/>
                </a:solidFill>
              </a:rPr>
              <a:t>İşletme — Soru 130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4008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1460175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1">
                <a:solidFill>
                  <a:srgbClr val="FFFFFF"/>
                </a:solidFill>
              </a:rPr>
              <a:t>Soru 131</a:t>
            </a:r>
            <a:r>
              <a:rPr sz="1400">
                <a:solidFill>
                  <a:srgbClr val="D6E4F0"/>
                </a:solidFill>
              </a:rPr>
              <a:t>   ·   Mors Alfabesi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60120"/>
            <a:ext cx="5608179" cy="5394960"/>
          </a:xfrm>
          <a:prstGeom prst="rect">
            <a:avLst/>
          </a:prstGeom>
          <a:solidFill>
            <a:srgbClr val="F7F9FB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82880" rIns="182880" rtlCol="0" anchor="ctr"/>
          <a:lstStyle/>
          <a:p>
            <a:pPr algn="ctr">
              <a:spcAft>
                <a:spcPts val="1400"/>
              </a:spcAft>
            </a:pPr>
            <a:r>
              <a:rPr sz="1700" b="1">
                <a:solidFill>
                  <a:srgbClr val="222222"/>
                </a:solidFill>
              </a:rPr>
              <a:t>Mors alfabesinde ONUR kelimesinin açılımı nedir?</a:t>
            </a:r>
          </a:p>
          <a:p>
            <a:pPr>
              <a:spcAft>
                <a:spcPts val="800"/>
              </a:spcAft>
            </a:pPr>
            <a:r>
              <a:rPr sz="1500" b="1">
                <a:solidFill>
                  <a:srgbClr val="2E7D32"/>
                </a:solidFill>
              </a:rPr>
              <a:t>a)  −−− / −· / ··− / ·−·</a:t>
            </a:r>
            <a:r>
              <a:rPr sz="1200" i="1">
                <a:solidFill>
                  <a:srgbClr val="2E7D32"/>
                </a:solidFill>
              </a:rPr>
              <a:t>   ✓ Doğru cevap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22222"/>
                </a:solidFill>
              </a:rPr>
              <a:t>b)  ··· / ·− / −−· / −·−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22222"/>
                </a:solidFill>
              </a:rPr>
              <a:t>c)  ··· / ·− / ··− / ·−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22222"/>
                </a:solidFill>
              </a:rPr>
              <a:t>d)  −−− / −· / ···− / ·−·</a:t>
            </a:r>
          </a:p>
        </p:txBody>
      </p:sp>
      <p:sp>
        <p:nvSpPr>
          <p:cNvPr id="5" name="Rectangle 4"/>
          <p:cNvSpPr/>
          <p:nvPr/>
        </p:nvSpPr>
        <p:spPr>
          <a:xfrm>
            <a:off x="6339699" y="960120"/>
            <a:ext cx="5394796" cy="5394960"/>
          </a:xfrm>
          <a:prstGeom prst="rect">
            <a:avLst/>
          </a:prstGeom>
          <a:solidFill>
            <a:srgbClr val="E2EFDA"/>
          </a:solidFill>
          <a:ln w="9525">
            <a:solidFill>
              <a:srgbClr val="9BC1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82880" rIns="182880" rtlCol="0" anchor="ctr"/>
          <a:lstStyle/>
          <a:p>
            <a:pPr algn="ctr">
              <a:spcAft>
                <a:spcPts val="900"/>
              </a:spcAft>
            </a:pPr>
            <a:r>
              <a:rPr sz="1400" b="1">
                <a:solidFill>
                  <a:srgbClr val="2E7D32"/>
                </a:solidFill>
              </a:rPr>
              <a:t>AÇIKLAMA</a:t>
            </a:r>
          </a:p>
          <a:p>
            <a:pPr>
              <a:spcAft>
                <a:spcPts val="1100"/>
              </a:spcAft>
            </a:pPr>
            <a:r>
              <a:rPr sz="1300">
                <a:solidFill>
                  <a:srgbClr val="222222"/>
                </a:solidFill>
              </a:rPr>
              <a:t>O=−−−, N=−·, U=··−, R=·−· olduğundan ONUR kelimesi "−−− / −· / ··− / ·−·" şeklinde kodlanır.</a:t>
            </a:r>
          </a:p>
          <a:p>
            <a:r>
              <a:rPr sz="1100" b="1">
                <a:solidFill>
                  <a:srgbClr val="1F3864"/>
                </a:solidFill>
              </a:rPr>
              <a:t>Kaynak: </a:t>
            </a:r>
            <a:r>
              <a:rPr sz="1100" i="1">
                <a:solidFill>
                  <a:srgbClr val="404040"/>
                </a:solidFill>
              </a:rPr>
              <a:t>Uluslararası Mors Alfabesi.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95959"/>
                </a:solidFill>
              </a:rPr>
              <a:t>İşletme — Soru 131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4008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1460175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1">
                <a:solidFill>
                  <a:srgbClr val="FFFFFF"/>
                </a:solidFill>
              </a:rPr>
              <a:t>Soru 132</a:t>
            </a:r>
            <a:r>
              <a:rPr sz="1400">
                <a:solidFill>
                  <a:srgbClr val="D6E4F0"/>
                </a:solidFill>
              </a:rPr>
              <a:t>   ·   Mors Alfabesi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60120"/>
            <a:ext cx="5608179" cy="5394960"/>
          </a:xfrm>
          <a:prstGeom prst="rect">
            <a:avLst/>
          </a:prstGeom>
          <a:solidFill>
            <a:srgbClr val="F7F9FB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82880" rIns="182880" rtlCol="0" anchor="ctr"/>
          <a:lstStyle/>
          <a:p>
            <a:pPr algn="ctr">
              <a:spcAft>
                <a:spcPts val="1400"/>
              </a:spcAft>
            </a:pPr>
            <a:r>
              <a:rPr sz="1700" b="1">
                <a:solidFill>
                  <a:srgbClr val="222222"/>
                </a:solidFill>
              </a:rPr>
              <a:t>Mors alfabesinde TAH kelimesinin açılımı nedir?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22222"/>
                </a:solidFill>
              </a:rPr>
              <a:t>a)  ·−− / ·· / −−</a:t>
            </a:r>
          </a:p>
          <a:p>
            <a:pPr>
              <a:spcAft>
                <a:spcPts val="800"/>
              </a:spcAft>
            </a:pPr>
            <a:r>
              <a:rPr sz="1500" b="1">
                <a:solidFill>
                  <a:srgbClr val="2E7D32"/>
                </a:solidFill>
              </a:rPr>
              <a:t>b)  − / ·− / ····</a:t>
            </a:r>
            <a:r>
              <a:rPr sz="1200" i="1">
                <a:solidFill>
                  <a:srgbClr val="2E7D32"/>
                </a:solidFill>
              </a:rPr>
              <a:t>   ✓ Doğru cevap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22222"/>
                </a:solidFill>
              </a:rPr>
              <a:t>c)  ·− / ··− / −−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22222"/>
                </a:solidFill>
              </a:rPr>
              <a:t>d)  ·· / ·− / ···</a:t>
            </a:r>
          </a:p>
        </p:txBody>
      </p:sp>
      <p:sp>
        <p:nvSpPr>
          <p:cNvPr id="5" name="Rectangle 4"/>
          <p:cNvSpPr/>
          <p:nvPr/>
        </p:nvSpPr>
        <p:spPr>
          <a:xfrm>
            <a:off x="6339699" y="960120"/>
            <a:ext cx="5394796" cy="5394960"/>
          </a:xfrm>
          <a:prstGeom prst="rect">
            <a:avLst/>
          </a:prstGeom>
          <a:solidFill>
            <a:srgbClr val="E2EFDA"/>
          </a:solidFill>
          <a:ln w="9525">
            <a:solidFill>
              <a:srgbClr val="9BC1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82880" rIns="182880" rtlCol="0" anchor="ctr"/>
          <a:lstStyle/>
          <a:p>
            <a:pPr algn="ctr">
              <a:spcAft>
                <a:spcPts val="900"/>
              </a:spcAft>
            </a:pPr>
            <a:r>
              <a:rPr sz="1400" b="1">
                <a:solidFill>
                  <a:srgbClr val="2E7D32"/>
                </a:solidFill>
              </a:rPr>
              <a:t>AÇIKLAMA</a:t>
            </a:r>
          </a:p>
          <a:p>
            <a:pPr>
              <a:spcAft>
                <a:spcPts val="1100"/>
              </a:spcAft>
            </a:pPr>
            <a:r>
              <a:rPr sz="1300">
                <a:solidFill>
                  <a:srgbClr val="222222"/>
                </a:solidFill>
              </a:rPr>
              <a:t>T=−, A=·−, H=···· olduğundan TAH kelimesi "− / ·− / ····" şeklinde kodlanır.</a:t>
            </a:r>
          </a:p>
          <a:p>
            <a:r>
              <a:rPr sz="1100" b="1">
                <a:solidFill>
                  <a:srgbClr val="1F3864"/>
                </a:solidFill>
              </a:rPr>
              <a:t>Kaynak: </a:t>
            </a:r>
            <a:r>
              <a:rPr sz="1100" i="1">
                <a:solidFill>
                  <a:srgbClr val="404040"/>
                </a:solidFill>
              </a:rPr>
              <a:t>Uluslararası Mors Alfabesi.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95959"/>
                </a:solidFill>
              </a:rPr>
              <a:t>İşletme — Soru 132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4008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1460175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1">
                <a:solidFill>
                  <a:srgbClr val="FFFFFF"/>
                </a:solidFill>
              </a:rPr>
              <a:t>Soru 133</a:t>
            </a:r>
            <a:r>
              <a:rPr sz="1400">
                <a:solidFill>
                  <a:srgbClr val="D6E4F0"/>
                </a:solidFill>
              </a:rPr>
              <a:t>   ·   Mors Alfabesi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60120"/>
            <a:ext cx="5608179" cy="5394960"/>
          </a:xfrm>
          <a:prstGeom prst="rect">
            <a:avLst/>
          </a:prstGeom>
          <a:solidFill>
            <a:srgbClr val="F7F9FB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82880" rIns="182880" rtlCol="0" anchor="ctr"/>
          <a:lstStyle/>
          <a:p>
            <a:pPr algn="ctr">
              <a:spcAft>
                <a:spcPts val="1400"/>
              </a:spcAft>
            </a:pPr>
            <a:r>
              <a:rPr sz="1700" b="1">
                <a:solidFill>
                  <a:srgbClr val="222222"/>
                </a:solidFill>
              </a:rPr>
              <a:t>Mors alfabesinde ESKİ kelimesinin açılımı nedir?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22222"/>
                </a:solidFill>
              </a:rPr>
              <a:t>a)  ·· / −· / ··− / ·−·</a:t>
            </a:r>
          </a:p>
          <a:p>
            <a:pPr>
              <a:spcAft>
                <a:spcPts val="800"/>
              </a:spcAft>
            </a:pPr>
            <a:r>
              <a:rPr sz="1500" b="1">
                <a:solidFill>
                  <a:srgbClr val="2E7D32"/>
                </a:solidFill>
              </a:rPr>
              <a:t>b)  · / ··· / −·− / ··</a:t>
            </a:r>
            <a:r>
              <a:rPr sz="1200" i="1">
                <a:solidFill>
                  <a:srgbClr val="2E7D32"/>
                </a:solidFill>
              </a:rPr>
              <a:t>   ✓ Doğru cevap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22222"/>
                </a:solidFill>
              </a:rPr>
              <a:t>c)  −·− / ··· / ·−· / −−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22222"/>
                </a:solidFill>
              </a:rPr>
              <a:t>d)  ·− / ·· / ·−· / ··−·</a:t>
            </a:r>
          </a:p>
        </p:txBody>
      </p:sp>
      <p:sp>
        <p:nvSpPr>
          <p:cNvPr id="5" name="Rectangle 4"/>
          <p:cNvSpPr/>
          <p:nvPr/>
        </p:nvSpPr>
        <p:spPr>
          <a:xfrm>
            <a:off x="6339699" y="960120"/>
            <a:ext cx="5394796" cy="5394960"/>
          </a:xfrm>
          <a:prstGeom prst="rect">
            <a:avLst/>
          </a:prstGeom>
          <a:solidFill>
            <a:srgbClr val="E2EFDA"/>
          </a:solidFill>
          <a:ln w="9525">
            <a:solidFill>
              <a:srgbClr val="9BC1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82880" rIns="182880" rtlCol="0" anchor="ctr"/>
          <a:lstStyle/>
          <a:p>
            <a:pPr algn="ctr">
              <a:spcAft>
                <a:spcPts val="900"/>
              </a:spcAft>
            </a:pPr>
            <a:r>
              <a:rPr sz="1400" b="1">
                <a:solidFill>
                  <a:srgbClr val="2E7D32"/>
                </a:solidFill>
              </a:rPr>
              <a:t>AÇIKLAMA</a:t>
            </a:r>
          </a:p>
          <a:p>
            <a:pPr>
              <a:spcAft>
                <a:spcPts val="1100"/>
              </a:spcAft>
            </a:pPr>
            <a:r>
              <a:rPr sz="1300">
                <a:solidFill>
                  <a:srgbClr val="222222"/>
                </a:solidFill>
              </a:rPr>
              <a:t>E=·, S=···, K=−·−, İ</a:t>
            </a:r>
            <a:r>
              <a:rPr sz="1300" i="1">
                <a:solidFill>
                  <a:srgbClr val="222222"/>
                </a:solidFill>
              </a:rPr>
              <a:t>(I)</a:t>
            </a:r>
            <a:r>
              <a:rPr sz="1300">
                <a:solidFill>
                  <a:srgbClr val="222222"/>
                </a:solidFill>
              </a:rPr>
              <a:t>=·· olduğundan ESKİ kelimesi "· / ··· / −·− / ··" şeklinde kodlanır.</a:t>
            </a:r>
          </a:p>
          <a:p>
            <a:r>
              <a:rPr sz="1100" b="1">
                <a:solidFill>
                  <a:srgbClr val="1F3864"/>
                </a:solidFill>
              </a:rPr>
              <a:t>Kaynak: </a:t>
            </a:r>
            <a:r>
              <a:rPr sz="1100" i="1">
                <a:solidFill>
                  <a:srgbClr val="404040"/>
                </a:solidFill>
              </a:rPr>
              <a:t>Uluslararası Mors Alfabesi.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95959"/>
                </a:solidFill>
              </a:rPr>
              <a:t>İşletme — Soru 133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4008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1460175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1">
                <a:solidFill>
                  <a:srgbClr val="FFFFFF"/>
                </a:solidFill>
              </a:rPr>
              <a:t>Soru 134</a:t>
            </a:r>
            <a:r>
              <a:rPr sz="1400">
                <a:solidFill>
                  <a:srgbClr val="D6E4F0"/>
                </a:solidFill>
              </a:rPr>
              <a:t>   ·   Mors Alfabesi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60120"/>
            <a:ext cx="5608179" cy="5394960"/>
          </a:xfrm>
          <a:prstGeom prst="rect">
            <a:avLst/>
          </a:prstGeom>
          <a:solidFill>
            <a:srgbClr val="F7F9FB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82880" rIns="182880" rtlCol="0" anchor="ctr"/>
          <a:lstStyle/>
          <a:p>
            <a:pPr algn="ctr">
              <a:spcAft>
                <a:spcPts val="1400"/>
              </a:spcAft>
            </a:pPr>
            <a:r>
              <a:rPr sz="1700" b="1">
                <a:solidFill>
                  <a:srgbClr val="222222"/>
                </a:solidFill>
              </a:rPr>
              <a:t>Mors alfabesinde YAVUZ kelimesinin açılımı nedir?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22222"/>
                </a:solidFill>
              </a:rPr>
              <a:t>a)  −−·− / ·− / ···− / ··− / −−··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22222"/>
                </a:solidFill>
              </a:rPr>
              <a:t>b)  −·−− / −· / −··· / ··− / −−·</a:t>
            </a:r>
          </a:p>
          <a:p>
            <a:pPr>
              <a:spcAft>
                <a:spcPts val="800"/>
              </a:spcAft>
            </a:pPr>
            <a:r>
              <a:rPr sz="1500" b="1">
                <a:solidFill>
                  <a:srgbClr val="2E7D32"/>
                </a:solidFill>
              </a:rPr>
              <a:t>c)  −·−− / ·− / ···− / ··− / −−··</a:t>
            </a:r>
            <a:r>
              <a:rPr sz="1200" i="1">
                <a:solidFill>
                  <a:srgbClr val="2E7D32"/>
                </a:solidFill>
              </a:rPr>
              <a:t>   ✓ Doğru cevap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22222"/>
                </a:solidFill>
              </a:rPr>
              <a:t>d)  −·−− / ·− / −··· / ··− / −−·</a:t>
            </a:r>
          </a:p>
        </p:txBody>
      </p:sp>
      <p:sp>
        <p:nvSpPr>
          <p:cNvPr id="5" name="Rectangle 4"/>
          <p:cNvSpPr/>
          <p:nvPr/>
        </p:nvSpPr>
        <p:spPr>
          <a:xfrm>
            <a:off x="6339699" y="960120"/>
            <a:ext cx="5394796" cy="5394960"/>
          </a:xfrm>
          <a:prstGeom prst="rect">
            <a:avLst/>
          </a:prstGeom>
          <a:solidFill>
            <a:srgbClr val="E2EFDA"/>
          </a:solidFill>
          <a:ln w="9525">
            <a:solidFill>
              <a:srgbClr val="9BC1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82880" rIns="182880" rtlCol="0" anchor="ctr"/>
          <a:lstStyle/>
          <a:p>
            <a:pPr algn="ctr">
              <a:spcAft>
                <a:spcPts val="900"/>
              </a:spcAft>
            </a:pPr>
            <a:r>
              <a:rPr sz="1400" b="1">
                <a:solidFill>
                  <a:srgbClr val="2E7D32"/>
                </a:solidFill>
              </a:rPr>
              <a:t>AÇIKLAMA</a:t>
            </a:r>
          </a:p>
          <a:p>
            <a:pPr>
              <a:spcAft>
                <a:spcPts val="1100"/>
              </a:spcAft>
            </a:pPr>
            <a:r>
              <a:rPr sz="1300">
                <a:solidFill>
                  <a:srgbClr val="222222"/>
                </a:solidFill>
              </a:rPr>
              <a:t>Y=−·−−, A=·−, V=···−, U=··−, Z=−−·· olduğundan YAVUZ kelimesi "−·−− / ·− / ···− / ··− / −−··" şeklinde kodlanır.</a:t>
            </a:r>
          </a:p>
          <a:p>
            <a:r>
              <a:rPr sz="1100" b="1">
                <a:solidFill>
                  <a:srgbClr val="1F3864"/>
                </a:solidFill>
              </a:rPr>
              <a:t>Kaynak: </a:t>
            </a:r>
            <a:r>
              <a:rPr sz="1100" i="1">
                <a:solidFill>
                  <a:srgbClr val="404040"/>
                </a:solidFill>
              </a:rPr>
              <a:t>Uluslararası Mors Alfabesi.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95959"/>
                </a:solidFill>
              </a:rPr>
              <a:t>İşletme — Soru 134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4008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1460175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1">
                <a:solidFill>
                  <a:srgbClr val="FFFFFF"/>
                </a:solidFill>
              </a:rPr>
              <a:t>Soru 135</a:t>
            </a:r>
            <a:r>
              <a:rPr sz="1400">
                <a:solidFill>
                  <a:srgbClr val="D6E4F0"/>
                </a:solidFill>
              </a:rPr>
              <a:t>   ·   Mors Alfabesi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60120"/>
            <a:ext cx="5608179" cy="5394960"/>
          </a:xfrm>
          <a:prstGeom prst="rect">
            <a:avLst/>
          </a:prstGeom>
          <a:solidFill>
            <a:srgbClr val="F7F9FB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82880" rIns="182880" rtlCol="0" anchor="ctr"/>
          <a:lstStyle/>
          <a:p>
            <a:pPr algn="ctr">
              <a:spcAft>
                <a:spcPts val="1400"/>
              </a:spcAft>
            </a:pPr>
            <a:r>
              <a:rPr sz="1700" b="1">
                <a:solidFill>
                  <a:srgbClr val="222222"/>
                </a:solidFill>
              </a:rPr>
              <a:t>Mors alfabesinde AK kelimesinin açılımı nedir?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22222"/>
                </a:solidFill>
              </a:rPr>
              <a:t>a)  ·−− / ·−·</a:t>
            </a:r>
          </a:p>
          <a:p>
            <a:pPr>
              <a:spcAft>
                <a:spcPts val="800"/>
              </a:spcAft>
            </a:pPr>
            <a:r>
              <a:rPr sz="1500" b="1">
                <a:solidFill>
                  <a:srgbClr val="2E7D32"/>
                </a:solidFill>
              </a:rPr>
              <a:t>b)  ·− / −·−</a:t>
            </a:r>
            <a:r>
              <a:rPr sz="1200" i="1">
                <a:solidFill>
                  <a:srgbClr val="2E7D32"/>
                </a:solidFill>
              </a:rPr>
              <a:t>   ✓ Doğru cevap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22222"/>
                </a:solidFill>
              </a:rPr>
              <a:t>c)  −· / −·−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22222"/>
                </a:solidFill>
              </a:rPr>
              <a:t>d)  ·· / ·−−</a:t>
            </a:r>
          </a:p>
        </p:txBody>
      </p:sp>
      <p:sp>
        <p:nvSpPr>
          <p:cNvPr id="5" name="Rectangle 4"/>
          <p:cNvSpPr/>
          <p:nvPr/>
        </p:nvSpPr>
        <p:spPr>
          <a:xfrm>
            <a:off x="6339699" y="960120"/>
            <a:ext cx="5394796" cy="5394960"/>
          </a:xfrm>
          <a:prstGeom prst="rect">
            <a:avLst/>
          </a:prstGeom>
          <a:solidFill>
            <a:srgbClr val="E2EFDA"/>
          </a:solidFill>
          <a:ln w="9525">
            <a:solidFill>
              <a:srgbClr val="9BC1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82880" rIns="182880" rtlCol="0" anchor="ctr"/>
          <a:lstStyle/>
          <a:p>
            <a:pPr algn="ctr">
              <a:spcAft>
                <a:spcPts val="900"/>
              </a:spcAft>
            </a:pPr>
            <a:r>
              <a:rPr sz="1400" b="1">
                <a:solidFill>
                  <a:srgbClr val="2E7D32"/>
                </a:solidFill>
              </a:rPr>
              <a:t>AÇIKLAMA</a:t>
            </a:r>
          </a:p>
          <a:p>
            <a:pPr>
              <a:spcAft>
                <a:spcPts val="1100"/>
              </a:spcAft>
            </a:pPr>
            <a:r>
              <a:rPr sz="1300">
                <a:solidFill>
                  <a:srgbClr val="222222"/>
                </a:solidFill>
              </a:rPr>
              <a:t>A=·−, K=−·− olduğundan AK kelimesi "·− / −·−" şeklinde kodlanır.</a:t>
            </a:r>
          </a:p>
          <a:p>
            <a:r>
              <a:rPr sz="1100" b="1">
                <a:solidFill>
                  <a:srgbClr val="1F3864"/>
                </a:solidFill>
              </a:rPr>
              <a:t>Kaynak: </a:t>
            </a:r>
            <a:r>
              <a:rPr sz="1100" i="1">
                <a:solidFill>
                  <a:srgbClr val="404040"/>
                </a:solidFill>
              </a:rPr>
              <a:t>Uluslararası Mors Alfabesi.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95959"/>
                </a:solidFill>
              </a:rPr>
              <a:t>İşletme — Soru 135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772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FFFFFF"/>
                </a:solidFill>
              </a:rPr>
              <a:t>BÖLÜM 12: Bantlar, Röle, Prosedür ve PSK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911535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300"/>
              </a:spcAft>
            </a:pPr>
            <a:r>
              <a:rPr sz="1700">
                <a:solidFill>
                  <a:srgbClr val="222222"/>
                </a:solidFill>
              </a:rPr>
              <a:t>•  Belirli frekans bantları belirli modlarla sınırlıdır; bunlar IARU bant planında sabittir.</a:t>
            </a:r>
          </a:p>
          <a:p>
            <a:pPr>
              <a:spcAft>
                <a:spcPts val="1300"/>
              </a:spcAft>
            </a:pPr>
            <a:r>
              <a:rPr sz="1700">
                <a:solidFill>
                  <a:srgbClr val="222222"/>
                </a:solidFill>
              </a:rPr>
              <a:t>•  Amatör telsiz haberleşmesinin beş temel amacı vardır — bunlardan ikisi eğitim ve uluslararası iyi niyettir.</a:t>
            </a:r>
          </a:p>
          <a:p>
            <a:pPr>
              <a:spcAft>
                <a:spcPts val="1300"/>
              </a:spcAft>
            </a:pPr>
            <a:r>
              <a:rPr sz="1700">
                <a:solidFill>
                  <a:srgbClr val="222222"/>
                </a:solidFill>
              </a:rPr>
              <a:t>•  Bir görüşmeye kibarca müdahale etme ve doğru gönderme/alma sırası, işletme adabının temelidir.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5623560"/>
            <a:ext cx="10911535" cy="914400"/>
          </a:xfrm>
          <a:prstGeom prst="rect">
            <a:avLst/>
          </a:prstGeom>
          <a:solidFill>
            <a:srgbClr val="D6E4F0"/>
          </a:solidFill>
          <a:ln>
            <a:solidFill>
              <a:srgbClr val="2E75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tlCol="0" anchor="ctr"/>
          <a:lstStyle/>
          <a:p>
            <a:pPr algn="ctr"/>
            <a:r>
              <a:rPr sz="1300" b="1">
                <a:solidFill>
                  <a:srgbClr val="1F3864"/>
                </a:solidFill>
              </a:rPr>
              <a:t>Bu bölümün kaynağı: </a:t>
            </a:r>
            <a:r>
              <a:rPr sz="1300">
                <a:solidFill>
                  <a:srgbClr val="222222"/>
                </a:solidFill>
              </a:rPr>
              <a:t>IARU Region-1 amatör bant planı. Amatör Telsiz Hizmetinin amaçları; genel amatör telsiz işletme adabı.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95959"/>
                </a:solidFill>
              </a:rPr>
              <a:t>İşletme — Bölüm 12 Girişi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4008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1460175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1">
                <a:solidFill>
                  <a:srgbClr val="FFFFFF"/>
                </a:solidFill>
              </a:rPr>
              <a:t>Soru 136</a:t>
            </a:r>
            <a:r>
              <a:rPr sz="1400">
                <a:solidFill>
                  <a:srgbClr val="D6E4F0"/>
                </a:solidFill>
              </a:rPr>
              <a:t>   ·   Bant Sınıflandırma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60120"/>
            <a:ext cx="5608179" cy="5394960"/>
          </a:xfrm>
          <a:prstGeom prst="rect">
            <a:avLst/>
          </a:prstGeom>
          <a:solidFill>
            <a:srgbClr val="F7F9FB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82880" rIns="182880" rtlCol="0" anchor="ctr"/>
          <a:lstStyle/>
          <a:p>
            <a:pPr algn="ctr">
              <a:spcAft>
                <a:spcPts val="1400"/>
              </a:spcAft>
            </a:pPr>
            <a:r>
              <a:rPr sz="1700" b="1">
                <a:solidFill>
                  <a:srgbClr val="222222"/>
                </a:solidFill>
              </a:rPr>
              <a:t>7000 – 7100 Khz Frekans bandı aşağıda yazılı bandlardan hangisinin içerisindedir?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22222"/>
                </a:solidFill>
              </a:rPr>
              <a:t>a)  MF</a:t>
            </a:r>
          </a:p>
          <a:p>
            <a:pPr>
              <a:spcAft>
                <a:spcPts val="800"/>
              </a:spcAft>
            </a:pPr>
            <a:r>
              <a:rPr sz="1500" b="1">
                <a:solidFill>
                  <a:srgbClr val="2E7D32"/>
                </a:solidFill>
              </a:rPr>
              <a:t>b)  HF</a:t>
            </a:r>
            <a:r>
              <a:rPr sz="1200" i="1">
                <a:solidFill>
                  <a:srgbClr val="2E7D32"/>
                </a:solidFill>
              </a:rPr>
              <a:t>   ✓ Doğru cevap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22222"/>
                </a:solidFill>
              </a:rPr>
              <a:t>c)  UHF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22222"/>
                </a:solidFill>
              </a:rPr>
              <a:t>d)  VHF</a:t>
            </a:r>
          </a:p>
        </p:txBody>
      </p:sp>
      <p:sp>
        <p:nvSpPr>
          <p:cNvPr id="5" name="Rectangle 4"/>
          <p:cNvSpPr/>
          <p:nvPr/>
        </p:nvSpPr>
        <p:spPr>
          <a:xfrm>
            <a:off x="6339699" y="960120"/>
            <a:ext cx="5394796" cy="5394960"/>
          </a:xfrm>
          <a:prstGeom prst="rect">
            <a:avLst/>
          </a:prstGeom>
          <a:solidFill>
            <a:srgbClr val="E2EFDA"/>
          </a:solidFill>
          <a:ln w="9525">
            <a:solidFill>
              <a:srgbClr val="9BC1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82880" rIns="182880" rtlCol="0" anchor="ctr"/>
          <a:lstStyle/>
          <a:p>
            <a:pPr algn="ctr">
              <a:spcAft>
                <a:spcPts val="900"/>
              </a:spcAft>
            </a:pPr>
            <a:r>
              <a:rPr sz="1400" b="1">
                <a:solidFill>
                  <a:srgbClr val="2E7D32"/>
                </a:solidFill>
              </a:rPr>
              <a:t>AÇIKLAMA</a:t>
            </a:r>
          </a:p>
          <a:p>
            <a:pPr>
              <a:spcAft>
                <a:spcPts val="1100"/>
              </a:spcAft>
            </a:pPr>
            <a:r>
              <a:rPr sz="1300">
                <a:solidFill>
                  <a:srgbClr val="222222"/>
                </a:solidFill>
              </a:rPr>
              <a:t>7 MHz, HF </a:t>
            </a:r>
            <a:r>
              <a:rPr sz="1300" i="1">
                <a:solidFill>
                  <a:srgbClr val="222222"/>
                </a:solidFill>
              </a:rPr>
              <a:t>(High Frequency — 3-30 MHz)</a:t>
            </a:r>
            <a:r>
              <a:rPr sz="1300">
                <a:solidFill>
                  <a:srgbClr val="222222"/>
                </a:solidFill>
              </a:rPr>
              <a:t> bandı içindedir.</a:t>
            </a:r>
          </a:p>
          <a:p>
            <a:r>
              <a:rPr sz="1100" b="1">
                <a:solidFill>
                  <a:srgbClr val="1F3864"/>
                </a:solidFill>
              </a:rPr>
              <a:t>Kaynak: </a:t>
            </a:r>
            <a:r>
              <a:rPr sz="1100" i="1">
                <a:solidFill>
                  <a:srgbClr val="404040"/>
                </a:solidFill>
              </a:rPr>
              <a:t>ITU frekans bandı sınıflandırması.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95959"/>
                </a:solidFill>
              </a:rPr>
              <a:t>İşletme — Soru 136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4008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1460175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1">
                <a:solidFill>
                  <a:srgbClr val="FFFFFF"/>
                </a:solidFill>
              </a:rPr>
              <a:t>Soru 137</a:t>
            </a:r>
            <a:r>
              <a:rPr sz="1400">
                <a:solidFill>
                  <a:srgbClr val="D6E4F0"/>
                </a:solidFill>
              </a:rPr>
              <a:t>   ·   Bant Sınıflandırma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60120"/>
            <a:ext cx="5608179" cy="5394960"/>
          </a:xfrm>
          <a:prstGeom prst="rect">
            <a:avLst/>
          </a:prstGeom>
          <a:solidFill>
            <a:srgbClr val="F7F9FB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82880" rIns="182880" rtlCol="0" anchor="ctr"/>
          <a:lstStyle/>
          <a:p>
            <a:pPr algn="ctr">
              <a:spcAft>
                <a:spcPts val="1400"/>
              </a:spcAft>
            </a:pPr>
            <a:r>
              <a:rPr sz="1700" b="1">
                <a:solidFill>
                  <a:srgbClr val="222222"/>
                </a:solidFill>
              </a:rPr>
              <a:t>VHF bandındaki frekans aralığı hangisidir?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22222"/>
                </a:solidFill>
              </a:rPr>
              <a:t>a)  3-30 Mhz</a:t>
            </a:r>
          </a:p>
          <a:p>
            <a:pPr>
              <a:spcAft>
                <a:spcPts val="800"/>
              </a:spcAft>
            </a:pPr>
            <a:r>
              <a:rPr sz="1500" b="1">
                <a:solidFill>
                  <a:srgbClr val="2E7D32"/>
                </a:solidFill>
              </a:rPr>
              <a:t>b)  30-300 Mhz</a:t>
            </a:r>
            <a:r>
              <a:rPr sz="1200" i="1">
                <a:solidFill>
                  <a:srgbClr val="2E7D32"/>
                </a:solidFill>
              </a:rPr>
              <a:t>   ✓ Doğru cevap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22222"/>
                </a:solidFill>
              </a:rPr>
              <a:t>c)  300-3000 Khz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22222"/>
                </a:solidFill>
              </a:rPr>
              <a:t>d)  300-3000 Mhz</a:t>
            </a:r>
          </a:p>
        </p:txBody>
      </p:sp>
      <p:sp>
        <p:nvSpPr>
          <p:cNvPr id="5" name="Rectangle 4"/>
          <p:cNvSpPr/>
          <p:nvPr/>
        </p:nvSpPr>
        <p:spPr>
          <a:xfrm>
            <a:off x="6339699" y="960120"/>
            <a:ext cx="5394796" cy="5394960"/>
          </a:xfrm>
          <a:prstGeom prst="rect">
            <a:avLst/>
          </a:prstGeom>
          <a:solidFill>
            <a:srgbClr val="E2EFDA"/>
          </a:solidFill>
          <a:ln w="9525">
            <a:solidFill>
              <a:srgbClr val="9BC1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82880" rIns="182880" rtlCol="0" anchor="ctr"/>
          <a:lstStyle/>
          <a:p>
            <a:pPr algn="ctr">
              <a:spcAft>
                <a:spcPts val="900"/>
              </a:spcAft>
            </a:pPr>
            <a:r>
              <a:rPr sz="1400" b="1">
                <a:solidFill>
                  <a:srgbClr val="2E7D32"/>
                </a:solidFill>
              </a:rPr>
              <a:t>AÇIKLAMA</a:t>
            </a:r>
          </a:p>
          <a:p>
            <a:pPr>
              <a:spcAft>
                <a:spcPts val="1100"/>
              </a:spcAft>
            </a:pPr>
            <a:r>
              <a:rPr sz="1300">
                <a:solidFill>
                  <a:srgbClr val="222222"/>
                </a:solidFill>
              </a:rPr>
              <a:t>VHF </a:t>
            </a:r>
            <a:r>
              <a:rPr sz="1300" i="1">
                <a:solidFill>
                  <a:srgbClr val="222222"/>
                </a:solidFill>
              </a:rPr>
              <a:t>(Very High Frequency)</a:t>
            </a:r>
            <a:r>
              <a:rPr sz="1300">
                <a:solidFill>
                  <a:srgbClr val="222222"/>
                </a:solidFill>
              </a:rPr>
              <a:t>, 30-300 MHz aralığını kapsar.</a:t>
            </a:r>
          </a:p>
          <a:p>
            <a:r>
              <a:rPr sz="1100" b="1">
                <a:solidFill>
                  <a:srgbClr val="1F3864"/>
                </a:solidFill>
              </a:rPr>
              <a:t>Kaynak: </a:t>
            </a:r>
            <a:r>
              <a:rPr sz="1100" i="1">
                <a:solidFill>
                  <a:srgbClr val="404040"/>
                </a:solidFill>
              </a:rPr>
              <a:t>ITU frekans bandı sınıflandırması.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95959"/>
                </a:solidFill>
              </a:rPr>
              <a:t>İşletme — Soru 137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4008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1460175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1">
                <a:solidFill>
                  <a:srgbClr val="FFFFFF"/>
                </a:solidFill>
              </a:rPr>
              <a:t>Soru 138</a:t>
            </a:r>
            <a:r>
              <a:rPr sz="1400">
                <a:solidFill>
                  <a:srgbClr val="D6E4F0"/>
                </a:solidFill>
              </a:rPr>
              <a:t>   ·   Genel Bilgi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60120"/>
            <a:ext cx="5608179" cy="5394960"/>
          </a:xfrm>
          <a:prstGeom prst="rect">
            <a:avLst/>
          </a:prstGeom>
          <a:solidFill>
            <a:srgbClr val="F7F9FB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82880" rIns="182880" rtlCol="0" anchor="ctr"/>
          <a:lstStyle/>
          <a:p>
            <a:pPr algn="ctr">
              <a:spcAft>
                <a:spcPts val="1400"/>
              </a:spcAft>
            </a:pPr>
            <a:r>
              <a:rPr sz="1700" b="1">
                <a:solidFill>
                  <a:srgbClr val="222222"/>
                </a:solidFill>
              </a:rPr>
              <a:t>Telsiz cihazları arasında haberleşmeyi kolaylaştırmak amacıyla bir verici istasyonundan aldığı sinyalleri otomatik olarak başka bir frekansta alıcılara yayınlayan aktarıcılara ne ad verilir?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22222"/>
                </a:solidFill>
              </a:rPr>
              <a:t>a)  Trafo</a:t>
            </a:r>
          </a:p>
          <a:p>
            <a:pPr>
              <a:spcAft>
                <a:spcPts val="800"/>
              </a:spcAft>
            </a:pPr>
            <a:r>
              <a:rPr sz="1500" b="1">
                <a:solidFill>
                  <a:srgbClr val="2E7D32"/>
                </a:solidFill>
              </a:rPr>
              <a:t>b)  Tekrarlayıcı</a:t>
            </a:r>
            <a:r>
              <a:rPr sz="1200" i="1">
                <a:solidFill>
                  <a:srgbClr val="2E7D32"/>
                </a:solidFill>
              </a:rPr>
              <a:t>   ✓ Doğru cevap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22222"/>
                </a:solidFill>
              </a:rPr>
              <a:t>c)  El telsizi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22222"/>
                </a:solidFill>
              </a:rPr>
              <a:t>d)  Mobil telsiz</a:t>
            </a:r>
          </a:p>
        </p:txBody>
      </p:sp>
      <p:sp>
        <p:nvSpPr>
          <p:cNvPr id="5" name="Rectangle 4"/>
          <p:cNvSpPr/>
          <p:nvPr/>
        </p:nvSpPr>
        <p:spPr>
          <a:xfrm>
            <a:off x="6339699" y="960120"/>
            <a:ext cx="5394796" cy="5394960"/>
          </a:xfrm>
          <a:prstGeom prst="rect">
            <a:avLst/>
          </a:prstGeom>
          <a:solidFill>
            <a:srgbClr val="E2EFDA"/>
          </a:solidFill>
          <a:ln w="9525">
            <a:solidFill>
              <a:srgbClr val="9BC1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82880" rIns="182880" rtlCol="0" anchor="ctr"/>
          <a:lstStyle/>
          <a:p>
            <a:pPr algn="ctr">
              <a:spcAft>
                <a:spcPts val="900"/>
              </a:spcAft>
            </a:pPr>
            <a:r>
              <a:rPr sz="1400" b="1">
                <a:solidFill>
                  <a:srgbClr val="2E7D32"/>
                </a:solidFill>
              </a:rPr>
              <a:t>AÇIKLAMA</a:t>
            </a:r>
          </a:p>
          <a:p>
            <a:pPr>
              <a:spcAft>
                <a:spcPts val="1100"/>
              </a:spcAft>
            </a:pPr>
            <a:r>
              <a:rPr sz="1300">
                <a:solidFill>
                  <a:srgbClr val="222222"/>
                </a:solidFill>
              </a:rPr>
              <a:t>Bu tanım tekrarlayıcı </a:t>
            </a:r>
            <a:r>
              <a:rPr sz="1300" i="1">
                <a:solidFill>
                  <a:srgbClr val="222222"/>
                </a:solidFill>
              </a:rPr>
              <a:t>(repeater/röle)</a:t>
            </a:r>
            <a:r>
              <a:rPr sz="1300">
                <a:solidFill>
                  <a:srgbClr val="222222"/>
                </a:solidFill>
              </a:rPr>
              <a:t> istasyonuna aittir.</a:t>
            </a:r>
          </a:p>
          <a:p>
            <a:r>
              <a:rPr sz="1100" b="1">
                <a:solidFill>
                  <a:srgbClr val="1F3864"/>
                </a:solidFill>
              </a:rPr>
              <a:t>Kaynak: </a:t>
            </a:r>
            <a:r>
              <a:rPr sz="1100" i="1">
                <a:solidFill>
                  <a:srgbClr val="404040"/>
                </a:solidFill>
              </a:rPr>
              <a:t>Genel amatör telsiz sözlüğü.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95959"/>
                </a:solidFill>
              </a:rPr>
              <a:t>İşletme — Soru 138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4008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1460175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1">
                <a:solidFill>
                  <a:srgbClr val="FFFFFF"/>
                </a:solidFill>
              </a:rPr>
              <a:t>Soru 139</a:t>
            </a:r>
            <a:r>
              <a:rPr sz="1400">
                <a:solidFill>
                  <a:srgbClr val="D6E4F0"/>
                </a:solidFill>
              </a:rPr>
              <a:t>   ·   Genel Bilgi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60120"/>
            <a:ext cx="5608179" cy="5394960"/>
          </a:xfrm>
          <a:prstGeom prst="rect">
            <a:avLst/>
          </a:prstGeom>
          <a:solidFill>
            <a:srgbClr val="F7F9FB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82880" rIns="182880" rtlCol="0" anchor="ctr"/>
          <a:lstStyle/>
          <a:p>
            <a:pPr algn="ctr">
              <a:spcAft>
                <a:spcPts val="1400"/>
              </a:spcAft>
            </a:pPr>
            <a:r>
              <a:rPr sz="1700" b="1">
                <a:solidFill>
                  <a:srgbClr val="222222"/>
                </a:solidFill>
              </a:rPr>
              <a:t>Paket data gönderen amatör telsiz istasyonunda aşağıdakilerden hangisi kullanılmaz?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22222"/>
                </a:solidFill>
              </a:rPr>
              <a:t>a)  Anten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22222"/>
                </a:solidFill>
              </a:rPr>
              <a:t>b)  Güç Kaynağı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22222"/>
                </a:solidFill>
              </a:rPr>
              <a:t>c)  Alıcı - Verici</a:t>
            </a:r>
          </a:p>
          <a:p>
            <a:pPr>
              <a:spcAft>
                <a:spcPts val="800"/>
              </a:spcAft>
            </a:pPr>
            <a:r>
              <a:rPr sz="1500" b="1">
                <a:solidFill>
                  <a:srgbClr val="2E7D32"/>
                </a:solidFill>
              </a:rPr>
              <a:t>d)  Mikrofon</a:t>
            </a:r>
            <a:r>
              <a:rPr sz="1200" i="1">
                <a:solidFill>
                  <a:srgbClr val="2E7D32"/>
                </a:solidFill>
              </a:rPr>
              <a:t>   ✓ Doğru cevap</a:t>
            </a:r>
          </a:p>
        </p:txBody>
      </p:sp>
      <p:sp>
        <p:nvSpPr>
          <p:cNvPr id="5" name="Rectangle 4"/>
          <p:cNvSpPr/>
          <p:nvPr/>
        </p:nvSpPr>
        <p:spPr>
          <a:xfrm>
            <a:off x="6339699" y="960120"/>
            <a:ext cx="5394796" cy="5394960"/>
          </a:xfrm>
          <a:prstGeom prst="rect">
            <a:avLst/>
          </a:prstGeom>
          <a:solidFill>
            <a:srgbClr val="E2EFDA"/>
          </a:solidFill>
          <a:ln w="9525">
            <a:solidFill>
              <a:srgbClr val="9BC1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82880" rIns="182880" rtlCol="0" anchor="ctr"/>
          <a:lstStyle/>
          <a:p>
            <a:pPr algn="ctr">
              <a:spcAft>
                <a:spcPts val="900"/>
              </a:spcAft>
            </a:pPr>
            <a:r>
              <a:rPr sz="1400" b="1">
                <a:solidFill>
                  <a:srgbClr val="2E7D32"/>
                </a:solidFill>
              </a:rPr>
              <a:t>AÇIKLAMA</a:t>
            </a:r>
          </a:p>
          <a:p>
            <a:pPr>
              <a:spcAft>
                <a:spcPts val="1100"/>
              </a:spcAft>
            </a:pPr>
            <a:r>
              <a:rPr sz="1300">
                <a:solidFill>
                  <a:srgbClr val="222222"/>
                </a:solidFill>
              </a:rPr>
              <a:t>Paket veri </a:t>
            </a:r>
            <a:r>
              <a:rPr sz="1300" i="1">
                <a:solidFill>
                  <a:srgbClr val="222222"/>
                </a:solidFill>
              </a:rPr>
              <a:t>(bilgisayar tabanlı sayısal haberleşme)</a:t>
            </a:r>
            <a:r>
              <a:rPr sz="1300">
                <a:solidFill>
                  <a:srgbClr val="222222"/>
                </a:solidFill>
              </a:rPr>
              <a:t>, ses değil veri gönderir; bu yüzden mikrofona ihtiyaç yoktur — anten, güç kaynağı ve alıcı-verici hâlâ gereklidir.</a:t>
            </a:r>
          </a:p>
          <a:p>
            <a:r>
              <a:rPr sz="1100" b="1">
                <a:solidFill>
                  <a:srgbClr val="1F3864"/>
                </a:solidFill>
              </a:rPr>
              <a:t>Kaynak: </a:t>
            </a:r>
            <a:r>
              <a:rPr sz="1100" i="1">
                <a:solidFill>
                  <a:srgbClr val="404040"/>
                </a:solidFill>
              </a:rPr>
              <a:t>Genel amatör telsiz sözlüğü.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95959"/>
                </a:solidFill>
              </a:rPr>
              <a:t>İşletme — Soru 139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4008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1460175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1">
                <a:solidFill>
                  <a:srgbClr val="FFFFFF"/>
                </a:solidFill>
              </a:rPr>
              <a:t>Soru 140</a:t>
            </a:r>
            <a:r>
              <a:rPr sz="1400">
                <a:solidFill>
                  <a:srgbClr val="D6E4F0"/>
                </a:solidFill>
              </a:rPr>
              <a:t>   ·   Genel Bilgi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60120"/>
            <a:ext cx="5608179" cy="5394960"/>
          </a:xfrm>
          <a:prstGeom prst="rect">
            <a:avLst/>
          </a:prstGeom>
          <a:solidFill>
            <a:srgbClr val="F7F9FB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82880" rIns="182880" rtlCol="0" anchor="ctr"/>
          <a:lstStyle/>
          <a:p>
            <a:pPr algn="ctr">
              <a:spcAft>
                <a:spcPts val="1400"/>
              </a:spcAft>
            </a:pPr>
            <a:r>
              <a:rPr sz="1700" b="1">
                <a:solidFill>
                  <a:srgbClr val="222222"/>
                </a:solidFill>
              </a:rPr>
              <a:t>Amatör Telsiz Hizmetinin beş amacından iki tanesi aşağıdakilerden hangisidir?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22222"/>
                </a:solidFill>
              </a:rPr>
              <a:t>a)  Geçmiş telsiz verilerini korumak ve halkın telsiz geçmişini anlamasına yardımcı olmak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22222"/>
                </a:solidFill>
              </a:rPr>
              <a:t>b)  Yabancı ülkelere telsiz haberleşmelerini geliştirmelerinde yardımcı olmak ve yabancı amatör telsizcilerin ziyaretlerini cesaretlendirmek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22222"/>
                </a:solidFill>
              </a:rPr>
              <a:t>c)  Telsiz elektronik dizaynını modernize etmek ve şematik çizimleri geliştirmek</a:t>
            </a:r>
          </a:p>
          <a:p>
            <a:pPr>
              <a:spcAft>
                <a:spcPts val="800"/>
              </a:spcAft>
            </a:pPr>
            <a:r>
              <a:rPr sz="1500" b="1">
                <a:solidFill>
                  <a:srgbClr val="2E7D32"/>
                </a:solidFill>
              </a:rPr>
              <a:t>d)  Eğitimli telsiz operatörleri ile elektronik uzmanlarının sayısını artırmak ve uluslararası saygınlığı geliştirmek</a:t>
            </a:r>
            <a:r>
              <a:rPr sz="1200" i="1">
                <a:solidFill>
                  <a:srgbClr val="2E7D32"/>
                </a:solidFill>
              </a:rPr>
              <a:t>   ✓ Doğru cevap</a:t>
            </a:r>
          </a:p>
        </p:txBody>
      </p:sp>
      <p:sp>
        <p:nvSpPr>
          <p:cNvPr id="5" name="Rectangle 4"/>
          <p:cNvSpPr/>
          <p:nvPr/>
        </p:nvSpPr>
        <p:spPr>
          <a:xfrm>
            <a:off x="6339699" y="960120"/>
            <a:ext cx="5394796" cy="5394960"/>
          </a:xfrm>
          <a:prstGeom prst="rect">
            <a:avLst/>
          </a:prstGeom>
          <a:solidFill>
            <a:srgbClr val="E2EFDA"/>
          </a:solidFill>
          <a:ln w="9525">
            <a:solidFill>
              <a:srgbClr val="9BC1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82880" rIns="182880" rtlCol="0" anchor="ctr"/>
          <a:lstStyle/>
          <a:p>
            <a:pPr algn="ctr">
              <a:spcAft>
                <a:spcPts val="900"/>
              </a:spcAft>
            </a:pPr>
            <a:r>
              <a:rPr sz="1400" b="1">
                <a:solidFill>
                  <a:srgbClr val="2E7D32"/>
                </a:solidFill>
              </a:rPr>
              <a:t>AÇIKLAMA</a:t>
            </a:r>
          </a:p>
          <a:p>
            <a:pPr>
              <a:spcAft>
                <a:spcPts val="1100"/>
              </a:spcAft>
            </a:pPr>
            <a:r>
              <a:rPr sz="1300">
                <a:solidFill>
                  <a:srgbClr val="222222"/>
                </a:solidFill>
              </a:rPr>
              <a:t>Amatör telsizciliğin klasik beş amacından ikisi, kendini yetiştirmiş operatör/teknisyen sayısını artırmak ve iyi niyet/uluslararası anlayışı </a:t>
            </a:r>
            <a:r>
              <a:rPr sz="1300" i="1">
                <a:solidFill>
                  <a:srgbClr val="222222"/>
                </a:solidFill>
              </a:rPr>
              <a:t>(goodwill)</a:t>
            </a:r>
            <a:r>
              <a:rPr sz="1300">
                <a:solidFill>
                  <a:srgbClr val="222222"/>
                </a:solidFill>
              </a:rPr>
              <a:t> geliştirmektir.</a:t>
            </a:r>
          </a:p>
          <a:p>
            <a:r>
              <a:rPr sz="1100" b="1">
                <a:solidFill>
                  <a:srgbClr val="1F3864"/>
                </a:solidFill>
              </a:rPr>
              <a:t>Kaynak: </a:t>
            </a:r>
            <a:r>
              <a:rPr sz="1100" i="1">
                <a:solidFill>
                  <a:srgbClr val="404040"/>
                </a:solidFill>
              </a:rPr>
              <a:t>Amatör Telsiz Hizmetinin amaçları (ITU-RR Md.25 ruhu).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95959"/>
                </a:solidFill>
              </a:rPr>
              <a:t>İşletme — Soru 140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4008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1460175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1">
                <a:solidFill>
                  <a:srgbClr val="FFFFFF"/>
                </a:solidFill>
              </a:rPr>
              <a:t>Soru 141</a:t>
            </a:r>
            <a:r>
              <a:rPr sz="1400">
                <a:solidFill>
                  <a:srgbClr val="D6E4F0"/>
                </a:solidFill>
              </a:rPr>
              <a:t>   ·   Bant Planı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60120"/>
            <a:ext cx="5608179" cy="5394960"/>
          </a:xfrm>
          <a:prstGeom prst="rect">
            <a:avLst/>
          </a:prstGeom>
          <a:solidFill>
            <a:srgbClr val="F7F9FB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82880" rIns="182880" rtlCol="0" anchor="ctr"/>
          <a:lstStyle/>
          <a:p>
            <a:pPr algn="ctr">
              <a:spcAft>
                <a:spcPts val="1400"/>
              </a:spcAft>
            </a:pPr>
            <a:r>
              <a:rPr sz="1700" b="1">
                <a:solidFill>
                  <a:srgbClr val="222222"/>
                </a:solidFill>
              </a:rPr>
              <a:t>Hangi frekanslar 6 metre bandındadır?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22222"/>
                </a:solidFill>
              </a:rPr>
              <a:t>a)  49.00 Mhz</a:t>
            </a:r>
          </a:p>
          <a:p>
            <a:pPr>
              <a:spcAft>
                <a:spcPts val="800"/>
              </a:spcAft>
            </a:pPr>
            <a:r>
              <a:rPr sz="1500" b="1">
                <a:solidFill>
                  <a:srgbClr val="2E7D32"/>
                </a:solidFill>
              </a:rPr>
              <a:t>b)  52.525 Mhz</a:t>
            </a:r>
            <a:r>
              <a:rPr sz="1200" i="1">
                <a:solidFill>
                  <a:srgbClr val="2E7D32"/>
                </a:solidFill>
              </a:rPr>
              <a:t>   ✓ Doğru cevap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22222"/>
                </a:solidFill>
              </a:rPr>
              <a:t>c)  28.50 Mhz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22222"/>
                </a:solidFill>
              </a:rPr>
              <a:t>d)  222.15 Mhz</a:t>
            </a:r>
          </a:p>
        </p:txBody>
      </p:sp>
      <p:sp>
        <p:nvSpPr>
          <p:cNvPr id="5" name="Rectangle 4"/>
          <p:cNvSpPr/>
          <p:nvPr/>
        </p:nvSpPr>
        <p:spPr>
          <a:xfrm>
            <a:off x="6339699" y="960120"/>
            <a:ext cx="5394796" cy="5394960"/>
          </a:xfrm>
          <a:prstGeom prst="rect">
            <a:avLst/>
          </a:prstGeom>
          <a:solidFill>
            <a:srgbClr val="E2EFDA"/>
          </a:solidFill>
          <a:ln w="9525">
            <a:solidFill>
              <a:srgbClr val="9BC1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82880" rIns="182880" rtlCol="0" anchor="ctr"/>
          <a:lstStyle/>
          <a:p>
            <a:pPr algn="ctr">
              <a:spcAft>
                <a:spcPts val="900"/>
              </a:spcAft>
            </a:pPr>
            <a:r>
              <a:rPr sz="1400" b="1">
                <a:solidFill>
                  <a:srgbClr val="2E7D32"/>
                </a:solidFill>
              </a:rPr>
              <a:t>AÇIKLAMA</a:t>
            </a:r>
          </a:p>
          <a:p>
            <a:pPr>
              <a:spcAft>
                <a:spcPts val="1100"/>
              </a:spcAft>
            </a:pPr>
            <a:r>
              <a:rPr sz="1300">
                <a:solidFill>
                  <a:srgbClr val="222222"/>
                </a:solidFill>
              </a:rPr>
              <a:t>6 metre bandı 50-54 MHz aralığındadır; 52.525 MHz bu aralığın içindedir.</a:t>
            </a:r>
          </a:p>
          <a:p>
            <a:r>
              <a:rPr sz="1100" b="1">
                <a:solidFill>
                  <a:srgbClr val="1F3864"/>
                </a:solidFill>
              </a:rPr>
              <a:t>Kaynak: </a:t>
            </a:r>
            <a:r>
              <a:rPr sz="1100" i="1">
                <a:solidFill>
                  <a:srgbClr val="404040"/>
                </a:solidFill>
              </a:rPr>
              <a:t>IARU Region-1 amatör bant planı.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95959"/>
                </a:solidFill>
              </a:rPr>
              <a:t>İşletme — Soru 141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4008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1460175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1">
                <a:solidFill>
                  <a:srgbClr val="FFFFFF"/>
                </a:solidFill>
              </a:rPr>
              <a:t>Soru 142</a:t>
            </a:r>
            <a:r>
              <a:rPr sz="1400">
                <a:solidFill>
                  <a:srgbClr val="D6E4F0"/>
                </a:solidFill>
              </a:rPr>
              <a:t>   ·   Q-Kodları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60120"/>
            <a:ext cx="5608179" cy="5394960"/>
          </a:xfrm>
          <a:prstGeom prst="rect">
            <a:avLst/>
          </a:prstGeom>
          <a:solidFill>
            <a:srgbClr val="F7F9FB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82880" rIns="182880" rtlCol="0" anchor="ctr"/>
          <a:lstStyle/>
          <a:p>
            <a:pPr algn="ctr">
              <a:spcAft>
                <a:spcPts val="1400"/>
              </a:spcAft>
            </a:pPr>
            <a:r>
              <a:rPr sz="1700" b="1">
                <a:solidFill>
                  <a:srgbClr val="222222"/>
                </a:solidFill>
              </a:rPr>
              <a:t>Diğer istasyonlardan parazit aldığınızı belirtmek için kullanılan "Q" sinyali hangisidir?</a:t>
            </a:r>
          </a:p>
          <a:p>
            <a:pPr>
              <a:spcAft>
                <a:spcPts val="800"/>
              </a:spcAft>
            </a:pPr>
            <a:r>
              <a:rPr sz="1500" b="1">
                <a:solidFill>
                  <a:srgbClr val="2E7D32"/>
                </a:solidFill>
              </a:rPr>
              <a:t>a)  QRM</a:t>
            </a:r>
            <a:r>
              <a:rPr sz="1200" i="1">
                <a:solidFill>
                  <a:srgbClr val="2E7D32"/>
                </a:solidFill>
              </a:rPr>
              <a:t>   ✓ Doğru cevap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22222"/>
                </a:solidFill>
              </a:rPr>
              <a:t>b)  QRQ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22222"/>
                </a:solidFill>
              </a:rPr>
              <a:t>c)  QTH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22222"/>
                </a:solidFill>
              </a:rPr>
              <a:t>d)  QSB</a:t>
            </a:r>
          </a:p>
        </p:txBody>
      </p:sp>
      <p:sp>
        <p:nvSpPr>
          <p:cNvPr id="5" name="Rectangle 4"/>
          <p:cNvSpPr/>
          <p:nvPr/>
        </p:nvSpPr>
        <p:spPr>
          <a:xfrm>
            <a:off x="6339699" y="960120"/>
            <a:ext cx="5394796" cy="5394960"/>
          </a:xfrm>
          <a:prstGeom prst="rect">
            <a:avLst/>
          </a:prstGeom>
          <a:solidFill>
            <a:srgbClr val="E2EFDA"/>
          </a:solidFill>
          <a:ln w="9525">
            <a:solidFill>
              <a:srgbClr val="9BC1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82880" rIns="182880" rtlCol="0" anchor="ctr"/>
          <a:lstStyle/>
          <a:p>
            <a:pPr algn="ctr">
              <a:spcAft>
                <a:spcPts val="900"/>
              </a:spcAft>
            </a:pPr>
            <a:r>
              <a:rPr sz="1400" b="1">
                <a:solidFill>
                  <a:srgbClr val="2E7D32"/>
                </a:solidFill>
              </a:rPr>
              <a:t>AÇIKLAMA</a:t>
            </a:r>
          </a:p>
          <a:p>
            <a:pPr>
              <a:spcAft>
                <a:spcPts val="1100"/>
              </a:spcAft>
            </a:pPr>
            <a:r>
              <a:rPr sz="1300">
                <a:solidFill>
                  <a:srgbClr val="222222"/>
                </a:solidFill>
              </a:rPr>
              <a:t>QRM, insan yapımı </a:t>
            </a:r>
            <a:r>
              <a:rPr sz="1300" i="1">
                <a:solidFill>
                  <a:srgbClr val="222222"/>
                </a:solidFill>
              </a:rPr>
              <a:t>(diğer istasyonlardan/cihazlardan kaynaklanan)</a:t>
            </a:r>
            <a:r>
              <a:rPr sz="1300">
                <a:solidFill>
                  <a:srgbClr val="222222"/>
                </a:solidFill>
              </a:rPr>
              <a:t> parazit/girişim anlamına gelir </a:t>
            </a:r>
            <a:r>
              <a:rPr sz="1300" i="1">
                <a:solidFill>
                  <a:srgbClr val="222222"/>
                </a:solidFill>
              </a:rPr>
              <a:t>(QRN doğal — atmosferik — paraziti ifade eder)</a:t>
            </a:r>
            <a:r>
              <a:rPr sz="1300">
                <a:solidFill>
                  <a:srgbClr val="222222"/>
                </a:solidFill>
              </a:rPr>
              <a:t>.</a:t>
            </a:r>
          </a:p>
          <a:p>
            <a:r>
              <a:rPr sz="1100" b="1">
                <a:solidFill>
                  <a:srgbClr val="1F3864"/>
                </a:solidFill>
              </a:rPr>
              <a:t>Kaynak: </a:t>
            </a:r>
            <a:r>
              <a:rPr sz="1100" i="1">
                <a:solidFill>
                  <a:srgbClr val="404040"/>
                </a:solidFill>
              </a:rPr>
              <a:t>ITU Q-kod tablosu (uluslararası standart kısaltılmış telsiz sinyalleri).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95959"/>
                </a:solidFill>
              </a:rPr>
              <a:t>İşletme — Soru 142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4008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1460175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1">
                <a:solidFill>
                  <a:srgbClr val="FFFFFF"/>
                </a:solidFill>
              </a:rPr>
              <a:t>Soru 143</a:t>
            </a:r>
            <a:r>
              <a:rPr sz="1400">
                <a:solidFill>
                  <a:srgbClr val="D6E4F0"/>
                </a:solidFill>
              </a:rPr>
              <a:t>   ·   Bant Planı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60120"/>
            <a:ext cx="5608179" cy="5394960"/>
          </a:xfrm>
          <a:prstGeom prst="rect">
            <a:avLst/>
          </a:prstGeom>
          <a:solidFill>
            <a:srgbClr val="F7F9FB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82880" rIns="182880" rtlCol="0" anchor="ctr"/>
          <a:lstStyle/>
          <a:p>
            <a:pPr algn="ctr">
              <a:spcAft>
                <a:spcPts val="1400"/>
              </a:spcAft>
            </a:pPr>
            <a:r>
              <a:rPr sz="1700" b="1">
                <a:solidFill>
                  <a:srgbClr val="222222"/>
                </a:solidFill>
              </a:rPr>
              <a:t>3.5 Mhz'de hangi amatör band kullanılır?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22222"/>
                </a:solidFill>
              </a:rPr>
              <a:t>a)  15 metre bandı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22222"/>
                </a:solidFill>
              </a:rPr>
              <a:t>b)  20 metre bandı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22222"/>
                </a:solidFill>
              </a:rPr>
              <a:t>c)  70 metre bandı</a:t>
            </a:r>
          </a:p>
          <a:p>
            <a:pPr>
              <a:spcAft>
                <a:spcPts val="800"/>
              </a:spcAft>
            </a:pPr>
            <a:r>
              <a:rPr sz="1500" b="1">
                <a:solidFill>
                  <a:srgbClr val="2E7D32"/>
                </a:solidFill>
              </a:rPr>
              <a:t>d)  80 metre bandı</a:t>
            </a:r>
            <a:r>
              <a:rPr sz="1200" i="1">
                <a:solidFill>
                  <a:srgbClr val="2E7D32"/>
                </a:solidFill>
              </a:rPr>
              <a:t>   ✓ Doğru cevap</a:t>
            </a:r>
          </a:p>
        </p:txBody>
      </p:sp>
      <p:sp>
        <p:nvSpPr>
          <p:cNvPr id="5" name="Rectangle 4"/>
          <p:cNvSpPr/>
          <p:nvPr/>
        </p:nvSpPr>
        <p:spPr>
          <a:xfrm>
            <a:off x="6339699" y="960120"/>
            <a:ext cx="5394796" cy="5394960"/>
          </a:xfrm>
          <a:prstGeom prst="rect">
            <a:avLst/>
          </a:prstGeom>
          <a:solidFill>
            <a:srgbClr val="E2EFDA"/>
          </a:solidFill>
          <a:ln w="9525">
            <a:solidFill>
              <a:srgbClr val="9BC1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82880" rIns="182880" rtlCol="0" anchor="ctr"/>
          <a:lstStyle/>
          <a:p>
            <a:pPr algn="ctr">
              <a:spcAft>
                <a:spcPts val="900"/>
              </a:spcAft>
            </a:pPr>
            <a:r>
              <a:rPr sz="1400" b="1">
                <a:solidFill>
                  <a:srgbClr val="2E7D32"/>
                </a:solidFill>
              </a:rPr>
              <a:t>AÇIKLAMA</a:t>
            </a:r>
          </a:p>
          <a:p>
            <a:pPr>
              <a:spcAft>
                <a:spcPts val="1100"/>
              </a:spcAft>
            </a:pPr>
            <a:r>
              <a:rPr sz="1300">
                <a:solidFill>
                  <a:srgbClr val="222222"/>
                </a:solidFill>
              </a:rPr>
              <a:t>3.5 MHz, 80 metre bandının içindedir </a:t>
            </a:r>
            <a:r>
              <a:rPr sz="1300" i="1">
                <a:solidFill>
                  <a:srgbClr val="222222"/>
                </a:solidFill>
              </a:rPr>
              <a:t>(3.5-4.0 MHz aralığı)</a:t>
            </a:r>
            <a:r>
              <a:rPr sz="1300">
                <a:solidFill>
                  <a:srgbClr val="222222"/>
                </a:solidFill>
              </a:rPr>
              <a:t>.</a:t>
            </a:r>
          </a:p>
          <a:p>
            <a:r>
              <a:rPr sz="1100" b="1">
                <a:solidFill>
                  <a:srgbClr val="1F3864"/>
                </a:solidFill>
              </a:rPr>
              <a:t>Kaynak: </a:t>
            </a:r>
            <a:r>
              <a:rPr sz="1100" i="1">
                <a:solidFill>
                  <a:srgbClr val="404040"/>
                </a:solidFill>
              </a:rPr>
              <a:t>IARU Region-1 amatör bant planı.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95959"/>
                </a:solidFill>
              </a:rPr>
              <a:t>İşletme — Soru 143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4008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1460175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1">
                <a:solidFill>
                  <a:srgbClr val="FFFFFF"/>
                </a:solidFill>
              </a:rPr>
              <a:t>Soru 144</a:t>
            </a:r>
            <a:r>
              <a:rPr sz="1400">
                <a:solidFill>
                  <a:srgbClr val="D6E4F0"/>
                </a:solidFill>
              </a:rPr>
              <a:t>   ·   Genel Bilgi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60120"/>
            <a:ext cx="5608179" cy="5394960"/>
          </a:xfrm>
          <a:prstGeom prst="rect">
            <a:avLst/>
          </a:prstGeom>
          <a:solidFill>
            <a:srgbClr val="F7F9FB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82880" rIns="182880" rtlCol="0" anchor="ctr"/>
          <a:lstStyle/>
          <a:p>
            <a:pPr algn="ctr">
              <a:spcAft>
                <a:spcPts val="1400"/>
              </a:spcAft>
            </a:pPr>
            <a:r>
              <a:rPr sz="1700" b="1">
                <a:solidFill>
                  <a:srgbClr val="222222"/>
                </a:solidFill>
              </a:rPr>
              <a:t>Aşağıdakilerden hangisi yasaklanmış amatör telsiz yayınıdır?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22222"/>
                </a:solidFill>
              </a:rPr>
              <a:t>a)  Acil yardım almak için amatör telsiz kullanmak</a:t>
            </a:r>
          </a:p>
          <a:p>
            <a:pPr>
              <a:spcAft>
                <a:spcPts val="800"/>
              </a:spcAft>
            </a:pPr>
            <a:r>
              <a:rPr sz="1500" b="1">
                <a:solidFill>
                  <a:srgbClr val="2E7D32"/>
                </a:solidFill>
              </a:rPr>
              <a:t>b)  İş yürütmek için amatör telsiz kullanmak</a:t>
            </a:r>
            <a:r>
              <a:rPr sz="1200" i="1">
                <a:solidFill>
                  <a:srgbClr val="2E7D32"/>
                </a:solidFill>
              </a:rPr>
              <a:t>   ✓ Doğru cevap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22222"/>
                </a:solidFill>
              </a:rPr>
              <a:t>c)  Bir taksi veya yiyecek siparişi için amatör bir telefon patch'i kullanmak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22222"/>
                </a:solidFill>
              </a:rPr>
              <a:t>d)  Eve geç geleceğinizi bildirmek için amatör bir telefon patch'i kullanmak</a:t>
            </a:r>
          </a:p>
        </p:txBody>
      </p:sp>
      <p:sp>
        <p:nvSpPr>
          <p:cNvPr id="5" name="Rectangle 4"/>
          <p:cNvSpPr/>
          <p:nvPr/>
        </p:nvSpPr>
        <p:spPr>
          <a:xfrm>
            <a:off x="6339699" y="960120"/>
            <a:ext cx="5394796" cy="5394960"/>
          </a:xfrm>
          <a:prstGeom prst="rect">
            <a:avLst/>
          </a:prstGeom>
          <a:solidFill>
            <a:srgbClr val="E2EFDA"/>
          </a:solidFill>
          <a:ln w="9525">
            <a:solidFill>
              <a:srgbClr val="9BC1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82880" rIns="182880" rtlCol="0" anchor="ctr"/>
          <a:lstStyle/>
          <a:p>
            <a:pPr algn="ctr">
              <a:spcAft>
                <a:spcPts val="900"/>
              </a:spcAft>
            </a:pPr>
            <a:r>
              <a:rPr sz="1400" b="1">
                <a:solidFill>
                  <a:srgbClr val="2E7D32"/>
                </a:solidFill>
              </a:rPr>
              <a:t>AÇIKLAMA</a:t>
            </a:r>
          </a:p>
          <a:p>
            <a:pPr>
              <a:spcAft>
                <a:spcPts val="1100"/>
              </a:spcAft>
            </a:pPr>
            <a:r>
              <a:rPr sz="1300">
                <a:solidFill>
                  <a:srgbClr val="222222"/>
                </a:solidFill>
              </a:rPr>
              <a:t>Amatör telsiz, ticari/iş amaçlı </a:t>
            </a:r>
            <a:r>
              <a:rPr sz="1300" i="1">
                <a:solidFill>
                  <a:srgbClr val="222222"/>
                </a:solidFill>
              </a:rPr>
              <a:t>(maddi çıkar sağlayan)</a:t>
            </a:r>
            <a:r>
              <a:rPr sz="1300">
                <a:solidFill>
                  <a:srgbClr val="222222"/>
                </a:solidFill>
              </a:rPr>
              <a:t> kullanım için yasaktır; acil durum, kişisel günlük bildirimler </a:t>
            </a:r>
            <a:r>
              <a:rPr sz="1300" i="1">
                <a:solidFill>
                  <a:srgbClr val="222222"/>
                </a:solidFill>
              </a:rPr>
              <a:t>("eve geç kalacağım" gibi kâr amacı gütmeyen mesajlar)</a:t>
            </a:r>
            <a:r>
              <a:rPr sz="1300">
                <a:solidFill>
                  <a:srgbClr val="222222"/>
                </a:solidFill>
              </a:rPr>
              <a:t> ise geleneksel olarak amatör kullanıma uygundur.</a:t>
            </a:r>
          </a:p>
          <a:p>
            <a:r>
              <a:rPr sz="1100" b="1">
                <a:solidFill>
                  <a:srgbClr val="1F3864"/>
                </a:solidFill>
              </a:rPr>
              <a:t>Kaynak: </a:t>
            </a:r>
            <a:r>
              <a:rPr sz="1100" i="1">
                <a:solidFill>
                  <a:srgbClr val="404040"/>
                </a:solidFill>
              </a:rPr>
              <a:t>Yasaklı ticari kullanım kuralı.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95959"/>
                </a:solidFill>
              </a:rPr>
              <a:t>İşletme — Soru 144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4008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1460175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1">
                <a:solidFill>
                  <a:srgbClr val="FFFFFF"/>
                </a:solidFill>
              </a:rPr>
              <a:t>Soru 145</a:t>
            </a:r>
            <a:r>
              <a:rPr sz="1400">
                <a:solidFill>
                  <a:srgbClr val="D6E4F0"/>
                </a:solidFill>
              </a:rPr>
              <a:t>   ·   Genel Bilgi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60120"/>
            <a:ext cx="5608179" cy="5394960"/>
          </a:xfrm>
          <a:prstGeom prst="rect">
            <a:avLst/>
          </a:prstGeom>
          <a:solidFill>
            <a:srgbClr val="F7F9FB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82880" rIns="182880" rtlCol="0" anchor="ctr"/>
          <a:lstStyle/>
          <a:p>
            <a:pPr algn="ctr">
              <a:spcAft>
                <a:spcPts val="1400"/>
              </a:spcAft>
            </a:pPr>
            <a:r>
              <a:rPr sz="1700" b="1">
                <a:solidFill>
                  <a:srgbClr val="222222"/>
                </a:solidFill>
              </a:rPr>
              <a:t>Amatör istasyonunuzu ne zaman uçakta çalıştırabilirsiniz?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22222"/>
                </a:solidFill>
              </a:rPr>
              <a:t>a)  Her zaman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22222"/>
                </a:solidFill>
              </a:rPr>
              <a:t>b)  Uçak yalnızca yerde olduğunda</a:t>
            </a:r>
          </a:p>
          <a:p>
            <a:pPr>
              <a:spcAft>
                <a:spcPts val="800"/>
              </a:spcAft>
            </a:pPr>
            <a:r>
              <a:rPr sz="1500" b="1">
                <a:solidFill>
                  <a:srgbClr val="2E7D32"/>
                </a:solidFill>
              </a:rPr>
              <a:t>c)  Yalnızca uçağa komuta eden pilotun onayı ile ve uçağın telsiz teçhizatını kullanmadan</a:t>
            </a:r>
            <a:r>
              <a:rPr sz="1200" i="1">
                <a:solidFill>
                  <a:srgbClr val="2E7D32"/>
                </a:solidFill>
              </a:rPr>
              <a:t>   ✓ Doğru cevap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22222"/>
                </a:solidFill>
              </a:rPr>
              <a:t>d)  Yalnızca hava yollarından yazılı izin aldığınızda ve yalnızca uçağın telsiz teçhizatını kullanarak</a:t>
            </a:r>
          </a:p>
        </p:txBody>
      </p:sp>
      <p:sp>
        <p:nvSpPr>
          <p:cNvPr id="5" name="Rectangle 4"/>
          <p:cNvSpPr/>
          <p:nvPr/>
        </p:nvSpPr>
        <p:spPr>
          <a:xfrm>
            <a:off x="6339699" y="960120"/>
            <a:ext cx="5394796" cy="5394960"/>
          </a:xfrm>
          <a:prstGeom prst="rect">
            <a:avLst/>
          </a:prstGeom>
          <a:solidFill>
            <a:srgbClr val="E2EFDA"/>
          </a:solidFill>
          <a:ln w="9525">
            <a:solidFill>
              <a:srgbClr val="9BC1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82880" rIns="182880" rtlCol="0" anchor="ctr"/>
          <a:lstStyle/>
          <a:p>
            <a:pPr algn="ctr">
              <a:spcAft>
                <a:spcPts val="900"/>
              </a:spcAft>
            </a:pPr>
            <a:r>
              <a:rPr sz="1400" b="1">
                <a:solidFill>
                  <a:srgbClr val="2E7D32"/>
                </a:solidFill>
              </a:rPr>
              <a:t>AÇIKLAMA</a:t>
            </a:r>
          </a:p>
          <a:p>
            <a:pPr>
              <a:spcAft>
                <a:spcPts val="1100"/>
              </a:spcAft>
            </a:pPr>
            <a:r>
              <a:rPr sz="1300">
                <a:solidFill>
                  <a:srgbClr val="222222"/>
                </a:solidFill>
              </a:rPr>
              <a:t>Kendi amatör cihazınızı bir uçakta çalıştırmak, ancak uçağın komutanının </a:t>
            </a:r>
            <a:r>
              <a:rPr sz="1300" i="1">
                <a:solidFill>
                  <a:srgbClr val="222222"/>
                </a:solidFill>
              </a:rPr>
              <a:t>(pilotun)</a:t>
            </a:r>
            <a:r>
              <a:rPr sz="1300">
                <a:solidFill>
                  <a:srgbClr val="222222"/>
                </a:solidFill>
              </a:rPr>
              <a:t> onayıyla ve uçağın kendi telsiz/navigasyon sistemlerine karışmayacak şekilde mümkündür.</a:t>
            </a:r>
          </a:p>
          <a:p>
            <a:r>
              <a:rPr sz="1100" b="1">
                <a:solidFill>
                  <a:srgbClr val="1F3864"/>
                </a:solidFill>
              </a:rPr>
              <a:t>Kaynak: </a:t>
            </a:r>
            <a:r>
              <a:rPr sz="1100" i="1">
                <a:solidFill>
                  <a:srgbClr val="404040"/>
                </a:solidFill>
              </a:rPr>
              <a:t>Genel havacılık güvenliği kuralı.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95959"/>
                </a:solidFill>
              </a:rPr>
              <a:t>İşletme — Soru 145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4008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1460175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1">
                <a:solidFill>
                  <a:srgbClr val="FFFFFF"/>
                </a:solidFill>
              </a:rPr>
              <a:t>Soru 146</a:t>
            </a:r>
            <a:r>
              <a:rPr sz="1400">
                <a:solidFill>
                  <a:srgbClr val="D6E4F0"/>
                </a:solidFill>
              </a:rPr>
              <a:t>   ·   Genel Bilgi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60120"/>
            <a:ext cx="5608179" cy="5394960"/>
          </a:xfrm>
          <a:prstGeom prst="rect">
            <a:avLst/>
          </a:prstGeom>
          <a:solidFill>
            <a:srgbClr val="F7F9FB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82880" rIns="182880" rtlCol="0" anchor="ctr"/>
          <a:lstStyle/>
          <a:p>
            <a:pPr algn="ctr">
              <a:spcAft>
                <a:spcPts val="1400"/>
              </a:spcAft>
            </a:pPr>
            <a:r>
              <a:rPr sz="1700" b="1">
                <a:solidFill>
                  <a:srgbClr val="222222"/>
                </a:solidFill>
              </a:rPr>
              <a:t>Gönderilecek frekansı seçerken, aşağıdakilerden hangisini yapmanız gerekir?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22222"/>
                </a:solidFill>
              </a:rPr>
              <a:t>a)  Herhangi bir kişinin dinleyip dinlemediğini öğrenmek için CQ'yu ara</a:t>
            </a:r>
          </a:p>
          <a:p>
            <a:pPr>
              <a:spcAft>
                <a:spcPts val="800"/>
              </a:spcAft>
            </a:pPr>
            <a:r>
              <a:rPr sz="1500" b="1">
                <a:solidFill>
                  <a:srgbClr val="2E7D32"/>
                </a:solidFill>
              </a:rPr>
              <a:t>b)  Frekansın meşgul olup olmadığını belirlemek için dinle</a:t>
            </a:r>
            <a:r>
              <a:rPr sz="1200" i="1">
                <a:solidFill>
                  <a:srgbClr val="2E7D32"/>
                </a:solidFill>
              </a:rPr>
              <a:t>   ✓ Doğru cevap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22222"/>
                </a:solidFill>
              </a:rPr>
              <a:t>c)  İşaretlerinizin duyulmasına olanak sağlayacak bir frekansta gönderim yapın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22222"/>
                </a:solidFill>
              </a:rPr>
              <a:t>d)  Maksimum çıkış güç için kontrol yapın</a:t>
            </a:r>
          </a:p>
        </p:txBody>
      </p:sp>
      <p:sp>
        <p:nvSpPr>
          <p:cNvPr id="5" name="Rectangle 4"/>
          <p:cNvSpPr/>
          <p:nvPr/>
        </p:nvSpPr>
        <p:spPr>
          <a:xfrm>
            <a:off x="6339699" y="960120"/>
            <a:ext cx="5394796" cy="5394960"/>
          </a:xfrm>
          <a:prstGeom prst="rect">
            <a:avLst/>
          </a:prstGeom>
          <a:solidFill>
            <a:srgbClr val="E2EFDA"/>
          </a:solidFill>
          <a:ln w="9525">
            <a:solidFill>
              <a:srgbClr val="9BC1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82880" rIns="182880" rtlCol="0" anchor="ctr"/>
          <a:lstStyle/>
          <a:p>
            <a:pPr algn="ctr">
              <a:spcAft>
                <a:spcPts val="900"/>
              </a:spcAft>
            </a:pPr>
            <a:r>
              <a:rPr sz="1400" b="1">
                <a:solidFill>
                  <a:srgbClr val="2E7D32"/>
                </a:solidFill>
              </a:rPr>
              <a:t>AÇIKLAMA</a:t>
            </a:r>
          </a:p>
          <a:p>
            <a:pPr>
              <a:spcAft>
                <a:spcPts val="1100"/>
              </a:spcAft>
            </a:pPr>
            <a:r>
              <a:rPr sz="1300">
                <a:solidFill>
                  <a:srgbClr val="222222"/>
                </a:solidFill>
              </a:rPr>
              <a:t>Göndermeden önce her zaman dinlemek gerekir — frekans boş mu diye kontrol etmeden çağrı yapmak, devam eden bir görüşmeye karışma riski taşır.</a:t>
            </a:r>
          </a:p>
          <a:p>
            <a:r>
              <a:rPr sz="1100" b="1">
                <a:solidFill>
                  <a:srgbClr val="1F3864"/>
                </a:solidFill>
              </a:rPr>
              <a:t>Kaynak: </a:t>
            </a:r>
            <a:r>
              <a:rPr sz="1100" i="1">
                <a:solidFill>
                  <a:srgbClr val="404040"/>
                </a:solidFill>
              </a:rPr>
              <a:t>Genel amatör telsiz işletme adabı.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95959"/>
                </a:solidFill>
              </a:rPr>
              <a:t>İşletme — Soru 146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4008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1460175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1">
                <a:solidFill>
                  <a:srgbClr val="FFFFFF"/>
                </a:solidFill>
              </a:rPr>
              <a:t>Soru 147</a:t>
            </a:r>
            <a:r>
              <a:rPr sz="1400">
                <a:solidFill>
                  <a:srgbClr val="D6E4F0"/>
                </a:solidFill>
              </a:rPr>
              <a:t>   ·   Genel Bilgi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60120"/>
            <a:ext cx="5608179" cy="5394960"/>
          </a:xfrm>
          <a:prstGeom prst="rect">
            <a:avLst/>
          </a:prstGeom>
          <a:solidFill>
            <a:srgbClr val="F7F9FB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82880" rIns="182880" rtlCol="0" anchor="ctr"/>
          <a:lstStyle/>
          <a:p>
            <a:pPr algn="ctr">
              <a:spcAft>
                <a:spcPts val="1400"/>
              </a:spcAft>
            </a:pPr>
            <a:r>
              <a:rPr sz="1700" b="1">
                <a:solidFill>
                  <a:srgbClr val="222222"/>
                </a:solidFill>
              </a:rPr>
              <a:t>Herhangi bir istasyonla temas kurmak için arama yaptığınızı nasıl belli edersiniz?</a:t>
            </a:r>
          </a:p>
          <a:p>
            <a:pPr>
              <a:spcAft>
                <a:spcPts val="800"/>
              </a:spcAft>
            </a:pPr>
            <a:r>
              <a:rPr sz="1500" b="1">
                <a:solidFill>
                  <a:srgbClr val="2E7D32"/>
                </a:solidFill>
              </a:rPr>
              <a:t>a)  Sizin çağrı işaretinizi takiben CQ</a:t>
            </a:r>
            <a:r>
              <a:rPr sz="1200" i="1">
                <a:solidFill>
                  <a:srgbClr val="2E7D32"/>
                </a:solidFill>
              </a:rPr>
              <a:t>   ✓ Doğru cevap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22222"/>
                </a:solidFill>
              </a:rPr>
              <a:t>b)  Sizin çağrı işaretinizi takiben RST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22222"/>
                </a:solidFill>
              </a:rPr>
              <a:t>c)  Sizin çağrı işaretinizi takiben QST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22222"/>
                </a:solidFill>
              </a:rPr>
              <a:t>d)  Sizin çağrı işaretinizi takiben SK</a:t>
            </a:r>
          </a:p>
        </p:txBody>
      </p:sp>
      <p:sp>
        <p:nvSpPr>
          <p:cNvPr id="5" name="Rectangle 4"/>
          <p:cNvSpPr/>
          <p:nvPr/>
        </p:nvSpPr>
        <p:spPr>
          <a:xfrm>
            <a:off x="6339699" y="960120"/>
            <a:ext cx="5394796" cy="5394960"/>
          </a:xfrm>
          <a:prstGeom prst="rect">
            <a:avLst/>
          </a:prstGeom>
          <a:solidFill>
            <a:srgbClr val="E2EFDA"/>
          </a:solidFill>
          <a:ln w="9525">
            <a:solidFill>
              <a:srgbClr val="9BC1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82880" rIns="182880" rtlCol="0" anchor="ctr"/>
          <a:lstStyle/>
          <a:p>
            <a:pPr algn="ctr">
              <a:spcAft>
                <a:spcPts val="900"/>
              </a:spcAft>
            </a:pPr>
            <a:r>
              <a:rPr sz="1400" b="1">
                <a:solidFill>
                  <a:srgbClr val="2E7D32"/>
                </a:solidFill>
              </a:rPr>
              <a:t>AÇIKLAMA</a:t>
            </a:r>
          </a:p>
          <a:p>
            <a:pPr>
              <a:spcAft>
                <a:spcPts val="1100"/>
              </a:spcAft>
            </a:pPr>
            <a:r>
              <a:rPr sz="1300">
                <a:solidFill>
                  <a:srgbClr val="222222"/>
                </a:solidFill>
              </a:rPr>
              <a:t>Standart genel çağrı formatı: kendi çağrı işaretini söyleyip ardından "CQ" eklemektir </a:t>
            </a:r>
            <a:r>
              <a:rPr sz="1300" i="1">
                <a:solidFill>
                  <a:srgbClr val="222222"/>
                </a:solidFill>
              </a:rPr>
              <a:t>(örn. "TA2KA CQ" veya "CQ ... de TA2KA")</a:t>
            </a:r>
            <a:r>
              <a:rPr sz="1300">
                <a:solidFill>
                  <a:srgbClr val="222222"/>
                </a:solidFill>
              </a:rPr>
              <a:t>.</a:t>
            </a:r>
          </a:p>
          <a:p>
            <a:r>
              <a:rPr sz="1100" b="1">
                <a:solidFill>
                  <a:srgbClr val="1F3864"/>
                </a:solidFill>
              </a:rPr>
              <a:t>Kaynak: </a:t>
            </a:r>
            <a:r>
              <a:rPr sz="1100" i="1">
                <a:solidFill>
                  <a:srgbClr val="404040"/>
                </a:solidFill>
              </a:rPr>
              <a:t>Genel amatör telsiz çağrı adabı.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95959"/>
                </a:solidFill>
              </a:rPr>
              <a:t>İşletme — Soru 147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4008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1460175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1">
                <a:solidFill>
                  <a:srgbClr val="FFFFFF"/>
                </a:solidFill>
              </a:rPr>
              <a:t>Soru 148</a:t>
            </a:r>
            <a:r>
              <a:rPr sz="1400">
                <a:solidFill>
                  <a:srgbClr val="D6E4F0"/>
                </a:solidFill>
              </a:rPr>
              <a:t>   ·   Genel Bilgi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60120"/>
            <a:ext cx="5608179" cy="5394960"/>
          </a:xfrm>
          <a:prstGeom prst="rect">
            <a:avLst/>
          </a:prstGeom>
          <a:solidFill>
            <a:srgbClr val="F7F9FB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82880" rIns="182880" rtlCol="0" anchor="ctr"/>
          <a:lstStyle/>
          <a:p>
            <a:pPr algn="ctr">
              <a:spcAft>
                <a:spcPts val="1400"/>
              </a:spcAft>
            </a:pPr>
            <a:r>
              <a:rPr sz="1700" b="1">
                <a:solidFill>
                  <a:srgbClr val="222222"/>
                </a:solidFill>
              </a:rPr>
              <a:t>CQ'nun bir çağrısına cevap verirken neyi göndermelisiniz?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22222"/>
                </a:solidFill>
              </a:rPr>
              <a:t>a)  Diğer istasyonun çağrı işaretini takiben kendi CQ'nuzu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22222"/>
                </a:solidFill>
              </a:rPr>
              <a:t>b)  Kendi çağrı işaretinizi takiben diğer istasyonunun çağrı işaretini</a:t>
            </a:r>
          </a:p>
          <a:p>
            <a:pPr>
              <a:spcAft>
                <a:spcPts val="800"/>
              </a:spcAft>
            </a:pPr>
            <a:r>
              <a:rPr sz="1500" b="1">
                <a:solidFill>
                  <a:srgbClr val="2E7D32"/>
                </a:solidFill>
              </a:rPr>
              <a:t>c)  Diğer istasyonun çağrı işaretini takiben kendi çağrı işaretinizi</a:t>
            </a:r>
            <a:r>
              <a:rPr sz="1200" i="1">
                <a:solidFill>
                  <a:srgbClr val="2E7D32"/>
                </a:solidFill>
              </a:rPr>
              <a:t>   ✓ Doğru cevap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22222"/>
                </a:solidFill>
              </a:rPr>
              <a:t>d)  Kendi çağrı işaretinizi takiben bir işaret raporu</a:t>
            </a:r>
          </a:p>
        </p:txBody>
      </p:sp>
      <p:sp>
        <p:nvSpPr>
          <p:cNvPr id="5" name="Rectangle 4"/>
          <p:cNvSpPr/>
          <p:nvPr/>
        </p:nvSpPr>
        <p:spPr>
          <a:xfrm>
            <a:off x="6339699" y="960120"/>
            <a:ext cx="5394796" cy="5394960"/>
          </a:xfrm>
          <a:prstGeom prst="rect">
            <a:avLst/>
          </a:prstGeom>
          <a:solidFill>
            <a:srgbClr val="E2EFDA"/>
          </a:solidFill>
          <a:ln w="9525">
            <a:solidFill>
              <a:srgbClr val="9BC1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82880" rIns="182880" rtlCol="0" anchor="ctr"/>
          <a:lstStyle/>
          <a:p>
            <a:pPr algn="ctr">
              <a:spcAft>
                <a:spcPts val="900"/>
              </a:spcAft>
            </a:pPr>
            <a:r>
              <a:rPr sz="1400" b="1">
                <a:solidFill>
                  <a:srgbClr val="2E7D32"/>
                </a:solidFill>
              </a:rPr>
              <a:t>AÇIKLAMA</a:t>
            </a:r>
          </a:p>
          <a:p>
            <a:pPr>
              <a:spcAft>
                <a:spcPts val="1100"/>
              </a:spcAft>
            </a:pPr>
            <a:r>
              <a:rPr sz="1300">
                <a:solidFill>
                  <a:srgbClr val="222222"/>
                </a:solidFill>
              </a:rPr>
              <a:t>Bir CQ çağrısına cevap verirken önce aranan istasyonun çağrı işareti söylenir </a:t>
            </a:r>
            <a:r>
              <a:rPr sz="1300" i="1">
                <a:solidFill>
                  <a:srgbClr val="222222"/>
                </a:solidFill>
              </a:rPr>
              <a:t>(kime cevap verildiği belli olsun diye)</a:t>
            </a:r>
            <a:r>
              <a:rPr sz="1300">
                <a:solidFill>
                  <a:srgbClr val="222222"/>
                </a:solidFill>
              </a:rPr>
              <a:t>, ardından kendi çağrı işareti eklenir.</a:t>
            </a:r>
          </a:p>
          <a:p>
            <a:r>
              <a:rPr sz="1100" b="1">
                <a:solidFill>
                  <a:srgbClr val="1F3864"/>
                </a:solidFill>
              </a:rPr>
              <a:t>Kaynak: </a:t>
            </a:r>
            <a:r>
              <a:rPr sz="1100" i="1">
                <a:solidFill>
                  <a:srgbClr val="404040"/>
                </a:solidFill>
              </a:rPr>
              <a:t>Genel amatör telsiz çağrı adabı.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95959"/>
                </a:solidFill>
              </a:rPr>
              <a:t>İşletme — Soru 148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4008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1460175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1">
                <a:solidFill>
                  <a:srgbClr val="FFFFFF"/>
                </a:solidFill>
              </a:rPr>
              <a:t>Soru 149</a:t>
            </a:r>
            <a:r>
              <a:rPr sz="1400">
                <a:solidFill>
                  <a:srgbClr val="D6E4F0"/>
                </a:solidFill>
              </a:rPr>
              <a:t>   ·   Bant Planı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60120"/>
            <a:ext cx="5608179" cy="5394960"/>
          </a:xfrm>
          <a:prstGeom prst="rect">
            <a:avLst/>
          </a:prstGeom>
          <a:solidFill>
            <a:srgbClr val="F7F9FB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82880" rIns="182880" rtlCol="0" anchor="ctr"/>
          <a:lstStyle/>
          <a:p>
            <a:pPr algn="ctr">
              <a:spcAft>
                <a:spcPts val="1400"/>
              </a:spcAft>
            </a:pPr>
            <a:r>
              <a:rPr sz="1700" b="1">
                <a:solidFill>
                  <a:srgbClr val="222222"/>
                </a:solidFill>
              </a:rPr>
              <a:t>50.0 – 50.1 Mhz'de sınırlandırılmış bantta hangi yayın modlarına izin verilir?</a:t>
            </a:r>
          </a:p>
          <a:p>
            <a:pPr>
              <a:spcAft>
                <a:spcPts val="800"/>
              </a:spcAft>
            </a:pPr>
            <a:r>
              <a:rPr sz="1500" b="1">
                <a:solidFill>
                  <a:srgbClr val="2E7D32"/>
                </a:solidFill>
              </a:rPr>
              <a:t>a)  Yalnızca CW</a:t>
            </a:r>
            <a:r>
              <a:rPr sz="1200" i="1">
                <a:solidFill>
                  <a:srgbClr val="2E7D32"/>
                </a:solidFill>
              </a:rPr>
              <a:t>   ✓ Doğru cevap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22222"/>
                </a:solidFill>
              </a:rPr>
              <a:t>b)  CW ve RTTY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22222"/>
                </a:solidFill>
              </a:rPr>
              <a:t>c)  Yalnızca SSB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22222"/>
                </a:solidFill>
              </a:rPr>
              <a:t>d)  CW ve SSB</a:t>
            </a:r>
          </a:p>
        </p:txBody>
      </p:sp>
      <p:sp>
        <p:nvSpPr>
          <p:cNvPr id="5" name="Rectangle 4"/>
          <p:cNvSpPr/>
          <p:nvPr/>
        </p:nvSpPr>
        <p:spPr>
          <a:xfrm>
            <a:off x="6339699" y="960120"/>
            <a:ext cx="5394796" cy="5394960"/>
          </a:xfrm>
          <a:prstGeom prst="rect">
            <a:avLst/>
          </a:prstGeom>
          <a:solidFill>
            <a:srgbClr val="E2EFDA"/>
          </a:solidFill>
          <a:ln w="9525">
            <a:solidFill>
              <a:srgbClr val="9BC1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82880" rIns="182880" rtlCol="0" anchor="ctr"/>
          <a:lstStyle/>
          <a:p>
            <a:pPr algn="ctr">
              <a:spcAft>
                <a:spcPts val="900"/>
              </a:spcAft>
            </a:pPr>
            <a:r>
              <a:rPr sz="1400" b="1">
                <a:solidFill>
                  <a:srgbClr val="2E7D32"/>
                </a:solidFill>
              </a:rPr>
              <a:t>AÇIKLAMA</a:t>
            </a:r>
          </a:p>
          <a:p>
            <a:pPr>
              <a:spcAft>
                <a:spcPts val="1100"/>
              </a:spcAft>
            </a:pPr>
            <a:r>
              <a:rPr sz="1300">
                <a:solidFill>
                  <a:srgbClr val="222222"/>
                </a:solidFill>
              </a:rPr>
              <a:t>6 metre bandının en altındaki bu dar segment, dünya çapında CW/zayıf-sinyal çalışmalarına ayrılmıştır.</a:t>
            </a:r>
          </a:p>
          <a:p>
            <a:r>
              <a:rPr sz="1100" b="1">
                <a:solidFill>
                  <a:srgbClr val="1F3864"/>
                </a:solidFill>
              </a:rPr>
              <a:t>Kaynak: </a:t>
            </a:r>
            <a:r>
              <a:rPr sz="1100" i="1">
                <a:solidFill>
                  <a:srgbClr val="404040"/>
                </a:solidFill>
              </a:rPr>
              <a:t>IARU Region-1 amatör bant planı.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95959"/>
                </a:solidFill>
              </a:rPr>
              <a:t>İşletme — Soru 149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4008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1460175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1">
                <a:solidFill>
                  <a:srgbClr val="FFFFFF"/>
                </a:solidFill>
              </a:rPr>
              <a:t>Soru 150</a:t>
            </a:r>
            <a:r>
              <a:rPr sz="1400">
                <a:solidFill>
                  <a:srgbClr val="D6E4F0"/>
                </a:solidFill>
              </a:rPr>
              <a:t>   ·   Genel Bilgi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60120"/>
            <a:ext cx="5608179" cy="5394960"/>
          </a:xfrm>
          <a:prstGeom prst="rect">
            <a:avLst/>
          </a:prstGeom>
          <a:solidFill>
            <a:srgbClr val="F7F9FB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82880" rIns="182880" rtlCol="0" anchor="ctr"/>
          <a:lstStyle/>
          <a:p>
            <a:pPr algn="ctr">
              <a:spcAft>
                <a:spcPts val="1400"/>
              </a:spcAft>
            </a:pPr>
            <a:r>
              <a:rPr sz="1700" b="1">
                <a:solidFill>
                  <a:srgbClr val="222222"/>
                </a:solidFill>
              </a:rPr>
              <a:t>Frekansı kullanan iki istasyon arasındaki konuşmayı kesmenin uygun yolu aşağıdakilerden hangisidir?</a:t>
            </a:r>
          </a:p>
          <a:p>
            <a:pPr>
              <a:spcAft>
                <a:spcPts val="800"/>
              </a:spcAft>
            </a:pPr>
            <a:r>
              <a:rPr sz="1500" b="1">
                <a:solidFill>
                  <a:srgbClr val="2E7D32"/>
                </a:solidFill>
              </a:rPr>
              <a:t>a)  Onların gönderimleri arasında kendi çağrı işaretini söylemek</a:t>
            </a:r>
            <a:r>
              <a:rPr sz="1200" i="1">
                <a:solidFill>
                  <a:srgbClr val="2E7D32"/>
                </a:solidFill>
              </a:rPr>
              <a:t>   ✓ Doğru cevap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22222"/>
                </a:solidFill>
              </a:rPr>
              <a:t>b)  Bitirmeleri için onları bekleyip sonrasında CQ'yu aramak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22222"/>
                </a:solidFill>
              </a:rPr>
              <a:t>c)  Onların gönderimleri arasında "break-break" demek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22222"/>
                </a:solidFill>
              </a:rPr>
              <a:t>d)  Konuşmaya müdahale etmesi için operatörlerden birisini telefona çağırmak</a:t>
            </a:r>
          </a:p>
        </p:txBody>
      </p:sp>
      <p:sp>
        <p:nvSpPr>
          <p:cNvPr id="5" name="Rectangle 4"/>
          <p:cNvSpPr/>
          <p:nvPr/>
        </p:nvSpPr>
        <p:spPr>
          <a:xfrm>
            <a:off x="6339699" y="960120"/>
            <a:ext cx="5394796" cy="5394960"/>
          </a:xfrm>
          <a:prstGeom prst="rect">
            <a:avLst/>
          </a:prstGeom>
          <a:solidFill>
            <a:srgbClr val="E2EFDA"/>
          </a:solidFill>
          <a:ln w="9525">
            <a:solidFill>
              <a:srgbClr val="9BC1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82880" rIns="182880" rtlCol="0" anchor="ctr"/>
          <a:lstStyle/>
          <a:p>
            <a:pPr algn="ctr">
              <a:spcAft>
                <a:spcPts val="900"/>
              </a:spcAft>
            </a:pPr>
            <a:r>
              <a:rPr sz="1400" b="1">
                <a:solidFill>
                  <a:srgbClr val="2E7D32"/>
                </a:solidFill>
              </a:rPr>
              <a:t>AÇIKLAMA</a:t>
            </a:r>
          </a:p>
          <a:p>
            <a:pPr>
              <a:spcAft>
                <a:spcPts val="1100"/>
              </a:spcAft>
            </a:pPr>
            <a:r>
              <a:rPr sz="1300">
                <a:solidFill>
                  <a:srgbClr val="222222"/>
                </a:solidFill>
              </a:rPr>
              <a:t>Devam eden bir görüşmeye kısa/kibarca müdahale etmenin adabı, tarafların gönderimleri ARASINDAKİ boşlukta kendi çağrı işaretini söylemektir; bu, kimliğinizi belli eder ve konuşmayı kabaca kesmez.</a:t>
            </a:r>
          </a:p>
          <a:p>
            <a:r>
              <a:rPr sz="1100" b="1">
                <a:solidFill>
                  <a:srgbClr val="1F3864"/>
                </a:solidFill>
              </a:rPr>
              <a:t>Kaynak: </a:t>
            </a:r>
            <a:r>
              <a:rPr sz="1100" i="1">
                <a:solidFill>
                  <a:srgbClr val="404040"/>
                </a:solidFill>
              </a:rPr>
              <a:t>Genel amatör telsiz işletme adabı.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95959"/>
                </a:solidFill>
              </a:rPr>
              <a:t>İşletme — Soru 150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4008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1460175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1">
                <a:solidFill>
                  <a:srgbClr val="FFFFFF"/>
                </a:solidFill>
              </a:rPr>
              <a:t>Soru 151</a:t>
            </a:r>
            <a:r>
              <a:rPr sz="1400">
                <a:solidFill>
                  <a:srgbClr val="D6E4F0"/>
                </a:solidFill>
              </a:rPr>
              <a:t>   ·   Genel Bilgi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60120"/>
            <a:ext cx="5608179" cy="5394960"/>
          </a:xfrm>
          <a:prstGeom prst="rect">
            <a:avLst/>
          </a:prstGeom>
          <a:solidFill>
            <a:srgbClr val="F7F9FB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82880" rIns="182880" rtlCol="0" anchor="ctr"/>
          <a:lstStyle/>
          <a:p>
            <a:pPr algn="ctr">
              <a:spcAft>
                <a:spcPts val="1400"/>
              </a:spcAft>
            </a:pPr>
            <a:r>
              <a:rPr sz="1700" b="1">
                <a:solidFill>
                  <a:srgbClr val="222222"/>
                </a:solidFill>
              </a:rPr>
              <a:t>PSK ne demektir?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22222"/>
                </a:solidFill>
              </a:rPr>
              <a:t>a)  Darbe kaydırmalı anahtarlama</a:t>
            </a:r>
          </a:p>
          <a:p>
            <a:pPr>
              <a:spcAft>
                <a:spcPts val="800"/>
              </a:spcAft>
            </a:pPr>
            <a:r>
              <a:rPr sz="1500" b="1">
                <a:solidFill>
                  <a:srgbClr val="2E7D32"/>
                </a:solidFill>
              </a:rPr>
              <a:t>b)  Faz kaydırmalı anahtarlama</a:t>
            </a:r>
            <a:r>
              <a:rPr sz="1200" i="1">
                <a:solidFill>
                  <a:srgbClr val="2E7D32"/>
                </a:solidFill>
              </a:rPr>
              <a:t>   ✓ Doğru cevap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22222"/>
                </a:solidFill>
              </a:rPr>
              <a:t>c)  Paket kısa anahtarlama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22222"/>
                </a:solidFill>
              </a:rPr>
              <a:t>d)  Fazlı slayt anahtarlama</a:t>
            </a:r>
          </a:p>
        </p:txBody>
      </p:sp>
      <p:sp>
        <p:nvSpPr>
          <p:cNvPr id="5" name="Rectangle 4"/>
          <p:cNvSpPr/>
          <p:nvPr/>
        </p:nvSpPr>
        <p:spPr>
          <a:xfrm>
            <a:off x="6339699" y="960120"/>
            <a:ext cx="5394796" cy="5394960"/>
          </a:xfrm>
          <a:prstGeom prst="rect">
            <a:avLst/>
          </a:prstGeom>
          <a:solidFill>
            <a:srgbClr val="E2EFDA"/>
          </a:solidFill>
          <a:ln w="9525">
            <a:solidFill>
              <a:srgbClr val="9BC1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82880" rIns="182880" rtlCol="0" anchor="ctr"/>
          <a:lstStyle/>
          <a:p>
            <a:pPr algn="ctr">
              <a:spcAft>
                <a:spcPts val="900"/>
              </a:spcAft>
            </a:pPr>
            <a:r>
              <a:rPr sz="1400" b="1">
                <a:solidFill>
                  <a:srgbClr val="2E7D32"/>
                </a:solidFill>
              </a:rPr>
              <a:t>AÇIKLAMA</a:t>
            </a:r>
          </a:p>
          <a:p>
            <a:pPr>
              <a:spcAft>
                <a:spcPts val="1100"/>
              </a:spcAft>
            </a:pPr>
            <a:r>
              <a:rPr sz="1300">
                <a:solidFill>
                  <a:srgbClr val="222222"/>
                </a:solidFill>
              </a:rPr>
              <a:t>PSK </a:t>
            </a:r>
            <a:r>
              <a:rPr sz="1300" i="1">
                <a:solidFill>
                  <a:srgbClr val="222222"/>
                </a:solidFill>
              </a:rPr>
              <a:t>(Phase Shift Keying — faz kaydırmalı anahtarlama)</a:t>
            </a:r>
            <a:r>
              <a:rPr sz="1300">
                <a:solidFill>
                  <a:srgbClr val="222222"/>
                </a:solidFill>
              </a:rPr>
              <a:t>, sinyalin fazını değiştirerek sayısal bilgi taşıyan bir modülasyon tekniğidir </a:t>
            </a:r>
            <a:r>
              <a:rPr sz="1300" i="1">
                <a:solidFill>
                  <a:srgbClr val="222222"/>
                </a:solidFill>
              </a:rPr>
              <a:t>(PSK31 gibi popüler dijital modların temelidir)</a:t>
            </a:r>
            <a:r>
              <a:rPr sz="1300">
                <a:solidFill>
                  <a:srgbClr val="222222"/>
                </a:solidFill>
              </a:rPr>
              <a:t>.</a:t>
            </a:r>
          </a:p>
          <a:p>
            <a:r>
              <a:rPr sz="1100" b="1">
                <a:solidFill>
                  <a:srgbClr val="1F3864"/>
                </a:solidFill>
              </a:rPr>
              <a:t>Kaynak: </a:t>
            </a:r>
            <a:r>
              <a:rPr sz="1100" i="1">
                <a:solidFill>
                  <a:srgbClr val="404040"/>
                </a:solidFill>
              </a:rPr>
              <a:t>Sayısal modülasyon teknikleri.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95959"/>
                </a:solidFill>
              </a:rPr>
              <a:t>İşletme — Soru 151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914400" y="2743200"/>
            <a:ext cx="10362895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>
                <a:solidFill>
                  <a:srgbClr val="FFFFFF"/>
                </a:solidFill>
              </a:rPr>
              <a:t>151 SORU TAMAMLANDI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657600"/>
            <a:ext cx="103628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>
                <a:solidFill>
                  <a:srgbClr val="D6E4F0"/>
                </a:solidFill>
              </a:rPr>
              <a:t>Başarılar dileriz.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80</TotalTime>
  <Words>13546</Words>
  <PresentationFormat>Özel</PresentationFormat>
  <Paragraphs>1579</Paragraphs>
  <Slides>165</Slides>
  <Notes>0</Notes>
  <HiddenSlides>0</HiddenSlides>
  <MMClips>0</MMClips>
  <ScaleCrop>false</ScaleCrop>
  <HeadingPairs>
    <vt:vector size="4" baseType="variant">
      <vt:variant>
        <vt:lpstr>Tema</vt:lpstr>
      </vt:variant>
      <vt:variant>
        <vt:i4>1</vt:i4>
      </vt:variant>
      <vt:variant>
        <vt:lpstr>Slayt Başlıkları</vt:lpstr>
      </vt:variant>
      <vt:variant>
        <vt:i4>165</vt:i4>
      </vt:variant>
    </vt:vector>
  </HeadingPairs>
  <TitlesOfParts>
    <vt:vector size="166" baseType="lpstr">
      <vt:lpstr>Office Theme</vt:lpstr>
      <vt:lpstr>Slayt 1</vt:lpstr>
      <vt:lpstr>Slayt 2</vt:lpstr>
      <vt:lpstr>Slayt 3</vt:lpstr>
      <vt:lpstr>Slayt 4</vt:lpstr>
      <vt:lpstr>Slayt 5</vt:lpstr>
      <vt:lpstr>Slayt 6</vt:lpstr>
      <vt:lpstr>Slayt 7</vt:lpstr>
      <vt:lpstr>Slayt 8</vt:lpstr>
      <vt:lpstr>Slayt 9</vt:lpstr>
      <vt:lpstr>Slayt 10</vt:lpstr>
      <vt:lpstr>Slayt 11</vt:lpstr>
      <vt:lpstr>Slayt 12</vt:lpstr>
      <vt:lpstr>Slayt 13</vt:lpstr>
      <vt:lpstr>Slayt 14</vt:lpstr>
      <vt:lpstr>Slayt 15</vt:lpstr>
      <vt:lpstr>Slayt 16</vt:lpstr>
      <vt:lpstr>Slayt 17</vt:lpstr>
      <vt:lpstr>Slayt 18</vt:lpstr>
      <vt:lpstr>Slayt 19</vt:lpstr>
      <vt:lpstr>Slayt 20</vt:lpstr>
      <vt:lpstr>Slayt 21</vt:lpstr>
      <vt:lpstr>Slayt 22</vt:lpstr>
      <vt:lpstr>Slayt 23</vt:lpstr>
      <vt:lpstr>Slayt 24</vt:lpstr>
      <vt:lpstr>Slayt 25</vt:lpstr>
      <vt:lpstr>Slayt 26</vt:lpstr>
      <vt:lpstr>Slayt 27</vt:lpstr>
      <vt:lpstr>Slayt 28</vt:lpstr>
      <vt:lpstr>Slayt 29</vt:lpstr>
      <vt:lpstr>Slayt 30</vt:lpstr>
      <vt:lpstr>Slayt 31</vt:lpstr>
      <vt:lpstr>Slayt 32</vt:lpstr>
      <vt:lpstr>Slayt 33</vt:lpstr>
      <vt:lpstr>Slayt 34</vt:lpstr>
      <vt:lpstr>Slayt 35</vt:lpstr>
      <vt:lpstr>Slayt 36</vt:lpstr>
      <vt:lpstr>Slayt 37</vt:lpstr>
      <vt:lpstr>Slayt 38</vt:lpstr>
      <vt:lpstr>Slayt 39</vt:lpstr>
      <vt:lpstr>Slayt 40</vt:lpstr>
      <vt:lpstr>Slayt 41</vt:lpstr>
      <vt:lpstr>Slayt 42</vt:lpstr>
      <vt:lpstr>Slayt 43</vt:lpstr>
      <vt:lpstr>Slayt 44</vt:lpstr>
      <vt:lpstr>Slayt 45</vt:lpstr>
      <vt:lpstr>Slayt 46</vt:lpstr>
      <vt:lpstr>Slayt 47</vt:lpstr>
      <vt:lpstr>Slayt 48</vt:lpstr>
      <vt:lpstr>Slayt 49</vt:lpstr>
      <vt:lpstr>Slayt 50</vt:lpstr>
      <vt:lpstr>Slayt 51</vt:lpstr>
      <vt:lpstr>Slayt 52</vt:lpstr>
      <vt:lpstr>Slayt 53</vt:lpstr>
      <vt:lpstr>Slayt 54</vt:lpstr>
      <vt:lpstr>Slayt 55</vt:lpstr>
      <vt:lpstr>Slayt 56</vt:lpstr>
      <vt:lpstr>Slayt 57</vt:lpstr>
      <vt:lpstr>Slayt 58</vt:lpstr>
      <vt:lpstr>Slayt 59</vt:lpstr>
      <vt:lpstr>Slayt 60</vt:lpstr>
      <vt:lpstr>Slayt 61</vt:lpstr>
      <vt:lpstr>Slayt 62</vt:lpstr>
      <vt:lpstr>Slayt 63</vt:lpstr>
      <vt:lpstr>Slayt 64</vt:lpstr>
      <vt:lpstr>Slayt 65</vt:lpstr>
      <vt:lpstr>Slayt 66</vt:lpstr>
      <vt:lpstr>Slayt 67</vt:lpstr>
      <vt:lpstr>Slayt 68</vt:lpstr>
      <vt:lpstr>Slayt 69</vt:lpstr>
      <vt:lpstr>Slayt 70</vt:lpstr>
      <vt:lpstr>Slayt 71</vt:lpstr>
      <vt:lpstr>Slayt 72</vt:lpstr>
      <vt:lpstr>Slayt 73</vt:lpstr>
      <vt:lpstr>Slayt 74</vt:lpstr>
      <vt:lpstr>Slayt 75</vt:lpstr>
      <vt:lpstr>Slayt 76</vt:lpstr>
      <vt:lpstr>Slayt 77</vt:lpstr>
      <vt:lpstr>Slayt 78</vt:lpstr>
      <vt:lpstr>Slayt 79</vt:lpstr>
      <vt:lpstr>Slayt 80</vt:lpstr>
      <vt:lpstr>Slayt 81</vt:lpstr>
      <vt:lpstr>Slayt 82</vt:lpstr>
      <vt:lpstr>Slayt 83</vt:lpstr>
      <vt:lpstr>Slayt 84</vt:lpstr>
      <vt:lpstr>Slayt 85</vt:lpstr>
      <vt:lpstr>Slayt 86</vt:lpstr>
      <vt:lpstr>Slayt 87</vt:lpstr>
      <vt:lpstr>Slayt 88</vt:lpstr>
      <vt:lpstr>Slayt 89</vt:lpstr>
      <vt:lpstr>Slayt 90</vt:lpstr>
      <vt:lpstr>Slayt 91</vt:lpstr>
      <vt:lpstr>Slayt 92</vt:lpstr>
      <vt:lpstr>Slayt 93</vt:lpstr>
      <vt:lpstr>Slayt 94</vt:lpstr>
      <vt:lpstr>Slayt 95</vt:lpstr>
      <vt:lpstr>Slayt 96</vt:lpstr>
      <vt:lpstr>Slayt 97</vt:lpstr>
      <vt:lpstr>Slayt 98</vt:lpstr>
      <vt:lpstr>Slayt 99</vt:lpstr>
      <vt:lpstr>Slayt 100</vt:lpstr>
      <vt:lpstr>Slayt 101</vt:lpstr>
      <vt:lpstr>Slayt 102</vt:lpstr>
      <vt:lpstr>Slayt 103</vt:lpstr>
      <vt:lpstr>Slayt 104</vt:lpstr>
      <vt:lpstr>Slayt 105</vt:lpstr>
      <vt:lpstr>Slayt 106</vt:lpstr>
      <vt:lpstr>Slayt 107</vt:lpstr>
      <vt:lpstr>Slayt 108</vt:lpstr>
      <vt:lpstr>Slayt 109</vt:lpstr>
      <vt:lpstr>Slayt 110</vt:lpstr>
      <vt:lpstr>Slayt 111</vt:lpstr>
      <vt:lpstr>Slayt 112</vt:lpstr>
      <vt:lpstr>Slayt 113</vt:lpstr>
      <vt:lpstr>Slayt 114</vt:lpstr>
      <vt:lpstr>Slayt 115</vt:lpstr>
      <vt:lpstr>Slayt 116</vt:lpstr>
      <vt:lpstr>Slayt 117</vt:lpstr>
      <vt:lpstr>Slayt 118</vt:lpstr>
      <vt:lpstr>Slayt 119</vt:lpstr>
      <vt:lpstr>Slayt 120</vt:lpstr>
      <vt:lpstr>Slayt 121</vt:lpstr>
      <vt:lpstr>Slayt 122</vt:lpstr>
      <vt:lpstr>Slayt 123</vt:lpstr>
      <vt:lpstr>Slayt 124</vt:lpstr>
      <vt:lpstr>Slayt 125</vt:lpstr>
      <vt:lpstr>Slayt 126</vt:lpstr>
      <vt:lpstr>Slayt 127</vt:lpstr>
      <vt:lpstr>Slayt 128</vt:lpstr>
      <vt:lpstr>Slayt 129</vt:lpstr>
      <vt:lpstr>Slayt 130</vt:lpstr>
      <vt:lpstr>Slayt 131</vt:lpstr>
      <vt:lpstr>Slayt 132</vt:lpstr>
      <vt:lpstr>Slayt 133</vt:lpstr>
      <vt:lpstr>Slayt 134</vt:lpstr>
      <vt:lpstr>Slayt 135</vt:lpstr>
      <vt:lpstr>Slayt 136</vt:lpstr>
      <vt:lpstr>Slayt 137</vt:lpstr>
      <vt:lpstr>Slayt 138</vt:lpstr>
      <vt:lpstr>Slayt 139</vt:lpstr>
      <vt:lpstr>Slayt 140</vt:lpstr>
      <vt:lpstr>Slayt 141</vt:lpstr>
      <vt:lpstr>Slayt 142</vt:lpstr>
      <vt:lpstr>Slayt 143</vt:lpstr>
      <vt:lpstr>Slayt 144</vt:lpstr>
      <vt:lpstr>Slayt 145</vt:lpstr>
      <vt:lpstr>Slayt 146</vt:lpstr>
      <vt:lpstr>Slayt 147</vt:lpstr>
      <vt:lpstr>Slayt 148</vt:lpstr>
      <vt:lpstr>Slayt 149</vt:lpstr>
      <vt:lpstr>Slayt 150</vt:lpstr>
      <vt:lpstr>Slayt 151</vt:lpstr>
      <vt:lpstr>Slayt 152</vt:lpstr>
      <vt:lpstr>Slayt 153</vt:lpstr>
      <vt:lpstr>Slayt 154</vt:lpstr>
      <vt:lpstr>Slayt 155</vt:lpstr>
      <vt:lpstr>Slayt 156</vt:lpstr>
      <vt:lpstr>Slayt 157</vt:lpstr>
      <vt:lpstr>Slayt 158</vt:lpstr>
      <vt:lpstr>Slayt 159</vt:lpstr>
      <vt:lpstr>Slayt 160</vt:lpstr>
      <vt:lpstr>Slayt 161</vt:lpstr>
      <vt:lpstr>Slayt 162</vt:lpstr>
      <vt:lpstr>Slayt 163</vt:lpstr>
      <vt:lpstr>Slayt 164</vt:lpstr>
      <vt:lpstr>Slayt 165</vt:lpstr>
    </vt:vector>
  </TitlesOfParts>
  <Manager/>
  <Company/>
  <LinksUpToDate>false</LinksUpToDate>
  <SharedDoc>false</SharedDoc>
  <HyperlinkBase/>
  <HyperlinksChanged>false</HyperlinksChanged>
  <AppVersion>12.0000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subject/>
  <dc:creator/>
  <cp:keywords/>
  <dcterms:created xsi:type="dcterms:W3CDTF">2013-01-27T09:14:16Z</dcterms:created>
  <dcterms:modified xsi:type="dcterms:W3CDTF">2026-07-26T16:09:33Z</dcterms:modified>
  <cp:category/>
</cp:coreProperties>
</file>