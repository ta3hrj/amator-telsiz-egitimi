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-36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presProps" Target="presProps.xml"/><Relationship Id="rId168" Type="http://schemas.openxmlformats.org/officeDocument/2006/relationships/viewProps" Target="viewProps.xml"/><Relationship Id="rId169" Type="http://schemas.openxmlformats.org/officeDocument/2006/relationships/theme" Target="theme/theme1.xml"/><Relationship Id="rId17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İŞLETME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D6E4F0"/>
                </a:solidFill>
              </a:rPr>
              <a:t>Amatör Telsizcilik Sınav Hazırlık Seti — A/B Sınıfı (151 Soru)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D6E4F0"/>
                </a:solidFill>
              </a:rPr>
              <a:t>Kaynak: KEGM A-B Sınıfı İşletme Soru Bankası; ITU Q-kod tablosu; NATO/Uluslararası ve ulusal fonetik alfabe; Uluslararası Mors Alfabesi; IARU Region-1 bant planı.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D6E4F0"/>
                </a:solidFill>
              </a:rPr>
              <a:t>Yazar: Claude Sonnet 5 (Anthropic)  —  Editör / Hata Kontrolü: H. Erhan Özkan, TA3HRJ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BÖLÜM 1: Zaman Hesabı, Raporlama ve Temel Kısaltmalar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222222"/>
                </a:solidFill>
              </a:rPr>
              <a:t>•  Uluslararası amatör telsiz haberleşmesinde herkesin ortak referansı UTC </a:t>
            </a:r>
            <a:r>
              <a:rPr sz="1700" i="1">
                <a:solidFill>
                  <a:srgbClr val="222222"/>
                </a:solidFill>
              </a:rPr>
              <a:t>(Coordinated Universal Time — Greenwich'teki referans saat; yerel saat dilimi farkı olmadan herkesin aynı 'evrensel saati' kullanmasını sağlar)</a:t>
            </a:r>
            <a:r>
              <a:rPr sz="1700">
                <a:solidFill>
                  <a:srgbClr val="222222"/>
                </a:solidFill>
              </a:rPr>
              <a:t> saatidir.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222222"/>
                </a:solidFill>
              </a:rPr>
              <a:t>•  Boylam farkı → saat farkına çevrilir: her 15 derece boylam = 1 saat; doğuya gidildikçe saat ileri, batıya gidildikçe geri gider.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222222"/>
                </a:solidFill>
              </a:rPr>
              <a:t>•  RST raporu </a:t>
            </a:r>
            <a:r>
              <a:rPr sz="1700" i="1">
                <a:solidFill>
                  <a:srgbClr val="222222"/>
                </a:solidFill>
              </a:rPr>
              <a:t>(Readability-Strength-Tone — okunabilirlik, sinyal gücü, ton kalitesi)</a:t>
            </a:r>
            <a:r>
              <a:rPr sz="1700">
                <a:solidFill>
                  <a:srgbClr val="222222"/>
                </a:solidFill>
              </a:rPr>
              <a:t> karşı istasyona sinyalin nasıl alındığını bildirir.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623560"/>
            <a:ext cx="10911535" cy="9144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300" b="1">
                <a:solidFill>
                  <a:srgbClr val="1F3864"/>
                </a:solidFill>
              </a:rPr>
              <a:t>Bu bölümün kaynağı: </a:t>
            </a:r>
            <a:r>
              <a:rPr sz="1300">
                <a:solidFill>
                  <a:srgbClr val="222222"/>
                </a:solidFill>
              </a:rPr>
              <a:t>UTC standardı; boylam-saat dönüşümü; RST raporlama sistemi.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Bölüm 1 Girişi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</a:t>
            </a:r>
            <a:r>
              <a:rPr sz="1400">
                <a:solidFill>
                  <a:srgbClr val="D6E4F0"/>
                </a:solidFill>
              </a:rPr>
              <a:t>   ·   Zaman Hesabı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Greenwich'te tarih 12 Haziran 2006 Salı ve saat 23:30 iken 25 derece doğu boylamında bir yerde tarih ve saat nedir?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12 Haziran 2006 Salı, saat 21:30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11 Haziran 2006 Salı, saat 20:30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c)  13 Haziran 2006 Çarşamba, saat 01:10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12 Haziran 2006 Salı, saat 01:20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25° doğu boylamı, Greenwich'ten 25/15 = 1 saat 40 dakika ileridedir </a:t>
            </a:r>
            <a:r>
              <a:rPr sz="1300" i="1">
                <a:solidFill>
                  <a:srgbClr val="222222"/>
                </a:solidFill>
              </a:rPr>
              <a:t>(doğuya gidildikçe saat ileri gider)</a:t>
            </a:r>
            <a:r>
              <a:rPr sz="1300">
                <a:solidFill>
                  <a:srgbClr val="222222"/>
                </a:solidFill>
              </a:rPr>
              <a:t>. 23:30 + 1:40 = 01:10, gün de bir ileri geçer: 13 Haziran Çarşamba, 01:10.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Boylam-saat dönüşümü (</a:t>
            </a:r>
            <a:r>
              <a:rPr sz="1100" i="1" smtClean="0">
                <a:solidFill>
                  <a:srgbClr val="404040"/>
                </a:solidFill>
              </a:rPr>
              <a:t>her</a:t>
            </a:r>
            <a:r>
              <a:rPr lang="tr-TR" sz="1100" i="1" dirty="0" smtClean="0">
                <a:solidFill>
                  <a:srgbClr val="404040"/>
                </a:solidFill>
              </a:rPr>
              <a:t> </a:t>
            </a:r>
            <a:r>
              <a:rPr lang="tr-TR" sz="1100" i="1" dirty="0" smtClean="0">
                <a:solidFill>
                  <a:srgbClr val="404040"/>
                </a:solidFill>
              </a:rPr>
              <a:t>1°=4 dakika;</a:t>
            </a:r>
            <a:r>
              <a:rPr sz="1100" i="1" smtClean="0">
                <a:solidFill>
                  <a:srgbClr val="404040"/>
                </a:solidFill>
              </a:rPr>
              <a:t> </a:t>
            </a:r>
            <a:r>
              <a:rPr sz="1100" i="1">
                <a:solidFill>
                  <a:srgbClr val="404040"/>
                </a:solidFill>
              </a:rPr>
              <a:t>15° = 1 saat).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2</a:t>
            </a:r>
            <a:r>
              <a:rPr sz="1400">
                <a:solidFill>
                  <a:srgbClr val="D6E4F0"/>
                </a:solidFill>
              </a:rPr>
              <a:t>   ·   Raporlama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RST raporunda okunabilirlik karşı istasyona 5 olarak bildirildiğinde ne anlam ifade eder?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Kısmen okunuyor.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Zor okunuyor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c)  Mükemmel okunuyor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Hiçbiri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RST'nin R </a:t>
            </a:r>
            <a:r>
              <a:rPr sz="1300" i="1">
                <a:solidFill>
                  <a:srgbClr val="222222"/>
                </a:solidFill>
              </a:rPr>
              <a:t>(Readability — okunabilirlik)</a:t>
            </a:r>
            <a:r>
              <a:rPr sz="1300">
                <a:solidFill>
                  <a:srgbClr val="222222"/>
                </a:solidFill>
              </a:rPr>
              <a:t> skalası 1'den 5'e kadardır; 5 en yüksek değerdir ve 'mükemmel, hiç zorlanmadan okunuyor' anlamına gelir.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RST raporlama sistemi.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3</a:t>
            </a:r>
            <a:r>
              <a:rPr sz="1400">
                <a:solidFill>
                  <a:srgbClr val="D6E4F0"/>
                </a:solidFill>
              </a:rPr>
              <a:t>   ·   Çağrı İşareti Bölgeleri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Herhangi bir amatör bantta dinleme yaparken karşı taraftan "Burası TA2CP" gibi bir çağrı duyduğunuzda bu çağrının aşağıdaki merkezlerden hangisinden yapıldığını anlarsınız?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a)  Ankara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Aydın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Adana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Artvin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Çağrı işaretindeki bölge numarası </a:t>
            </a:r>
            <a:r>
              <a:rPr sz="1300" i="1">
                <a:solidFill>
                  <a:srgbClr val="222222"/>
                </a:solidFill>
              </a:rPr>
              <a:t>(2)</a:t>
            </a:r>
            <a:r>
              <a:rPr sz="1300">
                <a:solidFill>
                  <a:srgbClr val="222222"/>
                </a:solidFill>
              </a:rPr>
              <a:t>, o istasyonun kayıtlı olduğu bölgeyi gösterir; Bölge 2 içinde Ankara vardır.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Çağrı işareti bölge numaraları listesi.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4</a:t>
            </a:r>
            <a:r>
              <a:rPr sz="1400">
                <a:solidFill>
                  <a:srgbClr val="D6E4F0"/>
                </a:solidFill>
              </a:rPr>
              <a:t>   ·   Q-Kodları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Telsiz-telgraf haberleşmesinde QTR kısaltması aşağıdaki sorulardan hangisini ifade eder?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Hangi bölgedensiniz?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Saatiniz tam olarak kaçtır?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Bana çağrı adınızı verir misiniz?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Nasıl anten kullanıyorsunuz?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QTR, karşı istasyondan doğru saati sormak için kullanılan Q-koddur.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ITU Q-kod tablosu (uluslararası standart kısaltılmış telsiz sinyalleri).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5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Amatörlerin belirli zamanlarda yaptıkları yarışmaların (CONTEST) gayesi nedir?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Amatörlerin hoşça vakit geçirmeleri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En kısa zamanda mümkün olduğu kadar çok istasyonla QSO (haberleşme temas kaydı) yapmak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Amatörlerin cihazları ile ilgili bilgi alışverişi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QTH locater saptaması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Contest'in amacı, belirlenen kurallar çerçevesinde en kısa sürede en çok sayıda istasyonla temas kurmaktır; bu, operatörlük becerisini ve istasyon performansını test eder.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Genel amatör telsiz sözlüğü.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6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Amatör telsiz çalışmalarında CW kısaltmasının anlamı nedir?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Frekansın dalga boyu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Geriye dönen güç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Çıkıştaki kazanç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d)  Devamlı dalga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CW </a:t>
            </a:r>
            <a:r>
              <a:rPr sz="1300" i="1">
                <a:solidFill>
                  <a:srgbClr val="222222"/>
                </a:solidFill>
              </a:rPr>
              <a:t>(Continuous Wave — devamlı dalga)</a:t>
            </a:r>
            <a:r>
              <a:rPr sz="1300">
                <a:solidFill>
                  <a:srgbClr val="222222"/>
                </a:solidFill>
              </a:rPr>
              <a:t>, Mors koduyla açma-kapama anahtarlamasıyla yapılan telgraf haberleşmesinin teknik adıdır.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Genel amatör telsiz sözlüğü.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7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Pile-up (yığılma) terimi radyo amatörlüğünde ne anlama gelir?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Radyo amatörünün çıkış yaptığı yerin iyi durumda olduğu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Çağrı yapan bir amatörün o frekanstaki diğer amatörler tarafından QSO yağmuruna tutulması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Çağrıyı alan istasyonun karşı istasyona cevap vermeme durumu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Hiçbiri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Nadir/aranan bir istasyon </a:t>
            </a:r>
            <a:r>
              <a:rPr sz="1300" i="1">
                <a:solidFill>
                  <a:srgbClr val="222222"/>
                </a:solidFill>
              </a:rPr>
              <a:t>(örn. DX veya özel bir etkinlik istasyonu)</a:t>
            </a:r>
            <a:r>
              <a:rPr sz="1300">
                <a:solidFill>
                  <a:srgbClr val="222222"/>
                </a:solidFill>
              </a:rPr>
              <a:t> çağrı yaptığında, aynı anda çok sayıda amatörün ona ulaşmaya çalışması sonucu oluşan sinyal yığılmasıdır.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Genel amatör telsiz sözlüğü.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8</a:t>
            </a:r>
            <a:r>
              <a:rPr sz="1400">
                <a:solidFill>
                  <a:srgbClr val="D6E4F0"/>
                </a:solidFill>
              </a:rPr>
              <a:t>   ·   Kısaltmalar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Radyo haberleşmesi yapılırken kullanılan kısaltmalardan AR kısaltması neyi ifade eder?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Yayın tekrarı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Yayın başlangıcı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c)  Yayın sonu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Genel yayın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AR, bir mesajın/yayının sonunu belirten prosedürel Mors işaretidir.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Uluslararası prosedürel Mors işaretleri.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9</a:t>
            </a:r>
            <a:r>
              <a:rPr sz="1400">
                <a:solidFill>
                  <a:srgbClr val="D6E4F0"/>
                </a:solidFill>
              </a:rPr>
              <a:t>   ·   Kısaltmalar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Radyo haberleşmesi yapılırken kullanılan kısaltmalardan CQ kısaltması ne amaçla kullanılır?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Yakında bulunabilecek istasyonları uyarmak için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Bütün istasyonlara genel çağrı yapmak için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Yalnızca bir istasyona çağrı için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Karşıdaki istasyonla görüşmeyi tekrarlamak için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CQ, belirli bir istasyona değil, o frekansı dinleyen herkese yapılan genel çağrıdır.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Genel amatör telsiz sözlüğü.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10</a:t>
            </a:r>
            <a:r>
              <a:rPr sz="1400">
                <a:solidFill>
                  <a:srgbClr val="D6E4F0"/>
                </a:solidFill>
              </a:rPr>
              <a:t>   ·   Bant Planı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IARU Region-1 düzenlemesine göre aşağıdaki frekanslardan hangisinde FM modunda haberleşme yapılması hatalı olur?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144.425 Mhz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144.010 Mhz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145.775 Mhz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145.250 Mhz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144.000-144.150 MHz segmenti IARU Region-1 bant planında yalnızca CW/zayıf-sinyal </a:t>
            </a:r>
            <a:r>
              <a:rPr sz="1300" i="1">
                <a:solidFill>
                  <a:srgbClr val="222222"/>
                </a:solidFill>
              </a:rPr>
              <a:t>(weak-signal — çok düşük güçte, hassas alıcı gerektiren)</a:t>
            </a:r>
            <a:r>
              <a:rPr sz="1300">
                <a:solidFill>
                  <a:srgbClr val="222222"/>
                </a:solidFill>
              </a:rPr>
              <a:t> modlarına ayrılmıştır; bu dar bantta FM </a:t>
            </a:r>
            <a:r>
              <a:rPr sz="1300" i="1">
                <a:solidFill>
                  <a:srgbClr val="222222"/>
                </a:solidFill>
              </a:rPr>
              <a:t>(geniş bantlı bir mod)</a:t>
            </a:r>
            <a:r>
              <a:rPr sz="1300">
                <a:solidFill>
                  <a:srgbClr val="222222"/>
                </a:solidFill>
              </a:rPr>
              <a:t> kullanmak, aynı segmentteki hassas çalışmaları bozar.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IARU Region-1 amatör bant planı.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11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Amatör tekrarlayıcı (Repeater / Röle) istasyonları ne amaçla kullanılır?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İyonosferik açılımların izlenmesine olanak sağlamak amacıyla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Direkt haberleşme yapabilen istasyonların haberleşmesi için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İki ayrı frekans kullanımının haberleşmeye getirdiği esneklikten faydalanmak amacıyla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d)  Doğrudan haberleşme sağlayamayan istasyonların haberleşmesini sağlamak amacıyla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Röle, genellikle yüksek bir noktaya </a:t>
            </a:r>
            <a:r>
              <a:rPr sz="1300" i="1">
                <a:solidFill>
                  <a:srgbClr val="222222"/>
                </a:solidFill>
              </a:rPr>
              <a:t>(tepe, kule)</a:t>
            </a:r>
            <a:r>
              <a:rPr sz="1300">
                <a:solidFill>
                  <a:srgbClr val="222222"/>
                </a:solidFill>
              </a:rPr>
              <a:t> kurularak, birbirini doğrudan </a:t>
            </a:r>
            <a:r>
              <a:rPr sz="1300" i="1">
                <a:solidFill>
                  <a:srgbClr val="222222"/>
                </a:solidFill>
              </a:rPr>
              <a:t>(line-of-sight — görüş hattı ile)</a:t>
            </a:r>
            <a:r>
              <a:rPr sz="1300">
                <a:solidFill>
                  <a:srgbClr val="222222"/>
                </a:solidFill>
              </a:rPr>
              <a:t> göremeyen istasyonların sinyalini alıp güçlendirerek yeniden yayınlar; böylece menzil sorunu olan istasyonlar haberleşebilir.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Genel amatör telsiz sözlüğü.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12</a:t>
            </a:r>
            <a:r>
              <a:rPr sz="1400">
                <a:solidFill>
                  <a:srgbClr val="D6E4F0"/>
                </a:solidFill>
              </a:rPr>
              <a:t>   ·   Q-Kodları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Genel olarak herhangi bir frekans üzerinde göndermeye geçmeden önce hangi Q kodu kullanılır?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QRU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QRV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QRT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QRZ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QRV, 'hazırım / göndermeye hazırım' anlamına gelir; göndermeye başlamadan önce hazır olunduğunu bildirmek için kullanılır.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ITU Q-kod tablosu (uluslararası standart kısaltılmış telsiz sinyalleri).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13</a:t>
            </a:r>
            <a:r>
              <a:rPr sz="1400">
                <a:solidFill>
                  <a:srgbClr val="D6E4F0"/>
                </a:solidFill>
              </a:rPr>
              <a:t>   ·   Bant Planı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144.0 – 144.1 Mhz'de sınırlandırılmış bantta hangi yayın modlarına izin verilir?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a)  Yalnızca CW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CW ve RTTY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Yalnızca SSB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CW ve SSB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2 metre bandının en altındaki bu dar segment, dünya çapında CW ve zayıf-sinyal çalışmalarına ayrılmıştır; başka mod kullanılmaz.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IARU Region-1 amatör bant planı.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BÖLÜM 2: Mors İşletme Kuralları ve Çağrı İşareti Bölgeleri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222222"/>
                </a:solidFill>
              </a:rPr>
              <a:t>•  CW </a:t>
            </a:r>
            <a:r>
              <a:rPr sz="1700" i="1">
                <a:solidFill>
                  <a:srgbClr val="222222"/>
                </a:solidFill>
              </a:rPr>
              <a:t>(Mors)</a:t>
            </a:r>
            <a:r>
              <a:rPr sz="1700">
                <a:solidFill>
                  <a:srgbClr val="222222"/>
                </a:solidFill>
              </a:rPr>
              <a:t> haberleşmesinde gönderim hızı, karşı operatörün alma becerisine göre ayarlanır — kendi hızınıza göre değil.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222222"/>
                </a:solidFill>
              </a:rPr>
              <a:t>•  Uluslararası tehlike çağrısı MAYDAY </a:t>
            </a:r>
            <a:r>
              <a:rPr sz="1700" i="1">
                <a:solidFill>
                  <a:srgbClr val="222222"/>
                </a:solidFill>
              </a:rPr>
              <a:t>(sesli)</a:t>
            </a:r>
            <a:r>
              <a:rPr sz="1700">
                <a:solidFill>
                  <a:srgbClr val="222222"/>
                </a:solidFill>
              </a:rPr>
              <a:t> / SOS </a:t>
            </a:r>
            <a:r>
              <a:rPr sz="1700" i="1">
                <a:solidFill>
                  <a:srgbClr val="222222"/>
                </a:solidFill>
              </a:rPr>
              <a:t>(Mors)</a:t>
            </a:r>
            <a:r>
              <a:rPr sz="1700">
                <a:solidFill>
                  <a:srgbClr val="222222"/>
                </a:solidFill>
              </a:rPr>
              <a:t> ile başlar; bunlar diğer tüm trafiğin önüne geçer.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222222"/>
                </a:solidFill>
              </a:rPr>
              <a:t>•  Çağrı işaretindeki bölge numarası, istasyonun bulunduğu coğrafi bölgeyi </a:t>
            </a:r>
            <a:r>
              <a:rPr sz="1700" i="1">
                <a:solidFill>
                  <a:srgbClr val="222222"/>
                </a:solidFill>
              </a:rPr>
              <a:t>(il grubunu)</a:t>
            </a:r>
            <a:r>
              <a:rPr sz="1700">
                <a:solidFill>
                  <a:srgbClr val="222222"/>
                </a:solidFill>
              </a:rPr>
              <a:t> gösterir.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623560"/>
            <a:ext cx="10911535" cy="9144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300" b="1">
                <a:solidFill>
                  <a:srgbClr val="1F3864"/>
                </a:solidFill>
              </a:rPr>
              <a:t>Bu bölümün kaynağı: </a:t>
            </a:r>
            <a:r>
              <a:rPr sz="1300">
                <a:solidFill>
                  <a:srgbClr val="222222"/>
                </a:solidFill>
              </a:rPr>
              <a:t>Uluslararası CW işletme kuralları; ITU tehlike/acil durum prosedürleri; çağrı işareti bölge listesi.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Bölüm 2 Girişi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14</a:t>
            </a:r>
            <a:r>
              <a:rPr sz="1400">
                <a:solidFill>
                  <a:srgbClr val="D6E4F0"/>
                </a:solidFill>
              </a:rPr>
              <a:t>   ·   Mors İşletme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Bir telsiz operatörü CW modunda gönderme yaparken aşağıdakilerden hangisine dikkat etmelidir?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Haberi kendi becerisine göre bir hızla gönderir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Uluslararası kurala göre 18 grup üzerinden gönderir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Ortalama 12 grup üzerinden gönderir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d)  Karşısındaki operatörün alma becerisine göre gönderir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İyi CW işletme kuralı, karşı operatörün rahatça takip edebileceği bir hızda göndermektir; kendi hızına göre göndermek karşı tarafı zorlayabilir.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Uluslararası CW işletme adabı.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15</a:t>
            </a:r>
            <a:r>
              <a:rPr sz="1400">
                <a:solidFill>
                  <a:srgbClr val="D6E4F0"/>
                </a:solidFill>
              </a:rPr>
              <a:t>   ·   Q-Kodları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QRS kodunun anlamı nedir?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a)  Daha yavaş gönderiniz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Daha hızlı gönderiniz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RST raporu gönderiniz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İstediğiniz şekilde gönderiniz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QRS, karşı istasyondan gönderim hızını düşürmesini rica etmek için kullanılır </a:t>
            </a:r>
            <a:r>
              <a:rPr sz="1300" i="1">
                <a:solidFill>
                  <a:srgbClr val="222222"/>
                </a:solidFill>
              </a:rPr>
              <a:t>(QRQ ise tam tersi — daha hızlı gönderilmesini ister)</a:t>
            </a:r>
            <a:r>
              <a:rPr sz="1300">
                <a:solidFill>
                  <a:srgbClr val="222222"/>
                </a:solidFill>
              </a:rPr>
              <a:t>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ITU Q-kod tablosu (uluslararası standart kısaltılmış telsiz sinyalleri).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16</a:t>
            </a:r>
            <a:r>
              <a:rPr sz="1400">
                <a:solidFill>
                  <a:srgbClr val="D6E4F0"/>
                </a:solidFill>
              </a:rPr>
              <a:t>   ·   Fonetik Alfabe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Uluslararası fonetik alfabeye göre AE6JTK'nın hecelemesi ne şekilde yapılır?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Alpha, Echo, Six, Juliet, Ticket, Kilo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Alpha, Echo, Seven, January, Tango, Kilo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c)  Alpha, Echo, Six, Juliet, Tango, Kilo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Alpha, Echo, Six, January, Ticket, Kilo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Her harf ve rakam, NATO/uluslararası fonetik alfabedeki karşılığıyla okunur: A=Alpha, E=Echo, 6=Six, J=Juliet, T=Tango, K=Kilo.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NATO/Uluslararası fonetik alfabe ve KEGM ulusal (il adı) fonetik alfabesi.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17</a:t>
            </a:r>
            <a:r>
              <a:rPr sz="1400">
                <a:solidFill>
                  <a:srgbClr val="D6E4F0"/>
                </a:solidFill>
              </a:rPr>
              <a:t>   ·   Acil Durum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Telsiz telefon haberleşmesinde uluslararası kurallara göre tehlike anında yapılan çağrı aşağıdakilerden hangisi ile başlamaktadır?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a)  Mayday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SOS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Help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CQ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Sesli </a:t>
            </a:r>
            <a:r>
              <a:rPr sz="1300" i="1">
                <a:solidFill>
                  <a:srgbClr val="222222"/>
                </a:solidFill>
              </a:rPr>
              <a:t>(telefon)</a:t>
            </a:r>
            <a:r>
              <a:rPr sz="1300">
                <a:solidFill>
                  <a:srgbClr val="222222"/>
                </a:solidFill>
              </a:rPr>
              <a:t> haberleşmede uluslararası tehlike çağrısı MAYDAY'dir; SOS ise Mors </a:t>
            </a:r>
            <a:r>
              <a:rPr sz="1300" i="1">
                <a:solidFill>
                  <a:srgbClr val="222222"/>
                </a:solidFill>
              </a:rPr>
              <a:t>(CW)</a:t>
            </a:r>
            <a:r>
              <a:rPr sz="1300">
                <a:solidFill>
                  <a:srgbClr val="222222"/>
                </a:solidFill>
              </a:rPr>
              <a:t> haberleşmesinde kullanılan eşdeğer tehlike sinyalidir.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ITU acil durum işletme kuralları.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18</a:t>
            </a:r>
            <a:r>
              <a:rPr sz="1400">
                <a:solidFill>
                  <a:srgbClr val="D6E4F0"/>
                </a:solidFill>
              </a:rPr>
              <a:t>   ·   Zaman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Uluslararası amatör radyo haberleşmelerinde hangi uluslararası saat sistemi kullanılır?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USC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EST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c)  UTC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Yerel saat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UTC </a:t>
            </a:r>
            <a:r>
              <a:rPr sz="1300" i="1">
                <a:solidFill>
                  <a:srgbClr val="222222"/>
                </a:solidFill>
              </a:rPr>
              <a:t>(Coordinated Universal Time)</a:t>
            </a:r>
            <a:r>
              <a:rPr sz="1300">
                <a:solidFill>
                  <a:srgbClr val="222222"/>
                </a:solidFill>
              </a:rPr>
              <a:t>, zaman dilimi farkı olmadan dünya çapında ortak referans olarak kullanılan saattir; loglarda ve DX haberleşmesinde standarttır.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UTC standardı.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19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Simplex çalışma sisteminde, aynı anda: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Tek frekans kullanılır, haberleşme çift yönlüdür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Tek frekans kullanılır, haberleşme tek yönlüdür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Çift frekans kullanılır, haberleşme tek yönlüdür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Çift frekans kullanılır, haberleşme çift yönlüdür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Simplex'te aynı frekans hem gönderme hem almada kullanılır, ama aynı anda sadece bir taraf gönderebilir </a:t>
            </a:r>
            <a:r>
              <a:rPr sz="1300" i="1">
                <a:solidFill>
                  <a:srgbClr val="222222"/>
                </a:solidFill>
              </a:rPr>
              <a:t>(sırayla konuşulur)</a:t>
            </a:r>
            <a:r>
              <a:rPr sz="1300">
                <a:solidFill>
                  <a:srgbClr val="222222"/>
                </a:solidFill>
              </a:rPr>
              <a:t> — bu yüzden 'aynı anda tek yönlü'dür. </a:t>
            </a:r>
            <a:r>
              <a:rPr sz="1300" i="1">
                <a:solidFill>
                  <a:srgbClr val="222222"/>
                </a:solidFill>
              </a:rPr>
              <a:t>(Karşıt sistem duplex/röle, ayrı gönderme-alma frekansı kullanır.)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Genel amatör telsiz sözlüğü.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20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Yaklaşık 5000 mil uzaklıkta radyo iletişimi yapmadan önce anten yönünün bulunmasında hangi harita türü kullanılmaktadır?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Dünya haritası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Azimut haritası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Topografik harita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Merkatör haritası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Azimut haritası </a:t>
            </a:r>
            <a:r>
              <a:rPr sz="1300" i="1">
                <a:solidFill>
                  <a:srgbClr val="222222"/>
                </a:solidFill>
              </a:rPr>
              <a:t>(azimuthal map — merkezi kendi konumunuz olan, yönleri ve uzaklıkları doğru gösteren özel harita türü)</a:t>
            </a:r>
            <a:r>
              <a:rPr sz="1300">
                <a:solidFill>
                  <a:srgbClr val="222222"/>
                </a:solidFill>
              </a:rPr>
              <a:t>, yönlü anteni hedef ülkeye doğru çevirmek için doğru pusula açısını </a:t>
            </a:r>
            <a:r>
              <a:rPr sz="1300" i="1">
                <a:solidFill>
                  <a:srgbClr val="222222"/>
                </a:solidFill>
              </a:rPr>
              <a:t>(derece)</a:t>
            </a:r>
            <a:r>
              <a:rPr sz="1300">
                <a:solidFill>
                  <a:srgbClr val="222222"/>
                </a:solidFill>
              </a:rPr>
              <a:t> verir.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DX haberleşme teknikleri.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21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Verici çıkış test ve kontrolleri sırasında, havada gereksiz karıştırmalara sebep olmamak için ne kullanılır?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Rezonanslı anten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Rezonanssız anten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c)  Suni anten (Dummy Load — gerçek bir anten yerine takılan, RF enerjisini havaya yaymadan ısıya çeviren test yükü)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Kullanılmayan bir frekans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Suni anten </a:t>
            </a:r>
            <a:r>
              <a:rPr sz="1300" i="1">
                <a:solidFill>
                  <a:srgbClr val="222222"/>
                </a:solidFill>
              </a:rPr>
              <a:t>(dummy load)</a:t>
            </a:r>
            <a:r>
              <a:rPr sz="1300">
                <a:solidFill>
                  <a:srgbClr val="222222"/>
                </a:solidFill>
              </a:rPr>
              <a:t>, vericinin çıkışını test ederken sinyali havaya yaymaz; böylece diğer amatörlere parazit verilmez.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Genel telsiz test teknikleri.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21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22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Türkiye'deki amatörlere ait QSL kartlarında yazılı bulunan "IARU ZONE 20" ifadesi ne anlama gelmektedir?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Türkiye'nin üyelik sırasını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Türkiye'nin başarı sıralamasındaki yerini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c)  Türkiye'nin bölge numarasını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Türkiye'nin üyelik kodunu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IARU </a:t>
            </a:r>
            <a:r>
              <a:rPr sz="1300" i="1">
                <a:solidFill>
                  <a:srgbClr val="222222"/>
                </a:solidFill>
              </a:rPr>
              <a:t>(dünya amatörlerini temsil eden uluslararası birlik)</a:t>
            </a:r>
            <a:r>
              <a:rPr sz="1300">
                <a:solidFill>
                  <a:srgbClr val="222222"/>
                </a:solidFill>
              </a:rPr>
              <a:t>, coğrafi takip amacıyla dünyayı numaralı bölgelere ayırmıştır; Türkiye bu sistemde 20 numaralı bölgededir.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IARU bölge (zone) numaralandırma sistemi.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22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23</a:t>
            </a:r>
            <a:r>
              <a:rPr sz="1400">
                <a:solidFill>
                  <a:srgbClr val="D6E4F0"/>
                </a:solidFill>
              </a:rPr>
              <a:t>   ·   Q-Kodları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Telsiz telgraf haberleşmesinde QRX kısaltması aşağıdaki sorulardan hangisini anlatır?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Göndermeye başlayabilir miyim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Mesajınız var mı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Meşgul müsünüz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d)  Beni tekrar ne zaman arayacaksınız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QRX, karşı istasyondan ne zaman tekrar arayacağını sormak/bildirmek için kullanılır </a:t>
            </a:r>
            <a:r>
              <a:rPr sz="1300" i="1">
                <a:solidFill>
                  <a:srgbClr val="222222"/>
                </a:solidFill>
              </a:rPr>
              <a:t>(kısa bir ara verme anlamı da taşır)</a:t>
            </a:r>
            <a:r>
              <a:rPr sz="1300">
                <a:solidFill>
                  <a:srgbClr val="222222"/>
                </a:solidFill>
              </a:rPr>
              <a:t>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ITU Q-kod tablosu (uluslararası standart kısaltılmış telsiz sinyalleri).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23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24</a:t>
            </a:r>
            <a:r>
              <a:rPr sz="1400">
                <a:solidFill>
                  <a:srgbClr val="D6E4F0"/>
                </a:solidFill>
              </a:rPr>
              <a:t>   ·   Çağrı İşareti Bölgeleri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TA2EX/3 çağrı işareti aşağıdakilerden hangisini ifade eder?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Adalarda çalışan bir amatörün çağrı işaretini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2.Bölgeden 3.Bölgeye geçen amatör telsizcinin çağrı işaretidir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B lisansı ile A lisanslı istasyonda çalışan amatörün çağrı işaretini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Hiçbiri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Çağrı işaretine "/" ile eklenen bölge numarası, operatörün kendi kayıtlı bölgesi </a:t>
            </a:r>
            <a:r>
              <a:rPr sz="1300" i="1">
                <a:solidFill>
                  <a:srgbClr val="222222"/>
                </a:solidFill>
              </a:rPr>
              <a:t>(2)</a:t>
            </a:r>
            <a:r>
              <a:rPr sz="1300">
                <a:solidFill>
                  <a:srgbClr val="222222"/>
                </a:solidFill>
              </a:rPr>
              <a:t> dışında, geçici olarak bulunduğu bölgeyi </a:t>
            </a:r>
            <a:r>
              <a:rPr sz="1300" i="1">
                <a:solidFill>
                  <a:srgbClr val="222222"/>
                </a:solidFill>
              </a:rPr>
              <a:t>(3)</a:t>
            </a:r>
            <a:r>
              <a:rPr sz="1300">
                <a:solidFill>
                  <a:srgbClr val="222222"/>
                </a:solidFill>
              </a:rPr>
              <a:t> gösterir.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Çağrı işareti bölge değişikliği kuralı.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24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BÖLÜM 3: Q-Kodları, Terimler ve QSL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222222"/>
                </a:solidFill>
              </a:rPr>
              <a:t>•  Q-kodları, dil farkını aşan, uluslararası standart kısaltılmış telsiz sinyalleridir — her biri sabit bir anlama gelir.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222222"/>
                </a:solidFill>
              </a:rPr>
              <a:t>•  QSL kartı, yapılan bir haberleşmenin gerçekleştiğini karşılıklı teyit eden geleneksel amatör telsiz kartıdır.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623560"/>
            <a:ext cx="10911535" cy="9144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300" b="1">
                <a:solidFill>
                  <a:srgbClr val="1F3864"/>
                </a:solidFill>
              </a:rPr>
              <a:t>Bu bölümün kaynağı: </a:t>
            </a:r>
            <a:r>
              <a:rPr sz="1300">
                <a:solidFill>
                  <a:srgbClr val="222222"/>
                </a:solidFill>
              </a:rPr>
              <a:t>ITU Q-kod tablosu (uluslararası standart kısaltılmış telsiz sinyalleri). QSL kart geleneği.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Bölüm 3 Girişi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25</a:t>
            </a:r>
            <a:r>
              <a:rPr sz="1400">
                <a:solidFill>
                  <a:srgbClr val="D6E4F0"/>
                </a:solidFill>
              </a:rPr>
              <a:t>   ·   Q-Kodları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Telsiz telgraf haberleşmesinde "beni duyabiliyor musunuz?" sorusu aşağıdaki kısaltmalardan hangisiyle ifade edilir?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a)  QSK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QRK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QBD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QSA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QSK, "gönderimleriniz arasında beni duyabiliyor musunuz?" anlamına gelir — yani doğrudan DUYULABİLİRLİĞİ sorar. Karıştırılmaması gereken yakın kodlar: QRK sinyalin OKUNABİLİRLİK derecesini </a:t>
            </a:r>
            <a:r>
              <a:rPr sz="1300" i="1">
                <a:solidFill>
                  <a:srgbClr val="222222"/>
                </a:solidFill>
              </a:rPr>
              <a:t>(anlaşılırlığını)</a:t>
            </a:r>
            <a:r>
              <a:rPr sz="1300">
                <a:solidFill>
                  <a:srgbClr val="222222"/>
                </a:solidFill>
              </a:rPr>
              <a:t> sorar, QSA ise sinyal ŞİDDETİNİ </a:t>
            </a:r>
            <a:r>
              <a:rPr sz="1300" i="1">
                <a:solidFill>
                  <a:srgbClr val="222222"/>
                </a:solidFill>
              </a:rPr>
              <a:t>(gücünü)</a:t>
            </a:r>
            <a:r>
              <a:rPr sz="1300">
                <a:solidFill>
                  <a:srgbClr val="222222"/>
                </a:solidFill>
              </a:rPr>
              <a:t> sorar.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ITU Q-kod tablosu (uluslararası standart kısaltılmış telsiz sinyalleri).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25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26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Broadcast teriminin anlamı aşağıdakilerden hangisidir?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a)  Tek yönlü radyo yayınıdır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Sayısal veri iletişimi ile telsiz telgraf haberleşmesidir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İki radyo istasyonunun karşılıklı konuşması ile ilgili radyo yayınıdır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İstasyon programlarının otomatik olarak yeniden gönderilmesi olayıdır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Broadcast </a:t>
            </a:r>
            <a:r>
              <a:rPr sz="1300" i="1">
                <a:solidFill>
                  <a:srgbClr val="222222"/>
                </a:solidFill>
              </a:rPr>
              <a:t>(yayın)</a:t>
            </a:r>
            <a:r>
              <a:rPr sz="1300">
                <a:solidFill>
                  <a:srgbClr val="222222"/>
                </a:solidFill>
              </a:rPr>
              <a:t>, bir vericiden çok sayıda alıcıya tek yönlü, karşılıklı olmayan yayındır — amatör telsizcilikte bu tür yayın yasaktır </a:t>
            </a:r>
            <a:r>
              <a:rPr sz="1300" i="1">
                <a:solidFill>
                  <a:srgbClr val="222222"/>
                </a:solidFill>
              </a:rPr>
              <a:t>(amatör haberleşme çift yönlü ve karşılıklıdır)</a:t>
            </a:r>
            <a:r>
              <a:rPr sz="1300">
                <a:solidFill>
                  <a:srgbClr val="222222"/>
                </a:solidFill>
              </a:rPr>
              <a:t>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Genel telsiz terminolojisi.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27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Radyo sinyallerinin yayılmasında kullanılan kritik açı aşağıdakilerden hangisidir?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Belirli iyonosfer şartlarında bir radyo dalgasının dünyaya dönen en alçak açısıdır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Belirli iyonosfer şartlarında bir radyo dalgasının dünyaya dönen en yüksek açısıdır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Temas sağlanması istenen DX istasyonun pusula yönünden 180 derece ters yönüdür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Temas sağlanması istenen DX istasyonun pusula yönündeki açısıdır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Kritik açı, iyonosferden </a:t>
            </a:r>
            <a:r>
              <a:rPr sz="1300" i="1">
                <a:solidFill>
                  <a:srgbClr val="222222"/>
                </a:solidFill>
              </a:rPr>
              <a:t>(üst atmosferdeki yüklü parçacık tabakası — radyo dalgalarını yansıtabilir)</a:t>
            </a:r>
            <a:r>
              <a:rPr sz="1300">
                <a:solidFill>
                  <a:srgbClr val="222222"/>
                </a:solidFill>
              </a:rPr>
              <a:t> yansıyıp dünyaya geri dönebilen bir dalganın erişebileceği en yüksek gönderim açısıdır; bu açının üzerinde gönderilen dalga uzaya kaçar, geri dönmez.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Radyo dalga yayılımı (propagasyon) teorisi.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27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28</a:t>
            </a:r>
            <a:r>
              <a:rPr sz="1400">
                <a:solidFill>
                  <a:srgbClr val="D6E4F0"/>
                </a:solidFill>
              </a:rPr>
              <a:t>   ·   Çağrı Önekleri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Çağrı işaretinin başında DL olan bir istasyon hangi ülkeye aittir?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Danimarka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Dominik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c)  Almanya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Arjantin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DL, Almanya'ya ayrılmış amatör çağrı işareti ön eklerinden biridir.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ITU çağrı işareti ön ek tahsis tablosu (ülkelere ayrılan harf blokları).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28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29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Amatör telsiz telgraf haberleşmesi için istasyon açıldığında yapılacak ilk işlem: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Amatör bandda hemen çağrı yapmaktır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Bir süre mors alma pratiği yaparak göndermeye geçmektir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c)  Çalışılacak bandda kısa bir süre dinleme yaparak haberleşme koşullarının uygun olup olmadığını tespit etmek ve bandda çalışan istasyon bulunup bulunmadığına bakmaktır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Bir seri V harfi göndererek karşı istasyonun alıcısını ayarlamasını sağlamaktır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İyi işletme adabı, göndermeden önce dinlemektir — bant koşullarını değerlendirmek ve zaten kullanılan bir frekansa çıkıp karışıklık yaratmamak için.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Genel amatör telsiz işletme adabı.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29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30</a:t>
            </a:r>
            <a:r>
              <a:rPr sz="1400">
                <a:solidFill>
                  <a:srgbClr val="D6E4F0"/>
                </a:solidFill>
              </a:rPr>
              <a:t>   ·   Fonetik Alfabe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Bir telsiz telefon konuşmasında SEVEN (yedi rakamı) kelimesinin hecelenmesi nasıldır?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a)  Sierra - Echo - Victor - Echo - November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Spain - Europa - Victor - Europa - November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Sugar - Europa - Very - Europa - November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Sierra - Echo - Very - Echo - November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Rakamların yanlış anlaşılmasını önlemek için ITU rakam hecelemesi kullanılır: SEVEN → Sierra-Echo-Victor-Echo-November.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NATO/Uluslararası fonetik alfabe ve KEGM ulusal (il adı) fonetik alfabesi.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31</a:t>
            </a:r>
            <a:r>
              <a:rPr sz="1400">
                <a:solidFill>
                  <a:srgbClr val="D6E4F0"/>
                </a:solidFill>
              </a:rPr>
              <a:t>   ·   Kısaltmalar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Telsiz haberleşmesinde kullanılan kısaltmalardan biri olan CL neyi ifade eder?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İstasyon haberleşmeye hazır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Görüşmeyi onaylıyorum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Görüşmeyi kesiyorum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d)  İstasyonumu kapatıyorum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CL </a:t>
            </a:r>
            <a:r>
              <a:rPr sz="1300" i="1">
                <a:solidFill>
                  <a:srgbClr val="222222"/>
                </a:solidFill>
              </a:rPr>
              <a:t>(closing)</a:t>
            </a:r>
            <a:r>
              <a:rPr sz="1300">
                <a:solidFill>
                  <a:srgbClr val="222222"/>
                </a:solidFill>
              </a:rPr>
              <a:t>, operatörün istasyonunu kapatacağını, artık dinlemede olmayacağını bildirir.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Uluslararası prosedürel Mors işaretleri.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31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32</a:t>
            </a:r>
            <a:r>
              <a:rPr sz="1400">
                <a:solidFill>
                  <a:srgbClr val="D6E4F0"/>
                </a:solidFill>
              </a:rPr>
              <a:t>   ·   Q-Kodları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Telsiz telgraf haberleşmesinde "istasyonunuzun tam olarak yeri neresidir" sorusu aşağıdaki kısaltmalardan hangisi ile sorulur?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QSB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QSO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c)  QTH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QRO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QTH, karşı istasyonun coğrafi konumunu </a:t>
            </a:r>
            <a:r>
              <a:rPr sz="1300" i="1">
                <a:solidFill>
                  <a:srgbClr val="222222"/>
                </a:solidFill>
              </a:rPr>
              <a:t>(kaynak, mevkii)</a:t>
            </a:r>
            <a:r>
              <a:rPr sz="1300">
                <a:solidFill>
                  <a:srgbClr val="222222"/>
                </a:solidFill>
              </a:rPr>
              <a:t> sormak için kullanılan Q-koddur.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ITU Q-kod tablosu (uluslararası standart kısaltılmış telsiz sinyalleri).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32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33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RTTY kısaltması neyi ifade eder?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Telsiz telefonu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Radyo teletype'e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Radyo televizyonu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Hiçbiri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RTTY </a:t>
            </a:r>
            <a:r>
              <a:rPr sz="1300" i="1">
                <a:solidFill>
                  <a:srgbClr val="222222"/>
                </a:solidFill>
              </a:rPr>
              <a:t>(Radio Teletype)</a:t>
            </a:r>
            <a:r>
              <a:rPr sz="1300">
                <a:solidFill>
                  <a:srgbClr val="222222"/>
                </a:solidFill>
              </a:rPr>
              <a:t>, telsiz üzerinden yazılı metin gönderilen eski bir sayısal haberleşme modudur.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Genel amatör telsiz sözlüğü.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33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34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QSL kartları ne için kullanılır?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Amatörün ülkesindeki doğal güzellikleri tanıtmak için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Amatör istasyonun reklamı amacı ile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Karşı taraftaki amatöre jest için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d)  Yapılan bir görüşme (QSO) sonunda görüşmeyi onaylamak amacı ile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QSL kartı, iki amatör arasında gerçekleşen bir temasın </a:t>
            </a:r>
            <a:r>
              <a:rPr sz="1300" i="1">
                <a:solidFill>
                  <a:srgbClr val="222222"/>
                </a:solidFill>
              </a:rPr>
              <a:t>(QSO)</a:t>
            </a:r>
            <a:r>
              <a:rPr sz="1300">
                <a:solidFill>
                  <a:srgbClr val="222222"/>
                </a:solidFill>
              </a:rPr>
              <a:t> karşılıklı olarak yazılı şekilde teyit edilmesi için gönderilen geleneksel karttır.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QSL kart geleneği.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34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35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Amatör telsizciler tarafından kullanılan telgraf kodu hangisidir?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AMTOR telgraf kodu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BAUD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c)  Uluslararası mors kodu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ASCII kodu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Amatör telsizcilikte CW </a:t>
            </a:r>
            <a:r>
              <a:rPr sz="1300" i="1">
                <a:solidFill>
                  <a:srgbClr val="222222"/>
                </a:solidFill>
              </a:rPr>
              <a:t>(telgraf)</a:t>
            </a:r>
            <a:r>
              <a:rPr sz="1300">
                <a:solidFill>
                  <a:srgbClr val="222222"/>
                </a:solidFill>
              </a:rPr>
              <a:t> haberleşmesi Uluslararası Mors Alfabesi ile yapılır; BAUD bir hız birimi, ASCII bir bilgisayar kodlamasıdır, telgraf kodu değildir.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Uluslararası Mors Alfabesi.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35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BÖLÜM 4: Anten, Enterferans ve TVI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222222"/>
                </a:solidFill>
              </a:rPr>
              <a:t>•  Enterferans </a:t>
            </a:r>
            <a:r>
              <a:rPr sz="1700" i="1">
                <a:solidFill>
                  <a:srgbClr val="222222"/>
                </a:solidFill>
              </a:rPr>
              <a:t>(istenmeyen radyo girişimi)</a:t>
            </a:r>
            <a:r>
              <a:rPr sz="1700">
                <a:solidFill>
                  <a:srgbClr val="222222"/>
                </a:solidFill>
              </a:rPr>
              <a:t>, genellikle komşu bir TV/radyo alıcısına sinyal sızmasından kaynaklanır.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222222"/>
                </a:solidFill>
              </a:rPr>
              <a:t>•  TVI </a:t>
            </a:r>
            <a:r>
              <a:rPr sz="1700" i="1">
                <a:solidFill>
                  <a:srgbClr val="222222"/>
                </a:solidFill>
              </a:rPr>
              <a:t>(television interference — televizyon girişimi)</a:t>
            </a:r>
            <a:r>
              <a:rPr sz="1700">
                <a:solidFill>
                  <a:srgbClr val="222222"/>
                </a:solidFill>
              </a:rPr>
              <a:t> ve benzeri sorunları çözmek için filtre kullanımı ve anten mesafesi/yönü önemlidir.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623560"/>
            <a:ext cx="10911535" cy="9144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300" b="1">
                <a:solidFill>
                  <a:srgbClr val="1F3864"/>
                </a:solidFill>
              </a:rPr>
              <a:t>Bu bölümün kaynağı: </a:t>
            </a:r>
            <a:r>
              <a:rPr sz="1300">
                <a:solidFill>
                  <a:srgbClr val="222222"/>
                </a:solidFill>
              </a:rPr>
              <a:t>Genel RF enterferans (girişim) giderme teknikleri.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Bölüm 4 Girişi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36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Aşağıdakilerden hangisi bir transmisyon hattı çeşididir?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Tek telli hatlar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İki telli paralel hatlar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Koaksiyel hatlar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d)  Hepsi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Transmisyon hattı </a:t>
            </a:r>
            <a:r>
              <a:rPr sz="1300" i="1">
                <a:solidFill>
                  <a:srgbClr val="222222"/>
                </a:solidFill>
              </a:rPr>
              <a:t>(iletim hattı)</a:t>
            </a:r>
            <a:r>
              <a:rPr sz="1300">
                <a:solidFill>
                  <a:srgbClr val="222222"/>
                </a:solidFill>
              </a:rPr>
              <a:t>, vericiden antene RF enerjisi taşıyan hattır; tek telli, iki telli paralel </a:t>
            </a:r>
            <a:r>
              <a:rPr sz="1300" i="1">
                <a:solidFill>
                  <a:srgbClr val="222222"/>
                </a:solidFill>
              </a:rPr>
              <a:t>(ladder line)</a:t>
            </a:r>
            <a:r>
              <a:rPr sz="1300">
                <a:solidFill>
                  <a:srgbClr val="222222"/>
                </a:solidFill>
              </a:rPr>
              <a:t> ve koaksiyel </a:t>
            </a:r>
            <a:r>
              <a:rPr sz="1300" i="1">
                <a:solidFill>
                  <a:srgbClr val="222222"/>
                </a:solidFill>
              </a:rPr>
              <a:t>(iç içe iki iletkenli kablo)</a:t>
            </a:r>
            <a:r>
              <a:rPr sz="1300">
                <a:solidFill>
                  <a:srgbClr val="222222"/>
                </a:solidFill>
              </a:rPr>
              <a:t> olmak üzere farklı türleri vardır — hepsi geçerli bir iletim hattı çeşididir.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Genel anten/iletim hattı teorisi.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36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37</a:t>
            </a:r>
            <a:r>
              <a:rPr sz="1400">
                <a:solidFill>
                  <a:srgbClr val="D6E4F0"/>
                </a:solidFill>
              </a:rPr>
              <a:t>   ·   Bant Planı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20 m amatör bandı hangi frekans aralığındadır?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21.300 - 21.700 Mhz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21.000 - 21.450 Mhz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c)  14.000 - 14.350 Mhz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14.050 - 14.225 Mhz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20 metre bandı 14.000-14.350 MHz aralığındadır </a:t>
            </a:r>
            <a:r>
              <a:rPr sz="1300" i="1">
                <a:solidFill>
                  <a:srgbClr val="222222"/>
                </a:solidFill>
              </a:rPr>
              <a:t>(band adı, o frekanstaki dalga boyundan gelir: 14 MHz ≈ 21.4 m, yuvarlanarak '20m' denir)</a:t>
            </a:r>
            <a:r>
              <a:rPr sz="1300">
                <a:solidFill>
                  <a:srgbClr val="222222"/>
                </a:solidFill>
              </a:rPr>
              <a:t>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IARU Region-1 amatör bant planı.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37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38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Herhangi bir alıcının S metre'sinde okunan değer neyi belirler?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VFO voltajını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Süperheterodin çalışma seviyesini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c)  Alıcı antenine gelen sinyal seviyesini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Squelch ayarını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S-metre </a:t>
            </a:r>
            <a:r>
              <a:rPr sz="1300" i="1">
                <a:solidFill>
                  <a:srgbClr val="222222"/>
                </a:solidFill>
              </a:rPr>
              <a:t>(Signal metre)</a:t>
            </a:r>
            <a:r>
              <a:rPr sz="1300">
                <a:solidFill>
                  <a:srgbClr val="222222"/>
                </a:solidFill>
              </a:rPr>
              <a:t>, alıcı antenine ulaşan sinyalin göreceli gücünü gösterir.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Alıcı devre teorisi.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38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39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Bir elektromağnetik dalganın polarizasyonu aşağıdakilerden hangisine bağlıdır?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Vericinin yönüne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Propagasyon yönüne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c)  Verici anteninin toprağa göre açısına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Hiçbiri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Polarizasyon </a:t>
            </a:r>
            <a:r>
              <a:rPr sz="1300" i="1">
                <a:solidFill>
                  <a:srgbClr val="222222"/>
                </a:solidFill>
              </a:rPr>
              <a:t>(dikey/yatay)</a:t>
            </a:r>
            <a:r>
              <a:rPr sz="1300">
                <a:solidFill>
                  <a:srgbClr val="222222"/>
                </a:solidFill>
              </a:rPr>
              <a:t>, elektrik alanın yönünü ifade eder ve doğrudan verici anteninin fiziksel duruşuna </a:t>
            </a:r>
            <a:r>
              <a:rPr sz="1300" i="1">
                <a:solidFill>
                  <a:srgbClr val="222222"/>
                </a:solidFill>
              </a:rPr>
              <a:t>(toprağa göre dikey mi yatay mı monte edildiğine)</a:t>
            </a:r>
            <a:r>
              <a:rPr sz="1300">
                <a:solidFill>
                  <a:srgbClr val="222222"/>
                </a:solidFill>
              </a:rPr>
              <a:t> bağlıdır.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Anten ve elektromanyetik dalga teorisi.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39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40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İstenmeyen radyasyonların ayarlanmış bir antenden yayılma riskini minimum yapabilmek için ne yapılmalıdır?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Yüksek SWR oranı sağlamak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Filtre veya zayıflatıcı kullanmak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Besleme kaynağı voltajını denetlemek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Çok bandlı anten kullanmak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Filtre </a:t>
            </a:r>
            <a:r>
              <a:rPr sz="1300" i="1">
                <a:solidFill>
                  <a:srgbClr val="222222"/>
                </a:solidFill>
              </a:rPr>
              <a:t>(istenmeyen frekansları söndüren devre)</a:t>
            </a:r>
            <a:r>
              <a:rPr sz="1300">
                <a:solidFill>
                  <a:srgbClr val="222222"/>
                </a:solidFill>
              </a:rPr>
              <a:t> veya zayıflatıcı </a:t>
            </a:r>
            <a:r>
              <a:rPr sz="1300" i="1">
                <a:solidFill>
                  <a:srgbClr val="222222"/>
                </a:solidFill>
              </a:rPr>
              <a:t>(attenuator)</a:t>
            </a:r>
            <a:r>
              <a:rPr sz="1300">
                <a:solidFill>
                  <a:srgbClr val="222222"/>
                </a:solidFill>
              </a:rPr>
              <a:t> kullanmak, harmonik ve istenmeyen yan yayılımları azaltarak komşu cihazlara girişimi önler.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RF enterferans giderme teknikleri.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40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41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435 Mhz de bir yagi anten, UHF TV antenine doğru çevrilmiştir. Bunun neticesinde TV de: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435 Mhz de alma güçlüğü doğar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RF giriş katında aşırı yükleme olur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435 Mhz de osilasyon başlar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TV anteninin elemanları hasar görür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Güçlü, yakın bir vericinin sinyali TV'nin RF giriş katını </a:t>
            </a:r>
            <a:r>
              <a:rPr sz="1300" i="1">
                <a:solidFill>
                  <a:srgbClr val="222222"/>
                </a:solidFill>
              </a:rPr>
              <a:t>(ilk yükseltme/karıştırma devresi)</a:t>
            </a:r>
            <a:r>
              <a:rPr sz="1300">
                <a:solidFill>
                  <a:srgbClr val="222222"/>
                </a:solidFill>
              </a:rPr>
              <a:t> aşırı yükleyerek </a:t>
            </a:r>
            <a:r>
              <a:rPr sz="1300" i="1">
                <a:solidFill>
                  <a:srgbClr val="222222"/>
                </a:solidFill>
              </a:rPr>
              <a:t>(overload)</a:t>
            </a:r>
            <a:r>
              <a:rPr sz="1300">
                <a:solidFill>
                  <a:srgbClr val="222222"/>
                </a:solidFill>
              </a:rPr>
              <a:t> görüntü/ses bozulmasına yol açabilir — bu kalıcı bir hasar değil, işlevsel bir girişimdir.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RF enterferans (TVI) mekanizmaları.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41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42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HF çalışması, yakınındaki bir TV alıcısını enterfere edebilir. Enterferensa neden olan sinyaller aşağıdakilerden hangisiyle TV ye ulaşır?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Toprak yoluyla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Vericinin besleme kaynağı vasıtasıyla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Verici frekansının polarizasyonu yoluyla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d)  TV anteni kablosunun ekranı ve/veya IF katı yoluyla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HF sinyalleri en sık, TV anten kablosunun koruma örgüsü </a:t>
            </a:r>
            <a:r>
              <a:rPr sz="1300" i="1">
                <a:solidFill>
                  <a:srgbClr val="222222"/>
                </a:solidFill>
              </a:rPr>
              <a:t>(ekran)</a:t>
            </a:r>
            <a:r>
              <a:rPr sz="1300">
                <a:solidFill>
                  <a:srgbClr val="222222"/>
                </a:solidFill>
              </a:rPr>
              <a:t> üzerinden veya TV'nin IF </a:t>
            </a:r>
            <a:r>
              <a:rPr sz="1300" i="1">
                <a:solidFill>
                  <a:srgbClr val="222222"/>
                </a:solidFill>
              </a:rPr>
              <a:t>(ara frekans — alıcı içinde sinyalin işlendiği orta aşama frekansı)</a:t>
            </a:r>
            <a:r>
              <a:rPr sz="1300">
                <a:solidFill>
                  <a:srgbClr val="222222"/>
                </a:solidFill>
              </a:rPr>
              <a:t> katına sızarak girişim yapar.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RF enterferans (TVI) mekanizmaları.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42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43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CQ Çağrısı yapılırken aşağıdakilerden hangisi uygulanır?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Zayıf bir istasyonun çalıştığı frekansta çağrı yapmak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Daima CW kullanmak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Sadece uzak istasyonlara çağrı yapmak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d)  Çağrıya başlamadan önce frekansın boş olup olmadığını kontrol etmek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FCE4D6"/>
          </a:solidFill>
          <a:ln w="9525">
            <a:solidFill>
              <a:srgbClr val="E0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C05000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Herhangi bir frekansta çağrı yapmadan önce o frekansın boş olduğundan emin olunmalıdır — dolu bir frekansta çağrı yapmak devam eden bir görüşmeye karışmaktır. CQ çağrısı CW, SSB </a:t>
            </a:r>
            <a:r>
              <a:rPr sz="1300" i="1">
                <a:solidFill>
                  <a:srgbClr val="222222"/>
                </a:solidFill>
              </a:rPr>
              <a:t>(ses)</a:t>
            </a:r>
            <a:r>
              <a:rPr sz="1300">
                <a:solidFill>
                  <a:srgbClr val="222222"/>
                </a:solidFill>
              </a:rPr>
              <a:t> veya dijital modların herhangi biriyle yapılabilir; belirli bir mod zorunluluğu yoktur.</a:t>
            </a:r>
          </a:p>
          <a:p>
            <a:pPr>
              <a:spcAft>
                <a:spcPts val="1100"/>
              </a:spcAft>
            </a:pPr>
            <a:r>
              <a:rPr sz="1150" b="1">
                <a:solidFill>
                  <a:srgbClr val="C05000"/>
                </a:solidFill>
              </a:rPr>
              <a:t>⚠ Kaynak soru bankasının resmi cevap anahtarı bu soruda (b) "Daima CW kullanmak" şıkkını işaretlemiştir. Ancak CQ çağrısı için CW kullanma zorunluluğu yoktur (ses ve dijital modlarda da CQ yapılır); işletme adabı açısından doğru uygulama (d) frekansın boş olduğunu kontrol etmektir. Gerçek sınavda bu soru resmi anahtara göre (b) olarak değerlendirilebilir — farkı bilmekte fayda var.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Genel amatör telsiz işletme adabı.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43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44</a:t>
            </a:r>
            <a:r>
              <a:rPr sz="1400">
                <a:solidFill>
                  <a:srgbClr val="D6E4F0"/>
                </a:solidFill>
              </a:rPr>
              <a:t>   ·   Raporlama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Aşağıdakilerden hangisi rahat ve net okunabilen bir sinyal seviyesini ifade eder?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R1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R5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S9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T9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RST'nin R </a:t>
            </a:r>
            <a:r>
              <a:rPr sz="1300" i="1">
                <a:solidFill>
                  <a:srgbClr val="222222"/>
                </a:solidFill>
              </a:rPr>
              <a:t>(Readability)</a:t>
            </a:r>
            <a:r>
              <a:rPr sz="1300">
                <a:solidFill>
                  <a:srgbClr val="222222"/>
                </a:solidFill>
              </a:rPr>
              <a:t> skalasında en yüksek değer olan 5, sinyalin hiç zorlanmadan, rahatça okunduğunu ifade eder.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RST raporlama sistemi.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44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45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Enterferans riskini azaltmak için, bir UHF TV anteni, kısa dalga verici anteninden ne kadar uzağa yerleştirilmelidir?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a)  Mümkün olduğunca uzağa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Mümkün olduğunca yakına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1.098 m uzaklığa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432 Mhz'in yarım dalga boyu uzağına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Genel kural: iki anten arasındaki fiziksel uzaklık ne kadar artarsa, güçlü bir vericinin hassas bir alıcıya </a:t>
            </a:r>
            <a:r>
              <a:rPr sz="1300" i="1">
                <a:solidFill>
                  <a:srgbClr val="222222"/>
                </a:solidFill>
              </a:rPr>
              <a:t>(TV)</a:t>
            </a:r>
            <a:r>
              <a:rPr sz="1300">
                <a:solidFill>
                  <a:srgbClr val="222222"/>
                </a:solidFill>
              </a:rPr>
              <a:t> sızma riski o kadar azalır — sabit bir mesafe kuralı yoktur, 'mümkün olduğunca uzak' pratik ilkedir.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RF enterferans giderme teknikleri.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45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46</a:t>
            </a:r>
            <a:r>
              <a:rPr sz="1400">
                <a:solidFill>
                  <a:srgbClr val="D6E4F0"/>
                </a:solidFill>
              </a:rPr>
              <a:t>   ·   Çağrı İşareti Bölgeleri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Amatör bandda dinleme halinde iken karşıdan TA5A gibi bir çağrı işareti duyulduğunda, bu çağrı işareti aşağıdaki illerin hangisinden yapılmış olabilir?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Ankara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Adana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Mardin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Trabzon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Bölge numarası 5, Akdeniz/Orta Anadolu'nun güneyindeki illeri kapsar; bu grupta Adana yer alır.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Çağrı işareti bölge numaraları listesi.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46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47</a:t>
            </a:r>
            <a:r>
              <a:rPr sz="1400">
                <a:solidFill>
                  <a:srgbClr val="D6E4F0"/>
                </a:solidFill>
              </a:rPr>
              <a:t>   ·   Çağrı İşareti Bölgeleri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Amatör bandda dinleme halinde iken karşıdan TA7AC gibi bir çağrı işareti duyulduğunda bu çağrı işareti aşağıdaki illerin hangisinden yapılmış olabilir?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Şırnak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Erzincan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Bingöl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Denizli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Bölge numarası 7, Karadeniz'in doğusu ve iç kesimlerindeki illeri kapsar; bu grupta Erzincan yer alır.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Çağrı işareti bölge numaraları listesi.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47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BÖLÜM 5: Zaman Hesabı II, Frekans/SSB ve Çağrı Kuralları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222222"/>
                </a:solidFill>
              </a:rPr>
              <a:t>•  SSB </a:t>
            </a:r>
            <a:r>
              <a:rPr sz="1700" i="1">
                <a:solidFill>
                  <a:srgbClr val="222222"/>
                </a:solidFill>
              </a:rPr>
              <a:t>(Single Side Band — tek yan bant, taşıyıcısı bastırılmış ses modülasyonu)</a:t>
            </a:r>
            <a:r>
              <a:rPr sz="1700">
                <a:solidFill>
                  <a:srgbClr val="222222"/>
                </a:solidFill>
              </a:rPr>
              <a:t> haberleşmesi belirli frekans segmentlerinde yapılır, tüm bant boyunca değil.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222222"/>
                </a:solidFill>
              </a:rPr>
              <a:t>•  Acil durum çağrıları, devam eden normal görüşmelerin önüne geçer — bu evrensel bir kuraldır.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623560"/>
            <a:ext cx="10911535" cy="9144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300" b="1">
                <a:solidFill>
                  <a:srgbClr val="1F3864"/>
                </a:solidFill>
              </a:rPr>
              <a:t>Bu bölümün kaynağı: </a:t>
            </a:r>
            <a:r>
              <a:rPr sz="1300">
                <a:solidFill>
                  <a:srgbClr val="222222"/>
                </a:solidFill>
              </a:rPr>
              <a:t>Boylam-saat dönüşümü; IARU Region-1 amatör bant planı.; ITU acil durum önceliği kuralı.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Bölüm 5 Girişi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48</a:t>
            </a:r>
            <a:r>
              <a:rPr sz="1400">
                <a:solidFill>
                  <a:srgbClr val="D6E4F0"/>
                </a:solidFill>
              </a:rPr>
              <a:t>   ·   Zaman Hesabı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Greenwich'te 20 Ekim saat 23:00 iken 40 derece doğu boylamında tarih ve saat kaçtır?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20 Ekim saat 11:10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20 Ekim saat 00:40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c)  21 Ekim saat 01:40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21 Ekim saat 11:10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40° doğu = 40/15 = 2 saat 40 dakika ileri. 23:00 + 2:40 = 01:40, gün bir ileri geçer: 21 Ekim, 01:40.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Boylam-saat dönüşümü.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48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49</a:t>
            </a:r>
            <a:r>
              <a:rPr sz="1400">
                <a:solidFill>
                  <a:srgbClr val="D6E4F0"/>
                </a:solidFill>
              </a:rPr>
              <a:t>   ·   Zaman Hesabı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30 derece doğu boylamında bulunan bir ülkede saat 22:00 iken 30 derece batı boylamında bulunan bir başka ülkede saat kaç olur?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Aynı gün 14:00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Aynı gün 18:00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Ertesi gün 06:00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Ertesi gün 14:00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İki nokta arasındaki toplam boylam farkı 60 derece </a:t>
            </a:r>
            <a:r>
              <a:rPr sz="1300" i="1">
                <a:solidFill>
                  <a:srgbClr val="222222"/>
                </a:solidFill>
              </a:rPr>
              <a:t>(30+30)</a:t>
            </a:r>
            <a:r>
              <a:rPr sz="1300">
                <a:solidFill>
                  <a:srgbClr val="222222"/>
                </a:solidFill>
              </a:rPr>
              <a:t> = 4 saat. Doğu noktası batı noktasından ileridedir, o yüzden batıdaki saat 4 saat geridir: 22:00 - 4:00 = 18:00, aynı gün.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Boylam-saat dönüşümü.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49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50</a:t>
            </a:r>
            <a:r>
              <a:rPr sz="1400">
                <a:solidFill>
                  <a:srgbClr val="D6E4F0"/>
                </a:solidFill>
              </a:rPr>
              <a:t>   ·   Bant Planı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Aşağıdaki frekanslardan hangisinde SSB haberleşmesi yapılabilir?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14010 Khz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7010 Khz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c)  14250 Khz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21035 Khz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14000-14100 kHz ve benzeri bant altları CW/veri moduna ayrılmıştır; 14250 kHz ise 20m bandının SSB </a:t>
            </a:r>
            <a:r>
              <a:rPr sz="1300" i="1">
                <a:solidFill>
                  <a:srgbClr val="222222"/>
                </a:solidFill>
              </a:rPr>
              <a:t>(fone)</a:t>
            </a:r>
            <a:r>
              <a:rPr sz="1300">
                <a:solidFill>
                  <a:srgbClr val="222222"/>
                </a:solidFill>
              </a:rPr>
              <a:t> segmentindedir.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IARU Region-1 amatör bant planı.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50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51</a:t>
            </a:r>
            <a:r>
              <a:rPr sz="1400">
                <a:solidFill>
                  <a:srgbClr val="D6E4F0"/>
                </a:solidFill>
              </a:rPr>
              <a:t>   ·   Q-Kodları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Frekansı değiştirdiğinizi belirtmek için kullanılan "Q" sinyali hangisidir?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QRU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QSY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QSL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QRZ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QSY, 'frekans değiştiriyorum' veya 'başka frekansa geçelim mi' anlamına gelir.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ITU Q-kod tablosu (uluslararası standart kısaltılmış telsiz sinyalleri).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51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52</a:t>
            </a:r>
            <a:r>
              <a:rPr sz="1400">
                <a:solidFill>
                  <a:srgbClr val="D6E4F0"/>
                </a:solidFill>
              </a:rPr>
              <a:t>   ·   Acil Durum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Eğer başka bir istasyonla konuşuyorken bir acil durum çağrısı duymuşsanız, ne yapmalısınız?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Frekansın kullanımda olduğunu çağrı istasyonuna söyleyiniz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Çağrı istasyonunu en yakın acil durum ağ frekansına yönlendiriniz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Çağrıyı görmezden geliniz ve konuşmanıza devam ediniz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d)  Derhal konuşmayı bırakınız ve acil duruma cevap veriniz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Can/mal güvenliğini ilgilendiren acil durum çağrıları, her türlü normal görüşmenin önündedir; derhal görüşme bırakılıp acil duruma yanıt verilmelidir.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ITU acil durum önceliği kuralı.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52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53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Aşağıdakilerden hangisi sadece uzak mesafe istasyonlarında genel bir çağrıdır?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CQ CQ CQ de TA2KA TA2KA TA2KA k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TA2R de TA2KA TA2KA kn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CQ DL CQ DL CQ DL de TA2KA TA2KA TA2KA k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d)  CQ DX CQ DX CQ DX de TA2KA TA2KA TA2KA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"CQ DX", özellikle uzak/yabancı ülke istasyonlarını arayan bir genel çağrıdır </a:t>
            </a:r>
            <a:r>
              <a:rPr sz="1300" i="1">
                <a:solidFill>
                  <a:srgbClr val="222222"/>
                </a:solidFill>
              </a:rPr>
              <a:t>(DX = uzak mesafe istasyonu)</a:t>
            </a:r>
            <a:r>
              <a:rPr sz="1300">
                <a:solidFill>
                  <a:srgbClr val="222222"/>
                </a:solidFill>
              </a:rPr>
              <a:t>; "CQ DL" belirli bir ülkeyi </a:t>
            </a:r>
            <a:r>
              <a:rPr sz="1300" i="1">
                <a:solidFill>
                  <a:srgbClr val="222222"/>
                </a:solidFill>
              </a:rPr>
              <a:t>(Almanya)</a:t>
            </a:r>
            <a:r>
              <a:rPr sz="1300">
                <a:solidFill>
                  <a:srgbClr val="222222"/>
                </a:solidFill>
              </a:rPr>
              <a:t> hedefler, düz CQ herkese, "de" ile başlayan ikinci örnek ise belirli bir istasyona özel çağrıdır.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Genel amatör telsiz çağrı adabı.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53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54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"CQ contest CQ contest this is TA2KA" gibi bir çağrı hangi anlama gelir?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TA2KA genel çağrı yapıyor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TA2KA test yapıyor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c)  TA2KA yarışma istasyonlarına genel çağrı yapıyor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TA2KA deprem duyurusu yapıyor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"CQ contest", özellikle o sırada devam eden bir yarışmaya </a:t>
            </a:r>
            <a:r>
              <a:rPr sz="1300" i="1">
                <a:solidFill>
                  <a:srgbClr val="222222"/>
                </a:solidFill>
              </a:rPr>
              <a:t>(contest)</a:t>
            </a:r>
            <a:r>
              <a:rPr sz="1300">
                <a:solidFill>
                  <a:srgbClr val="222222"/>
                </a:solidFill>
              </a:rPr>
              <a:t> katılan diğer istasyonları hedefleyen özel bir genel çağrı türüdür.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Genel amatör telsiz çağrı adabı.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54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55</a:t>
            </a:r>
            <a:r>
              <a:rPr sz="1400">
                <a:solidFill>
                  <a:srgbClr val="D6E4F0"/>
                </a:solidFill>
              </a:rPr>
              <a:t>   ·   Fonetik Alfabe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TB3CTR'nin milli fonetik alfabeye göre hecelemesi ne şekilde yapılır?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Tokat - Bolu - Üç - Çankırı - Tekirdağ - Rize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Trabzon - Bursa - Üç - Ceyhan - Trabzon - Rize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Tekirdağ - Bolu - Üç - Çankırı - Tekirdağ - Rize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Tunceli - Bursa - Üç - Ceyhan - Trabzon - Rize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Ulusal fonetik alfabede her harf bir il adıyla okunur: T=Trabzon, B=Bursa, 3=Üç, C=Ceyhan, T=Trabzon, R=Rize.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NATO/Uluslararası fonetik alfabe ve KEGM ulusal (il adı) fonetik alfabesi.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55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56</a:t>
            </a:r>
            <a:r>
              <a:rPr sz="1400">
                <a:solidFill>
                  <a:srgbClr val="D6E4F0"/>
                </a:solidFill>
              </a:rPr>
              <a:t>   ·   Fonetik Alfabe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YM2ZIP milli fonetik alfabeye göre hecelenmesi nasıl olur?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a)  Yalova - Manisa - İki - Zonguldak - İzmir - Pazar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Yankee - Muğla - Two - Zulu - India - Papa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Yozgat - Mardin - İki - Zonguldak - İzmir - Papa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Yalova - Muş - İki - Zonguldak - İzmir - Pazar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Ulusal fonetik alfabede: Y=Yalova, M=Manisa, 2=İki, Z=Zonguldak, I=İzmir, P=Pazar.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NATO/Uluslararası fonetik alfabe ve KEGM ulusal (il adı) fonetik alfabesi.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56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57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VHF bandında haberleşme için elektromanyetik dalgaların yayılımı hangi şekilde gerçekleşir?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Yer dalgaları ile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İyonosfer yansıma ile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c)  Direkt dalgalar ile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Troposferik yansıma 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VHF </a:t>
            </a:r>
            <a:r>
              <a:rPr sz="1300" i="1">
                <a:solidFill>
                  <a:srgbClr val="222222"/>
                </a:solidFill>
              </a:rPr>
              <a:t>(30-300 MHz)</a:t>
            </a:r>
            <a:r>
              <a:rPr sz="1300">
                <a:solidFill>
                  <a:srgbClr val="222222"/>
                </a:solidFill>
              </a:rPr>
              <a:t> bandında normal şartlarda dalgalar iyonosferden yansımaz; menzil, verici ve alıcı arasındaki doğrudan görüş hattına </a:t>
            </a:r>
            <a:r>
              <a:rPr sz="1300" i="1">
                <a:solidFill>
                  <a:srgbClr val="222222"/>
                </a:solidFill>
              </a:rPr>
              <a:t>(direkt dalga)</a:t>
            </a:r>
            <a:r>
              <a:rPr sz="1300">
                <a:solidFill>
                  <a:srgbClr val="222222"/>
                </a:solidFill>
              </a:rPr>
              <a:t> bağlıdır.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Radyo dalga yayılımı (propagasyon) teorisi.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57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58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Crossband ne anlama gelir?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a)  Ayrı bandlarda almak ve göndermek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Aynı bandda hem CW hem de SSB çalışmak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Bandın bir tarafında alma, bir tarafında gönderme yapmak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Bandın uygun yerinde çalışmak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Crossband, bir bantta gönderip başka bir bantta </a:t>
            </a:r>
            <a:r>
              <a:rPr sz="1300" i="1">
                <a:solidFill>
                  <a:srgbClr val="222222"/>
                </a:solidFill>
              </a:rPr>
              <a:t>(örn. VHF gönder, UHF al)</a:t>
            </a:r>
            <a:r>
              <a:rPr sz="1300">
                <a:solidFill>
                  <a:srgbClr val="222222"/>
                </a:solidFill>
              </a:rPr>
              <a:t> almak anlamına gelir — genellikle röle veya özel bağlantı senaryolarında kullanılır.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Genel amatör telsiz sözlüğü.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58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59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Aşağıdakilerden hangisi ara frekans anlamına gelir?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TVI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BCI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RI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d)  IF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IF </a:t>
            </a:r>
            <a:r>
              <a:rPr sz="1300" i="1">
                <a:solidFill>
                  <a:srgbClr val="222222"/>
                </a:solidFill>
              </a:rPr>
              <a:t>(Intermediate Frequency — ara frekans)</a:t>
            </a:r>
            <a:r>
              <a:rPr sz="1300">
                <a:solidFill>
                  <a:srgbClr val="222222"/>
                </a:solidFill>
              </a:rPr>
              <a:t>, süperheterodin alıcılarda gelen sinyalin işlenmek üzere dönüştürüldüğü sabit orta aşama frekansıdır.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Alıcı devre teorisi.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59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BÖLÜM 6: Ülke Önekleri ve Zaman/Bant Sınırları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222222"/>
                </a:solidFill>
              </a:rPr>
              <a:t>•  Her ülkeye ITU tarafından belirli çağrı işareti ön ek blokları tahsis edilmiştir; bu önekler dünya çapında standarttır.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222222"/>
                </a:solidFill>
              </a:rPr>
              <a:t>•  Belge sınıfına göre erişilebilen frekans bantları ve güç sınırları farklıdır.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623560"/>
            <a:ext cx="10911535" cy="9144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300" b="1">
                <a:solidFill>
                  <a:srgbClr val="1F3864"/>
                </a:solidFill>
              </a:rPr>
              <a:t>Bu bölümün kaynağı: </a:t>
            </a:r>
            <a:r>
              <a:rPr sz="1300">
                <a:solidFill>
                  <a:srgbClr val="222222"/>
                </a:solidFill>
              </a:rPr>
              <a:t>ITU çağrı işareti ön ek tahsis tablosu (ülkelere ayrılan harf blokları). IARU Region-1 amatör bant planı.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Bölüm 6 Girişi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60</a:t>
            </a:r>
            <a:r>
              <a:rPr sz="1400">
                <a:solidFill>
                  <a:srgbClr val="D6E4F0"/>
                </a:solidFill>
              </a:rPr>
              <a:t>   ·   Çağrı Önekleri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VK çağrı işareti ön eki aşağıdaki ülkelerden hangisine aittir?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İngiltere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Kanada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Japonya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d)  Avustralya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VK, Avustralya'ya tahsis edilmiş amatör çağrı işareti önekidir.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ITU çağrı işareti ön ek tahsis tablosu (ülkelere ayrılan harf blokları).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60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61</a:t>
            </a:r>
            <a:r>
              <a:rPr sz="1400">
                <a:solidFill>
                  <a:srgbClr val="D6E4F0"/>
                </a:solidFill>
              </a:rPr>
              <a:t>   ·   Çağrı Önekleri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Aşağıdaki çağrı işareti ön eklerinden hangisi Belçika'ya aittir?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OH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ON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OX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EA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ON, Belçika'ya tahsis edilmiş amatör çağrı işareti önekidir </a:t>
            </a:r>
            <a:r>
              <a:rPr sz="1300" i="1">
                <a:solidFill>
                  <a:srgbClr val="222222"/>
                </a:solidFill>
              </a:rPr>
              <a:t>(OH Finlandiya'ya, EA İspanya'ya aittir)</a:t>
            </a:r>
            <a:r>
              <a:rPr sz="1300">
                <a:solidFill>
                  <a:srgbClr val="222222"/>
                </a:solidFill>
              </a:rPr>
              <a:t>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ITU çağrı işareti ön ek tahsis tablosu (ülkelere ayrılan harf blokları).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61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62</a:t>
            </a:r>
            <a:r>
              <a:rPr sz="1400">
                <a:solidFill>
                  <a:srgbClr val="D6E4F0"/>
                </a:solidFill>
              </a:rPr>
              <a:t>   ·   Fonetik Alfabe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OSCAR kelimesinin uluslararası fonetik alfabeye göre hecelenmesi nasıldır?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Oscar - Sierra - Charlie - Alpha - Radio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Oscar - Six - Charlie - Alabama - Romeo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c)  Oscar - Sierra - Charlie - Alpha - Romeo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Otto - Sierra - Charlie - Alpha - Radio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O=Oscar, S=Sierra, C=Charlie, A=Alpha, R=Romeo — uluslararası fonetik alfabedeki karşılıklarıdır.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NATO/Uluslararası fonetik alfabe ve KEGM ulusal (il adı) fonetik alfabesi.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62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63</a:t>
            </a:r>
            <a:r>
              <a:rPr sz="1400">
                <a:solidFill>
                  <a:srgbClr val="D6E4F0"/>
                </a:solidFill>
              </a:rPr>
              <a:t>   ·   Fonetik Alfabe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SK4UZ çağrı işaretinin uluslararası fonetik alfabeye göre hecelemesi nasıldır?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Simon - Kilo - Four - Uniform - Zulu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Sierra - Kilo - Four - Ultra - Zulu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Seven - Kilo - Four - Ultra - Zulu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d)  Sierra - Kilo - Four - Uniform - Zulu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S=Sierra, K=Kilo, 4=Four, U=Uniform, Z=Zulu — uluslararası fonetik alfabedeki karşılıklarıdır.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NATO/Uluslararası fonetik alfabe ve KEGM ulusal (il adı) fonetik alfabesi.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63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64</a:t>
            </a:r>
            <a:r>
              <a:rPr sz="1400">
                <a:solidFill>
                  <a:srgbClr val="D6E4F0"/>
                </a:solidFill>
              </a:rPr>
              <a:t>   ·   Zaman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Aşağıdaki kısaltmalardan hangisi ulusal saati ifade eder?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UTC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QST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QTC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d)  MSA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Soru bankasında MSA, ulusal/yerel saat için kullanılan kısaltma olarak işaretlenmiştir; UTC evrensel/uluslararası saati ifade eder </a:t>
            </a:r>
            <a:r>
              <a:rPr sz="1300" i="1">
                <a:solidFill>
                  <a:srgbClr val="222222"/>
                </a:solidFill>
              </a:rPr>
              <a:t>(QST=bülten, QTC=mesaj sayısı Q-kodlarıdır, saatle ilgili değildir)</a:t>
            </a:r>
            <a:r>
              <a:rPr sz="1300">
                <a:solidFill>
                  <a:srgbClr val="222222"/>
                </a:solidFill>
              </a:rPr>
              <a:t>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Resmî cevap anahtarı.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64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65</a:t>
            </a:r>
            <a:r>
              <a:rPr sz="1400">
                <a:solidFill>
                  <a:srgbClr val="D6E4F0"/>
                </a:solidFill>
              </a:rPr>
              <a:t>   ·   Q-Kodları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QST kodunun manası aşağıdakilerden hangisidir?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Hava basıncı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Parazit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c)  Bülten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Sinyal raporu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QST, herkese yönelik genel bir duyuru/bülten anlamına gelir </a:t>
            </a:r>
            <a:r>
              <a:rPr sz="1300" i="1">
                <a:solidFill>
                  <a:srgbClr val="222222"/>
                </a:solidFill>
              </a:rPr>
              <a:t>(ARRL'ın aylık dergisinin adı da buradan gelir)</a:t>
            </a:r>
            <a:r>
              <a:rPr sz="1300">
                <a:solidFill>
                  <a:srgbClr val="222222"/>
                </a:solidFill>
              </a:rPr>
              <a:t>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ITU Q-kod tablosu (uluslararası standart kısaltılmış telsiz sinyalleri).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65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66</a:t>
            </a:r>
            <a:r>
              <a:rPr sz="1400">
                <a:solidFill>
                  <a:srgbClr val="D6E4F0"/>
                </a:solidFill>
              </a:rPr>
              <a:t>   ·   Q-Kodları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Aşağıdakilerden hangisi telsiz haberleşmesinde "meşgulüm" ifadesinin Q kodu karşılığıdır?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QRK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QRX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c)  QRL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QSL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QRL, 'meşgulüm / frekans kullanımda' anlamına gelir.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ITU Q-kod tablosu (uluslararası standart kısaltılmış telsiz sinyalleri).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66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67</a:t>
            </a:r>
            <a:r>
              <a:rPr sz="1400">
                <a:solidFill>
                  <a:srgbClr val="D6E4F0"/>
                </a:solidFill>
              </a:rPr>
              <a:t>   ·   Bant Sınırları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1810 -1850 Khz frekans bandı, hangi sınıf amatör telsizciler için verilmiştir?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a)  A sınıfı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B sınıfı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A ve B sınıfı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Hiçbiri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160 metre bandının bu segmenti, yetki tablosunda yalnızca A sınıfı belge sahiplerine açıktır.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Özel Telsiz Sistemleri Yönetmeliği EK-4 Tablo-1 (sınıf-bant yetki tablosu).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67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68</a:t>
            </a:r>
            <a:r>
              <a:rPr sz="1400">
                <a:solidFill>
                  <a:srgbClr val="D6E4F0"/>
                </a:solidFill>
              </a:rPr>
              <a:t>   ·   Çağrı İşareti Bölgeleri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Amatör bandda dinleme halinde iken karşıdan TA8YCA gibi bir çağrı işareti duyulduğunda bu çağrı işareti hangi ilden yapılmış olabilir?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Niğde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Manisa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c)  Malatya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Yozgat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Bölge numarası 8, Güneydoğu Anadolu'nun kuzeyindeki illeri kapsar; bu grupta Malatya yer alır.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Çağrı işareti bölge numaraları listesi.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68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69</a:t>
            </a:r>
            <a:r>
              <a:rPr sz="1400">
                <a:solidFill>
                  <a:srgbClr val="D6E4F0"/>
                </a:solidFill>
              </a:rPr>
              <a:t>   ·   Çağrı İşareti Bölgeleri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Amatör bandda dinleme halinde iken karşıdan TA1BT gibi bir çağrı işareti duyulduğunda bu çağrı işareti hangi ilden yapılmış olabilir?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Konya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Edirne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Ordu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Adana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Bölge numarası 1, Trakya ve çevresindeki illeri kapsar; bu grupta Edirne yer alır.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Çağrı işareti bölge numaraları listesi.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69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70</a:t>
            </a:r>
            <a:r>
              <a:rPr sz="1400">
                <a:solidFill>
                  <a:srgbClr val="D6E4F0"/>
                </a:solidFill>
              </a:rPr>
              <a:t>   ·   Zaman Hesabı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90 derece batı boylamında yerel saat 14:10 iken 90 derece doğu boylamında bulunan bir başka yerde saat kaç olacaktır?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a)  02:10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19:10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21:10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18:10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İki nokta arasındaki toplam fark 180 derece = 12 saat. Doğudaki nokta ileridedir: 14:10 + 12:00 = 02:10 </a:t>
            </a:r>
            <a:r>
              <a:rPr sz="1300" i="1">
                <a:solidFill>
                  <a:srgbClr val="222222"/>
                </a:solidFill>
              </a:rPr>
              <a:t>(ertesi gün)</a:t>
            </a:r>
            <a:r>
              <a:rPr sz="1300">
                <a:solidFill>
                  <a:srgbClr val="222222"/>
                </a:solidFill>
              </a:rPr>
              <a:t>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Boylam-saat dönüşümü.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70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71</a:t>
            </a:r>
            <a:r>
              <a:rPr sz="1400">
                <a:solidFill>
                  <a:srgbClr val="D6E4F0"/>
                </a:solidFill>
              </a:rPr>
              <a:t>   ·   Zaman Hesabı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31 Aralık 2001 pazartesi günü Londra'da saat 24:00 iken 90 derece doğu boylamında bulunan başka bir yerde saat kaç olacaktır?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a)  1 Ocak 2002 Salı, saat 06:00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31 Aralık 2001 Pazartesi, saat 06:00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31 Aralık 2001 Pazartesi, saat 18:00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1 Ocak 2002 Salı, saat 18:00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90° doğu = 6 saat ileri. Londra'da 24:00 </a:t>
            </a:r>
            <a:r>
              <a:rPr sz="1300" i="1">
                <a:solidFill>
                  <a:srgbClr val="222222"/>
                </a:solidFill>
              </a:rPr>
              <a:t>(gece yarısı, gün değişim anı)</a:t>
            </a:r>
            <a:r>
              <a:rPr sz="1300">
                <a:solidFill>
                  <a:srgbClr val="222222"/>
                </a:solidFill>
              </a:rPr>
              <a:t> + 6:00 = 06:00, ve gün zaten 1 Ocak'a geçmiş olur: 1 Ocak 2002 Salı, 06:00.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Boylam-saat dönüşümü.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71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72</a:t>
            </a:r>
            <a:r>
              <a:rPr sz="1400">
                <a:solidFill>
                  <a:srgbClr val="D6E4F0"/>
                </a:solidFill>
              </a:rPr>
              <a:t>   ·   Bant Sınırları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14 Mhz amatör bandını tek başına kullanabilme izni, hangi sınıf amatör telsizcilik belgesi sahiplerine tanınmıştır?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a)  A sınıfı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B sınıfı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C sınıfı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Hiçbiri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20 metre </a:t>
            </a:r>
            <a:r>
              <a:rPr sz="1300" i="1">
                <a:solidFill>
                  <a:srgbClr val="222222"/>
                </a:solidFill>
              </a:rPr>
              <a:t>(14 MHz)</a:t>
            </a:r>
            <a:r>
              <a:rPr sz="1300">
                <a:solidFill>
                  <a:srgbClr val="222222"/>
                </a:solidFill>
              </a:rPr>
              <a:t> bandı, sınıf yetki tablosunda temel olarak A sınıfına tanınmıştır; B/C sınıfı bu bandda bağımsız çalışamaz.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Özel Telsiz Sistemleri Yönetmeliği EK-4 Tablo-1 (sınıf-bant yetki tablosu).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72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BÖLÜM 7: Sınıf Bant Sınırları, Çağrı İşareti ve Emisyon Gücü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222222"/>
                </a:solidFill>
              </a:rPr>
              <a:t>•  Her belge sınıfının erişebildiği bantlar ve o bantlarda kullanabileceği azami çıkış gücü farklıdır.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222222"/>
                </a:solidFill>
              </a:rPr>
              <a:t>•  Çağrı işaretine eklenen "/bölge" eki, operatörün geçici olarak başka bir bölgede çalıştığını gösterir.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623560"/>
            <a:ext cx="10911535" cy="9144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300" b="1">
                <a:solidFill>
                  <a:srgbClr val="1F3864"/>
                </a:solidFill>
              </a:rPr>
              <a:t>Bu bölümün kaynağı: </a:t>
            </a:r>
            <a:r>
              <a:rPr sz="1300">
                <a:solidFill>
                  <a:srgbClr val="222222"/>
                </a:solidFill>
              </a:rPr>
              <a:t>Özel Telsiz Sistemleri Yönetmeliği EK-4 Tablo-1; çağrı işareti bölge değişikliği kuralı.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Bölüm 7 Girişi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73</a:t>
            </a:r>
            <a:r>
              <a:rPr sz="1400">
                <a:solidFill>
                  <a:srgbClr val="D6E4F0"/>
                </a:solidFill>
              </a:rPr>
              <a:t>   ·   Bant Sınırları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B sınıfı amatör telsizcinin kullanamayacağı frekanslar aşağıdakilerden hangileridir?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144 - 146 Mhz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1240 - 1300 Mhz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5650 - 5670 Mhz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d)  1810 - 1840 Khz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1810-1840 kHz </a:t>
            </a:r>
            <a:r>
              <a:rPr sz="1300" i="1">
                <a:solidFill>
                  <a:srgbClr val="222222"/>
                </a:solidFill>
              </a:rPr>
              <a:t>(160m bandının bu kısmı)</a:t>
            </a:r>
            <a:r>
              <a:rPr sz="1300">
                <a:solidFill>
                  <a:srgbClr val="222222"/>
                </a:solidFill>
              </a:rPr>
              <a:t> yetki tablosunda sadece A sınıfına açıktır; 144-146 MHz, 1240-1300 MHz ve 5650-5670 MHz ise B sınıfının da erişebildiği bantlardandır.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Özel Telsiz Sistemleri Yönetmeliği EK-4 Tablo-1.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73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74</a:t>
            </a:r>
            <a:r>
              <a:rPr sz="1400">
                <a:solidFill>
                  <a:srgbClr val="D6E4F0"/>
                </a:solidFill>
              </a:rPr>
              <a:t>   ·   Çağrı İşareti Bölgeleri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TA5BI/2 çağrı kodu için aşağıdaki ifadelerden hangisi doğrudur?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2.Bölgede çalışan bir amatör istasyonun çağrı işaretidir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C sınıfı amatör telsizciye ait bir istasyonun çağrı kodudur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c)  5.Bölgeden 2.Bölgeye geçen amatör telsizcinin çağrı işaretidir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Hiçbir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Çağrı işaretinin kendisi 5. bölge kayıtlıdır </a:t>
            </a:r>
            <a:r>
              <a:rPr sz="1300" i="1">
                <a:solidFill>
                  <a:srgbClr val="222222"/>
                </a:solidFill>
              </a:rPr>
              <a:t>(TA5BI)</a:t>
            </a:r>
            <a:r>
              <a:rPr sz="1300">
                <a:solidFill>
                  <a:srgbClr val="222222"/>
                </a:solidFill>
              </a:rPr>
              <a:t>; "/2" eki, operatörün şu an 2. bölgede geçici olarak bulunduğunu gösterir.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Çağrı işareti bölge değişikliği kuralı.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74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75</a:t>
            </a:r>
            <a:r>
              <a:rPr sz="1400">
                <a:solidFill>
                  <a:srgbClr val="D6E4F0"/>
                </a:solidFill>
              </a:rPr>
              <a:t>   ·   Çağrı İşareti Bölgeleri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Amatör bandda dinleme halinde iken karşıdan TA6YCA gibi bir çağrı işareti duyulduğunda bu çağrı işareti hangi ilden yapılmış olabilir?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Giresun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Manisa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Kars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d)  Yozgat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Bölge numarası 6, Orta/Kuzey Anadolu'daki illeri kapsar; bu grupta Yozgat yer alır.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Çağrı işareti bölge numaraları listesi.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75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76</a:t>
            </a:r>
            <a:r>
              <a:rPr sz="1400">
                <a:solidFill>
                  <a:srgbClr val="D6E4F0"/>
                </a:solidFill>
              </a:rPr>
              <a:t>   ·   Fonetik Alfabe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AFET kelimesinin milli fonetik alfabeye göre hecelenmesi nasıl olur?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Afyon - Fatsa - Erzurum - Tekirdağ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Ankara - Fatsa - Erzincan - Tokat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Amasya - Fatsa - Edirne - Tire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d)  Ankara - Fatsa - Edirne - Trabzon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Ulusal fonetik alfabede: A=Ankara, F=Fatsa, E=Edirne, T=Trabzon.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NATO/Uluslararası fonetik alfabe ve KEGM ulusal (il adı) fonetik alfabesi.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76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77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"Uplink" kavramı neyi ifade eder?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Röle giriş frekansını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Radyolink giriş frekansını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Uydudan yere olan frekansı (iniş)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d)  Yerden uyduya olan frekansı (çıkış)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Uplink, yer istasyonundan uyduya giden sinyal yönünü ifade eder; ters yön </a:t>
            </a:r>
            <a:r>
              <a:rPr sz="1300" i="1">
                <a:solidFill>
                  <a:srgbClr val="222222"/>
                </a:solidFill>
              </a:rPr>
              <a:t>(uydudan yere)</a:t>
            </a:r>
            <a:r>
              <a:rPr sz="1300">
                <a:solidFill>
                  <a:srgbClr val="222222"/>
                </a:solidFill>
              </a:rPr>
              <a:t> downlink olarak adlandırılır.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Amatör uydu haberleşmesi terminolojisi.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77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78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Aşağıdakilerden hangisi "Radyo yayın enterferansı" anlamına gelir?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TVI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BCI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RI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IF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BCI </a:t>
            </a:r>
            <a:r>
              <a:rPr sz="1300" i="1">
                <a:solidFill>
                  <a:srgbClr val="222222"/>
                </a:solidFill>
              </a:rPr>
              <a:t>(Broadcast Interference)</a:t>
            </a:r>
            <a:r>
              <a:rPr sz="1300">
                <a:solidFill>
                  <a:srgbClr val="222222"/>
                </a:solidFill>
              </a:rPr>
              <a:t>, bir amatör vericinin ticari radyo yayın alıcılarına verdiği girişimi ifade eder </a:t>
            </a:r>
            <a:r>
              <a:rPr sz="1300" i="1">
                <a:solidFill>
                  <a:srgbClr val="222222"/>
                </a:solidFill>
              </a:rPr>
              <a:t>(TVI aynı durumun televizyon karşılığıdır)</a:t>
            </a:r>
            <a:r>
              <a:rPr sz="1300">
                <a:solidFill>
                  <a:srgbClr val="222222"/>
                </a:solidFill>
              </a:rPr>
              <a:t>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RF enterferans terminolojisi.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78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79</a:t>
            </a:r>
            <a:r>
              <a:rPr sz="1400">
                <a:solidFill>
                  <a:srgbClr val="D6E4F0"/>
                </a:solidFill>
              </a:rPr>
              <a:t>   ·   Çağrı Önekleri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PY çağrı işareti ön eki aşağıdaki ülkelerden hangisine aittir?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a)  Brezilya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Hollanda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İsveç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Almanya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PY, Brezilya'ya tahsis edilmiş amatör çağrı işareti önekidir.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ITU çağrı işareti ön ek tahsis tablosu (ülkelere ayrılan harf blokları).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79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80</a:t>
            </a:r>
            <a:r>
              <a:rPr sz="1400">
                <a:solidFill>
                  <a:srgbClr val="D6E4F0"/>
                </a:solidFill>
              </a:rPr>
              <a:t>   ·   Fonetik Alfabe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QSX'in uluslararası fonetik alfabeye göre hecelenmesi nasıldır?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Quebec - Six - X Ray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Quebec - Sierra - X Ray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Kilo - Sierra - X Ray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Kilo - Seven - X Ray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Q=Quebec, S=Sierra, X=X-Ray — uluslararası fonetik alfabedeki karşılıklarıdır.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NATO/Uluslararası fonetik alfabe ve KEGM ulusal (il adı) fonetik alfabesi.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80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81</a:t>
            </a:r>
            <a:r>
              <a:rPr sz="1400">
                <a:solidFill>
                  <a:srgbClr val="D6E4F0"/>
                </a:solidFill>
              </a:rPr>
              <a:t>   ·   Q-Kodları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QRT kodunun manası nedir?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Dinlemede kalın veya dinliyorum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Göndermeyi durdurayım mı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Mevkiiniz neresidir?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Mesajım var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QRT, göndermeyi durdurmak/kesmek anlamına gelir </a:t>
            </a:r>
            <a:r>
              <a:rPr sz="1300" i="1">
                <a:solidFill>
                  <a:srgbClr val="222222"/>
                </a:solidFill>
              </a:rPr>
              <a:t>(soru olarak sorulduğunda 'durdurayım mı' anlamındadır)</a:t>
            </a:r>
            <a:r>
              <a:rPr sz="1300">
                <a:solidFill>
                  <a:srgbClr val="222222"/>
                </a:solidFill>
              </a:rPr>
              <a:t>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ITU Q-kod tablosu (uluslararası standart kısaltılmış telsiz sinyalleri).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81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82</a:t>
            </a:r>
            <a:r>
              <a:rPr sz="1400">
                <a:solidFill>
                  <a:srgbClr val="D6E4F0"/>
                </a:solidFill>
              </a:rPr>
              <a:t>   ·   Q-Kodları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QRZ kodunun manası nedir?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V serisi göndereyim mi?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Beni kim çağırıyor?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Gücü azaltayım mı?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Hazırım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QRZ, 'beni şu an kim çağırıyor?' sorusunu ifade eder — genellikle birden fazla çağrı duyulduğunda kullanılır.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ITU Q-kod tablosu (uluslararası standart kısaltılmış telsiz sinyalleri).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82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83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73 kısaltması mors haberleşmesinde hangi anlama gelir?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Göndermenin tam ve doğru olarak alındığını belirtmek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CQ genel çağrısı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c)  Selamlar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İstasyonumu kapatıyorum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73, CW/telsiz kültüründe köklü, evrensel bir 'iyi dilekler / selamlar' ifadesidir; genellikle görüşme sonunda kullanılır.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Geleneksel telgraf kısaltmaları.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83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84</a:t>
            </a:r>
            <a:r>
              <a:rPr sz="1400">
                <a:solidFill>
                  <a:srgbClr val="D6E4F0"/>
                </a:solidFill>
              </a:rPr>
              <a:t>   ·   Güç Sınırları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10100 - 10150 Khz frekans bandına müsaade edilen azami çıkış gücü (PEP) ne kadardır?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400 W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150 W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100 W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d)  75 W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30 metre </a:t>
            </a:r>
            <a:r>
              <a:rPr sz="1300" i="1">
                <a:solidFill>
                  <a:srgbClr val="222222"/>
                </a:solidFill>
              </a:rPr>
              <a:t>(10.1 MHz)</a:t>
            </a:r>
            <a:r>
              <a:rPr sz="1300">
                <a:solidFill>
                  <a:srgbClr val="222222"/>
                </a:solidFill>
              </a:rPr>
              <a:t> bandında, diğer servislerle paylaşımlı olması nedeniyle amatörlere düşük bir azami çıkış gücü </a:t>
            </a:r>
            <a:r>
              <a:rPr sz="1300" i="1">
                <a:solidFill>
                  <a:srgbClr val="222222"/>
                </a:solidFill>
              </a:rPr>
              <a:t>(PEP — Peak Envelope Power, tepe zarf gücü)</a:t>
            </a:r>
            <a:r>
              <a:rPr sz="1300">
                <a:solidFill>
                  <a:srgbClr val="222222"/>
                </a:solidFill>
              </a:rPr>
              <a:t> sınırı tanınmıştır: 75 W.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Özel Telsiz Sistemleri Yönetmeliği EK-4 Tablo-1 (güç sınırları).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84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BÖLÜM 8: Çağrı Bölgeleri, Fonetik Hece ve Zaman Hesabı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222222"/>
                </a:solidFill>
              </a:rPr>
              <a:t>•  Çağrı işareti öneki ve bölge numarası birlikte okunduğunda, operatörün belge sınıfı ve konumu hakkında bilgi verir.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222222"/>
                </a:solidFill>
              </a:rPr>
              <a:t>•  Fonetik alfabe hecelemesinde her harf/rakam sabit bir karşılığa sahiptir; bu karşılıklar ezbere bilinmelidir.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623560"/>
            <a:ext cx="10911535" cy="9144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300" b="1">
                <a:solidFill>
                  <a:srgbClr val="1F3864"/>
                </a:solidFill>
              </a:rPr>
              <a:t>Bu bölümün kaynağı: </a:t>
            </a:r>
            <a:r>
              <a:rPr sz="1300">
                <a:solidFill>
                  <a:srgbClr val="222222"/>
                </a:solidFill>
              </a:rPr>
              <a:t>NATO/Uluslararası fonetik alfabe ve KEGM ulusal (il adı) fonetik alfabesi. Çağrı işareti bölge numaraları listesi.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Bölüm 8 Girişi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85</a:t>
            </a:r>
            <a:r>
              <a:rPr sz="1400">
                <a:solidFill>
                  <a:srgbClr val="D6E4F0"/>
                </a:solidFill>
              </a:rPr>
              <a:t>   ·   Çağrı İşareti Bölgeleri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Amatör bandda dinleme halinde iken karşıdan TA8UJ gibi bir çağrı işareti duyulduğunda bu çağrı işareti aşağıdaki illerin hangisinden yapılmış olabilir?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Nevşehir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Şanlıurfa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Kars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Bursa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Bölge numarası 8, Güneydoğu Anadolu'nun kuzeyindeki illeri kapsar; bu grupta Şanlıurfa yer alır.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Çağrı işareti bölge numaraları listesi.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85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86</a:t>
            </a:r>
            <a:r>
              <a:rPr sz="1400">
                <a:solidFill>
                  <a:srgbClr val="D6E4F0"/>
                </a:solidFill>
              </a:rPr>
              <a:t>   ·   Çağrı İşareti Bölgeleri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Amatör bandda dinleme halinde iken karşıdan TB3CCW gibi bir çağrı işareti duyulduğunda bu çağrı işareti aşağıdaki illerin hangisinden yapılmış olabilir?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Mersin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Uşak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c)  Manisa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Aydın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Bölge numarası 3, Ege bölgesindeki illeri kapsar; bu grupta Manisa yer alır. </a:t>
            </a:r>
            <a:r>
              <a:rPr sz="1300" i="1">
                <a:solidFill>
                  <a:srgbClr val="222222"/>
                </a:solidFill>
              </a:rPr>
              <a:t>(Önek TB, B veya C sınıfı belge sahibine aittir.)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Çağrı işareti bölge numaraları listesi.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86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87</a:t>
            </a:r>
            <a:r>
              <a:rPr sz="1400">
                <a:solidFill>
                  <a:srgbClr val="D6E4F0"/>
                </a:solidFill>
              </a:rPr>
              <a:t>   ·   Bant Planı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Aşağıdaki frekanslardan hangisinde SSB haberleşmesi yapılabilir?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14010 Khz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7010 Khz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c)  14250 Khz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21035 Khz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14250 kHz, 20m bandının SSB </a:t>
            </a:r>
            <a:r>
              <a:rPr sz="1300" i="1">
                <a:solidFill>
                  <a:srgbClr val="222222"/>
                </a:solidFill>
              </a:rPr>
              <a:t>(fone)</a:t>
            </a:r>
            <a:r>
              <a:rPr sz="1300">
                <a:solidFill>
                  <a:srgbClr val="222222"/>
                </a:solidFill>
              </a:rPr>
              <a:t> segmentindedir; diğer seçenekler CW/veri segmentlerindedir.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IARU Region-1 amatör bant planı.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87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88</a:t>
            </a:r>
            <a:r>
              <a:rPr sz="1400">
                <a:solidFill>
                  <a:srgbClr val="D6E4F0"/>
                </a:solidFill>
              </a:rPr>
              <a:t>   ·   Bant Planı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40 m bandı aşağıdakilerden hangisidir?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21000 - 21450 Khz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20 - 21 Ghz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c)  7000 - 7100 Khz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14000 - 14350 Khz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40 metre bandı 7000-7100 kHz aralığındadır.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IARU Region-1 amatör bant planı.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88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89</a:t>
            </a:r>
            <a:r>
              <a:rPr sz="1400">
                <a:solidFill>
                  <a:srgbClr val="D6E4F0"/>
                </a:solidFill>
              </a:rPr>
              <a:t>   ·   Çağrı İşareti Bölgeleri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TA2KA çağrı işaretinin özelliği nedir?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2. Bölgede bulunan bir amatöre ait istasyondur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Dernek istasyonudur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Eğitim ve öğretim kuruluşlarına ait istasyondur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2.bölgede geçici olarak çalışan bir istasyondur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Son ekin ilk harfi K, dernek/kulüp istasyonlarına ayrılmıştır; bu nedenle TA2KA bir dernek istasyonu çağrı işaretidir.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Çağrı işareti son ek harf tahsis kuralı.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89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90</a:t>
            </a:r>
            <a:r>
              <a:rPr sz="1400">
                <a:solidFill>
                  <a:srgbClr val="D6E4F0"/>
                </a:solidFill>
              </a:rPr>
              <a:t>   ·   Fonetik Alfabe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TA5ED nin milli fonetik alfabeye göre hecelenmesi nasıldır?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Trabzon - Afyon - Beş - Edirne - Diyarbakır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Tekirdağ - Ankara - Beş - Edirne - Denizli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Trabzon - Ankara - Beş - Erzurum - Düzce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d)  Trabzon - Ankara - Beş - Edirne - Denizli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Ulusal fonetik alfabede: T=Trabzon, A=Ankara, 5=Beş, E=Edirne, D=Denizli.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NATO/Uluslararası fonetik alfabe ve KEGM ulusal (il adı) fonetik alfabesi.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90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91</a:t>
            </a:r>
            <a:r>
              <a:rPr sz="1400">
                <a:solidFill>
                  <a:srgbClr val="D6E4F0"/>
                </a:solidFill>
              </a:rPr>
              <a:t>   ·   Çağrı Önekleri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LA çağrı işareti ön eki hangi ülkeye aittir?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Hollanda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Haiti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c)  Norveç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Lübnan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LA, Norveç'e tahsis edilmiş amatör çağrı işareti önekidir.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ITU çağrı işareti ön ek tahsis tablosu (ülkelere ayrılan harf blokları).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91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92</a:t>
            </a:r>
            <a:r>
              <a:rPr sz="1400">
                <a:solidFill>
                  <a:srgbClr val="D6E4F0"/>
                </a:solidFill>
              </a:rPr>
              <a:t>   ·   Çağrı Önekleri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Aşağıdaki çağrı işareti ön eklerinden hangisi İspanya'ya aittir?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a)  EA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EP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ON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SU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EA, İspanya'ya tahsis edilmiş amatör çağrı işareti önekidir </a:t>
            </a:r>
            <a:r>
              <a:rPr sz="1300" i="1">
                <a:solidFill>
                  <a:srgbClr val="222222"/>
                </a:solidFill>
              </a:rPr>
              <a:t>(EP İran'a, ON Belçika'ya, SU Mısır'a aittir)</a:t>
            </a:r>
            <a:r>
              <a:rPr sz="1300">
                <a:solidFill>
                  <a:srgbClr val="222222"/>
                </a:solidFill>
              </a:rPr>
              <a:t>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ITU çağrı işareti ön ek tahsis tablosu (ülkelere ayrılan harf blokları).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92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93</a:t>
            </a:r>
            <a:r>
              <a:rPr sz="1400">
                <a:solidFill>
                  <a:srgbClr val="D6E4F0"/>
                </a:solidFill>
              </a:rPr>
              <a:t>   ·   Fonetik Alfabe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BTK'nın uluslararası fonetik alfabeye göre hecelenmesi nasıldır?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a)  Bravo - Tango - Kilo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Bravo - Tango - Kilowat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Bravo - Toronto - Kilo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Bravo - Tango - Golf - Mike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B=Bravo, T=Tango, K=Kilo — uluslararası fonetik alfabedeki karşılıklarıdır.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NATO/Uluslararası fonetik alfabe ve KEGM ulusal (il adı) fonetik alfabesi.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93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94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İki istasyon arasında gönderilen test mesajlarının başına ve sonuna aşağıdaki kelimelerden hangisi ilave edilmelidir?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Eğitim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Deneme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c)  Test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Tatbikat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Bir test mesajının gerçek bir haberleşme/acil durum çağrısı ile karıştırılmaması için başına ve sonuna açıkça "TEST" ibaresi eklenir.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Genel amatör telsiz işletme adabı.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94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95</a:t>
            </a:r>
            <a:r>
              <a:rPr sz="1400">
                <a:solidFill>
                  <a:srgbClr val="D6E4F0"/>
                </a:solidFill>
              </a:rPr>
              <a:t>   ·   Acil Durum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Amatör istasyonunuzu bir "SOS" veya "MAYDAY" sinyali göndermek için ne zaman kullanabilirsiniz?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Sadece denizde bir gemiden iletim yapıyorken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Sadece bir saatin 15. ve 30. Dakikalarında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c)  İnsan yaşamına ve mala mevcut bir tehdit olması durumunda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Ulusal Meteoroloji Dairesi bir meteoroloji uyarısı açıkladığı zaman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Tehlike sinyalleri </a:t>
            </a:r>
            <a:r>
              <a:rPr sz="1300" i="1">
                <a:solidFill>
                  <a:srgbClr val="222222"/>
                </a:solidFill>
              </a:rPr>
              <a:t>(SOS/MAYDAY)</a:t>
            </a:r>
            <a:r>
              <a:rPr sz="1300">
                <a:solidFill>
                  <a:srgbClr val="222222"/>
                </a:solidFill>
              </a:rPr>
              <a:t>, sadece gerçek bir can veya mal güvenliği tehlikesi olduğunda kullanılır — deniz/hava aracı sınırlaması veya belirli saat dilimi kuralı yoktur.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ITU acil durum işletme kuralları.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95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96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Aşağıdakilerden hangisi "selamlar" anlamına gelmektedir?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a)  73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88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66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55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73, geleneksel olarak 'en iyi dilekler / selamlar' anlamına gelir </a:t>
            </a:r>
            <a:r>
              <a:rPr sz="1300" i="1">
                <a:solidFill>
                  <a:srgbClr val="222222"/>
                </a:solidFill>
              </a:rPr>
              <a:t>(88 ise 'sevgiler ve öpücükler' anlamındadır, genellikle YL/XYL — kadın operatörlerle ilgili bağlamda kullanılır)</a:t>
            </a:r>
            <a:r>
              <a:rPr sz="1300">
                <a:solidFill>
                  <a:srgbClr val="222222"/>
                </a:solidFill>
              </a:rPr>
              <a:t>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Geleneksel telgraf kısaltmaları.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96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97</a:t>
            </a:r>
            <a:r>
              <a:rPr sz="1400">
                <a:solidFill>
                  <a:srgbClr val="D6E4F0"/>
                </a:solidFill>
              </a:rPr>
              <a:t>   ·   Zaman Hesabı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Greenwich'de 20 Ekim saat 23:00 iken 25 derece doğu boylamında tarih ve saat kaçtır?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a)  21 Ekim saat 00:40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20 Ekim saat 21:10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20 Ekim saat 00:40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21 Ekim saat 11:10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25° doğu = 25/15 = 1 saat 40 dakika ileri. 23:00 + 1:40 = 00:40, gün bir ileri geçer: 21 Ekim, 00:40.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Boylam-saat dönüşümü.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97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BÖLÜM 9: Log Defteri, Q-Kodları ve Fonetik Hece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222222"/>
                </a:solidFill>
              </a:rPr>
              <a:t>•  Haberleşme kayıt defterinde </a:t>
            </a:r>
            <a:r>
              <a:rPr sz="1700" i="1">
                <a:solidFill>
                  <a:srgbClr val="222222"/>
                </a:solidFill>
              </a:rPr>
              <a:t>(log book)</a:t>
            </a:r>
            <a:r>
              <a:rPr sz="1700">
                <a:solidFill>
                  <a:srgbClr val="222222"/>
                </a:solidFill>
              </a:rPr>
              <a:t> tutulması gereken bilgiler bellidir; her ayrıntı zorunlu değildir.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222222"/>
                </a:solidFill>
              </a:rPr>
              <a:t>•  Amatör telsizcilikte şifreli </a:t>
            </a:r>
            <a:r>
              <a:rPr sz="1700" i="1">
                <a:solidFill>
                  <a:srgbClr val="222222"/>
                </a:solidFill>
              </a:rPr>
              <a:t>(anlamı gizleyen)</a:t>
            </a:r>
            <a:r>
              <a:rPr sz="1700">
                <a:solidFill>
                  <a:srgbClr val="222222"/>
                </a:solidFill>
              </a:rPr>
              <a:t> haberleşme kural olarak yasaktır.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623560"/>
            <a:ext cx="10911535" cy="9144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300" b="1">
                <a:solidFill>
                  <a:srgbClr val="1F3864"/>
                </a:solidFill>
              </a:rPr>
              <a:t>Bu bölümün kaynağı: </a:t>
            </a:r>
            <a:r>
              <a:rPr sz="1300">
                <a:solidFill>
                  <a:srgbClr val="222222"/>
                </a:solidFill>
              </a:rPr>
              <a:t>ITU Q-kod tablosu (uluslararası standart kısaltılmış telsiz sinyalleri). NATO/Uluslararası fonetik alfabe ve KEGM ulusal (il adı) fonetik alfabesi.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Bölüm 9 Girişi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98</a:t>
            </a:r>
            <a:r>
              <a:rPr sz="1400">
                <a:solidFill>
                  <a:srgbClr val="D6E4F0"/>
                </a:solidFill>
              </a:rPr>
              <a:t>   ·   Log Defteri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Amatör telsiz istasyonunda bulunan mesaj kayıt defterinde bulunması gerek olmayan bilgi aşağıdakilerden hangisidir?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Haberleşme tarihi ve UTC olarak zaman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Haberleşme istasyonunun çağrı adı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Haberleşmenin frekansı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d)  Kullanılan antenin cinsi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Log defterinde tarih/saat, karşı istasyonun çağrı işareti ve çalışılan frekans temel zorunlu bilgilerdir; kullanılan anten türü kayıt zorunluluğu taşımaz </a:t>
            </a:r>
            <a:r>
              <a:rPr sz="1300" i="1">
                <a:solidFill>
                  <a:srgbClr val="222222"/>
                </a:solidFill>
              </a:rPr>
              <a:t>(isteğe bağlı not olabilir)</a:t>
            </a:r>
            <a:r>
              <a:rPr sz="1300">
                <a:solidFill>
                  <a:srgbClr val="222222"/>
                </a:solidFill>
              </a:rPr>
              <a:t>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Haberleşme kayıt defteri (log book) standart uygulaması.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98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99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Bir amatör telsiz istasyonu hangi hallerde şifreli haberleşme yapabilir?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Sadece yüksek frekanslarda görüşme yaparken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Yarışmalarda (contest)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Olağanüstü haberleşme şartlarında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d)  Amatör telsizciler şifreli haberleşme yapamaz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Amatör telsizciliğin temel ilkesi açıklıktır </a:t>
            </a:r>
            <a:r>
              <a:rPr sz="1300" i="1">
                <a:solidFill>
                  <a:srgbClr val="222222"/>
                </a:solidFill>
              </a:rPr>
              <a:t>(anlamı gizleyen şifreli haberleşme yasaktır)</a:t>
            </a:r>
            <a:r>
              <a:rPr sz="1300">
                <a:solidFill>
                  <a:srgbClr val="222222"/>
                </a:solidFill>
              </a:rPr>
              <a:t> — kamuya açık, kodlu olmayan protokoller </a:t>
            </a:r>
            <a:r>
              <a:rPr sz="1300" i="1">
                <a:solidFill>
                  <a:srgbClr val="222222"/>
                </a:solidFill>
              </a:rPr>
              <a:t>(dijital modlar dahil)</a:t>
            </a:r>
            <a:r>
              <a:rPr sz="1300">
                <a:solidFill>
                  <a:srgbClr val="222222"/>
                </a:solidFill>
              </a:rPr>
              <a:t> bu kapsamda değildir, ama kasıtlı şifreleme hiçbir koşulda yapılamaz.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ITU-RR Madde 25 ('anlam gizleme amacı' testi).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99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100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Amatör telsizciler arasında yapılan haberleşmenin alındığını veya anlaşıldığını belirten ve birbirlerine bu durumu onaylatmak için gönderilen belgeye ne ad verilir?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QSO kartı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QSL kartı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QTH kartı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QRU kartı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Bu, QSL kartıdır — iki amatör arasındaki temasın karşılıklı yazılı teyididir.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QSL kart geleneği.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100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101</a:t>
            </a:r>
            <a:r>
              <a:rPr sz="1400">
                <a:solidFill>
                  <a:srgbClr val="D6E4F0"/>
                </a:solidFill>
              </a:rPr>
              <a:t>   ·   Log Defteri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Bir amatör telsiz istasyonunda bulunan mesaj kayıt defterine (log-book) aşağıda belirtilen bilgilerden hangisinin kayıt edilme zorunluluğu yoktur?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a)  Hava durumu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Haberleşme sıra numarası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Çalışma frekansı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Emisyon tipi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Hava durumu, log defterinin standart zorunlu alanlarından değildir; sıra numarası, çalışma frekansı ve emisyon tipi </a:t>
            </a:r>
            <a:r>
              <a:rPr sz="1300" i="1">
                <a:solidFill>
                  <a:srgbClr val="222222"/>
                </a:solidFill>
              </a:rPr>
              <a:t>(kullanılan sinyal türü)</a:t>
            </a:r>
            <a:r>
              <a:rPr sz="1300">
                <a:solidFill>
                  <a:srgbClr val="222222"/>
                </a:solidFill>
              </a:rPr>
              <a:t> ise haberleşmeyi tanımlayan temel bilgilerdir.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Haberleşme kayıt defteri (log book) standart uygulaması.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101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102</a:t>
            </a:r>
            <a:r>
              <a:rPr sz="1400">
                <a:solidFill>
                  <a:srgbClr val="D6E4F0"/>
                </a:solidFill>
              </a:rPr>
              <a:t>   ·   Q-Kodları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QRV kelimesinin anlamı aşağıdakilerden hangisidir?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a)  Hazır mısın?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Bulunduğun yer neresidir?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Saat kaç?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Başka bir konu var mı?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QRV, 'hazır mısın / hazırım' anlamına gelen bir Q-koddur.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ITU Q-kod tablosu (uluslararası standart kısaltılmış telsiz sinyalleri).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102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103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CALL SİGN kelimesinin anlamı nedir?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Güç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Kontrol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c)  Çağrı işareti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Alındı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Call sign, İngilizce'de 'çağrı işareti' terimidir — her amatöre/organizasyona kimlik olarak tahsis edilen özgün harf-rakam grubu.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Genel amatör telsiz terminolojisi.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103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104</a:t>
            </a:r>
            <a:r>
              <a:rPr sz="1400">
                <a:solidFill>
                  <a:srgbClr val="D6E4F0"/>
                </a:solidFill>
              </a:rPr>
              <a:t>   ·   Q-Kodları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QSV kelimesinin anlamı nedir?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Hazır mısın?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Frekansımı değiştireyim mi?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c)  Bir dizi V harfi göndereyim mi?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Daha hızlı göndereyim mi?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QSV, karşı tarafın ayar/testi için bir dizi 'V' harfi </a:t>
            </a:r>
            <a:r>
              <a:rPr sz="1300" i="1">
                <a:solidFill>
                  <a:srgbClr val="222222"/>
                </a:solidFill>
              </a:rPr>
              <a:t>(Mors testi için standart bir kalibrasyon dizisi)</a:t>
            </a:r>
            <a:r>
              <a:rPr sz="1300">
                <a:solidFill>
                  <a:srgbClr val="222222"/>
                </a:solidFill>
              </a:rPr>
              <a:t> gönderilip gönderilmeyeceğini sormak için kullanılır.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ITU Q-kod tablosu (uluslararası standart kısaltılmış telsiz sinyalleri).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104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105</a:t>
            </a:r>
            <a:r>
              <a:rPr sz="1400">
                <a:solidFill>
                  <a:srgbClr val="D6E4F0"/>
                </a:solidFill>
              </a:rPr>
              <a:t>   ·   Q-Kodları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QRZ kelimesinin anlamı nedir?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Sinyal şiddetim ne?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Frekansım değişiyor mu?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Meşgul müsünüz?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d)  Beni kim çağırıyor?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QRZ, 'beni kim çağırıyor?' anlamına gelir.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ITU Q-kod tablosu (uluslararası standart kısaltılmış telsiz sinyalleri).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105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106</a:t>
            </a:r>
            <a:r>
              <a:rPr sz="1400">
                <a:solidFill>
                  <a:srgbClr val="D6E4F0"/>
                </a:solidFill>
              </a:rPr>
              <a:t>   ·   Fonetik Alfabe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MAYDAY kelimesinin uluslararası alfabeye göre hecelenmesi ne şekilde yapılır?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Mike - Alpha - Tosun - Delta - Alpha - Yunus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Manisa - Aydın - Yankee - Delta - Afyon - Yunus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c)  Mike - Alpha - Yankee - Delta - Alpha - Yankee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Manisa - Aydın -Yeliz - Demir - Aydın -Yeliz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M=Mike, A=Alpha, Y=Yankee, D=Delta, A=Alpha, Y=Yankee — uluslararası fonetik alfabedeki karşılıklarıdır.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NATO/Uluslararası fonetik alfabe ve KEGM ulusal (il adı) fonetik alfabesi.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106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107</a:t>
            </a:r>
            <a:r>
              <a:rPr sz="1400">
                <a:solidFill>
                  <a:srgbClr val="D6E4F0"/>
                </a:solidFill>
              </a:rPr>
              <a:t>   ·   Fonetik Alfabe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KEGM kelimesinin uluslararası alfabeye göre hecelenmesi ne şekilde yapılır?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Kemal - Emin - Galip - Mehmet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Kilo - Echo - Golf - Mike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Kilo - Echo - Golf - Mehmet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Kemal - Echo - Golf - Mike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K=Kilo, E=Echo, G=Golf, M=Mike — uluslararası fonetik alfabedeki karşılıklarıdır.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NATO/Uluslararası fonetik alfabe ve KEGM ulusal (il adı) fonetik alfabesi.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107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108</a:t>
            </a:r>
            <a:r>
              <a:rPr sz="1400">
                <a:solidFill>
                  <a:srgbClr val="D6E4F0"/>
                </a:solidFill>
              </a:rPr>
              <a:t>   ·   Fonetik Alfabe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MEHMET kelimesinin ulusal fonetik alfabeye göre hecelenmesi nedir?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Mehmet - Emin - Hasan - Mehmet - Emin - Turgut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Mike - Echo - Hotel - Mike - Echo - Tango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c)  Manisa - Edirne - Hopa - Manisa - Edirne - Trabzon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Mike - Edirne - Hotel - Mike - Edirne - Tango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Ulusal fonetik alfabede: M=Manisa, E=Edirne, H=Hopa, M=Manisa, E=Edirne, T=Trabzon.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NATO/Uluslararası fonetik alfabe ve KEGM ulusal (il adı) fonetik alfabesi.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108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109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Herhangi bir istasyon çağrıldığında ve bağlantı kurulduğunda aşağıdakilerden hangisinin yapılması doğrudur?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Her bağlantı sonunda çağrı işaretleri tekrarlanır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Simplex kanalda görüşülüyorsa ve uzun süreli görüşülecekse boş bir simplex kanala geçmek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Cümleler kısa net ve anlaşılır olmalı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d)  Hepsi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İyi işletme adabının üç unsuru da geçerlidir: kimlik teyidi için çağrı işaretlerini tekrarlamak, kanalı meşgul etmemek için uygun kanala geçmek, ve anlaşılır konuşmak.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Genel amatör telsiz işletme adabı.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109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BÖLÜM 10: Ülke Önekleri, Kıtalar, Emisyon Modları ve Bant Sınırları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222222"/>
                </a:solidFill>
              </a:rPr>
              <a:t>•  Kıta kısaltmaları </a:t>
            </a:r>
            <a:r>
              <a:rPr sz="1700" i="1">
                <a:solidFill>
                  <a:srgbClr val="222222"/>
                </a:solidFill>
              </a:rPr>
              <a:t>(EU, AS, AF, AN, OC)</a:t>
            </a:r>
            <a:r>
              <a:rPr sz="1700">
                <a:solidFill>
                  <a:srgbClr val="222222"/>
                </a:solidFill>
              </a:rPr>
              <a:t> DX haberleşmesinde ve ödül/diploma takibinde kullanılır.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222222"/>
                </a:solidFill>
              </a:rPr>
              <a:t>•  Emisyon kodları </a:t>
            </a:r>
            <a:r>
              <a:rPr sz="1700" i="1">
                <a:solidFill>
                  <a:srgbClr val="222222"/>
                </a:solidFill>
              </a:rPr>
              <a:t>(A1A, J3E gibi)</a:t>
            </a:r>
            <a:r>
              <a:rPr sz="1700">
                <a:solidFill>
                  <a:srgbClr val="222222"/>
                </a:solidFill>
              </a:rPr>
              <a:t> bir sinyalin modülasyon türünü, bant genişliğini ve bilgi türünü standart bir formülle tanımlar.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623560"/>
            <a:ext cx="10911535" cy="9144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300" b="1">
                <a:solidFill>
                  <a:srgbClr val="1F3864"/>
                </a:solidFill>
              </a:rPr>
              <a:t>Bu bölümün kaynağı: </a:t>
            </a:r>
            <a:r>
              <a:rPr sz="1300">
                <a:solidFill>
                  <a:srgbClr val="222222"/>
                </a:solidFill>
              </a:rPr>
              <a:t>ITU çağrı işareti ön ek tahsis tablosu (ülkelere ayrılan harf blokları). ITU emisyon sınıflandırma sistemi; Özel Telsiz Sistemleri Yönetmeliği EK-4 Tablo-1.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Bölüm 10 Girişi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110</a:t>
            </a:r>
            <a:r>
              <a:rPr sz="1400">
                <a:solidFill>
                  <a:srgbClr val="D6E4F0"/>
                </a:solidFill>
              </a:rPr>
              <a:t>   ·   Çağrı Önekleri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LZ çağrı işareti aşağıdaki ülkelerden hangisine aittir?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Romanya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Yunanistan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c)  Bulgaristan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Yugoslavya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LZ, Bulgaristan'a tahsis edilmiş amatör çağrı işareti önekidir.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ITU çağrı işareti ön ek tahsis tablosu (ülkelere ayrılan harf blokları).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111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Aşağıdaki kısaltmalardan hangisi Avrupa kıtasına aittir?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AF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EU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AS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EU, Europe </a:t>
            </a:r>
            <a:r>
              <a:rPr sz="1300" i="1">
                <a:solidFill>
                  <a:srgbClr val="222222"/>
                </a:solidFill>
              </a:rPr>
              <a:t>(Avrupa)</a:t>
            </a:r>
            <a:r>
              <a:rPr sz="1300">
                <a:solidFill>
                  <a:srgbClr val="222222"/>
                </a:solidFill>
              </a:rPr>
              <a:t> kıtasının standart kısaltmasıdır </a:t>
            </a:r>
            <a:r>
              <a:rPr sz="1300" i="1">
                <a:solidFill>
                  <a:srgbClr val="222222"/>
                </a:solidFill>
              </a:rPr>
              <a:t>(AF=Afrika, AS=Asya, AN=Antarktika/Okyanusya bağlamına göre değişir)</a:t>
            </a:r>
            <a:r>
              <a:rPr sz="1300">
                <a:solidFill>
                  <a:srgbClr val="222222"/>
                </a:solidFill>
              </a:rPr>
              <a:t>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Kıta kısaltmaları (DXCC/IARU sistemleri).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112</a:t>
            </a:r>
            <a:r>
              <a:rPr sz="1400">
                <a:solidFill>
                  <a:srgbClr val="D6E4F0"/>
                </a:solidFill>
              </a:rPr>
              <a:t>   ·   Mors İşletme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Mors CW haberleşmesinde kullanılan kısalmalardan CFM kelimesinin anlamı nedir?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Kontrol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Genel çağrı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c)  Tasdik etmek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Tekrar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CFM </a:t>
            </a:r>
            <a:r>
              <a:rPr sz="1300" i="1">
                <a:solidFill>
                  <a:srgbClr val="222222"/>
                </a:solidFill>
              </a:rPr>
              <a:t>(confirm)</a:t>
            </a:r>
            <a:r>
              <a:rPr sz="1300">
                <a:solidFill>
                  <a:srgbClr val="222222"/>
                </a:solidFill>
              </a:rPr>
              <a:t>, gönderilen bilginin doğru alındığını teyit/tasdik etmek için kullanılır.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Geleneksel CW kısaltmaları.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113</a:t>
            </a:r>
            <a:r>
              <a:rPr sz="1400">
                <a:solidFill>
                  <a:srgbClr val="D6E4F0"/>
                </a:solidFill>
              </a:rPr>
              <a:t>   ·   Mors İşletme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Mors haberleşmesinde kullanılan TX kısalması neyi ifade eder?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Alıcı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Verici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Teşekkür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Hava raporu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TX </a:t>
            </a:r>
            <a:r>
              <a:rPr sz="1300" i="1">
                <a:solidFill>
                  <a:srgbClr val="222222"/>
                </a:solidFill>
              </a:rPr>
              <a:t>(transmitter)</a:t>
            </a:r>
            <a:r>
              <a:rPr sz="1300">
                <a:solidFill>
                  <a:srgbClr val="222222"/>
                </a:solidFill>
              </a:rPr>
              <a:t>, verici cihazı ifade eder </a:t>
            </a:r>
            <a:r>
              <a:rPr sz="1300" i="1">
                <a:solidFill>
                  <a:srgbClr val="222222"/>
                </a:solidFill>
              </a:rPr>
              <a:t>(karşıtı RX — receiver, alıcıdır)</a:t>
            </a:r>
            <a:r>
              <a:rPr sz="1300">
                <a:solidFill>
                  <a:srgbClr val="222222"/>
                </a:solidFill>
              </a:rPr>
              <a:t>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Genel telsiz terminolojisi.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113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114</a:t>
            </a:r>
            <a:r>
              <a:rPr sz="1400">
                <a:solidFill>
                  <a:srgbClr val="D6E4F0"/>
                </a:solidFill>
              </a:rPr>
              <a:t>   ·   Fonetik Alfabe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TELSİZ kelimesinin uluslararası fonetik alfabeye göre açılımı nedir?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a)  Tango - Echo - Lima - Sierra - İndia - Zulu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Train - Echo - Local - South - İndia - Zulu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Tourus - Emiter - Loop - Sierra - İnch - Zoom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Tango - Echo - London - Source - İnter - Zaire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T=Tango, E=Echo, L=Lima, S=Sierra, İ=India, Z=Zulu — uluslararası fonetik alfabedeki karşılıklarıdır.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NATO/Uluslararası fonetik alfabe ve KEGM ulusal (il adı) fonetik alfabesi.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115</a:t>
            </a:r>
            <a:r>
              <a:rPr sz="1400">
                <a:solidFill>
                  <a:srgbClr val="D6E4F0"/>
                </a:solidFill>
              </a:rPr>
              <a:t>   ·   Q-Kodları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QSY'nin açılımı nedir?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a)  Yayını başka frekansa değiştireyim mi?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Bir daha ne zaman arayacaksın?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Göndermeyi bırakayım mı?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Beni kim arıyor?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QSY, başka bir frekansa geçmeyi teklif etmek veya bildirmek için kullanılır.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ITU Q-kod tablosu (uluslararası standart kısaltılmış telsiz sinyalleri).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115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116</a:t>
            </a:r>
            <a:r>
              <a:rPr sz="1400">
                <a:solidFill>
                  <a:srgbClr val="D6E4F0"/>
                </a:solidFill>
              </a:rPr>
              <a:t>   ·   Kısaltmalar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Amatör Telsizcilik Haberleşmesinde kullanılan 'BK' kısaltması ne anlama gelir?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a)  Devam etmekte olan bir yayının kesilmesi için kullanılan sinyal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Mesaj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Alındı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Senin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BK </a:t>
            </a:r>
            <a:r>
              <a:rPr sz="1300" i="1">
                <a:solidFill>
                  <a:srgbClr val="222222"/>
                </a:solidFill>
              </a:rPr>
              <a:t>(break)</a:t>
            </a:r>
            <a:r>
              <a:rPr sz="1300">
                <a:solidFill>
                  <a:srgbClr val="222222"/>
                </a:solidFill>
              </a:rPr>
              <a:t>, devam eden bir görüşmeye kısa süreliğine araya girmek </a:t>
            </a:r>
            <a:r>
              <a:rPr sz="1300" i="1">
                <a:solidFill>
                  <a:srgbClr val="222222"/>
                </a:solidFill>
              </a:rPr>
              <a:t>(bir şey eklemek veya acil bir durumu bildirmek)</a:t>
            </a:r>
            <a:r>
              <a:rPr sz="1300">
                <a:solidFill>
                  <a:srgbClr val="222222"/>
                </a:solidFill>
              </a:rPr>
              <a:t> için kullanılır.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Geleneksel telgraf/telefon kısaltmaları.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116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117</a:t>
            </a:r>
            <a:r>
              <a:rPr sz="1400">
                <a:solidFill>
                  <a:srgbClr val="D6E4F0"/>
                </a:solidFill>
              </a:rPr>
              <a:t>   ·   Kısaltmalar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'UR' kısaltmasının anlamı nedir?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a)  Senin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Alıcı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Lütfen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Verici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UR </a:t>
            </a:r>
            <a:r>
              <a:rPr sz="1300" i="1">
                <a:solidFill>
                  <a:srgbClr val="222222"/>
                </a:solidFill>
              </a:rPr>
              <a:t>(your)</a:t>
            </a:r>
            <a:r>
              <a:rPr sz="1300">
                <a:solidFill>
                  <a:srgbClr val="222222"/>
                </a:solidFill>
              </a:rPr>
              <a:t>, CW haberleşmesinde 'senin/sizin' anlamına gelen kısaltmadır </a:t>
            </a:r>
            <a:r>
              <a:rPr sz="1300" i="1">
                <a:solidFill>
                  <a:srgbClr val="222222"/>
                </a:solidFill>
              </a:rPr>
              <a:t>(örn. 'UR RST' = 'senin RST raporun')</a:t>
            </a:r>
            <a:r>
              <a:rPr sz="1300">
                <a:solidFill>
                  <a:srgbClr val="222222"/>
                </a:solidFill>
              </a:rPr>
              <a:t>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Geleneksel CW kısaltmaları.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117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118</a:t>
            </a:r>
            <a:r>
              <a:rPr sz="1400">
                <a:solidFill>
                  <a:srgbClr val="D6E4F0"/>
                </a:solidFill>
              </a:rPr>
              <a:t>   ·   Güç Sınırları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A sınıfı belgeye sahip olan Amatör telsizcilerin 1810 - 1840 Khz band aralığındaki verici çıkış gücü ne olmalıdır?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1 W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9 W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75 W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100 W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Bu segmentte A sınıfı için tanınan azami çıkış gücü 9 W'tır — diğer HF bantlarına göre daha düşük bir sınırdır.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Özel Telsiz Sistemleri Yönetmeliği EK-4 Tablo-1 (güç sınırları).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119</a:t>
            </a:r>
            <a:r>
              <a:rPr sz="1400">
                <a:solidFill>
                  <a:srgbClr val="D6E4F0"/>
                </a:solidFill>
              </a:rPr>
              <a:t>   ·   Emisyon Kodları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A1A'nın anlamı nedir?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a)  Genlik Modülasyonlu, çift kenar band modüle edici alt taşıyıcı kullanmayan, sayısal bilgi ihtiva eden tek kanallı açık-kapalı şeklinde anahtarlama sistemi ile çalışan telgraf yayını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Genlik Modülasyonlu, tek kenar band modüle edici alt taşıyıcı kullanmayan, bilgi ihtiva eden tek kanallı otomatik telgraf yayını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Genlik Modülasyonlu, çift kenar band analog bilgi ihtiva eden tek kanallı faksimil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Genlik Modülasyonlu, artık yan band analog bilgi ihtiva eden tek kanallı televizyon yayını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A1A, klasik el ile anahtarlanan Mors </a:t>
            </a:r>
            <a:r>
              <a:rPr sz="1300" i="1">
                <a:solidFill>
                  <a:srgbClr val="222222"/>
                </a:solidFill>
              </a:rPr>
              <a:t>(CW)</a:t>
            </a:r>
            <a:r>
              <a:rPr sz="1300">
                <a:solidFill>
                  <a:srgbClr val="222222"/>
                </a:solidFill>
              </a:rPr>
              <a:t> telgrafının ITU emisyon kodudur: genlik modülasyonlu, çift yan bant, açık-kapalı anahtarlamalı telgraf.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ITU emisyon sınıflandırma sistemi.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119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120</a:t>
            </a:r>
            <a:r>
              <a:rPr sz="1400">
                <a:solidFill>
                  <a:srgbClr val="D6E4F0"/>
                </a:solidFill>
              </a:rPr>
              <a:t>   ·   Emisyon Kodları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J3E'nin anlamı nedir?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Genlik Modülasyonlu, tek kenar band, taşıyıcı bastırılmış, modüle edici alt taşıyıcı kullanan, sayısal bilgi ihtiva eden, tek kanallı otomatik telgraf yayını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Genlik Modülasyonlu, tek kenar band, taşıyıcısı bastırılmış, analog bilgi ihtiva eden, tek kanallı faksimil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c)  Genlik Modülasyonlu, tek kenar band, taşıyıcısı bastırılmış, analog bilgi ihtiva eden, tek kanallı telefon yayını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Genlik Modülasyonlu, tek kenar band, taşıyıcısı bastırılmış, analog bilgi ihtiva eden, tek kanallı televizyon yayını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J3E, amatör telsizcilikte en yaygın kullanılan ses modu olan SSB'nin </a:t>
            </a:r>
            <a:r>
              <a:rPr sz="1300" i="1">
                <a:solidFill>
                  <a:srgbClr val="222222"/>
                </a:solidFill>
              </a:rPr>
              <a:t>(Single Side Band — tek yan bant)</a:t>
            </a:r>
            <a:r>
              <a:rPr sz="1300">
                <a:solidFill>
                  <a:srgbClr val="222222"/>
                </a:solidFill>
              </a:rPr>
              <a:t> ITU emisyon kodudur: taşıyıcısı bastırılmış, tek yan bantlı sesli </a:t>
            </a:r>
            <a:r>
              <a:rPr sz="1300" i="1">
                <a:solidFill>
                  <a:srgbClr val="222222"/>
                </a:solidFill>
              </a:rPr>
              <a:t>(telefon)</a:t>
            </a:r>
            <a:r>
              <a:rPr sz="1300">
                <a:solidFill>
                  <a:srgbClr val="222222"/>
                </a:solidFill>
              </a:rPr>
              <a:t> yayın.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ITU emisyon sınıflandırma sistemi.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121</a:t>
            </a:r>
            <a:r>
              <a:rPr sz="1400">
                <a:solidFill>
                  <a:srgbClr val="D6E4F0"/>
                </a:solidFill>
              </a:rPr>
              <a:t>   ·   Bant Planı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6 metre band içindeki frekans hangisidir?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49.00 Mhz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51.525 Mhz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28.50 Mhz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222.15 Mhz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6 metre bandı 50-54 MHz aralığındadır; 51.525 MHz bu aralığın içindedir.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IARU Region-1 amatör bant planı.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121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122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Bir alıcı –vericideki susturma kontrolünün amacı nedir?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İstenilen sesin en yüksek seviyesini ayarlamak için kullanılır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Alıcı –Verici güç düzeyini ayarlamak için kullanılır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Anten polarizasyonunu ayarlamak için kullanılır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d)  Hiçbir sinyal alınmadığı zaman gürültüyü kesmek kullanılır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Squelch </a:t>
            </a:r>
            <a:r>
              <a:rPr sz="1300" i="1">
                <a:solidFill>
                  <a:srgbClr val="222222"/>
                </a:solidFill>
              </a:rPr>
              <a:t>(susturma)</a:t>
            </a:r>
            <a:r>
              <a:rPr sz="1300">
                <a:solidFill>
                  <a:srgbClr val="222222"/>
                </a:solidFill>
              </a:rPr>
              <a:t>, sinyal olmadığında hoparlörden gelen sürekli statik gürültüyü otomatik olarak keser; sinyal geldiğinde tekrar açılır.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Alıcı devre teorisi.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122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123</a:t>
            </a:r>
            <a:r>
              <a:rPr sz="1400">
                <a:solidFill>
                  <a:srgbClr val="D6E4F0"/>
                </a:solidFill>
              </a:rPr>
              <a:t>   ·   Bant Planı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20 m bandında RTTY haberleşmesi hangi frekans aralığında yapılabilir?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a)  14.075 - 14.100 Mhz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14.050 - 14.075 Mhz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14.200 - 14.250 Mhz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14.230 - 14.230 Khz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20m bandının RTTY/veri modlarına ayrılmış segmenti 14.075-14.100 MHz aralığıdır.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IARU Region-1 amatör bant planı.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123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BÖLÜM 11: Mors Alfabesi — Kelime Kodlamaları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222222"/>
                </a:solidFill>
              </a:rPr>
              <a:t>•  Her harfin sabit bir Mors karşılığı vardır </a:t>
            </a:r>
            <a:r>
              <a:rPr sz="1700" i="1">
                <a:solidFill>
                  <a:srgbClr val="222222"/>
                </a:solidFill>
              </a:rPr>
              <a:t>(nokta=kısa, çizgi=uzun sinyal)</a:t>
            </a:r>
            <a:r>
              <a:rPr sz="1700">
                <a:solidFill>
                  <a:srgbClr val="222222"/>
                </a:solidFill>
              </a:rPr>
              <a:t>; bir kelimenin kodu, harflerin art arda dizilmesiyle oluşur.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222222"/>
                </a:solidFill>
              </a:rPr>
              <a:t>•  Bu bölümdeki tüm sorular, Uluslararası Mors Alfabesi tablosuyla harf harf doğrulanmıştır.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623560"/>
            <a:ext cx="10911535" cy="9144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300" b="1">
                <a:solidFill>
                  <a:srgbClr val="1F3864"/>
                </a:solidFill>
              </a:rPr>
              <a:t>Bu bölümün kaynağı: </a:t>
            </a:r>
            <a:r>
              <a:rPr sz="1300">
                <a:solidFill>
                  <a:srgbClr val="222222"/>
                </a:solidFill>
              </a:rPr>
              <a:t>Uluslararası Mors Alfabesi.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Bölüm 11 Girişi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124</a:t>
            </a:r>
            <a:r>
              <a:rPr sz="1400">
                <a:solidFill>
                  <a:srgbClr val="D6E4F0"/>
                </a:solidFill>
              </a:rPr>
              <a:t>   ·   Mors Alfabesi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Mors alfabesinde AZOT kelimesinin açılımı nedir?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·−·− / −−·− / −·· / ·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·− / −−− / ··−− / −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−·− / ··− / ·−· / −−·−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d)  ·− / −−·· / −−− / −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A=·−, Z=−−··, O=−−−, T=− olduğundan AZOT kelimesi "·− / −−·· / −−− / −" şeklinde kodlanır.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Uluslararası Mors Alfabesi.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124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125</a:t>
            </a:r>
            <a:r>
              <a:rPr sz="1400">
                <a:solidFill>
                  <a:srgbClr val="D6E4F0"/>
                </a:solidFill>
              </a:rPr>
              <a:t>   ·   Mors Alfabesi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Mors alfabesinde SAYI kelimesinin açılımı nedir?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−·−− / ···− / ·− / −··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−··− / ··− / −· / ·−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···/ ·− / ·· / −·−−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d)  ··· / ·− / −·−− / ··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S=···, A=·−, Y=−·−−, I=·· olduğundan SAYI kelimesi "··· / ·− / −·−− / ··" şeklinde kodlanır.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Uluslararası Mors Alfabesi.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125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126</a:t>
            </a:r>
            <a:r>
              <a:rPr sz="1400">
                <a:solidFill>
                  <a:srgbClr val="D6E4F0"/>
                </a:solidFill>
              </a:rPr>
              <a:t>   ·   Mors Alfabesi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Mors alfabesinde YENİ kelimesinin açılımı nedir?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a)  −·−− / · / −· / ··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·− / −·− / ··−− / ·−·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·−·· /··· − / ·−·· / ·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−−− / ·− / ··− / ·−·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Y=−·−−, E=·, N=−·, İ</a:t>
            </a:r>
            <a:r>
              <a:rPr sz="1300" i="1">
                <a:solidFill>
                  <a:srgbClr val="222222"/>
                </a:solidFill>
              </a:rPr>
              <a:t>(I)</a:t>
            </a:r>
            <a:r>
              <a:rPr sz="1300">
                <a:solidFill>
                  <a:srgbClr val="222222"/>
                </a:solidFill>
              </a:rPr>
              <a:t>=·· olduğundan YENİ kelimesi "−·−− / · / −· / ··" şeklinde kodlanır.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Uluslararası Mors Alfabesi.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127</a:t>
            </a:r>
            <a:r>
              <a:rPr sz="1400">
                <a:solidFill>
                  <a:srgbClr val="D6E4F0"/>
                </a:solidFill>
              </a:rPr>
              <a:t>   ·   Mors Alfabesi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Mors alfabesinde NOTA kelimesinin açılımı nedir?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·− / −−− / −·/ ··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−· / −−− / − / ·−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·−· / −−− / − / ·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··− / ·−−· / ··· / ·−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N=−·, O=−−−, T=−, A=·− olduğundan NOTA kelimesi "−· / −−− / − / ·−" şeklinde kodlanır.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Uluslararası Mors Alfabesi.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127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128</a:t>
            </a:r>
            <a:r>
              <a:rPr sz="1400">
                <a:solidFill>
                  <a:srgbClr val="D6E4F0"/>
                </a:solidFill>
              </a:rPr>
              <a:t>   ·   Mors Alfabesi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Mors alfabesinde GRUP kelimesinin açılımı nedir?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·−−· / −−·−· / ·· / ···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−−· / ·−· / −− / ·−−·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−·−· / −−·− / ···− / −·−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d)  −−· / ·−· / ··− / ·−−·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G=−−·, R=·−·, U=··−, P=·−−· olduğundan GRUP kelimesi "−−· / ·−· / ··− / ·−−·" şeklinde kodlanır.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Uluslararası Mors Alfabesi.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128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129</a:t>
            </a:r>
            <a:r>
              <a:rPr sz="1400">
                <a:solidFill>
                  <a:srgbClr val="D6E4F0"/>
                </a:solidFill>
              </a:rPr>
              <a:t>   ·   Mors Alfabesi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Mors alfabesinde FİLE kelimesinin açılımı nedir?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a)  ··−· / ·· / ·−·· / ·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··−· / · / ·−·· / ··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−··· / ·· / ·−·· / ·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·−·· / ·· / −·−· / ·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F=··−·, İ</a:t>
            </a:r>
            <a:r>
              <a:rPr sz="1300" i="1">
                <a:solidFill>
                  <a:srgbClr val="222222"/>
                </a:solidFill>
              </a:rPr>
              <a:t>(I)</a:t>
            </a:r>
            <a:r>
              <a:rPr sz="1300">
                <a:solidFill>
                  <a:srgbClr val="222222"/>
                </a:solidFill>
              </a:rPr>
              <a:t>=··, L=·−··, E=· olduğundan FİLE kelimesi "··−· / ·· / ·−·· / ·" şeklinde kodlanır.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Uluslararası Mors Alfabesi.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129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130</a:t>
            </a:r>
            <a:r>
              <a:rPr sz="1400">
                <a:solidFill>
                  <a:srgbClr val="D6E4F0"/>
                </a:solidFill>
              </a:rPr>
              <a:t>   ·   Mors Alfabesi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Mors alfabesinde BARAJ kelimesinin açılımı nedir?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···− / ·− / ·−· / −· / ·−−−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−·· / ·− / ·−· / ·− / ·−−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−··· / ·− / −· / ·− / −−−·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d)  −··· / ·− / ·−· / ·− / ·−−−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B=−···, A=·−, R=·−·, A=·−, J=·−−− olduğundan BARAJ kelimesi "−··· / ·− / ·−· / ·− / ·−−−" şeklinde kodlanır.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Uluslararası Mors Alfabesi.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131</a:t>
            </a:r>
            <a:r>
              <a:rPr sz="1400">
                <a:solidFill>
                  <a:srgbClr val="D6E4F0"/>
                </a:solidFill>
              </a:rPr>
              <a:t>   ·   Mors Alfabesi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Mors alfabesinde ONUR kelimesinin açılımı nedir?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a)  −−− / −· / ··− / ·−·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··· / ·− / −−· / −·−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··· / ·− / ··− / ·−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−−− / −· / ···− / ·−·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O=−−−, N=−·, U=··−, R=·−· olduğundan ONUR kelimesi "−−− / −· / ··− / ·−·" şeklinde kodlanır.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Uluslararası Mors Alfabesi.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131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132</a:t>
            </a:r>
            <a:r>
              <a:rPr sz="1400">
                <a:solidFill>
                  <a:srgbClr val="D6E4F0"/>
                </a:solidFill>
              </a:rPr>
              <a:t>   ·   Mors Alfabesi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Mors alfabesinde TAH kelimesinin açılımı nedir?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·−− / ·· / −−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− / ·− / ····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·− / ··− / −−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·· / ·− / ···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T=−, A=·−, H=···· olduğundan TAH kelimesi "− / ·− / ····" şeklinde kodlanır.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Uluslararası Mors Alfabesi.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132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133</a:t>
            </a:r>
            <a:r>
              <a:rPr sz="1400">
                <a:solidFill>
                  <a:srgbClr val="D6E4F0"/>
                </a:solidFill>
              </a:rPr>
              <a:t>   ·   Mors Alfabesi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Mors alfabesinde ESKİ kelimesinin açılımı nedir?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·· / −· / ··− / ·−·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· / ··· / −·− / ··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−·− / ··· / ·−· / −−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·− / ·· / ·−· / ··−·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E=·, S=···, K=−·−, İ</a:t>
            </a:r>
            <a:r>
              <a:rPr sz="1300" i="1">
                <a:solidFill>
                  <a:srgbClr val="222222"/>
                </a:solidFill>
              </a:rPr>
              <a:t>(I)</a:t>
            </a:r>
            <a:r>
              <a:rPr sz="1300">
                <a:solidFill>
                  <a:srgbClr val="222222"/>
                </a:solidFill>
              </a:rPr>
              <a:t>=·· olduğundan ESKİ kelimesi "· / ··· / −·− / ··" şeklinde kodlanır.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Uluslararası Mors Alfabesi.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133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134</a:t>
            </a:r>
            <a:r>
              <a:rPr sz="1400">
                <a:solidFill>
                  <a:srgbClr val="D6E4F0"/>
                </a:solidFill>
              </a:rPr>
              <a:t>   ·   Mors Alfabesi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Mors alfabesinde YAVUZ kelimesinin açılımı nedir?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−−·− / ·− / ···− / ··− / −−··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−·−− / −· / −··· / ··− / −−·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c)  −·−− / ·− / ···− / ··− / −−··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−·−− / ·− / −··· / ··− / −−·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Y=−·−−, A=·−, V=···−, U=··−, Z=−−·· olduğundan YAVUZ kelimesi "−·−− / ·− / ···− / ··− / −−··" şeklinde kodlanır.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Uluslararası Mors Alfabesi.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134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135</a:t>
            </a:r>
            <a:r>
              <a:rPr sz="1400">
                <a:solidFill>
                  <a:srgbClr val="D6E4F0"/>
                </a:solidFill>
              </a:rPr>
              <a:t>   ·   Mors Alfabesi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Mors alfabesinde AK kelimesinin açılımı nedir?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·−− / ·−·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·− / −·−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−· / −·−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·· / ·−−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A=·−, K=−·− olduğundan AK kelimesi "·− / −·−" şeklinde kodlanır.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Uluslararası Mors Alfabesi.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135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BÖLÜM 12: Bantlar, Röle, Prosedür ve PSK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222222"/>
                </a:solidFill>
              </a:rPr>
              <a:t>•  Belirli frekans bantları belirli modlarla sınırlıdır; bunlar IARU bant planında sabittir.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222222"/>
                </a:solidFill>
              </a:rPr>
              <a:t>•  Amatör telsiz haberleşmesinin beş temel amacı vardır — bunlardan ikisi eğitim ve uluslararası iyi niyettir.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222222"/>
                </a:solidFill>
              </a:rPr>
              <a:t>•  Bir görüşmeye kibarca müdahale etme ve doğru gönderme/alma sırası, işletme adabının temelidir.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623560"/>
            <a:ext cx="10911535" cy="9144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300" b="1">
                <a:solidFill>
                  <a:srgbClr val="1F3864"/>
                </a:solidFill>
              </a:rPr>
              <a:t>Bu bölümün kaynağı: </a:t>
            </a:r>
            <a:r>
              <a:rPr sz="1300">
                <a:solidFill>
                  <a:srgbClr val="222222"/>
                </a:solidFill>
              </a:rPr>
              <a:t>IARU Region-1 amatör bant planı. Amatör Telsiz Hizmetinin amaçları; genel amatör telsiz işletme adabı.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Bölüm 12 Girişi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136</a:t>
            </a:r>
            <a:r>
              <a:rPr sz="1400">
                <a:solidFill>
                  <a:srgbClr val="D6E4F0"/>
                </a:solidFill>
              </a:rPr>
              <a:t>   ·   Bant Sınıflandırma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7000 – 7100 Khz Frekans bandı aşağıda yazılı bandlardan hangisinin içerisindedir?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MF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HF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UHF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VHF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7 MHz, HF </a:t>
            </a:r>
            <a:r>
              <a:rPr sz="1300" i="1">
                <a:solidFill>
                  <a:srgbClr val="222222"/>
                </a:solidFill>
              </a:rPr>
              <a:t>(High Frequency — 3-30 MHz)</a:t>
            </a:r>
            <a:r>
              <a:rPr sz="1300">
                <a:solidFill>
                  <a:srgbClr val="222222"/>
                </a:solidFill>
              </a:rPr>
              <a:t> bandı içindedir.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ITU frekans bandı sınıflandırması.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136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137</a:t>
            </a:r>
            <a:r>
              <a:rPr sz="1400">
                <a:solidFill>
                  <a:srgbClr val="D6E4F0"/>
                </a:solidFill>
              </a:rPr>
              <a:t>   ·   Bant Sınıflandırma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VHF bandındaki frekans aralığı hangisidir?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3-30 Mhz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30-300 Mhz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300-3000 Khz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300-3000 Mhz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VHF </a:t>
            </a:r>
            <a:r>
              <a:rPr sz="1300" i="1">
                <a:solidFill>
                  <a:srgbClr val="222222"/>
                </a:solidFill>
              </a:rPr>
              <a:t>(Very High Frequency)</a:t>
            </a:r>
            <a:r>
              <a:rPr sz="1300">
                <a:solidFill>
                  <a:srgbClr val="222222"/>
                </a:solidFill>
              </a:rPr>
              <a:t>, 30-300 MHz aralığını kapsar.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ITU frekans bandı sınıflandırması.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137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138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Telsiz cihazları arasında haberleşmeyi kolaylaştırmak amacıyla bir verici istasyonundan aldığı sinyalleri otomatik olarak başka bir frekansta alıcılara yayınlayan aktarıcılara ne ad verilir?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Trafo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Tekrarlayıcı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El telsizi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Mobil telsiz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Bu tanım tekrarlayıcı </a:t>
            </a:r>
            <a:r>
              <a:rPr sz="1300" i="1">
                <a:solidFill>
                  <a:srgbClr val="222222"/>
                </a:solidFill>
              </a:rPr>
              <a:t>(repeater/röle)</a:t>
            </a:r>
            <a:r>
              <a:rPr sz="1300">
                <a:solidFill>
                  <a:srgbClr val="222222"/>
                </a:solidFill>
              </a:rPr>
              <a:t> istasyonuna aittir.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Genel amatör telsiz sözlüğü.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138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139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Paket data gönderen amatör telsiz istasyonunda aşağıdakilerden hangisi kullanılmaz?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Anten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Güç Kaynağı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Alıcı - Verici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d)  Mikrofon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Paket veri </a:t>
            </a:r>
            <a:r>
              <a:rPr sz="1300" i="1">
                <a:solidFill>
                  <a:srgbClr val="222222"/>
                </a:solidFill>
              </a:rPr>
              <a:t>(bilgisayar tabanlı sayısal haberleşme)</a:t>
            </a:r>
            <a:r>
              <a:rPr sz="1300">
                <a:solidFill>
                  <a:srgbClr val="222222"/>
                </a:solidFill>
              </a:rPr>
              <a:t>, ses değil veri gönderir; bu yüzden mikrofona ihtiyaç yoktur — anten, güç kaynağı ve alıcı-verici hâlâ gereklidir.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Genel amatör telsiz sözlüğü.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139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140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Amatör Telsiz Hizmetinin beş amacından iki tanesi aşağıdakilerden hangisidir?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Geçmiş telsiz verilerini korumak ve halkın telsiz geçmişini anlamasına yardımcı olmak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Yabancı ülkelere telsiz haberleşmelerini geliştirmelerinde yardımcı olmak ve yabancı amatör telsizcilerin ziyaretlerini cesaretlendirmek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Telsiz elektronik dizaynını modernize etmek ve şematik çizimleri geliştirmek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d)  Eğitimli telsiz operatörleri ile elektronik uzmanlarının sayısını artırmak ve uluslararası saygınlığı geliştirmek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Amatör telsizciliğin klasik beş amacından ikisi, kendini yetiştirmiş operatör/teknisyen sayısını artırmak ve iyi niyet/uluslararası anlayışı </a:t>
            </a:r>
            <a:r>
              <a:rPr sz="1300" i="1">
                <a:solidFill>
                  <a:srgbClr val="222222"/>
                </a:solidFill>
              </a:rPr>
              <a:t>(goodwill)</a:t>
            </a:r>
            <a:r>
              <a:rPr sz="1300">
                <a:solidFill>
                  <a:srgbClr val="222222"/>
                </a:solidFill>
              </a:rPr>
              <a:t> geliştirmektir.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Amatör Telsiz Hizmetinin amaçları (ITU-RR Md.25 ruhu).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140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141</a:t>
            </a:r>
            <a:r>
              <a:rPr sz="1400">
                <a:solidFill>
                  <a:srgbClr val="D6E4F0"/>
                </a:solidFill>
              </a:rPr>
              <a:t>   ·   Bant Planı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Hangi frekanslar 6 metre bandındadır?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49.00 Mhz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52.525 Mhz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28.50 Mhz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222.15 Mhz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6 metre bandı 50-54 MHz aralığındadır; 52.525 MHz bu aralığın içindedir.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IARU Region-1 amatör bant planı.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141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142</a:t>
            </a:r>
            <a:r>
              <a:rPr sz="1400">
                <a:solidFill>
                  <a:srgbClr val="D6E4F0"/>
                </a:solidFill>
              </a:rPr>
              <a:t>   ·   Q-Kodları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Diğer istasyonlardan parazit aldığınızı belirtmek için kullanılan "Q" sinyali hangisidir?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a)  QRM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QRQ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QTH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QSB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QRM, insan yapımı </a:t>
            </a:r>
            <a:r>
              <a:rPr sz="1300" i="1">
                <a:solidFill>
                  <a:srgbClr val="222222"/>
                </a:solidFill>
              </a:rPr>
              <a:t>(diğer istasyonlardan/cihazlardan kaynaklanan)</a:t>
            </a:r>
            <a:r>
              <a:rPr sz="1300">
                <a:solidFill>
                  <a:srgbClr val="222222"/>
                </a:solidFill>
              </a:rPr>
              <a:t> parazit/girişim anlamına gelir </a:t>
            </a:r>
            <a:r>
              <a:rPr sz="1300" i="1">
                <a:solidFill>
                  <a:srgbClr val="222222"/>
                </a:solidFill>
              </a:rPr>
              <a:t>(QRN doğal — atmosferik — paraziti ifade eder)</a:t>
            </a:r>
            <a:r>
              <a:rPr sz="1300">
                <a:solidFill>
                  <a:srgbClr val="222222"/>
                </a:solidFill>
              </a:rPr>
              <a:t>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ITU Q-kod tablosu (uluslararası standart kısaltılmış telsiz sinyalleri).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142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143</a:t>
            </a:r>
            <a:r>
              <a:rPr sz="1400">
                <a:solidFill>
                  <a:srgbClr val="D6E4F0"/>
                </a:solidFill>
              </a:rPr>
              <a:t>   ·   Bant Planı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3.5 Mhz'de hangi amatör band kullanılır?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15 metre bandı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20 metre bandı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70 metre bandı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d)  80 metre bandı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3.5 MHz, 80 metre bandının içindedir </a:t>
            </a:r>
            <a:r>
              <a:rPr sz="1300" i="1">
                <a:solidFill>
                  <a:srgbClr val="222222"/>
                </a:solidFill>
              </a:rPr>
              <a:t>(3.5-4.0 MHz aralığı)</a:t>
            </a:r>
            <a:r>
              <a:rPr sz="1300">
                <a:solidFill>
                  <a:srgbClr val="222222"/>
                </a:solidFill>
              </a:rPr>
              <a:t>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IARU Region-1 amatör bant planı.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143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144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Aşağıdakilerden hangisi yasaklanmış amatör telsiz yayınıdır?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Acil yardım almak için amatör telsiz kullanmak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İş yürütmek için amatör telsiz kullanmak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Bir taksi veya yiyecek siparişi için amatör bir telefon patch'i kullanmak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Eve geç geleceğinizi bildirmek için amatör bir telefon patch'i kullanmak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Amatör telsiz, ticari/iş amaçlı </a:t>
            </a:r>
            <a:r>
              <a:rPr sz="1300" i="1">
                <a:solidFill>
                  <a:srgbClr val="222222"/>
                </a:solidFill>
              </a:rPr>
              <a:t>(maddi çıkar sağlayan)</a:t>
            </a:r>
            <a:r>
              <a:rPr sz="1300">
                <a:solidFill>
                  <a:srgbClr val="222222"/>
                </a:solidFill>
              </a:rPr>
              <a:t> kullanım için yasaktır; acil durum, kişisel günlük bildirimler </a:t>
            </a:r>
            <a:r>
              <a:rPr sz="1300" i="1">
                <a:solidFill>
                  <a:srgbClr val="222222"/>
                </a:solidFill>
              </a:rPr>
              <a:t>("eve geç kalacağım" gibi kâr amacı gütmeyen mesajlar)</a:t>
            </a:r>
            <a:r>
              <a:rPr sz="1300">
                <a:solidFill>
                  <a:srgbClr val="222222"/>
                </a:solidFill>
              </a:rPr>
              <a:t> ise geleneksel olarak amatör kullanıma uygundur.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Yasaklı ticari kullanım kuralı.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144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145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Amatör istasyonunuzu ne zaman uçakta çalıştırabilirsiniz?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Her zaman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Uçak yalnızca yerde olduğunda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c)  Yalnızca uçağa komuta eden pilotun onayı ile ve uçağın telsiz teçhizatını kullanmadan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Yalnızca hava yollarından yazılı izin aldığınızda ve yalnızca uçağın telsiz teçhizatını kullanarak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Kendi amatör cihazınızı bir uçakta çalıştırmak, ancak uçağın komutanının </a:t>
            </a:r>
            <a:r>
              <a:rPr sz="1300" i="1">
                <a:solidFill>
                  <a:srgbClr val="222222"/>
                </a:solidFill>
              </a:rPr>
              <a:t>(pilotun)</a:t>
            </a:r>
            <a:r>
              <a:rPr sz="1300">
                <a:solidFill>
                  <a:srgbClr val="222222"/>
                </a:solidFill>
              </a:rPr>
              <a:t> onayıyla ve uçağın kendi telsiz/navigasyon sistemlerine karışmayacak şekilde mümkündür.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Genel havacılık güvenliği kuralı.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145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146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Gönderilecek frekansı seçerken, aşağıdakilerden hangisini yapmanız gerekir?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Herhangi bir kişinin dinleyip dinlemediğini öğrenmek için CQ'yu ara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Frekansın meşgul olup olmadığını belirlemek için dinle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İşaretlerinizin duyulmasına olanak sağlayacak bir frekansta gönderim yapın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Maksimum çıkış güç için kontrol yapın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Göndermeden önce her zaman dinlemek gerekir — frekans boş mu diye kontrol etmeden çağrı yapmak, devam eden bir görüşmeye karışma riski taşır.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Genel amatör telsiz işletme adabı.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146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147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Herhangi bir istasyonla temas kurmak için arama yaptığınızı nasıl belli edersiniz?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a)  Sizin çağrı işaretinizi takiben CQ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Sizin çağrı işaretinizi takiben RST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Sizin çağrı işaretinizi takiben QST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Sizin çağrı işaretinizi takiben SK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Standart genel çağrı formatı: kendi çağrı işaretini söyleyip ardından "CQ" eklemektir </a:t>
            </a:r>
            <a:r>
              <a:rPr sz="1300" i="1">
                <a:solidFill>
                  <a:srgbClr val="222222"/>
                </a:solidFill>
              </a:rPr>
              <a:t>(örn. "TA2KA CQ" veya "CQ ... de TA2KA")</a:t>
            </a:r>
            <a:r>
              <a:rPr sz="1300">
                <a:solidFill>
                  <a:srgbClr val="222222"/>
                </a:solidFill>
              </a:rPr>
              <a:t>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Genel amatör telsiz çağrı adabı.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147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148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CQ'nun bir çağrısına cevap verirken neyi göndermelisiniz?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Diğer istasyonun çağrı işaretini takiben kendi CQ'nuzu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Kendi çağrı işaretinizi takiben diğer istasyonunun çağrı işaretini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c)  Diğer istasyonun çağrı işaretini takiben kendi çağrı işaretinizi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Kendi çağrı işaretinizi takiben bir işaret raporu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Bir CQ çağrısına cevap verirken önce aranan istasyonun çağrı işareti söylenir </a:t>
            </a:r>
            <a:r>
              <a:rPr sz="1300" i="1">
                <a:solidFill>
                  <a:srgbClr val="222222"/>
                </a:solidFill>
              </a:rPr>
              <a:t>(kime cevap verildiği belli olsun diye)</a:t>
            </a:r>
            <a:r>
              <a:rPr sz="1300">
                <a:solidFill>
                  <a:srgbClr val="222222"/>
                </a:solidFill>
              </a:rPr>
              <a:t>, ardından kendi çağrı işareti eklenir.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Genel amatör telsiz çağrı adabı.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148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149</a:t>
            </a:r>
            <a:r>
              <a:rPr sz="1400">
                <a:solidFill>
                  <a:srgbClr val="D6E4F0"/>
                </a:solidFill>
              </a:rPr>
              <a:t>   ·   Bant Planı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50.0 – 50.1 Mhz'de sınırlandırılmış bantta hangi yayın modlarına izin verilir?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a)  Yalnızca CW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CW ve RTTY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Yalnızca SSB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CW ve SSB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6 metre bandının en altındaki bu dar segment, dünya çapında CW/zayıf-sinyal çalışmalarına ayrılmıştır.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IARU Region-1 amatör bant planı.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149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150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Frekansı kullanan iki istasyon arasındaki konuşmayı kesmenin uygun yolu aşağıdakilerden hangisidir?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a)  Onların gönderimleri arasında kendi çağrı işaretini söylemek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b)  Bitirmeleri için onları bekleyip sonrasında CQ'yu aramak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Onların gönderimleri arasında "break-break" demek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Konuşmaya müdahale etmesi için operatörlerden birisini telefona çağırmak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Devam eden bir görüşmeye kısa/kibarca müdahale etmenin adabı, tarafların gönderimleri ARASINDAKİ boşlukta kendi çağrı işaretini söylemektir; bu, kimliğinizi belli eder ve konuşmayı kabaca kesmez.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Genel amatör telsiz işletme adabı.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150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Soru 151</a:t>
            </a:r>
            <a:r>
              <a:rPr sz="1400">
                <a:solidFill>
                  <a:srgbClr val="D6E4F0"/>
                </a:solidFill>
              </a:rPr>
              <a:t>   ·   Genel Bilgi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08179" cy="5394960"/>
          </a:xfrm>
          <a:prstGeom prst="rect">
            <a:avLst/>
          </a:prstGeom>
          <a:solidFill>
            <a:srgbClr val="F7F9FB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1400"/>
              </a:spcAft>
            </a:pPr>
            <a:r>
              <a:rPr sz="1700" b="1">
                <a:solidFill>
                  <a:srgbClr val="222222"/>
                </a:solidFill>
              </a:rPr>
              <a:t>PSK ne demektir?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a)  Darbe kaydırmalı anahtarlama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</a:rPr>
              <a:t>b)  Faz kaydırmalı anahtarlama</a:t>
            </a:r>
            <a:r>
              <a:rPr sz="1200" i="1">
                <a:solidFill>
                  <a:srgbClr val="2E7D32"/>
                </a:solidFill>
              </a:rPr>
              <a:t>   ✓ Doğru cevap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c)  Paket kısa anahtarlama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</a:rPr>
              <a:t>d)  Fazlı slayt anahtarlama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699" y="960120"/>
            <a:ext cx="5394796" cy="5394960"/>
          </a:xfrm>
          <a:prstGeom prst="rect">
            <a:avLst/>
          </a:prstGeom>
          <a:solidFill>
            <a:srgbClr val="E2EFDA"/>
          </a:solidFill>
          <a:ln w="9525">
            <a:solidFill>
              <a:srgbClr val="9BC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>
              <a:spcAft>
                <a:spcPts val="900"/>
              </a:spcAft>
            </a:pPr>
            <a:r>
              <a:rPr sz="1400" b="1">
                <a:solidFill>
                  <a:srgbClr val="2E7D32"/>
                </a:solidFill>
              </a:rPr>
              <a:t>AÇIKLAMA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222222"/>
                </a:solidFill>
              </a:rPr>
              <a:t>PSK </a:t>
            </a:r>
            <a:r>
              <a:rPr sz="1300" i="1">
                <a:solidFill>
                  <a:srgbClr val="222222"/>
                </a:solidFill>
              </a:rPr>
              <a:t>(Phase Shift Keying — faz kaydırmalı anahtarlama)</a:t>
            </a:r>
            <a:r>
              <a:rPr sz="1300">
                <a:solidFill>
                  <a:srgbClr val="222222"/>
                </a:solidFill>
              </a:rPr>
              <a:t>, sinyalin fazını değiştirerek sayısal bilgi taşıyan bir modülasyon tekniğidir </a:t>
            </a:r>
            <a:r>
              <a:rPr sz="1300" i="1">
                <a:solidFill>
                  <a:srgbClr val="222222"/>
                </a:solidFill>
              </a:rPr>
              <a:t>(PSK31 gibi popüler dijital modların temelidir)</a:t>
            </a:r>
            <a:r>
              <a:rPr sz="1300">
                <a:solidFill>
                  <a:srgbClr val="222222"/>
                </a:solidFill>
              </a:rPr>
              <a:t>.</a:t>
            </a:r>
          </a:p>
          <a:p>
            <a:r>
              <a:rPr sz="1100" b="1">
                <a:solidFill>
                  <a:srgbClr val="1F3864"/>
                </a:solidFill>
              </a:rPr>
              <a:t>Kaynak: </a:t>
            </a:r>
            <a:r>
              <a:rPr sz="1100" i="1">
                <a:solidFill>
                  <a:srgbClr val="404040"/>
                </a:solidFill>
              </a:rPr>
              <a:t>Sayısal modülasyon teknikleri.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İşletme — Soru 151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151 SORU TAMAMLANDI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D6E4F0"/>
                </a:solidFill>
              </a:rPr>
              <a:t>Başarılar dileriz.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13546</Words>
  <PresentationFormat>Özel</PresentationFormat>
  <Paragraphs>1579</Paragraphs>
  <Slides>165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165</vt:i4>
      </vt:variant>
    </vt:vector>
  </HeadingPairs>
  <TitlesOfParts>
    <vt:vector size="166" baseType="lpstr">
      <vt:lpstr>Office Theme</vt:lpstr>
      <vt:lpstr>Slayt 1</vt:lpstr>
      <vt:lpstr>Slayt 2</vt:lpstr>
      <vt:lpstr>Slayt 3</vt:lpstr>
      <vt:lpstr>Slayt 4</vt:lpstr>
      <vt:lpstr>Slayt 5</vt:lpstr>
      <vt:lpstr>Slayt 6</vt:lpstr>
      <vt:lpstr>Slayt 7</vt:lpstr>
      <vt:lpstr>Slayt 8</vt:lpstr>
      <vt:lpstr>Slayt 9</vt:lpstr>
      <vt:lpstr>Slayt 10</vt:lpstr>
      <vt:lpstr>Slayt 11</vt:lpstr>
      <vt:lpstr>Slayt 12</vt:lpstr>
      <vt:lpstr>Slayt 13</vt:lpstr>
      <vt:lpstr>Slayt 14</vt:lpstr>
      <vt:lpstr>Slayt 15</vt:lpstr>
      <vt:lpstr>Slayt 16</vt:lpstr>
      <vt:lpstr>Slayt 17</vt:lpstr>
      <vt:lpstr>Slayt 18</vt:lpstr>
      <vt:lpstr>Slayt 19</vt:lpstr>
      <vt:lpstr>Slayt 20</vt:lpstr>
      <vt:lpstr>Slayt 21</vt:lpstr>
      <vt:lpstr>Slayt 22</vt:lpstr>
      <vt:lpstr>Slayt 23</vt:lpstr>
      <vt:lpstr>Slayt 24</vt:lpstr>
      <vt:lpstr>Slayt 25</vt:lpstr>
      <vt:lpstr>Slayt 26</vt:lpstr>
      <vt:lpstr>Slayt 27</vt:lpstr>
      <vt:lpstr>Slayt 28</vt:lpstr>
      <vt:lpstr>Slayt 29</vt:lpstr>
      <vt:lpstr>Slayt 30</vt:lpstr>
      <vt:lpstr>Slayt 31</vt:lpstr>
      <vt:lpstr>Slayt 32</vt:lpstr>
      <vt:lpstr>Slayt 33</vt:lpstr>
      <vt:lpstr>Slayt 34</vt:lpstr>
      <vt:lpstr>Slayt 35</vt:lpstr>
      <vt:lpstr>Slayt 36</vt:lpstr>
      <vt:lpstr>Slayt 37</vt:lpstr>
      <vt:lpstr>Slayt 38</vt:lpstr>
      <vt:lpstr>Slayt 39</vt:lpstr>
      <vt:lpstr>Slayt 40</vt:lpstr>
      <vt:lpstr>Slayt 41</vt:lpstr>
      <vt:lpstr>Slayt 42</vt:lpstr>
      <vt:lpstr>Slayt 43</vt:lpstr>
      <vt:lpstr>Slayt 44</vt:lpstr>
      <vt:lpstr>Slayt 45</vt:lpstr>
      <vt:lpstr>Slayt 46</vt:lpstr>
      <vt:lpstr>Slayt 47</vt:lpstr>
      <vt:lpstr>Slayt 48</vt:lpstr>
      <vt:lpstr>Slayt 49</vt:lpstr>
      <vt:lpstr>Slayt 50</vt:lpstr>
      <vt:lpstr>Slayt 51</vt:lpstr>
      <vt:lpstr>Slayt 52</vt:lpstr>
      <vt:lpstr>Slayt 53</vt:lpstr>
      <vt:lpstr>Slayt 54</vt:lpstr>
      <vt:lpstr>Slayt 55</vt:lpstr>
      <vt:lpstr>Slayt 56</vt:lpstr>
      <vt:lpstr>Slayt 57</vt:lpstr>
      <vt:lpstr>Slayt 58</vt:lpstr>
      <vt:lpstr>Slayt 59</vt:lpstr>
      <vt:lpstr>Slayt 60</vt:lpstr>
      <vt:lpstr>Slayt 61</vt:lpstr>
      <vt:lpstr>Slayt 62</vt:lpstr>
      <vt:lpstr>Slayt 63</vt:lpstr>
      <vt:lpstr>Slayt 64</vt:lpstr>
      <vt:lpstr>Slayt 65</vt:lpstr>
      <vt:lpstr>Slayt 66</vt:lpstr>
      <vt:lpstr>Slayt 67</vt:lpstr>
      <vt:lpstr>Slayt 68</vt:lpstr>
      <vt:lpstr>Slayt 69</vt:lpstr>
      <vt:lpstr>Slayt 70</vt:lpstr>
      <vt:lpstr>Slayt 71</vt:lpstr>
      <vt:lpstr>Slayt 72</vt:lpstr>
      <vt:lpstr>Slayt 73</vt:lpstr>
      <vt:lpstr>Slayt 74</vt:lpstr>
      <vt:lpstr>Slayt 75</vt:lpstr>
      <vt:lpstr>Slayt 76</vt:lpstr>
      <vt:lpstr>Slayt 77</vt:lpstr>
      <vt:lpstr>Slayt 78</vt:lpstr>
      <vt:lpstr>Slayt 79</vt:lpstr>
      <vt:lpstr>Slayt 80</vt:lpstr>
      <vt:lpstr>Slayt 81</vt:lpstr>
      <vt:lpstr>Slayt 82</vt:lpstr>
      <vt:lpstr>Slayt 83</vt:lpstr>
      <vt:lpstr>Slayt 84</vt:lpstr>
      <vt:lpstr>Slayt 85</vt:lpstr>
      <vt:lpstr>Slayt 86</vt:lpstr>
      <vt:lpstr>Slayt 87</vt:lpstr>
      <vt:lpstr>Slayt 88</vt:lpstr>
      <vt:lpstr>Slayt 89</vt:lpstr>
      <vt:lpstr>Slayt 90</vt:lpstr>
      <vt:lpstr>Slayt 91</vt:lpstr>
      <vt:lpstr>Slayt 92</vt:lpstr>
      <vt:lpstr>Slayt 93</vt:lpstr>
      <vt:lpstr>Slayt 94</vt:lpstr>
      <vt:lpstr>Slayt 95</vt:lpstr>
      <vt:lpstr>Slayt 96</vt:lpstr>
      <vt:lpstr>Slayt 97</vt:lpstr>
      <vt:lpstr>Slayt 98</vt:lpstr>
      <vt:lpstr>Slayt 99</vt:lpstr>
      <vt:lpstr>Slayt 100</vt:lpstr>
      <vt:lpstr>Slayt 101</vt:lpstr>
      <vt:lpstr>Slayt 102</vt:lpstr>
      <vt:lpstr>Slayt 103</vt:lpstr>
      <vt:lpstr>Slayt 104</vt:lpstr>
      <vt:lpstr>Slayt 105</vt:lpstr>
      <vt:lpstr>Slayt 106</vt:lpstr>
      <vt:lpstr>Slayt 107</vt:lpstr>
      <vt:lpstr>Slayt 108</vt:lpstr>
      <vt:lpstr>Slayt 109</vt:lpstr>
      <vt:lpstr>Slayt 110</vt:lpstr>
      <vt:lpstr>Slayt 111</vt:lpstr>
      <vt:lpstr>Slayt 112</vt:lpstr>
      <vt:lpstr>Slayt 113</vt:lpstr>
      <vt:lpstr>Slayt 114</vt:lpstr>
      <vt:lpstr>Slayt 115</vt:lpstr>
      <vt:lpstr>Slayt 116</vt:lpstr>
      <vt:lpstr>Slayt 117</vt:lpstr>
      <vt:lpstr>Slayt 118</vt:lpstr>
      <vt:lpstr>Slayt 119</vt:lpstr>
      <vt:lpstr>Slayt 120</vt:lpstr>
      <vt:lpstr>Slayt 121</vt:lpstr>
      <vt:lpstr>Slayt 122</vt:lpstr>
      <vt:lpstr>Slayt 123</vt:lpstr>
      <vt:lpstr>Slayt 124</vt:lpstr>
      <vt:lpstr>Slayt 125</vt:lpstr>
      <vt:lpstr>Slayt 126</vt:lpstr>
      <vt:lpstr>Slayt 127</vt:lpstr>
      <vt:lpstr>Slayt 128</vt:lpstr>
      <vt:lpstr>Slayt 129</vt:lpstr>
      <vt:lpstr>Slayt 130</vt:lpstr>
      <vt:lpstr>Slayt 131</vt:lpstr>
      <vt:lpstr>Slayt 132</vt:lpstr>
      <vt:lpstr>Slayt 133</vt:lpstr>
      <vt:lpstr>Slayt 134</vt:lpstr>
      <vt:lpstr>Slayt 135</vt:lpstr>
      <vt:lpstr>Slayt 136</vt:lpstr>
      <vt:lpstr>Slayt 137</vt:lpstr>
      <vt:lpstr>Slayt 138</vt:lpstr>
      <vt:lpstr>Slayt 139</vt:lpstr>
      <vt:lpstr>Slayt 140</vt:lpstr>
      <vt:lpstr>Slayt 141</vt:lpstr>
      <vt:lpstr>Slayt 142</vt:lpstr>
      <vt:lpstr>Slayt 143</vt:lpstr>
      <vt:lpstr>Slayt 144</vt:lpstr>
      <vt:lpstr>Slayt 145</vt:lpstr>
      <vt:lpstr>Slayt 146</vt:lpstr>
      <vt:lpstr>Slayt 147</vt:lpstr>
      <vt:lpstr>Slayt 148</vt:lpstr>
      <vt:lpstr>Slayt 149</vt:lpstr>
      <vt:lpstr>Slayt 150</vt:lpstr>
      <vt:lpstr>Slayt 151</vt:lpstr>
      <vt:lpstr>Slayt 152</vt:lpstr>
      <vt:lpstr>Slayt 153</vt:lpstr>
      <vt:lpstr>Slayt 154</vt:lpstr>
      <vt:lpstr>Slayt 155</vt:lpstr>
      <vt:lpstr>Slayt 156</vt:lpstr>
      <vt:lpstr>Slayt 157</vt:lpstr>
      <vt:lpstr>Slayt 158</vt:lpstr>
      <vt:lpstr>Slayt 159</vt:lpstr>
      <vt:lpstr>Slayt 160</vt:lpstr>
      <vt:lpstr>Slayt 161</vt:lpstr>
      <vt:lpstr>Slayt 162</vt:lpstr>
      <vt:lpstr>Slayt 163</vt:lpstr>
      <vt:lpstr>Slayt 164</vt:lpstr>
      <vt:lpstr>Slayt 165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subject/>
  <dc:creator/>
  <cp:keywords/>
  <dcterms:created xsi:type="dcterms:W3CDTF">2013-01-27T09:14:16Z</dcterms:created>
  <dcterms:modified xsi:type="dcterms:W3CDTF">2026-07-26T16:09:33Z</dcterms:modified>
  <cp:category/>
</cp:coreProperties>
</file>