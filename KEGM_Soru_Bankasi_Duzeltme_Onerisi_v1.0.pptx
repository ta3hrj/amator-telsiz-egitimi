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AMATÖR TELSİZCİLİK SINAV SORU BANKALARINDA
TESPİT EDİLEN HATALAR — DÜZELTME ÖNERİSİ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6E4F0"/>
                </a:solidFill>
              </a:rPr>
              <a:t>A-B Sınıfı İşletme ve Teknik Soru Bankaları — 4 Bulgu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Kıyı Emniyeti Genel Müdürlüğü — Telsiz İşletme Müdürlüğü'ne sunulmak üzere hazırlanmıştır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6E4F0"/>
                </a:solidFill>
              </a:rPr>
              <a:t>Hazırlayan: Amatör telsiz camiası — gönüllü katkı  ·  26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AMAÇ VE YÖNTEM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0">
                <a:solidFill>
                  <a:srgbClr val="222222"/>
                </a:solidFill>
              </a:rPr>
              <a:t>•  Bu belge, KEGM'nin A-B sınıfı Amatör Telsizcilik sınav hazırlığı için kullanılan İşletme </a:t>
            </a:r>
            <a:r>
              <a:rPr sz="1600" b="0" i="1">
                <a:solidFill>
                  <a:srgbClr val="222222"/>
                </a:solidFill>
              </a:rPr>
              <a:t>(151 soru)</a:t>
            </a:r>
            <a:r>
              <a:rPr sz="1600" b="0">
                <a:solidFill>
                  <a:srgbClr val="222222"/>
                </a:solidFill>
              </a:rPr>
              <a:t> ve Teknik </a:t>
            </a:r>
            <a:r>
              <a:rPr sz="1600" b="0" i="1">
                <a:solidFill>
                  <a:srgbClr val="222222"/>
                </a:solidFill>
              </a:rPr>
              <a:t>(172 soru)</a:t>
            </a:r>
            <a:r>
              <a:rPr sz="1600" b="0">
                <a:solidFill>
                  <a:srgbClr val="222222"/>
                </a:solidFill>
              </a:rPr>
              <a:t> soru bankalarının, resmî cevap anahtarlarıyla programatik olarak </a:t>
            </a:r>
            <a:r>
              <a:rPr sz="1600" b="0" i="1">
                <a:solidFill>
                  <a:srgbClr val="222222"/>
                </a:solidFill>
              </a:rPr>
              <a:t>(elle değil)</a:t>
            </a:r>
            <a:r>
              <a:rPr sz="1600" b="0">
                <a:solidFill>
                  <a:srgbClr val="222222"/>
                </a:solidFill>
              </a:rPr>
              <a:t> çapraz doğrulanması sırasında tespit edilen 4 bulguyu içerir.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222222"/>
                </a:solidFill>
              </a:rPr>
              <a:t>•  Doğrulama yöntemi: her soru bankasının sonundaki resmî cevap anahtarı tablosu, PDF metninden otomatik olarak ayrıştırılmış; hesaba dayalı sorular </a:t>
            </a:r>
            <a:r>
              <a:rPr sz="1600" b="0" i="1">
                <a:solidFill>
                  <a:srgbClr val="222222"/>
                </a:solidFill>
              </a:rPr>
              <a:t>(Ohm Kanunu, rezonans, RMS-tepe dönüşümü vb.)</a:t>
            </a:r>
            <a:r>
              <a:rPr sz="1600" b="0">
                <a:solidFill>
                  <a:srgbClr val="222222"/>
                </a:solidFill>
              </a:rPr>
              <a:t> bağımsız olarak yeniden hesaplanarak resmî anahtarla karşılaştırılmıştır.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222222"/>
                </a:solidFill>
              </a:rPr>
              <a:t>•  172 + 151 = 323 sorunun büyük çoğunluğunda </a:t>
            </a:r>
            <a:r>
              <a:rPr sz="1600" b="0" i="1">
                <a:solidFill>
                  <a:srgbClr val="222222"/>
                </a:solidFill>
              </a:rPr>
              <a:t>(319/323)</a:t>
            </a:r>
            <a:r>
              <a:rPr sz="1600" b="0">
                <a:solidFill>
                  <a:srgbClr val="222222"/>
                </a:solidFill>
              </a:rPr>
              <a:t> resmî cevap anahtarı ile bağımsız hesap/analiz tam olarak örtüşmüştür — bu, soru bankalarının genel güvenilirliğini teyit eder. Aşağıda sunulan 4 bulgu, bu geniş örtüşmenin istisnasıdır.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222222"/>
                </a:solidFill>
              </a:rPr>
              <a:t>•  Amacımız, gelecekte bu sorularla sınava girecek adayların yanlış bilgiyle karşılaşmamasını sağlamak ve soru bankasının kalitesine katkıda bulunmaktır.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KEGM Düzeltme Önerisi — Amaç ve Yöntem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BULGULARIN ÖZETİ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241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4754880"/>
                <a:gridCol w="1463040"/>
                <a:gridCol w="1463040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Soru</a:t>
                      </a:r>
                    </a:p>
                    <a:p>
                      <a:r>
                        <a:t>Bankası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Soru</a:t>
                      </a:r>
                    </a:p>
                    <a:p>
                      <a:r>
                        <a:t>No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Konu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Resmî</a:t>
                      </a:r>
                    </a:p>
                    <a:p>
                      <a:r>
                        <a:t>Cevap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Önerilen</a:t>
                      </a:r>
                    </a:p>
                    <a:p>
                      <a:r>
                        <a:t>Cevap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İşletme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CQ çağrısı — mod zorunluluğu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(b)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7D32"/>
                          </a:solidFill>
                        </a:defRPr>
                      </a:pPr>
                      <a:r>
                        <a:t>(d)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Teknik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RMS → tepeden tepeye değer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7D32"/>
                          </a:solidFill>
                        </a:defRPr>
                      </a:pPr>
                      <a:r>
                        <a:t>(c)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Teknik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LC rezonans frekansı hesabı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(b)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7D32"/>
                          </a:solidFill>
                        </a:defRPr>
                      </a:pPr>
                      <a:r>
                        <a:t>(c) *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Teknik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Dipol anten kısalma sebebi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7D32"/>
                          </a:solidFill>
                        </a:defRPr>
                      </a:pPr>
                      <a:r>
                        <a:t>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43484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1">
                <a:solidFill>
                  <a:srgbClr val="595959"/>
                </a:solidFill>
              </a:rPr>
              <a:t>(*)</a:t>
            </a:r>
            <a:r>
              <a:rPr sz="1300" b="0">
                <a:solidFill>
                  <a:srgbClr val="595959"/>
                </a:solidFill>
              </a:rPr>
              <a:t> Soru 46 ve 66'da iki olası düzeltme yolu vardır — soru metni/değerleri mi, yoksa cevap anahtarı mı düzeltilmeli; ayrıntı ilgili slaytlarda sunulmuştur.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Aşağıdaki slaytlarda her bulgu; orijinal soru, resmî işaretli cevap, bağımsız gerekçe/hesap ve önerilen düzeltme ile ayrıntılı sunulmuştur.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KEGM Düzeltme Önerisi — Bulguların Özeti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BULGU 1</a:t>
            </a:r>
            <a:r>
              <a:rPr sz="1500">
                <a:solidFill>
                  <a:srgbClr val="D6E4F0"/>
                </a:solidFill>
              </a:rPr>
              <a:t>   ·   İşletme Soru Bankası, Soru 43 — CQ Çağrısı — Mod Zorunluluğu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364345" cy="544068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164592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ORİJİNAL SORU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22222"/>
                </a:solidFill>
              </a:rPr>
              <a:t>CQ Çağrısı yapılırken aşağıdakilerden hangisi uygulanır?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a)  </a:t>
            </a:r>
            <a:r>
              <a:rPr sz="1350">
                <a:solidFill>
                  <a:srgbClr val="222222"/>
                </a:solidFill>
              </a:rPr>
              <a:t>Zayıf bir istasyonun çalıştığı frekansta çağrı yapmak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A92B2B"/>
                </a:solidFill>
              </a:rPr>
              <a:t>b)  </a:t>
            </a:r>
            <a:r>
              <a:rPr sz="1350" b="1">
                <a:solidFill>
                  <a:srgbClr val="A92B2B"/>
                </a:solidFill>
              </a:rPr>
              <a:t>Daima CW kullanmak</a:t>
            </a:r>
            <a:r>
              <a:rPr sz="1150" i="1">
                <a:solidFill>
                  <a:srgbClr val="A92B2B"/>
                </a:solidFill>
              </a:rPr>
              <a:t>   ← Resmî cevap anahtarı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c)  </a:t>
            </a:r>
            <a:r>
              <a:rPr sz="1350">
                <a:solidFill>
                  <a:srgbClr val="222222"/>
                </a:solidFill>
              </a:rPr>
              <a:t>Sadece uzak istasyonlara çağrı yapmak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d)  </a:t>
            </a:r>
            <a:r>
              <a:rPr sz="1350">
                <a:solidFill>
                  <a:srgbClr val="222222"/>
                </a:solidFill>
              </a:rPr>
              <a:t>Çağrıya başlamadan önce frekansın boş olup olmadığını kontrol etmek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0145" y="960120"/>
            <a:ext cx="5684350" cy="544068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164592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GEREKÇE / KANIT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CQ </a:t>
            </a:r>
            <a:r>
              <a:rPr sz="1300" b="0" i="1">
                <a:solidFill>
                  <a:srgbClr val="222222"/>
                </a:solidFill>
              </a:rPr>
              <a:t>(genel çağrı)</a:t>
            </a:r>
            <a:r>
              <a:rPr sz="1300" b="0">
                <a:solidFill>
                  <a:srgbClr val="222222"/>
                </a:solidFill>
              </a:rPr>
              <a:t>, amatör telsizcilikte CW, SSB </a:t>
            </a:r>
            <a:r>
              <a:rPr sz="1300" b="0" i="1">
                <a:solidFill>
                  <a:srgbClr val="222222"/>
                </a:solidFill>
              </a:rPr>
              <a:t>(ses)</a:t>
            </a:r>
            <a:r>
              <a:rPr sz="1300" b="0">
                <a:solidFill>
                  <a:srgbClr val="222222"/>
                </a:solidFill>
              </a:rPr>
              <a:t> veya dijital modların herhangi biriyle yapılabilir; hiçbir uluslararası veya ulusal düzenlemede CQ çağrısının yalnızca CW ile yapılması gibi bir zorunluluk yoktur. Buna karşın, herhangi bir frekansta çağrı yapmadan önce o frekansın boş </a:t>
            </a:r>
            <a:r>
              <a:rPr sz="1300" b="0" i="1">
                <a:solidFill>
                  <a:srgbClr val="222222"/>
                </a:solidFill>
              </a:rPr>
              <a:t>(kullanımda olmadığı)</a:t>
            </a:r>
            <a:r>
              <a:rPr sz="1300" b="0">
                <a:solidFill>
                  <a:srgbClr val="222222"/>
                </a:solidFill>
              </a:rPr>
              <a:t> olduğundan emin olunması, evrensel kabul görmüş ve tartışmasız bir işletme adabı kuralıdır.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05000"/>
                </a:solidFill>
              </a:rPr>
              <a:t>ÖNERİLEN DÜZELTME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Cevap anahtarının </a:t>
            </a:r>
            <a:r>
              <a:rPr sz="1300" b="0" i="1">
                <a:solidFill>
                  <a:srgbClr val="222222"/>
                </a:solidFill>
              </a:rPr>
              <a:t>(d)</a:t>
            </a:r>
            <a:r>
              <a:rPr sz="1300" b="0">
                <a:solidFill>
                  <a:srgbClr val="222222"/>
                </a:solidFill>
              </a:rPr>
              <a:t> "Çağrıya başlamadan önce frekansın boş olup olmadığını kontrol etmek" olarak güncellenmesini öneririz.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KEGM Düzeltme Önerisi — Bulgu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BULGU 2</a:t>
            </a:r>
            <a:r>
              <a:rPr sz="1500">
                <a:solidFill>
                  <a:srgbClr val="D6E4F0"/>
                </a:solidFill>
              </a:rPr>
              <a:t>   ·   Teknik Soru Bankası, Soru 46 — RMS → Tepeden Tepeye Değer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364345" cy="544068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164592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ORİJİNAL SORU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22222"/>
                </a:solidFill>
              </a:rPr>
              <a:t>Sinüs şeklinde bir dalganın efektif (RMS) değeri 12 volttur. Tepeden tepeye değeri aşağıdakilerden hangisidir?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A92B2B"/>
                </a:solidFill>
              </a:rPr>
              <a:t>a)  </a:t>
            </a:r>
            <a:r>
              <a:rPr sz="1350" b="1">
                <a:solidFill>
                  <a:srgbClr val="A92B2B"/>
                </a:solidFill>
              </a:rPr>
              <a:t>16.97 V</a:t>
            </a:r>
            <a:r>
              <a:rPr sz="1150" i="1">
                <a:solidFill>
                  <a:srgbClr val="A92B2B"/>
                </a:solidFill>
              </a:rPr>
              <a:t>   ← Resmî cevap anahtarı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b)  </a:t>
            </a:r>
            <a:r>
              <a:rPr sz="1350">
                <a:solidFill>
                  <a:srgbClr val="222222"/>
                </a:solidFill>
              </a:rPr>
              <a:t>24 V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c)  </a:t>
            </a:r>
            <a:r>
              <a:rPr sz="1350">
                <a:solidFill>
                  <a:srgbClr val="222222"/>
                </a:solidFill>
              </a:rPr>
              <a:t>33.9 V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d)  </a:t>
            </a:r>
            <a:r>
              <a:rPr sz="1350">
                <a:solidFill>
                  <a:srgbClr val="222222"/>
                </a:solidFill>
              </a:rPr>
              <a:t>36.4 V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0145" y="960120"/>
            <a:ext cx="5684350" cy="544068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164592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GEREKÇE / KANIT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Standart formüle göre tepe </a:t>
            </a:r>
            <a:r>
              <a:rPr sz="1300" b="0" i="1">
                <a:solidFill>
                  <a:srgbClr val="222222"/>
                </a:solidFill>
              </a:rPr>
              <a:t>(peak)</a:t>
            </a:r>
            <a:r>
              <a:rPr sz="1300" b="0">
                <a:solidFill>
                  <a:srgbClr val="222222"/>
                </a:solidFill>
              </a:rPr>
              <a:t> değer = RMS×√2 = 12×1.4142 ≈ 16.97 V'tur — bu, resmî anahtarın işaretlediği </a:t>
            </a:r>
            <a:r>
              <a:rPr sz="1300" b="0" i="1">
                <a:solidFill>
                  <a:srgbClr val="222222"/>
                </a:solidFill>
              </a:rPr>
              <a:t>(a)</a:t>
            </a:r>
            <a:r>
              <a:rPr sz="1300" b="0">
                <a:solidFill>
                  <a:srgbClr val="222222"/>
                </a:solidFill>
              </a:rPr>
              <a:t> şıkkına karşılık gelir, ancak bu TEPE değeridir. Soru açıkça "tepeden tepeye" </a:t>
            </a:r>
            <a:r>
              <a:rPr sz="1300" b="0" i="1">
                <a:solidFill>
                  <a:srgbClr val="222222"/>
                </a:solidFill>
              </a:rPr>
              <a:t>(peak-to-peak)</a:t>
            </a:r>
            <a:r>
              <a:rPr sz="1300" b="0">
                <a:solidFill>
                  <a:srgbClr val="222222"/>
                </a:solidFill>
              </a:rPr>
              <a:t> değeri sormaktadır; bu değer tepe değerin iki katıdır: 2×16.97 ≈ 33.9 V, yani şık </a:t>
            </a:r>
            <a:r>
              <a:rPr sz="1300" b="0" i="1">
                <a:solidFill>
                  <a:srgbClr val="222222"/>
                </a:solidFill>
              </a:rPr>
              <a:t>(c)</a:t>
            </a:r>
            <a:r>
              <a:rPr sz="1300" b="0">
                <a:solidFill>
                  <a:srgbClr val="222222"/>
                </a:solidFill>
              </a:rPr>
              <a:t>. "Tepe" ve "tepeden tepeye" kavramları farklı büyüklüklerdir ve sınav sorularında sık karıştırılan bir noktadır.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05000"/>
                </a:solidFill>
              </a:rPr>
              <a:t>ÖNERİLEN DÜZELTME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İki düzeltme yolundan biri uygulanabilir: </a:t>
            </a:r>
            <a:r>
              <a:rPr sz="1300" b="0" i="1">
                <a:solidFill>
                  <a:srgbClr val="222222"/>
                </a:solidFill>
              </a:rPr>
              <a:t>(i)</a:t>
            </a:r>
            <a:r>
              <a:rPr sz="1300" b="0">
                <a:solidFill>
                  <a:srgbClr val="222222"/>
                </a:solidFill>
              </a:rPr>
              <a:t> soru metni "tepe değeri" olarak değiştirilirse mevcut cevap anahtarı </a:t>
            </a:r>
            <a:r>
              <a:rPr sz="1300" b="0" i="1">
                <a:solidFill>
                  <a:srgbClr val="222222"/>
                </a:solidFill>
              </a:rPr>
              <a:t>(a)</a:t>
            </a:r>
            <a:r>
              <a:rPr sz="1300" b="0">
                <a:solidFill>
                  <a:srgbClr val="222222"/>
                </a:solidFill>
              </a:rPr>
              <a:t> doğru kalır; </a:t>
            </a:r>
            <a:r>
              <a:rPr sz="1300" b="0" i="1">
                <a:solidFill>
                  <a:srgbClr val="222222"/>
                </a:solidFill>
              </a:rPr>
              <a:t>(ii)</a:t>
            </a:r>
            <a:r>
              <a:rPr sz="1300" b="0">
                <a:solidFill>
                  <a:srgbClr val="222222"/>
                </a:solidFill>
              </a:rPr>
              <a:t> soru metni "tepeden tepeye" olarak korunursa cevap anahtarının </a:t>
            </a:r>
            <a:r>
              <a:rPr sz="1300" b="0" i="1">
                <a:solidFill>
                  <a:srgbClr val="222222"/>
                </a:solidFill>
              </a:rPr>
              <a:t>(c)</a:t>
            </a:r>
            <a:r>
              <a:rPr sz="1300" b="0">
                <a:solidFill>
                  <a:srgbClr val="222222"/>
                </a:solidFill>
              </a:rPr>
              <a:t> olarak güncellenmesi gerekir.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KEGM Düzeltme Önerisi — Bulgu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BULGU 3</a:t>
            </a:r>
            <a:r>
              <a:rPr sz="1500">
                <a:solidFill>
                  <a:srgbClr val="D6E4F0"/>
                </a:solidFill>
              </a:rPr>
              <a:t>   ·   Teknik Soru Bankası, Soru 66 — LC Rezonans Frekansı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364345" cy="544068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164592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ORİJİNAL SORU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22222"/>
                </a:solidFill>
              </a:rPr>
              <a:t>1 mH'lik bir bobin, 1 µF'lık bir kondansatör ile paralel bağlanmıştır. Devrenin rezonans frekansı nedir?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a)  </a:t>
            </a:r>
            <a:r>
              <a:rPr sz="1350">
                <a:solidFill>
                  <a:srgbClr val="222222"/>
                </a:solidFill>
              </a:rPr>
              <a:t>0.5033 Khz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A92B2B"/>
                </a:solidFill>
              </a:rPr>
              <a:t>b)  </a:t>
            </a:r>
            <a:r>
              <a:rPr sz="1350" b="1">
                <a:solidFill>
                  <a:srgbClr val="A92B2B"/>
                </a:solidFill>
              </a:rPr>
              <a:t>0.5033 Mhz</a:t>
            </a:r>
            <a:r>
              <a:rPr sz="1150" i="1">
                <a:solidFill>
                  <a:srgbClr val="A92B2B"/>
                </a:solidFill>
              </a:rPr>
              <a:t>   ← Resmî cevap anahtarı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c)  </a:t>
            </a:r>
            <a:r>
              <a:rPr sz="1350">
                <a:solidFill>
                  <a:srgbClr val="222222"/>
                </a:solidFill>
              </a:rPr>
              <a:t>5.033 Khz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d)  </a:t>
            </a:r>
            <a:r>
              <a:rPr sz="1350">
                <a:solidFill>
                  <a:srgbClr val="222222"/>
                </a:solidFill>
              </a:rPr>
              <a:t>5.033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0145" y="960120"/>
            <a:ext cx="5684350" cy="544068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164592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GEREKÇE / KANIT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Standart rezonans formülü f=1/</a:t>
            </a:r>
            <a:r>
              <a:rPr sz="1300" b="0" i="1">
                <a:solidFill>
                  <a:srgbClr val="222222"/>
                </a:solidFill>
              </a:rPr>
              <a:t>(2π√(LC)</a:t>
            </a:r>
            <a:r>
              <a:rPr sz="1300" b="0">
                <a:solidFill>
                  <a:srgbClr val="222222"/>
                </a:solidFill>
              </a:rPr>
              <a:t>) uygulandığında: L=1×10⁻³H, C=1×10⁻⁶F için LC=1×10⁻⁹, √</a:t>
            </a:r>
            <a:r>
              <a:rPr sz="1300" b="0" i="1">
                <a:solidFill>
                  <a:srgbClr val="222222"/>
                </a:solidFill>
              </a:rPr>
              <a:t>(LC)</a:t>
            </a:r>
            <a:r>
              <a:rPr sz="1300" b="0">
                <a:solidFill>
                  <a:srgbClr val="222222"/>
                </a:solidFill>
              </a:rPr>
              <a:t>=3.162×10⁻⁵, f=1/</a:t>
            </a:r>
            <a:r>
              <a:rPr sz="1300" b="0" i="1">
                <a:solidFill>
                  <a:srgbClr val="222222"/>
                </a:solidFill>
              </a:rPr>
              <a:t>(2π×3.162×10⁻⁵)</a:t>
            </a:r>
            <a:r>
              <a:rPr sz="1300" b="0">
                <a:solidFill>
                  <a:srgbClr val="222222"/>
                </a:solidFill>
              </a:rPr>
              <a:t>≈5033 Hz = 5.033 kHz </a:t>
            </a:r>
            <a:r>
              <a:rPr sz="1300" b="0" i="1">
                <a:solidFill>
                  <a:srgbClr val="222222"/>
                </a:solidFill>
              </a:rPr>
              <a:t>(şık c)</a:t>
            </a:r>
            <a:r>
              <a:rPr sz="1300" b="0">
                <a:solidFill>
                  <a:srgbClr val="222222"/>
                </a:solidFill>
              </a:rPr>
              <a:t> çıkmaktadır — bu, matematiksel olarak kesin bir sonuçtur. Resmî anahtarın işaretlediği </a:t>
            </a:r>
            <a:r>
              <a:rPr sz="1300" b="0" i="1">
                <a:solidFill>
                  <a:srgbClr val="222222"/>
                </a:solidFill>
              </a:rPr>
              <a:t>(b)</a:t>
            </a:r>
            <a:r>
              <a:rPr sz="1300" b="0">
                <a:solidFill>
                  <a:srgbClr val="222222"/>
                </a:solidFill>
              </a:rPr>
              <a:t> 0.5033 MHz değerine ancak kondansatör değeri 1 µF değil ~100 pF olsaydı ulaşılabilirdi; bu durum sorunun kaynağında olası bir değer yazım hatasına işaret etmektedir.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05000"/>
                </a:solidFill>
              </a:rPr>
              <a:t>ÖNERİLEN DÜZELTME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İki düzeltme yolundan biri uygulanabilir: </a:t>
            </a:r>
            <a:r>
              <a:rPr sz="1300" b="0" i="1">
                <a:solidFill>
                  <a:srgbClr val="222222"/>
                </a:solidFill>
              </a:rPr>
              <a:t>(i)</a:t>
            </a:r>
            <a:r>
              <a:rPr sz="1300" b="0">
                <a:solidFill>
                  <a:srgbClr val="222222"/>
                </a:solidFill>
              </a:rPr>
              <a:t> soru metnindeki kondansatör değeri "1 µF" yerine "100 pF" olarak düzeltilirse mevcut cevap anahtarı </a:t>
            </a:r>
            <a:r>
              <a:rPr sz="1300" b="0" i="1">
                <a:solidFill>
                  <a:srgbClr val="222222"/>
                </a:solidFill>
              </a:rPr>
              <a:t>(b)</a:t>
            </a:r>
            <a:r>
              <a:rPr sz="1300" b="0">
                <a:solidFill>
                  <a:srgbClr val="222222"/>
                </a:solidFill>
              </a:rPr>
              <a:t> doğru olur; </a:t>
            </a:r>
            <a:r>
              <a:rPr sz="1300" b="0" i="1">
                <a:solidFill>
                  <a:srgbClr val="222222"/>
                </a:solidFill>
              </a:rPr>
              <a:t>(ii)</a:t>
            </a:r>
            <a:r>
              <a:rPr sz="1300" b="0">
                <a:solidFill>
                  <a:srgbClr val="222222"/>
                </a:solidFill>
              </a:rPr>
              <a:t> verilen değerler </a:t>
            </a:r>
            <a:r>
              <a:rPr sz="1300" b="0" i="1">
                <a:solidFill>
                  <a:srgbClr val="222222"/>
                </a:solidFill>
              </a:rPr>
              <a:t>(1 mH, 1 µF)</a:t>
            </a:r>
            <a:r>
              <a:rPr sz="1300" b="0">
                <a:solidFill>
                  <a:srgbClr val="222222"/>
                </a:solidFill>
              </a:rPr>
              <a:t> korunursa cevap anahtarının </a:t>
            </a:r>
            <a:r>
              <a:rPr sz="1300" b="0" i="1">
                <a:solidFill>
                  <a:srgbClr val="222222"/>
                </a:solidFill>
              </a:rPr>
              <a:t>(c)</a:t>
            </a:r>
            <a:r>
              <a:rPr sz="1300" b="0">
                <a:solidFill>
                  <a:srgbClr val="222222"/>
                </a:solidFill>
              </a:rPr>
              <a:t> 5.033 kHz olarak güncellenmesi gerekir.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KEGM Düzeltme Önerisi — Bulgu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BULGU 4</a:t>
            </a:r>
            <a:r>
              <a:rPr sz="1500">
                <a:solidFill>
                  <a:srgbClr val="D6E4F0"/>
                </a:solidFill>
              </a:rPr>
              <a:t>   ·   Teknik Soru Bankası, Soru 120 — Dipol Anten Kısalma Sebebi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364345" cy="544068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164592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ORİJİNAL SORU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22222"/>
                </a:solidFill>
              </a:rPr>
              <a:t>λ/2 dipol antenin fiziksel boyu, hesaplanan elektriksel dalga boyundan yaklaşık %5 daha küçüktür. Bunun sebebi aşağıdakilerden hangisidir?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a)  </a:t>
            </a:r>
            <a:r>
              <a:rPr sz="1350">
                <a:solidFill>
                  <a:srgbClr val="222222"/>
                </a:solidFill>
              </a:rPr>
              <a:t>Uzayı yüksek dielektrik sabitindendir.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A92B2B"/>
                </a:solidFill>
              </a:rPr>
              <a:t>b)  </a:t>
            </a:r>
            <a:r>
              <a:rPr sz="1350" b="1">
                <a:solidFill>
                  <a:srgbClr val="A92B2B"/>
                </a:solidFill>
              </a:rPr>
              <a:t>Antenin empedansının rezistif olması içindir.</a:t>
            </a:r>
            <a:r>
              <a:rPr sz="1150" i="1">
                <a:solidFill>
                  <a:srgbClr val="A92B2B"/>
                </a:solidFill>
              </a:rPr>
              <a:t>   ← Resmî cevap anahtarı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c)  </a:t>
            </a:r>
            <a:r>
              <a:rPr sz="1350">
                <a:solidFill>
                  <a:srgbClr val="222222"/>
                </a:solidFill>
              </a:rPr>
              <a:t>Atmosferin oksijen içermesindendir.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d)  </a:t>
            </a:r>
            <a:r>
              <a:rPr sz="1350">
                <a:solidFill>
                  <a:srgbClr val="222222"/>
                </a:solidFill>
              </a:rPr>
              <a:t>Hattaki yayınım hızı uzaydaki yayınım hızından düşüktür.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0145" y="960120"/>
            <a:ext cx="5684350" cy="544068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164592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GEREKÇE / KANIT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Antenin rezonans noktasında empedansının rezistif </a:t>
            </a:r>
            <a:r>
              <a:rPr sz="1300" b="0" i="1">
                <a:solidFill>
                  <a:srgbClr val="222222"/>
                </a:solidFill>
              </a:rPr>
              <a:t>(reaktif bileşeni sıfır)</a:t>
            </a:r>
            <a:r>
              <a:rPr sz="1300" b="0">
                <a:solidFill>
                  <a:srgbClr val="222222"/>
                </a:solidFill>
              </a:rPr>
              <a:t> olması, rezonansın bir SONUCUDUR; %5'lik fiziksel kısalmanın SEBEBİNİ açıklamaz. Bu kısalmanın uluslararası amatör telsiz literatüründe </a:t>
            </a:r>
            <a:r>
              <a:rPr sz="1300" b="0" i="1">
                <a:solidFill>
                  <a:srgbClr val="222222"/>
                </a:solidFill>
              </a:rPr>
              <a:t>(ör. ARRL Handbook)</a:t>
            </a:r>
            <a:r>
              <a:rPr sz="1300" b="0">
                <a:solidFill>
                  <a:srgbClr val="222222"/>
                </a:solidFill>
              </a:rPr>
              <a:t> kabul edilen standart açıklaması, iletken üzerindeki sinyal yayılım hızının serbest uzaydaki </a:t>
            </a:r>
            <a:r>
              <a:rPr sz="1300" b="0" i="1">
                <a:solidFill>
                  <a:srgbClr val="222222"/>
                </a:solidFill>
              </a:rPr>
              <a:t>(ışık)</a:t>
            </a:r>
            <a:r>
              <a:rPr sz="1300" b="0">
                <a:solidFill>
                  <a:srgbClr val="222222"/>
                </a:solidFill>
              </a:rPr>
              <a:t> hızından bir miktar düşük olmasıdır </a:t>
            </a:r>
            <a:r>
              <a:rPr sz="1300" b="0" i="1">
                <a:solidFill>
                  <a:srgbClr val="222222"/>
                </a:solidFill>
              </a:rPr>
              <a:t>(uç etkisi/kapasitans nedeniyle)</a:t>
            </a:r>
            <a:r>
              <a:rPr sz="1300" b="0">
                <a:solidFill>
                  <a:srgbClr val="222222"/>
                </a:solidFill>
              </a:rPr>
              <a:t> — bu, şık </a:t>
            </a:r>
            <a:r>
              <a:rPr sz="1300" b="0" i="1">
                <a:solidFill>
                  <a:srgbClr val="222222"/>
                </a:solidFill>
              </a:rPr>
              <a:t>(d)</a:t>
            </a:r>
            <a:r>
              <a:rPr sz="1300" b="0">
                <a:solidFill>
                  <a:srgbClr val="222222"/>
                </a:solidFill>
              </a:rPr>
              <a:t>'dir.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05000"/>
                </a:solidFill>
              </a:rPr>
              <a:t>ÖNERİLEN DÜZELTME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Cevap anahtarının </a:t>
            </a:r>
            <a:r>
              <a:rPr sz="1300" b="0" i="1">
                <a:solidFill>
                  <a:srgbClr val="222222"/>
                </a:solidFill>
              </a:rPr>
              <a:t>(d)</a:t>
            </a:r>
            <a:r>
              <a:rPr sz="1300" b="0">
                <a:solidFill>
                  <a:srgbClr val="222222"/>
                </a:solidFill>
              </a:rPr>
              <a:t> "Hattaki yayınım hızı uzaydaki yayınım hızından düşüktür" olarak güncellenmesini öneririz.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KEGM Düzeltme Önerisi — Bulgu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TALEP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D6E4F0"/>
                </a:solidFill>
              </a:rPr>
              <a:t>•  Yukarıdaki 4 sorunun resmî cevap anahtarlarının, ilgili slaytlarda sunulan gerekçe ve hesaplar doğrultusunda incelenerek güncellenmesini,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D6E4F0"/>
                </a:solidFill>
              </a:rPr>
              <a:t>•  Soru 46 ve 66'da iki olası düzeltme yolundan </a:t>
            </a:r>
            <a:r>
              <a:rPr sz="1700" b="0" i="1">
                <a:solidFill>
                  <a:srgbClr val="D6E4F0"/>
                </a:solidFill>
              </a:rPr>
              <a:t>(soru metni/değerleri veya cevap anahtarı)</a:t>
            </a:r>
            <a:r>
              <a:rPr sz="1700" b="0">
                <a:solidFill>
                  <a:srgbClr val="D6E4F0"/>
                </a:solidFill>
              </a:rPr>
              <a:t> hangisinin tercih edileceğine dair değerlendirme yapılmasını,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D6E4F0"/>
                </a:solidFill>
              </a:rPr>
              <a:t>•  Bulguların, sınava hazırlanan adayların yanlış bilgiyle karşılaşmaması için önümüzdeki sınav dönemlerinde dikkate alınmasını</a:t>
            </a:r>
          </a:p>
          <a:p>
            <a:pPr>
              <a:spcAft>
                <a:spcPts val="0"/>
              </a:spcAft>
            </a:pPr>
            <a:r>
              <a:rPr sz="1700" i="1">
                <a:solidFill>
                  <a:srgbClr val="FFFFFF"/>
                </a:solidFill>
              </a:rPr>
              <a:t>saygıyla arz ve talep ederiz.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D6E4F0"/>
                </a:solidFill>
              </a:rPr>
              <a:t>İletişim: [Kulüp / Şube adı] — [Ad-Soyad, Çağrı İşareti, e-posta]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terms:created xsi:type="dcterms:W3CDTF">2013-01-27T09:14:16Z</dcterms:created>
  <dcterms:modified xsi:type="dcterms:W3CDTF">2013-01-27T09:15:58Z</dcterms:modified>
  <cp:category/>
</cp:coreProperties>
</file>