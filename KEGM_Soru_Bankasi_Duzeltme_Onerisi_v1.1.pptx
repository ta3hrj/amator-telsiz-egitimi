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362895" cy="1463040"/>
          </a:xfrm>
          <a:prstGeom prst="rect">
            <a:avLst/>
          </a:prstGeom>
          <a:noFill/>
        </p:spPr>
        <p:txBody>
          <a:bodyPr wrap="square">
            <a:spAutoFit/>
          </a:bodyPr>
          <a:lstStyle/>
          <a:p>
            <a:r>
              <a:rPr sz="3000" b="1" i="0">
                <a:solidFill>
                  <a:srgbClr val="FFFFFF"/>
                </a:solidFill>
              </a:rPr>
              <a:t>AMATÖR TELSİZCİLİK SINAV SORU BANKALARINDA
TESPİT EDİLEN HATALAR — DÜZELTME ÖNERİSİ</a:t>
            </a:r>
          </a:p>
        </p:txBody>
      </p:sp>
      <p:sp>
        <p:nvSpPr>
          <p:cNvPr id="4" name="TextBox 3"/>
          <p:cNvSpPr txBox="1"/>
          <p:nvPr/>
        </p:nvSpPr>
        <p:spPr>
          <a:xfrm>
            <a:off x="914400" y="3566160"/>
            <a:ext cx="10362895" cy="548640"/>
          </a:xfrm>
          <a:prstGeom prst="rect">
            <a:avLst/>
          </a:prstGeom>
          <a:noFill/>
        </p:spPr>
        <p:txBody>
          <a:bodyPr wrap="square">
            <a:spAutoFit/>
          </a:bodyPr>
          <a:lstStyle/>
          <a:p>
            <a:r>
              <a:rPr sz="1800" b="0" i="0">
                <a:solidFill>
                  <a:srgbClr val="D6E4F0"/>
                </a:solidFill>
              </a:rPr>
              <a:t>A-B Sınıfı Düzenlemeler, İşletme ve Teknik Soru Bankaları — 9 Bulgu</a:t>
            </a:r>
          </a:p>
        </p:txBody>
      </p:sp>
      <p:sp>
        <p:nvSpPr>
          <p:cNvPr id="5" name="TextBox 4"/>
          <p:cNvSpPr txBox="1"/>
          <p:nvPr/>
        </p:nvSpPr>
        <p:spPr>
          <a:xfrm>
            <a:off x="914400" y="4297680"/>
            <a:ext cx="10362895" cy="457200"/>
          </a:xfrm>
          <a:prstGeom prst="rect">
            <a:avLst/>
          </a:prstGeom>
          <a:noFill/>
        </p:spPr>
        <p:txBody>
          <a:bodyPr wrap="square">
            <a:spAutoFit/>
          </a:bodyPr>
          <a:lstStyle/>
          <a:p>
            <a:r>
              <a:rPr sz="1400" b="0" i="0">
                <a:solidFill>
                  <a:srgbClr val="D6E4F0"/>
                </a:solidFill>
              </a:rPr>
              <a:t>Kıyı Emniyeti Genel Müdürlüğü — Telsiz İşletme Müdürlüğü'ne sunulmak üzere hazırlanmıştır</a:t>
            </a:r>
          </a:p>
        </p:txBody>
      </p:sp>
      <p:sp>
        <p:nvSpPr>
          <p:cNvPr id="6" name="TextBox 5"/>
          <p:cNvSpPr txBox="1"/>
          <p:nvPr/>
        </p:nvSpPr>
        <p:spPr>
          <a:xfrm>
            <a:off x="914400" y="6035040"/>
            <a:ext cx="10362895" cy="548640"/>
          </a:xfrm>
          <a:prstGeom prst="rect">
            <a:avLst/>
          </a:prstGeom>
          <a:noFill/>
        </p:spPr>
        <p:txBody>
          <a:bodyPr wrap="square">
            <a:spAutoFit/>
          </a:bodyPr>
          <a:lstStyle/>
          <a:p>
            <a:r>
              <a:rPr sz="1200" b="0" i="0">
                <a:solidFill>
                  <a:srgbClr val="D6E4F0"/>
                </a:solidFill>
              </a:rPr>
              <a:t>Hazırlayan: Amatör telsiz camiası — gönüllü katkı  ·  Sürüm 1.1 · 7 Ağustos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77295" cy="640080"/>
          </a:xfrm>
          <a:prstGeom prst="rect">
            <a:avLst/>
          </a:prstGeom>
          <a:noFill/>
        </p:spPr>
        <p:txBody>
          <a:bodyPr wrap="none">
            <a:spAutoFit/>
          </a:bodyPr>
          <a:lstStyle/>
          <a:p>
            <a:r>
              <a:rPr sz="2400" b="1" i="0">
                <a:solidFill>
                  <a:srgbClr val="FFFFFF"/>
                </a:solidFill>
              </a:rPr>
              <a:t>AMAÇ VE YÖNTEM</a:t>
            </a:r>
          </a:p>
        </p:txBody>
      </p:sp>
      <p:sp>
        <p:nvSpPr>
          <p:cNvPr id="4" name="TextBox 3"/>
          <p:cNvSpPr txBox="1"/>
          <p:nvPr/>
        </p:nvSpPr>
        <p:spPr>
          <a:xfrm>
            <a:off x="731520" y="1180160"/>
            <a:ext cx="10728655" cy="4954880"/>
          </a:xfrm>
          <a:prstGeom prst="rect">
            <a:avLst/>
          </a:prstGeom>
          <a:noFill/>
        </p:spPr>
        <p:txBody>
          <a:bodyPr wrap="square">
            <a:spAutoFit/>
          </a:bodyPr>
          <a:lstStyle/>
          <a:p>
            <a:pPr>
              <a:spcAft>
                <a:spcPts val="1200"/>
              </a:spcAft>
            </a:pPr>
            <a:r>
              <a:rPr sz="1500" b="0" i="0">
                <a:solidFill>
                  <a:srgbClr val="222222"/>
                </a:solidFill>
              </a:rPr>
              <a:t>•  Bu belge, KEGM'nin A-B sınıfı Amatör Telsizcilik sınav hazırlığında kullanılan üç soru bankasının — Ulusal ve Uluslararası Düzenlemeler </a:t>
            </a:r>
            <a:r>
              <a:rPr sz="1500" b="0" i="1">
                <a:solidFill>
                  <a:srgbClr val="222222"/>
                </a:solidFill>
              </a:rPr>
              <a:t>(67 soru)</a:t>
            </a:r>
            <a:r>
              <a:rPr sz="1500" b="0" i="0">
                <a:solidFill>
                  <a:srgbClr val="222222"/>
                </a:solidFill>
              </a:rPr>
              <a:t>, İşletme </a:t>
            </a:r>
            <a:r>
              <a:rPr sz="1500" b="0" i="1">
                <a:solidFill>
                  <a:srgbClr val="222222"/>
                </a:solidFill>
              </a:rPr>
              <a:t>(151 soru)</a:t>
            </a:r>
            <a:r>
              <a:rPr sz="1500" b="0" i="0">
                <a:solidFill>
                  <a:srgbClr val="222222"/>
                </a:solidFill>
              </a:rPr>
              <a:t> ve Teknik </a:t>
            </a:r>
            <a:r>
              <a:rPr sz="1500" b="0" i="1">
                <a:solidFill>
                  <a:srgbClr val="222222"/>
                </a:solidFill>
              </a:rPr>
              <a:t>(172 soru)</a:t>
            </a:r>
            <a:r>
              <a:rPr sz="1500" b="0" i="0">
                <a:solidFill>
                  <a:srgbClr val="222222"/>
                </a:solidFill>
              </a:rPr>
              <a:t>, toplam 390 soru — denetlenmesi sırasında tespit edilen 9 bulguyu içerir.</a:t>
            </a:r>
          </a:p>
          <a:p>
            <a:pPr>
              <a:spcAft>
                <a:spcPts val="1200"/>
              </a:spcAft>
            </a:pPr>
            <a:r>
              <a:rPr sz="1500" b="0" i="0">
                <a:solidFill>
                  <a:srgbClr val="222222"/>
                </a:solidFill>
              </a:rPr>
              <a:t>•  Birinci doğrulama — cevap anahtarı: Her bankanın sonundaki resmî cevap anahtarı tablosu PDF metninden programatik olarak </a:t>
            </a:r>
            <a:r>
              <a:rPr sz="1500" b="0" i="1">
                <a:solidFill>
                  <a:srgbClr val="222222"/>
                </a:solidFill>
              </a:rPr>
              <a:t>(elle değil)</a:t>
            </a:r>
            <a:r>
              <a:rPr sz="1500" b="0" i="0">
                <a:solidFill>
                  <a:srgbClr val="222222"/>
                </a:solidFill>
              </a:rPr>
              <a:t> ayrıştırılmış; hesaba dayalı sorular </a:t>
            </a:r>
            <a:r>
              <a:rPr sz="1500" b="0" i="1">
                <a:solidFill>
                  <a:srgbClr val="222222"/>
                </a:solidFill>
              </a:rPr>
              <a:t>(Ohm Kanunu, rezonans, RMS-tepe dönüşümü vb.)</a:t>
            </a:r>
            <a:r>
              <a:rPr sz="1500" b="0" i="0">
                <a:solidFill>
                  <a:srgbClr val="222222"/>
                </a:solidFill>
              </a:rPr>
              <a:t> bağımsız olarak yeniden hesaplanarak resmî anahtarla karşılaştırılmıştır.</a:t>
            </a:r>
          </a:p>
          <a:p>
            <a:pPr>
              <a:spcAft>
                <a:spcPts val="1200"/>
              </a:spcAft>
            </a:pPr>
            <a:r>
              <a:rPr sz="1500" b="0" i="0">
                <a:solidFill>
                  <a:srgbClr val="222222"/>
                </a:solidFill>
              </a:rPr>
              <a:t>•  İkinci doğrulama — mevzuat güncelliği: Soruların dayandığı yönetmelik hükümlerinin bugün yürürlükte olup olmadığı, Resmî Gazete metinleri üzerinden </a:t>
            </a:r>
            <a:r>
              <a:rPr sz="1500" b="0" i="1">
                <a:solidFill>
                  <a:srgbClr val="222222"/>
                </a:solidFill>
              </a:rPr>
              <a:t>(mülga/değişik şerhleri dâhil)</a:t>
            </a:r>
            <a:r>
              <a:rPr sz="1500" b="0" i="0">
                <a:solidFill>
                  <a:srgbClr val="222222"/>
                </a:solidFill>
              </a:rPr>
              <a:t> denetlenmiştir. Bu denetim, ilk üç bulgunun kaynağıdır.</a:t>
            </a:r>
          </a:p>
          <a:p>
            <a:pPr>
              <a:spcAft>
                <a:spcPts val="1200"/>
              </a:spcAft>
            </a:pPr>
            <a:r>
              <a:rPr sz="1500" b="0" i="0">
                <a:solidFill>
                  <a:srgbClr val="222222"/>
                </a:solidFill>
              </a:rPr>
              <a:t>•  390 sorunun büyük çoğunluğunda </a:t>
            </a:r>
            <a:r>
              <a:rPr sz="1500" b="0" i="1">
                <a:solidFill>
                  <a:srgbClr val="222222"/>
                </a:solidFill>
              </a:rPr>
              <a:t>(381/390)</a:t>
            </a:r>
            <a:r>
              <a:rPr sz="1500" b="0" i="0">
                <a:solidFill>
                  <a:srgbClr val="222222"/>
                </a:solidFill>
              </a:rPr>
              <a:t> resmî cevap anahtarı ile bağımsız hesap/analiz tam olarak örtüşmüştür — bu, soru bankalarının genel güvenilirliğini teyit eder. Aşağıdaki 9 bulgu, bu geniş örtüşmenin istisnasıdır.</a:t>
            </a:r>
          </a:p>
          <a:p>
            <a:pPr>
              <a:spcAft>
                <a:spcPts val="1200"/>
              </a:spcAft>
            </a:pPr>
            <a:r>
              <a:rPr sz="1500" b="0" i="0">
                <a:solidFill>
                  <a:srgbClr val="222222"/>
                </a:solidFill>
              </a:rPr>
              <a:t>•  Amacımız, bu sorularla çalışan adayların yanlış veya güncelliğini yitirmiş bilgiyle karşılaşmamasını sağlamak ve soru bankalarının kalitesine katkıda bulunmaktır.</a:t>
            </a:r>
          </a:p>
        </p:txBody>
      </p:sp>
      <p:sp>
        <p:nvSpPr>
          <p:cNvPr id="5" name="TextBox 4"/>
          <p:cNvSpPr txBox="1"/>
          <p:nvPr/>
        </p:nvSpPr>
        <p:spPr>
          <a:xfrm>
            <a:off x="365760" y="6492240"/>
            <a:ext cx="11460175" cy="274320"/>
          </a:xfrm>
          <a:prstGeom prst="rect">
            <a:avLst/>
          </a:prstGeom>
          <a:noFill/>
        </p:spPr>
        <p:txBody>
          <a:bodyPr wrap="none">
            <a:spAutoFit/>
          </a:bodyPr>
          <a:lstStyle/>
          <a:p>
            <a:r>
              <a:rPr sz="1000" b="0" i="0">
                <a:solidFill>
                  <a:srgbClr val="595959"/>
                </a:solidFill>
              </a:rPr>
              <a:t>KEGM Düzeltme Önerisi — Amaç ve Yöntem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77295" cy="640080"/>
          </a:xfrm>
          <a:prstGeom prst="rect">
            <a:avLst/>
          </a:prstGeom>
          <a:noFill/>
        </p:spPr>
        <p:txBody>
          <a:bodyPr wrap="none">
            <a:spAutoFit/>
          </a:bodyPr>
          <a:lstStyle/>
          <a:p>
            <a:r>
              <a:rPr sz="2400" b="1" i="0">
                <a:solidFill>
                  <a:srgbClr val="FFFFFF"/>
                </a:solidFill>
              </a:rPr>
              <a:t>BULGULARIN ÖZETİ</a:t>
            </a:r>
          </a:p>
        </p:txBody>
      </p:sp>
      <p:graphicFrame>
        <p:nvGraphicFramePr>
          <p:cNvPr id="4" name="Table 3"/>
          <p:cNvGraphicFramePr>
            <a:graphicFrameLocks noGrp="1"/>
          </p:cNvGraphicFramePr>
          <p:nvPr/>
        </p:nvGraphicFramePr>
        <p:xfrm>
          <a:off x="731520" y="1180440"/>
          <a:ext cx="10241280" cy="4190000"/>
        </p:xfrm>
        <a:graphic>
          <a:graphicData uri="http://schemas.openxmlformats.org/drawingml/2006/table">
            <a:tbl>
              <a:tblPr firstRow="1" bandRow="1">
                <a:tableStyleId>{5C22544A-7EE6-4342-B048-85BDC9FD1C3A}</a:tableStyleId>
              </a:tblPr>
              <a:tblGrid>
                <a:gridCol w="1554480"/>
                <a:gridCol w="1005840"/>
                <a:gridCol w="4754880"/>
                <a:gridCol w="1463040"/>
                <a:gridCol w="1463040"/>
              </a:tblGrid>
              <a:tr h="500000">
                <a:tc>
                  <a:txBody>
                    <a:bodyPr/>
                    <a:lstStyle/>
                    <a:p>
                      <a:r>
                        <a:rPr sz="1300" b="1" i="0">
                          <a:solidFill>
                            <a:srgbClr val="FFFFFF"/>
                          </a:solidFill>
                        </a:rPr>
                        <a:t>Soru</a:t>
                      </a:r>
                    </a:p>
                    <a:p>
                      <a:r>
                        <a:rPr sz="1300" b="1" i="0">
                          <a:solidFill>
                            <a:srgbClr val="FFFFFF"/>
                          </a:solidFill>
                        </a:rPr>
                        <a:t>Bankası</a:t>
                      </a:r>
                    </a:p>
                  </a:txBody>
                  <a:tcPr anchor="ctr">
                    <a:solidFill>
                      <a:srgbClr val="1F3864"/>
                    </a:solidFill>
                  </a:tcPr>
                </a:tc>
                <a:tc>
                  <a:txBody>
                    <a:bodyPr/>
                    <a:lstStyle/>
                    <a:p>
                      <a:r>
                        <a:rPr sz="1300" b="1" i="0">
                          <a:solidFill>
                            <a:srgbClr val="FFFFFF"/>
                          </a:solidFill>
                        </a:rPr>
                        <a:t>Soru</a:t>
                      </a:r>
                    </a:p>
                    <a:p>
                      <a:r>
                        <a:rPr sz="1300" b="1" i="0">
                          <a:solidFill>
                            <a:srgbClr val="FFFFFF"/>
                          </a:solidFill>
                        </a:rPr>
                        <a:t>No</a:t>
                      </a:r>
                    </a:p>
                  </a:txBody>
                  <a:tcPr anchor="ctr">
                    <a:solidFill>
                      <a:srgbClr val="1F3864"/>
                    </a:solidFill>
                  </a:tcPr>
                </a:tc>
                <a:tc>
                  <a:txBody>
                    <a:bodyPr/>
                    <a:lstStyle/>
                    <a:p>
                      <a:r>
                        <a:rPr sz="1300" b="1" i="0">
                          <a:solidFill>
                            <a:srgbClr val="FFFFFF"/>
                          </a:solidFill>
                        </a:rPr>
                        <a:t>Konu</a:t>
                      </a:r>
                    </a:p>
                  </a:txBody>
                  <a:tcPr anchor="ctr">
                    <a:solidFill>
                      <a:srgbClr val="1F3864"/>
                    </a:solidFill>
                  </a:tcPr>
                </a:tc>
                <a:tc>
                  <a:txBody>
                    <a:bodyPr/>
                    <a:lstStyle/>
                    <a:p>
                      <a:r>
                        <a:rPr sz="1300" b="1" i="0">
                          <a:solidFill>
                            <a:srgbClr val="FFFFFF"/>
                          </a:solidFill>
                        </a:rPr>
                        <a:t>Resmî</a:t>
                      </a:r>
                    </a:p>
                    <a:p>
                      <a:r>
                        <a:rPr sz="1300" b="1" i="0">
                          <a:solidFill>
                            <a:srgbClr val="FFFFFF"/>
                          </a:solidFill>
                        </a:rPr>
                        <a:t>Cevap</a:t>
                      </a:r>
                    </a:p>
                  </a:txBody>
                  <a:tcPr anchor="ctr">
                    <a:solidFill>
                      <a:srgbClr val="1F3864"/>
                    </a:solidFill>
                  </a:tcPr>
                </a:tc>
                <a:tc>
                  <a:txBody>
                    <a:bodyPr/>
                    <a:lstStyle/>
                    <a:p>
                      <a:r>
                        <a:rPr sz="1300" b="1" i="0">
                          <a:solidFill>
                            <a:srgbClr val="FFFFFF"/>
                          </a:solidFill>
                        </a:rPr>
                        <a:t>Önerilen</a:t>
                      </a:r>
                    </a:p>
                    <a:p>
                      <a:r>
                        <a:rPr sz="1300" b="1" i="0">
                          <a:solidFill>
                            <a:srgbClr val="FFFFFF"/>
                          </a:solidFill>
                        </a:rPr>
                        <a:t>Cevap</a:t>
                      </a:r>
                    </a:p>
                  </a:txBody>
                  <a:tcPr anchor="ctr">
                    <a:solidFill>
                      <a:srgbClr val="1F3864"/>
                    </a:solidFill>
                  </a:tcPr>
                </a:tc>
              </a:tr>
              <a:tr h="410000">
                <a:tc>
                  <a:txBody>
                    <a:bodyPr/>
                    <a:lstStyle/>
                    <a:p>
                      <a:r>
                        <a:rPr sz="1250" b="0" i="0">
                          <a:solidFill>
                            <a:srgbClr val="222222"/>
                          </a:solidFill>
                        </a:rPr>
                        <a:t>Düzenlemeler</a:t>
                      </a:r>
                    </a:p>
                  </a:txBody>
                  <a:tcPr anchor="ctr">
                    <a:solidFill>
                      <a:srgbClr val="FFFFFF"/>
                    </a:solidFill>
                  </a:tcPr>
                </a:tc>
                <a:tc>
                  <a:txBody>
                    <a:bodyPr/>
                    <a:lstStyle/>
                    <a:p>
                      <a:r>
                        <a:rPr sz="1250" b="0" i="0">
                          <a:solidFill>
                            <a:srgbClr val="222222"/>
                          </a:solidFill>
                        </a:rPr>
                        <a:t>17</a:t>
                      </a:r>
                    </a:p>
                  </a:txBody>
                  <a:tcPr anchor="ctr">
                    <a:solidFill>
                      <a:srgbClr val="FFFFFF"/>
                    </a:solidFill>
                  </a:tcPr>
                </a:tc>
                <a:tc>
                  <a:txBody>
                    <a:bodyPr/>
                    <a:lstStyle/>
                    <a:p>
                      <a:r>
                        <a:rPr sz="1250" b="0" i="0">
                          <a:solidFill>
                            <a:srgbClr val="222222"/>
                          </a:solidFill>
                        </a:rPr>
                        <a:t>Ruhsat muafiyeti — mülga yönetmeliğe atıf</a:t>
                      </a:r>
                    </a:p>
                  </a:txBody>
                  <a:tcPr anchor="ctr">
                    <a:solidFill>
                      <a:srgbClr val="FFFFFF"/>
                    </a:solidFill>
                  </a:tcPr>
                </a:tc>
                <a:tc>
                  <a:txBody>
                    <a:bodyPr/>
                    <a:lstStyle/>
                    <a:p>
                      <a:r>
                        <a:rPr sz="1250" b="1" i="0">
                          <a:solidFill>
                            <a:srgbClr val="A92B2B"/>
                          </a:solidFill>
                        </a:rPr>
                        <a:t>(b)</a:t>
                      </a:r>
                    </a:p>
                  </a:txBody>
                  <a:tcPr anchor="ctr">
                    <a:solidFill>
                      <a:srgbClr val="FFFFFF"/>
                    </a:solidFill>
                  </a:tcPr>
                </a:tc>
                <a:tc>
                  <a:txBody>
                    <a:bodyPr/>
                    <a:lstStyle/>
                    <a:p>
                      <a:r>
                        <a:rPr sz="1250" b="1" i="0">
                          <a:solidFill>
                            <a:srgbClr val="2E7D32"/>
                          </a:solidFill>
                        </a:rPr>
                        <a:t>şıklarda yok</a:t>
                      </a:r>
                    </a:p>
                  </a:txBody>
                  <a:tcPr anchor="ctr">
                    <a:solidFill>
                      <a:srgbClr val="FFFFFF"/>
                    </a:solidFill>
                  </a:tcPr>
                </a:tc>
              </a:tr>
              <a:tr h="410000">
                <a:tc>
                  <a:txBody>
                    <a:bodyPr/>
                    <a:lstStyle/>
                    <a:p>
                      <a:r>
                        <a:rPr sz="1250" b="0" i="0">
                          <a:solidFill>
                            <a:srgbClr val="222222"/>
                          </a:solidFill>
                        </a:rPr>
                        <a:t>Düzenlemeler</a:t>
                      </a:r>
                    </a:p>
                  </a:txBody>
                  <a:tcPr anchor="ctr">
                    <a:solidFill>
                      <a:srgbClr val="EFF3F8"/>
                    </a:solidFill>
                  </a:tcPr>
                </a:tc>
                <a:tc>
                  <a:txBody>
                    <a:bodyPr/>
                    <a:lstStyle/>
                    <a:p>
                      <a:r>
                        <a:rPr sz="1250" b="0" i="0">
                          <a:solidFill>
                            <a:srgbClr val="222222"/>
                          </a:solidFill>
                        </a:rPr>
                        <a:t>42</a:t>
                      </a:r>
                    </a:p>
                  </a:txBody>
                  <a:tcPr anchor="ctr">
                    <a:solidFill>
                      <a:srgbClr val="EFF3F8"/>
                    </a:solidFill>
                  </a:tcPr>
                </a:tc>
                <a:tc>
                  <a:txBody>
                    <a:bodyPr/>
                    <a:lstStyle/>
                    <a:p>
                      <a:r>
                        <a:rPr sz="1250" b="0" i="0">
                          <a:solidFill>
                            <a:srgbClr val="222222"/>
                          </a:solidFill>
                        </a:rPr>
                        <a:t>Amatör bant planı — mülga yönetmeliğe atıf</a:t>
                      </a:r>
                    </a:p>
                  </a:txBody>
                  <a:tcPr anchor="ctr">
                    <a:solidFill>
                      <a:srgbClr val="EFF3F8"/>
                    </a:solidFill>
                  </a:tcPr>
                </a:tc>
                <a:tc>
                  <a:txBody>
                    <a:bodyPr/>
                    <a:lstStyle/>
                    <a:p>
                      <a:r>
                        <a:rPr sz="1250" b="1" i="0">
                          <a:solidFill>
                            <a:srgbClr val="A92B2B"/>
                          </a:solidFill>
                        </a:rPr>
                        <a:t>(a)</a:t>
                      </a:r>
                    </a:p>
                  </a:txBody>
                  <a:tcPr anchor="ctr">
                    <a:solidFill>
                      <a:srgbClr val="EFF3F8"/>
                    </a:solidFill>
                  </a:tcPr>
                </a:tc>
                <a:tc>
                  <a:txBody>
                    <a:bodyPr/>
                    <a:lstStyle/>
                    <a:p>
                      <a:r>
                        <a:rPr sz="1250" b="1" i="0">
                          <a:solidFill>
                            <a:srgbClr val="2E7D32"/>
                          </a:solidFill>
                        </a:rPr>
                        <a:t>şıklarda yok</a:t>
                      </a:r>
                    </a:p>
                  </a:txBody>
                  <a:tcPr anchor="ctr">
                    <a:solidFill>
                      <a:srgbClr val="EFF3F8"/>
                    </a:solidFill>
                  </a:tcPr>
                </a:tc>
              </a:tr>
              <a:tr h="410000">
                <a:tc>
                  <a:txBody>
                    <a:bodyPr/>
                    <a:lstStyle/>
                    <a:p>
                      <a:r>
                        <a:rPr sz="1250" b="0" i="0">
                          <a:solidFill>
                            <a:srgbClr val="222222"/>
                          </a:solidFill>
                        </a:rPr>
                        <a:t>Düzenlemeler</a:t>
                      </a:r>
                    </a:p>
                  </a:txBody>
                  <a:tcPr anchor="ctr">
                    <a:solidFill>
                      <a:srgbClr val="FFFFFF"/>
                    </a:solidFill>
                  </a:tcPr>
                </a:tc>
                <a:tc>
                  <a:txBody>
                    <a:bodyPr/>
                    <a:lstStyle/>
                    <a:p>
                      <a:r>
                        <a:rPr sz="1250" b="0" i="0">
                          <a:solidFill>
                            <a:srgbClr val="222222"/>
                          </a:solidFill>
                        </a:rPr>
                        <a:t>60</a:t>
                      </a:r>
                    </a:p>
                  </a:txBody>
                  <a:tcPr anchor="ctr">
                    <a:solidFill>
                      <a:srgbClr val="FFFFFF"/>
                    </a:solidFill>
                  </a:tcPr>
                </a:tc>
                <a:tc>
                  <a:txBody>
                    <a:bodyPr/>
                    <a:lstStyle/>
                    <a:p>
                      <a:r>
                        <a:rPr sz="1250" b="0" i="0">
                          <a:solidFill>
                            <a:srgbClr val="222222"/>
                          </a:solidFill>
                        </a:rPr>
                        <a:t>Türkiye'nin ITU bölgesi</a:t>
                      </a:r>
                    </a:p>
                  </a:txBody>
                  <a:tcPr anchor="ctr">
                    <a:solidFill>
                      <a:srgbClr val="FFFFFF"/>
                    </a:solidFill>
                  </a:tcPr>
                </a:tc>
                <a:tc>
                  <a:txBody>
                    <a:bodyPr/>
                    <a:lstStyle/>
                    <a:p>
                      <a:r>
                        <a:rPr sz="1250" b="1" i="0">
                          <a:solidFill>
                            <a:srgbClr val="A92B2B"/>
                          </a:solidFill>
                        </a:rPr>
                        <a:t>(b)</a:t>
                      </a:r>
                    </a:p>
                  </a:txBody>
                  <a:tcPr anchor="ctr">
                    <a:solidFill>
                      <a:srgbClr val="FFFFFF"/>
                    </a:solidFill>
                  </a:tcPr>
                </a:tc>
                <a:tc>
                  <a:txBody>
                    <a:bodyPr/>
                    <a:lstStyle/>
                    <a:p>
                      <a:r>
                        <a:rPr sz="1250" b="1" i="0">
                          <a:solidFill>
                            <a:srgbClr val="2E7D32"/>
                          </a:solidFill>
                        </a:rPr>
                        <a:t>(d)</a:t>
                      </a:r>
                    </a:p>
                  </a:txBody>
                  <a:tcPr anchor="ctr">
                    <a:solidFill>
                      <a:srgbClr val="FFFFFF"/>
                    </a:solidFill>
                  </a:tcPr>
                </a:tc>
              </a:tr>
              <a:tr h="410000">
                <a:tc>
                  <a:txBody>
                    <a:bodyPr/>
                    <a:lstStyle/>
                    <a:p>
                      <a:r>
                        <a:rPr sz="1250" b="0" i="0">
                          <a:solidFill>
                            <a:srgbClr val="222222"/>
                          </a:solidFill>
                        </a:rPr>
                        <a:t>İşletme</a:t>
                      </a:r>
                    </a:p>
                  </a:txBody>
                  <a:tcPr anchor="ctr">
                    <a:solidFill>
                      <a:srgbClr val="EFF3F8"/>
                    </a:solidFill>
                  </a:tcPr>
                </a:tc>
                <a:tc>
                  <a:txBody>
                    <a:bodyPr/>
                    <a:lstStyle/>
                    <a:p>
                      <a:r>
                        <a:rPr sz="1250" b="0" i="0">
                          <a:solidFill>
                            <a:srgbClr val="222222"/>
                          </a:solidFill>
                        </a:rPr>
                        <a:t>22</a:t>
                      </a:r>
                    </a:p>
                  </a:txBody>
                  <a:tcPr anchor="ctr">
                    <a:solidFill>
                      <a:srgbClr val="EFF3F8"/>
                    </a:solidFill>
                  </a:tcPr>
                </a:tc>
                <a:tc>
                  <a:txBody>
                    <a:bodyPr/>
                    <a:lstStyle/>
                    <a:p>
                      <a:r>
                        <a:rPr sz="1250" b="0" i="0">
                          <a:solidFill>
                            <a:srgbClr val="222222"/>
                          </a:solidFill>
                        </a:rPr>
                        <a:t>“IARU ZONE 20” — kavram hatası</a:t>
                      </a:r>
                    </a:p>
                  </a:txBody>
                  <a:tcPr anchor="ctr">
                    <a:solidFill>
                      <a:srgbClr val="EFF3F8"/>
                    </a:solidFill>
                  </a:tcPr>
                </a:tc>
                <a:tc>
                  <a:txBody>
                    <a:bodyPr/>
                    <a:lstStyle/>
                    <a:p>
                      <a:r>
                        <a:rPr sz="1250" b="1" i="0">
                          <a:solidFill>
                            <a:srgbClr val="A92B2B"/>
                          </a:solidFill>
                        </a:rPr>
                        <a:t>(c)</a:t>
                      </a:r>
                    </a:p>
                  </a:txBody>
                  <a:tcPr anchor="ctr">
                    <a:solidFill>
                      <a:srgbClr val="EFF3F8"/>
                    </a:solidFill>
                  </a:tcPr>
                </a:tc>
                <a:tc>
                  <a:txBody>
                    <a:bodyPr/>
                    <a:lstStyle/>
                    <a:p>
                      <a:r>
                        <a:rPr sz="1250" b="1" i="0">
                          <a:solidFill>
                            <a:srgbClr val="2E7D32"/>
                          </a:solidFill>
                        </a:rPr>
                        <a:t>soru metni †</a:t>
                      </a:r>
                    </a:p>
                  </a:txBody>
                  <a:tcPr anchor="ctr">
                    <a:solidFill>
                      <a:srgbClr val="EFF3F8"/>
                    </a:solidFill>
                  </a:tcPr>
                </a:tc>
              </a:tr>
              <a:tr h="410000">
                <a:tc>
                  <a:txBody>
                    <a:bodyPr/>
                    <a:lstStyle/>
                    <a:p>
                      <a:r>
                        <a:rPr sz="1250" b="0" i="0">
                          <a:solidFill>
                            <a:srgbClr val="222222"/>
                          </a:solidFill>
                        </a:rPr>
                        <a:t>İşletme</a:t>
                      </a:r>
                    </a:p>
                  </a:txBody>
                  <a:tcPr anchor="ctr">
                    <a:solidFill>
                      <a:srgbClr val="FFFFFF"/>
                    </a:solidFill>
                  </a:tcPr>
                </a:tc>
                <a:tc>
                  <a:txBody>
                    <a:bodyPr/>
                    <a:lstStyle/>
                    <a:p>
                      <a:r>
                        <a:rPr sz="1250" b="0" i="0">
                          <a:solidFill>
                            <a:srgbClr val="222222"/>
                          </a:solidFill>
                        </a:rPr>
                        <a:t>43</a:t>
                      </a:r>
                    </a:p>
                  </a:txBody>
                  <a:tcPr anchor="ctr">
                    <a:solidFill>
                      <a:srgbClr val="FFFFFF"/>
                    </a:solidFill>
                  </a:tcPr>
                </a:tc>
                <a:tc>
                  <a:txBody>
                    <a:bodyPr/>
                    <a:lstStyle/>
                    <a:p>
                      <a:r>
                        <a:rPr sz="1250" b="0" i="0">
                          <a:solidFill>
                            <a:srgbClr val="222222"/>
                          </a:solidFill>
                        </a:rPr>
                        <a:t>CQ çağrısı — mod zorunluluğu</a:t>
                      </a:r>
                    </a:p>
                  </a:txBody>
                  <a:tcPr anchor="ctr">
                    <a:solidFill>
                      <a:srgbClr val="FFFFFF"/>
                    </a:solidFill>
                  </a:tcPr>
                </a:tc>
                <a:tc>
                  <a:txBody>
                    <a:bodyPr/>
                    <a:lstStyle/>
                    <a:p>
                      <a:r>
                        <a:rPr sz="1250" b="1" i="0">
                          <a:solidFill>
                            <a:srgbClr val="A92B2B"/>
                          </a:solidFill>
                        </a:rPr>
                        <a:t>(b)</a:t>
                      </a:r>
                    </a:p>
                  </a:txBody>
                  <a:tcPr anchor="ctr">
                    <a:solidFill>
                      <a:srgbClr val="FFFFFF"/>
                    </a:solidFill>
                  </a:tcPr>
                </a:tc>
                <a:tc>
                  <a:txBody>
                    <a:bodyPr/>
                    <a:lstStyle/>
                    <a:p>
                      <a:r>
                        <a:rPr sz="1250" b="1" i="0">
                          <a:solidFill>
                            <a:srgbClr val="2E7D32"/>
                          </a:solidFill>
                        </a:rPr>
                        <a:t>(d)</a:t>
                      </a:r>
                    </a:p>
                  </a:txBody>
                  <a:tcPr anchor="ctr">
                    <a:solidFill>
                      <a:srgbClr val="FFFFFF"/>
                    </a:solidFill>
                  </a:tcPr>
                </a:tc>
              </a:tr>
              <a:tr h="410000">
                <a:tc>
                  <a:txBody>
                    <a:bodyPr/>
                    <a:lstStyle/>
                    <a:p>
                      <a:r>
                        <a:rPr sz="1250" b="0" i="0">
                          <a:solidFill>
                            <a:srgbClr val="222222"/>
                          </a:solidFill>
                        </a:rPr>
                        <a:t>İşletme</a:t>
                      </a:r>
                    </a:p>
                  </a:txBody>
                  <a:tcPr anchor="ctr">
                    <a:solidFill>
                      <a:srgbClr val="EFF3F8"/>
                    </a:solidFill>
                  </a:tcPr>
                </a:tc>
                <a:tc>
                  <a:txBody>
                    <a:bodyPr/>
                    <a:lstStyle/>
                    <a:p>
                      <a:r>
                        <a:rPr sz="1250" b="0" i="0">
                          <a:solidFill>
                            <a:srgbClr val="222222"/>
                          </a:solidFill>
                        </a:rPr>
                        <a:t>89</a:t>
                      </a:r>
                    </a:p>
                  </a:txBody>
                  <a:tcPr anchor="ctr">
                    <a:solidFill>
                      <a:srgbClr val="EFF3F8"/>
                    </a:solidFill>
                  </a:tcPr>
                </a:tc>
                <a:tc>
                  <a:txBody>
                    <a:bodyPr/>
                    <a:lstStyle/>
                    <a:p>
                      <a:r>
                        <a:rPr sz="1250" b="0" i="0">
                          <a:solidFill>
                            <a:srgbClr val="222222"/>
                          </a:solidFill>
                        </a:rPr>
                        <a:t>TA2KA — dernek çağrı işareti ön eki</a:t>
                      </a:r>
                    </a:p>
                  </a:txBody>
                  <a:tcPr anchor="ctr">
                    <a:solidFill>
                      <a:srgbClr val="EFF3F8"/>
                    </a:solidFill>
                  </a:tcPr>
                </a:tc>
                <a:tc>
                  <a:txBody>
                    <a:bodyPr/>
                    <a:lstStyle/>
                    <a:p>
                      <a:r>
                        <a:rPr sz="1250" b="1" i="0">
                          <a:solidFill>
                            <a:srgbClr val="A92B2B"/>
                          </a:solidFill>
                        </a:rPr>
                        <a:t>(b)</a:t>
                      </a:r>
                    </a:p>
                  </a:txBody>
                  <a:tcPr anchor="ctr">
                    <a:solidFill>
                      <a:srgbClr val="EFF3F8"/>
                    </a:solidFill>
                  </a:tcPr>
                </a:tc>
                <a:tc>
                  <a:txBody>
                    <a:bodyPr/>
                    <a:lstStyle/>
                    <a:p>
                      <a:r>
                        <a:rPr sz="1250" b="1" i="0">
                          <a:solidFill>
                            <a:srgbClr val="2E7D32"/>
                          </a:solidFill>
                        </a:rPr>
                        <a:t>(a)</a:t>
                      </a:r>
                    </a:p>
                  </a:txBody>
                  <a:tcPr anchor="ctr">
                    <a:solidFill>
                      <a:srgbClr val="EFF3F8"/>
                    </a:solidFill>
                  </a:tcPr>
                </a:tc>
              </a:tr>
              <a:tr h="410000">
                <a:tc>
                  <a:txBody>
                    <a:bodyPr/>
                    <a:lstStyle/>
                    <a:p>
                      <a:r>
                        <a:rPr sz="1250" b="0" i="0">
                          <a:solidFill>
                            <a:srgbClr val="222222"/>
                          </a:solidFill>
                        </a:rPr>
                        <a:t>Teknik</a:t>
                      </a:r>
                    </a:p>
                  </a:txBody>
                  <a:tcPr anchor="ctr">
                    <a:solidFill>
                      <a:srgbClr val="FFFFFF"/>
                    </a:solidFill>
                  </a:tcPr>
                </a:tc>
                <a:tc>
                  <a:txBody>
                    <a:bodyPr/>
                    <a:lstStyle/>
                    <a:p>
                      <a:r>
                        <a:rPr sz="1250" b="0" i="0">
                          <a:solidFill>
                            <a:srgbClr val="222222"/>
                          </a:solidFill>
                        </a:rPr>
                        <a:t>46</a:t>
                      </a:r>
                    </a:p>
                  </a:txBody>
                  <a:tcPr anchor="ctr">
                    <a:solidFill>
                      <a:srgbClr val="FFFFFF"/>
                    </a:solidFill>
                  </a:tcPr>
                </a:tc>
                <a:tc>
                  <a:txBody>
                    <a:bodyPr/>
                    <a:lstStyle/>
                    <a:p>
                      <a:r>
                        <a:rPr sz="1250" b="0" i="0">
                          <a:solidFill>
                            <a:srgbClr val="222222"/>
                          </a:solidFill>
                        </a:rPr>
                        <a:t>RMS → tepeden tepeye değer</a:t>
                      </a:r>
                    </a:p>
                  </a:txBody>
                  <a:tcPr anchor="ctr">
                    <a:solidFill>
                      <a:srgbClr val="FFFFFF"/>
                    </a:solidFill>
                  </a:tcPr>
                </a:tc>
                <a:tc>
                  <a:txBody>
                    <a:bodyPr/>
                    <a:lstStyle/>
                    <a:p>
                      <a:r>
                        <a:rPr sz="1250" b="1" i="0">
                          <a:solidFill>
                            <a:srgbClr val="A92B2B"/>
                          </a:solidFill>
                        </a:rPr>
                        <a:t>(a)</a:t>
                      </a:r>
                    </a:p>
                  </a:txBody>
                  <a:tcPr anchor="ctr">
                    <a:solidFill>
                      <a:srgbClr val="FFFFFF"/>
                    </a:solidFill>
                  </a:tcPr>
                </a:tc>
                <a:tc>
                  <a:txBody>
                    <a:bodyPr/>
                    <a:lstStyle/>
                    <a:p>
                      <a:r>
                        <a:rPr sz="1250" b="1" i="0">
                          <a:solidFill>
                            <a:srgbClr val="2E7D32"/>
                          </a:solidFill>
                        </a:rPr>
                        <a:t>(c) *</a:t>
                      </a:r>
                    </a:p>
                  </a:txBody>
                  <a:tcPr anchor="ctr">
                    <a:solidFill>
                      <a:srgbClr val="FFFFFF"/>
                    </a:solidFill>
                  </a:tcPr>
                </a:tc>
              </a:tr>
              <a:tr h="410000">
                <a:tc>
                  <a:txBody>
                    <a:bodyPr/>
                    <a:lstStyle/>
                    <a:p>
                      <a:r>
                        <a:rPr sz="1250" b="0" i="0">
                          <a:solidFill>
                            <a:srgbClr val="222222"/>
                          </a:solidFill>
                        </a:rPr>
                        <a:t>Teknik</a:t>
                      </a:r>
                    </a:p>
                  </a:txBody>
                  <a:tcPr anchor="ctr">
                    <a:solidFill>
                      <a:srgbClr val="EFF3F8"/>
                    </a:solidFill>
                  </a:tcPr>
                </a:tc>
                <a:tc>
                  <a:txBody>
                    <a:bodyPr/>
                    <a:lstStyle/>
                    <a:p>
                      <a:r>
                        <a:rPr sz="1250" b="0" i="0">
                          <a:solidFill>
                            <a:srgbClr val="222222"/>
                          </a:solidFill>
                        </a:rPr>
                        <a:t>66</a:t>
                      </a:r>
                    </a:p>
                  </a:txBody>
                  <a:tcPr anchor="ctr">
                    <a:solidFill>
                      <a:srgbClr val="EFF3F8"/>
                    </a:solidFill>
                  </a:tcPr>
                </a:tc>
                <a:tc>
                  <a:txBody>
                    <a:bodyPr/>
                    <a:lstStyle/>
                    <a:p>
                      <a:r>
                        <a:rPr sz="1250" b="0" i="0">
                          <a:solidFill>
                            <a:srgbClr val="222222"/>
                          </a:solidFill>
                        </a:rPr>
                        <a:t>LC rezonans frekansı hesabı</a:t>
                      </a:r>
                    </a:p>
                  </a:txBody>
                  <a:tcPr anchor="ctr">
                    <a:solidFill>
                      <a:srgbClr val="EFF3F8"/>
                    </a:solidFill>
                  </a:tcPr>
                </a:tc>
                <a:tc>
                  <a:txBody>
                    <a:bodyPr/>
                    <a:lstStyle/>
                    <a:p>
                      <a:r>
                        <a:rPr sz="1250" b="1" i="0">
                          <a:solidFill>
                            <a:srgbClr val="A92B2B"/>
                          </a:solidFill>
                        </a:rPr>
                        <a:t>(b)</a:t>
                      </a:r>
                    </a:p>
                  </a:txBody>
                  <a:tcPr anchor="ctr">
                    <a:solidFill>
                      <a:srgbClr val="EFF3F8"/>
                    </a:solidFill>
                  </a:tcPr>
                </a:tc>
                <a:tc>
                  <a:txBody>
                    <a:bodyPr/>
                    <a:lstStyle/>
                    <a:p>
                      <a:r>
                        <a:rPr sz="1250" b="1" i="0">
                          <a:solidFill>
                            <a:srgbClr val="2E7D32"/>
                          </a:solidFill>
                        </a:rPr>
                        <a:t>(c) *</a:t>
                      </a:r>
                    </a:p>
                  </a:txBody>
                  <a:tcPr anchor="ctr">
                    <a:solidFill>
                      <a:srgbClr val="EFF3F8"/>
                    </a:solidFill>
                  </a:tcPr>
                </a:tc>
              </a:tr>
              <a:tr h="410000">
                <a:tc>
                  <a:txBody>
                    <a:bodyPr/>
                    <a:lstStyle/>
                    <a:p>
                      <a:r>
                        <a:rPr sz="1250" b="0" i="0">
                          <a:solidFill>
                            <a:srgbClr val="222222"/>
                          </a:solidFill>
                        </a:rPr>
                        <a:t>Teknik</a:t>
                      </a:r>
                    </a:p>
                  </a:txBody>
                  <a:tcPr anchor="ctr">
                    <a:solidFill>
                      <a:srgbClr val="FFFFFF"/>
                    </a:solidFill>
                  </a:tcPr>
                </a:tc>
                <a:tc>
                  <a:txBody>
                    <a:bodyPr/>
                    <a:lstStyle/>
                    <a:p>
                      <a:r>
                        <a:rPr sz="1250" b="0" i="0">
                          <a:solidFill>
                            <a:srgbClr val="222222"/>
                          </a:solidFill>
                        </a:rPr>
                        <a:t>120</a:t>
                      </a:r>
                    </a:p>
                  </a:txBody>
                  <a:tcPr anchor="ctr">
                    <a:solidFill>
                      <a:srgbClr val="FFFFFF"/>
                    </a:solidFill>
                  </a:tcPr>
                </a:tc>
                <a:tc>
                  <a:txBody>
                    <a:bodyPr/>
                    <a:lstStyle/>
                    <a:p>
                      <a:r>
                        <a:rPr sz="1250" b="0" i="0">
                          <a:solidFill>
                            <a:srgbClr val="222222"/>
                          </a:solidFill>
                        </a:rPr>
                        <a:t>Dipol anten kısalma sebebi</a:t>
                      </a:r>
                    </a:p>
                  </a:txBody>
                  <a:tcPr anchor="ctr">
                    <a:solidFill>
                      <a:srgbClr val="FFFFFF"/>
                    </a:solidFill>
                  </a:tcPr>
                </a:tc>
                <a:tc>
                  <a:txBody>
                    <a:bodyPr/>
                    <a:lstStyle/>
                    <a:p>
                      <a:r>
                        <a:rPr sz="1250" b="1" i="0">
                          <a:solidFill>
                            <a:srgbClr val="A92B2B"/>
                          </a:solidFill>
                        </a:rPr>
                        <a:t>(b)</a:t>
                      </a:r>
                    </a:p>
                  </a:txBody>
                  <a:tcPr anchor="ctr">
                    <a:solidFill>
                      <a:srgbClr val="FFFFFF"/>
                    </a:solidFill>
                  </a:tcPr>
                </a:tc>
                <a:tc>
                  <a:txBody>
                    <a:bodyPr/>
                    <a:lstStyle/>
                    <a:p>
                      <a:r>
                        <a:rPr sz="1250" b="1" i="0">
                          <a:solidFill>
                            <a:srgbClr val="2E7D32"/>
                          </a:solidFill>
                        </a:rPr>
                        <a:t>(d)</a:t>
                      </a:r>
                    </a:p>
                  </a:txBody>
                  <a:tcPr anchor="ctr">
                    <a:solidFill>
                      <a:srgbClr val="FFFFFF"/>
                    </a:solidFill>
                  </a:tcPr>
                </a:tc>
              </a:tr>
            </a:tbl>
          </a:graphicData>
        </a:graphic>
      </p:graphicFrame>
      <p:sp>
        <p:nvSpPr>
          <p:cNvPr id="5" name="TextBox 4"/>
          <p:cNvSpPr txBox="1"/>
          <p:nvPr/>
        </p:nvSpPr>
        <p:spPr>
          <a:xfrm>
            <a:off x="731520" y="5560000"/>
            <a:ext cx="10728655" cy="900000"/>
          </a:xfrm>
          <a:prstGeom prst="rect">
            <a:avLst/>
          </a:prstGeom>
          <a:noFill/>
        </p:spPr>
        <p:txBody>
          <a:bodyPr wrap="square">
            <a:spAutoFit/>
          </a:bodyPr>
          <a:lstStyle/>
          <a:p>
            <a:pPr>
              <a:spcAft>
                <a:spcPts val="600"/>
              </a:spcAft>
            </a:pPr>
            <a:r>
              <a:rPr sz="1200" b="0" i="1">
                <a:solidFill>
                  <a:srgbClr val="222222"/>
                </a:solidFill>
              </a:rPr>
              <a:t>(*)</a:t>
            </a:r>
            <a:r>
              <a:rPr sz="1200" b="0" i="0">
                <a:solidFill>
                  <a:srgbClr val="222222"/>
                </a:solidFill>
              </a:rPr>
              <a:t> Soru 46 ve 66'da iki olası düzeltme yolu vardır — soru metni/değerleri mi, yoksa cevap anahtarı mı düzeltilmeli. </a:t>
            </a:r>
            <a:r>
              <a:rPr sz="1200" b="0" i="1">
                <a:solidFill>
                  <a:srgbClr val="222222"/>
                </a:solidFill>
              </a:rPr>
              <a:t>(†)</a:t>
            </a:r>
            <a:r>
              <a:rPr sz="1200" b="0" i="0">
                <a:solidFill>
                  <a:srgbClr val="222222"/>
                </a:solidFill>
              </a:rPr>
              <a:t> İşletme 22'de sorun cevapta değil, soru metnindeki kavram hatasındadır.</a:t>
            </a:r>
          </a:p>
          <a:p>
            <a:pPr>
              <a:spcAft>
                <a:spcPts val="0"/>
              </a:spcAft>
            </a:pPr>
            <a:r>
              <a:rPr sz="1200" b="0" i="0">
                <a:solidFill>
                  <a:srgbClr val="222222"/>
                </a:solidFill>
              </a:rPr>
              <a:t>Aşağıdaki slaytlarda her bulgu; orijinal soru, resmî işaretli cevap, bağımsız gerekçe/kanıt ve önerilen düzeltme ile sunulmuştur.</a:t>
            </a:r>
          </a:p>
        </p:txBody>
      </p:sp>
      <p:sp>
        <p:nvSpPr>
          <p:cNvPr id="6" name="TextBox 5"/>
          <p:cNvSpPr txBox="1"/>
          <p:nvPr/>
        </p:nvSpPr>
        <p:spPr>
          <a:xfrm>
            <a:off x="365760" y="6492240"/>
            <a:ext cx="11460175" cy="274320"/>
          </a:xfrm>
          <a:prstGeom prst="rect">
            <a:avLst/>
          </a:prstGeom>
          <a:noFill/>
        </p:spPr>
        <p:txBody>
          <a:bodyPr wrap="none">
            <a:spAutoFit/>
          </a:bodyPr>
          <a:lstStyle/>
          <a:p>
            <a:r>
              <a:rPr sz="1000" b="0" i="0">
                <a:solidFill>
                  <a:srgbClr val="595959"/>
                </a:solidFill>
              </a:rPr>
              <a:t>KEGM Düzeltme Önerisi — Bulguların Özeti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60175" cy="548640"/>
          </a:xfrm>
          <a:prstGeom prst="rect">
            <a:avLst/>
          </a:prstGeom>
          <a:noFill/>
        </p:spPr>
        <p:txBody>
          <a:bodyPr wrap="none">
            <a:spAutoFit/>
          </a:bodyPr>
          <a:lstStyle/>
          <a:p>
            <a:r>
              <a:rPr sz="2000" b="1" i="0">
                <a:solidFill>
                  <a:srgbClr val="FFFFFF"/>
                </a:solidFill>
              </a:rPr>
              <a:t>BULGU 1</a:t>
            </a:r>
            <a:r>
              <a:rPr sz="1500" b="0" i="0">
                <a:solidFill>
                  <a:srgbClr val="D6E4F0"/>
                </a:solidFill>
              </a:rPr>
              <a:t>   ·   Düzenlemeler Soru Bankası, Soru 17 — Mülga Yönetmeliğe Atıf</a:t>
            </a:r>
          </a:p>
        </p:txBody>
      </p:sp>
      <p:sp>
        <p:nvSpPr>
          <p:cNvPr id="4" name="Rectangle 3"/>
          <p:cNvSpPr/>
          <p:nvPr/>
        </p:nvSpPr>
        <p:spPr>
          <a:xfrm>
            <a:off x="457200" y="960120"/>
            <a:ext cx="5364345" cy="5440680"/>
          </a:xfrm>
          <a:prstGeom prst="rect">
            <a:avLst/>
          </a:prstGeom>
          <a:solidFill>
            <a:srgbClr val="F7F9FB"/>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bIns="137160"/>
          <a:lstStyle/>
          <a:p>
            <a:pPr algn="ctr">
              <a:spcAft>
                <a:spcPts val="600"/>
              </a:spcAft>
            </a:pPr>
            <a:r>
              <a:rPr sz="1300" b="1" i="0">
                <a:solidFill>
                  <a:srgbClr val="1F3864"/>
                </a:solidFill>
              </a:rPr>
              <a:t>ORİJİNAL SORU</a:t>
            </a:r>
          </a:p>
          <a:p>
            <a:pPr>
              <a:spcAft>
                <a:spcPts val="1000"/>
              </a:spcAft>
            </a:pPr>
            <a:r>
              <a:rPr sz="1250" b="1" i="0">
                <a:solidFill>
                  <a:srgbClr val="222222"/>
                </a:solidFill>
              </a:rPr>
              <a:t>Frekans tahsisine ihtiyaç duyulmayan, özel amaçlar için tahsis edilmiş frekans bandlarında ve çıkış gücünde çalışan … telsiz cihaz ve sistemlerinin, herhangi bir telsiz kurma ve kullanma iznine ve telsiz ruhsatnamesine ihtiyaç göstermeksizin kurulması ve kullanılması ile ilgili usul ve esasları belirleyen yönetmelik hangisidir?</a:t>
            </a:r>
          </a:p>
          <a:p>
            <a:pPr>
              <a:spcAft>
                <a:spcPts val="600"/>
              </a:spcAft>
            </a:pPr>
            <a:r>
              <a:rPr sz="1350" b="0" i="0">
                <a:solidFill>
                  <a:srgbClr val="222222"/>
                </a:solidFill>
              </a:rPr>
              <a:t>a)  </a:t>
            </a:r>
            <a:r>
              <a:rPr sz="1350" b="0" i="0">
                <a:solidFill>
                  <a:srgbClr val="222222"/>
                </a:solidFill>
              </a:rPr>
              <a:t>Deniz ve Hava Bandı Telsiz Haberleşme Sistemlerinin Kurulması … Dair Yönetmelik</a:t>
            </a:r>
          </a:p>
          <a:p>
            <a:pPr>
              <a:spcAft>
                <a:spcPts val="600"/>
              </a:spcAft>
            </a:pPr>
            <a:r>
              <a:rPr sz="1350" b="1" i="0">
                <a:solidFill>
                  <a:srgbClr val="A92B2B"/>
                </a:solidFill>
              </a:rPr>
              <a:t>b)  </a:t>
            </a:r>
            <a:r>
              <a:rPr sz="1350" b="1" i="0">
                <a:solidFill>
                  <a:srgbClr val="A92B2B"/>
                </a:solidFill>
              </a:rPr>
              <a:t>Özel Telsiz Sistemleri Yönetmeliği</a:t>
            </a:r>
            <a:r>
              <a:rPr sz="1150" b="0" i="0">
                <a:solidFill>
                  <a:srgbClr val="A92B2B"/>
                </a:solidFill>
              </a:rPr>
              <a:t>   ← Resmî cevap anahtarı</a:t>
            </a:r>
          </a:p>
          <a:p>
            <a:pPr>
              <a:spcAft>
                <a:spcPts val="600"/>
              </a:spcAft>
            </a:pPr>
            <a:r>
              <a:rPr sz="1350" b="0" i="0">
                <a:solidFill>
                  <a:srgbClr val="222222"/>
                </a:solidFill>
              </a:rPr>
              <a:t>c)  </a:t>
            </a:r>
            <a:r>
              <a:rPr sz="1350" b="0" i="0">
                <a:solidFill>
                  <a:srgbClr val="222222"/>
                </a:solidFill>
              </a:rPr>
              <a:t>Amatör Telsizcilik Sınav ve Belgelendirme Yönetmeliği</a:t>
            </a:r>
          </a:p>
          <a:p>
            <a:pPr>
              <a:spcAft>
                <a:spcPts val="600"/>
              </a:spcAft>
            </a:pPr>
            <a:r>
              <a:rPr sz="1350" b="0" i="0">
                <a:solidFill>
                  <a:srgbClr val="222222"/>
                </a:solidFill>
              </a:rPr>
              <a:t>d)  </a:t>
            </a:r>
            <a:r>
              <a:rPr sz="1350" b="0" i="0">
                <a:solidFill>
                  <a:srgbClr val="222222"/>
                </a:solidFill>
              </a:rPr>
              <a:t>Telsiz İşlemlerine İlişkin Usul ve Esaslar Hakkında Yönetmelik</a:t>
            </a:r>
          </a:p>
        </p:txBody>
      </p:sp>
      <p:sp>
        <p:nvSpPr>
          <p:cNvPr id="5" name="Rectangle 4"/>
          <p:cNvSpPr/>
          <p:nvPr/>
        </p:nvSpPr>
        <p:spPr>
          <a:xfrm>
            <a:off x="6050145" y="960120"/>
            <a:ext cx="5684350" cy="5440680"/>
          </a:xfrm>
          <a:prstGeom prst="rect">
            <a:avLst/>
          </a:prstGeom>
          <a:solidFill>
            <a:srgbClr val="E2EFDA"/>
          </a:solidFill>
          <a:ln w="9525">
            <a:solidFill>
              <a:srgbClr val="9BC17A"/>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bIns="137160"/>
          <a:lstStyle/>
          <a:p>
            <a:pPr algn="ctr">
              <a:spcAft>
                <a:spcPts val="600"/>
              </a:spcAft>
            </a:pPr>
            <a:r>
              <a:rPr sz="1300" b="1" i="0">
                <a:solidFill>
                  <a:srgbClr val="2E7D32"/>
                </a:solidFill>
              </a:rPr>
              <a:t>GEREKÇE / KANIT</a:t>
            </a:r>
          </a:p>
          <a:p>
            <a:pPr>
              <a:spcAft>
                <a:spcPts val="1200"/>
              </a:spcAft>
            </a:pPr>
            <a:r>
              <a:rPr sz="1300" b="0" i="0">
                <a:solidFill>
                  <a:srgbClr val="222222"/>
                </a:solidFill>
              </a:rPr>
              <a:t>Soru metninde tarif edilen kapsam bugün Frekans Tahsisinden Muaf Telsiz Cihaz ve Sistemleri Hakkında Yönetmelik'e </a:t>
            </a:r>
            <a:r>
              <a:rPr sz="1300" b="0" i="1">
                <a:solidFill>
                  <a:srgbClr val="222222"/>
                </a:solidFill>
              </a:rPr>
              <a:t>(FTM Yönetmeliği)</a:t>
            </a:r>
            <a:r>
              <a:rPr sz="1300" b="0" i="0">
                <a:solidFill>
                  <a:srgbClr val="222222"/>
                </a:solidFill>
              </a:rPr>
              <a:t> aittir. İşaretli cevaptaki Özel Telsiz Sistemleri Yönetmeliği </a:t>
            </a:r>
            <a:r>
              <a:rPr sz="1300" b="0" i="1">
                <a:solidFill>
                  <a:srgbClr val="222222"/>
                </a:solidFill>
              </a:rPr>
              <a:t>(18/7/2009 tarihli ve 27292 sayılı Resmî Gazete)</a:t>
            </a:r>
            <a:r>
              <a:rPr sz="1300" b="0" i="0">
                <a:solidFill>
                  <a:srgbClr val="222222"/>
                </a:solidFill>
              </a:rPr>
              <a:t>, FTM Yönetmeliği'nin </a:t>
            </a:r>
            <a:r>
              <a:rPr sz="1300" b="0" i="1">
                <a:solidFill>
                  <a:srgbClr val="222222"/>
                </a:solidFill>
              </a:rPr>
              <a:t>(27/11/2018 tarihli ve 30608 sayılı Resmî Gazete)</a:t>
            </a:r>
            <a:r>
              <a:rPr sz="1300" b="0" i="0">
                <a:solidFill>
                  <a:srgbClr val="222222"/>
                </a:solidFill>
              </a:rPr>
              <a:t> 9 uncu maddesinin ikinci fıkrasıyla yürürlükten kaldırılmıştır. Aynı Yönetmeliğin 8 inci maddesi, mülga Yönetmeliğe yapılan atıfların FTM Yönetmeliği'ne yapılmış sayılacağını hükme bağlamaktadır. Dolayısıyla bugün yürürlükteki doğru cevap, dört şıkkın hiçbirinde yer almamaktadır.</a:t>
            </a:r>
          </a:p>
          <a:p>
            <a:pPr>
              <a:spcAft>
                <a:spcPts val="400"/>
              </a:spcAft>
            </a:pPr>
            <a:r>
              <a:rPr sz="1300" b="1" i="0">
                <a:solidFill>
                  <a:srgbClr val="C05000"/>
                </a:solidFill>
              </a:rPr>
              <a:t>ÖNERİLEN DÜZELTME</a:t>
            </a:r>
          </a:p>
          <a:p>
            <a:pPr>
              <a:spcAft>
                <a:spcPts val="0"/>
              </a:spcAft>
            </a:pPr>
            <a:r>
              <a:rPr sz="1300" b="0" i="1">
                <a:solidFill>
                  <a:srgbClr val="222222"/>
                </a:solidFill>
              </a:rPr>
              <a:t>(b)</a:t>
            </a:r>
            <a:r>
              <a:rPr sz="1300" b="0" i="0">
                <a:solidFill>
                  <a:srgbClr val="222222"/>
                </a:solidFill>
              </a:rPr>
              <a:t> şıkkının “Frekans Tahsisinden Muaf Telsiz Cihaz ve Sistemleri Hakkında Yönetmelik” olarak güncellenmesini öneririz.</a:t>
            </a:r>
          </a:p>
        </p:txBody>
      </p:sp>
      <p:sp>
        <p:nvSpPr>
          <p:cNvPr id="6" name="TextBox 5"/>
          <p:cNvSpPr txBox="1"/>
          <p:nvPr/>
        </p:nvSpPr>
        <p:spPr>
          <a:xfrm>
            <a:off x="365760" y="6492240"/>
            <a:ext cx="11460175" cy="274320"/>
          </a:xfrm>
          <a:prstGeom prst="rect">
            <a:avLst/>
          </a:prstGeom>
          <a:noFill/>
        </p:spPr>
        <p:txBody>
          <a:bodyPr wrap="none">
            <a:spAutoFit/>
          </a:bodyPr>
          <a:lstStyle/>
          <a:p>
            <a:r>
              <a:rPr sz="1000" b="0" i="0">
                <a:solidFill>
                  <a:srgbClr val="595959"/>
                </a:solidFill>
              </a:rPr>
              <a:t>KEGM Düzeltme Önerisi — Bulgu 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60175" cy="548640"/>
          </a:xfrm>
          <a:prstGeom prst="rect">
            <a:avLst/>
          </a:prstGeom>
          <a:noFill/>
        </p:spPr>
        <p:txBody>
          <a:bodyPr wrap="none">
            <a:spAutoFit/>
          </a:bodyPr>
          <a:lstStyle/>
          <a:p>
            <a:r>
              <a:rPr sz="2000" b="1" i="0">
                <a:solidFill>
                  <a:srgbClr val="FFFFFF"/>
                </a:solidFill>
              </a:rPr>
              <a:t>BULGU 2</a:t>
            </a:r>
            <a:r>
              <a:rPr sz="1500" b="0" i="0">
                <a:solidFill>
                  <a:srgbClr val="D6E4F0"/>
                </a:solidFill>
              </a:rPr>
              <a:t>   ·   Düzenlemeler Soru Bankası, Soru 42 — Bant Planının Güncel Kaynağı</a:t>
            </a:r>
          </a:p>
        </p:txBody>
      </p:sp>
      <p:sp>
        <p:nvSpPr>
          <p:cNvPr id="4" name="Rectangle 3"/>
          <p:cNvSpPr/>
          <p:nvPr/>
        </p:nvSpPr>
        <p:spPr>
          <a:xfrm>
            <a:off x="457200" y="960120"/>
            <a:ext cx="5364345" cy="5440680"/>
          </a:xfrm>
          <a:prstGeom prst="rect">
            <a:avLst/>
          </a:prstGeom>
          <a:solidFill>
            <a:srgbClr val="F7F9FB"/>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bIns="137160"/>
          <a:lstStyle/>
          <a:p>
            <a:pPr algn="ctr">
              <a:spcAft>
                <a:spcPts val="600"/>
              </a:spcAft>
            </a:pPr>
            <a:r>
              <a:rPr sz="1300" b="1" i="0">
                <a:solidFill>
                  <a:srgbClr val="1F3864"/>
                </a:solidFill>
              </a:rPr>
              <a:t>ORİJİNAL SORU</a:t>
            </a:r>
          </a:p>
          <a:p>
            <a:pPr>
              <a:spcAft>
                <a:spcPts val="1000"/>
              </a:spcAft>
            </a:pPr>
            <a:r>
              <a:rPr sz="1450" b="1" i="0">
                <a:solidFill>
                  <a:srgbClr val="222222"/>
                </a:solidFill>
              </a:rPr>
              <a:t>Amatör Telsiz İstasyonunun frekansını, gücünü ve emisyonunu gösteren ulusal yönetmelik hangisidir?</a:t>
            </a:r>
          </a:p>
          <a:p>
            <a:pPr>
              <a:spcAft>
                <a:spcPts val="600"/>
              </a:spcAft>
            </a:pPr>
            <a:r>
              <a:rPr sz="1350" b="1" i="0">
                <a:solidFill>
                  <a:srgbClr val="A92B2B"/>
                </a:solidFill>
              </a:rPr>
              <a:t>a)  </a:t>
            </a:r>
            <a:r>
              <a:rPr sz="1350" b="1" i="0">
                <a:solidFill>
                  <a:srgbClr val="A92B2B"/>
                </a:solidFill>
              </a:rPr>
              <a:t>Özel Telsiz Sistemleri Yönetmeliği</a:t>
            </a:r>
            <a:r>
              <a:rPr sz="1150" b="0" i="0">
                <a:solidFill>
                  <a:srgbClr val="A92B2B"/>
                </a:solidFill>
              </a:rPr>
              <a:t>   ← Resmî cevap anahtarı</a:t>
            </a:r>
          </a:p>
          <a:p>
            <a:pPr>
              <a:spcAft>
                <a:spcPts val="600"/>
              </a:spcAft>
            </a:pPr>
            <a:r>
              <a:rPr sz="1350" b="0" i="0">
                <a:solidFill>
                  <a:srgbClr val="222222"/>
                </a:solidFill>
              </a:rPr>
              <a:t>b)  </a:t>
            </a:r>
            <a:r>
              <a:rPr sz="1350" b="0" i="0">
                <a:solidFill>
                  <a:srgbClr val="222222"/>
                </a:solidFill>
              </a:rPr>
              <a:t>Amatör Telsiz Yönetmeliği</a:t>
            </a:r>
          </a:p>
          <a:p>
            <a:pPr>
              <a:spcAft>
                <a:spcPts val="600"/>
              </a:spcAft>
            </a:pPr>
            <a:r>
              <a:rPr sz="1350" b="0" i="0">
                <a:solidFill>
                  <a:srgbClr val="222222"/>
                </a:solidFill>
              </a:rPr>
              <a:t>c)  </a:t>
            </a:r>
            <a:r>
              <a:rPr sz="1350" b="0" i="0">
                <a:solidFill>
                  <a:srgbClr val="222222"/>
                </a:solidFill>
              </a:rPr>
              <a:t>2813 sayılı Telsiz Kanunu</a:t>
            </a:r>
          </a:p>
          <a:p>
            <a:pPr>
              <a:spcAft>
                <a:spcPts val="600"/>
              </a:spcAft>
            </a:pPr>
            <a:r>
              <a:rPr sz="1350" b="0" i="0">
                <a:solidFill>
                  <a:srgbClr val="222222"/>
                </a:solidFill>
              </a:rPr>
              <a:t>d)  </a:t>
            </a:r>
            <a:r>
              <a:rPr sz="1350" b="0" i="0">
                <a:solidFill>
                  <a:srgbClr val="222222"/>
                </a:solidFill>
              </a:rPr>
              <a:t>Spektrum Yönetimi Yönetmeliği</a:t>
            </a:r>
          </a:p>
        </p:txBody>
      </p:sp>
      <p:sp>
        <p:nvSpPr>
          <p:cNvPr id="5" name="Rectangle 4"/>
          <p:cNvSpPr/>
          <p:nvPr/>
        </p:nvSpPr>
        <p:spPr>
          <a:xfrm>
            <a:off x="6050145" y="960120"/>
            <a:ext cx="5684350" cy="5440680"/>
          </a:xfrm>
          <a:prstGeom prst="rect">
            <a:avLst/>
          </a:prstGeom>
          <a:solidFill>
            <a:srgbClr val="E2EFDA"/>
          </a:solidFill>
          <a:ln w="9525">
            <a:solidFill>
              <a:srgbClr val="9BC17A"/>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bIns="137160"/>
          <a:lstStyle/>
          <a:p>
            <a:pPr algn="ctr">
              <a:spcAft>
                <a:spcPts val="600"/>
              </a:spcAft>
            </a:pPr>
            <a:r>
              <a:rPr sz="1300" b="1" i="0">
                <a:solidFill>
                  <a:srgbClr val="2E7D32"/>
                </a:solidFill>
              </a:rPr>
              <a:t>GEREKÇE / KANIT</a:t>
            </a:r>
          </a:p>
          <a:p>
            <a:pPr>
              <a:spcAft>
                <a:spcPts val="1200"/>
              </a:spcAft>
            </a:pPr>
            <a:r>
              <a:rPr sz="1300" b="0" i="0">
                <a:solidFill>
                  <a:srgbClr val="222222"/>
                </a:solidFill>
              </a:rPr>
              <a:t>İşaretli cevaptaki Özel Telsiz Sistemleri Yönetmeliği 27/11/2018 tarihinde mülga olmuştur </a:t>
            </a:r>
            <a:r>
              <a:rPr sz="1300" b="0" i="1">
                <a:solidFill>
                  <a:srgbClr val="222222"/>
                </a:solidFill>
              </a:rPr>
              <a:t>(Bulgu 1)</a:t>
            </a:r>
            <a:r>
              <a:rPr sz="1300" b="0" i="0">
                <a:solidFill>
                  <a:srgbClr val="222222"/>
                </a:solidFill>
              </a:rPr>
              <a:t>. Amatör telsiz istasyonlarının frekans bantları, azami çıkış güçleri ve emisyon tipleri bugün BTK'nın FTM Teknik Ölçütler dokümanında — 23/9/2022 tarihli ve 2022/İK-SYD/245 sayılı Kurul Kararı — Madde 22 ve Tablo 25'te yayımlanmaktadır. Şık </a:t>
            </a:r>
            <a:r>
              <a:rPr sz="1300" b="0" i="1">
                <a:solidFill>
                  <a:srgbClr val="222222"/>
                </a:solidFill>
              </a:rPr>
              <a:t>(b)</a:t>
            </a:r>
            <a:r>
              <a:rPr sz="1300" b="0" i="0">
                <a:solidFill>
                  <a:srgbClr val="222222"/>
                </a:solidFill>
              </a:rPr>
              <a:t>'deki Amatör Telsiz Yönetmeliği de 2009'da mülga olmuştur. Sorunun dört şıkkının hiçbiri, amatör bant planının bugünkü yürürlükteki kaynağını göstermemektedir.</a:t>
            </a:r>
          </a:p>
          <a:p>
            <a:pPr>
              <a:spcAft>
                <a:spcPts val="400"/>
              </a:spcAft>
            </a:pPr>
            <a:r>
              <a:rPr sz="1300" b="1" i="0">
                <a:solidFill>
                  <a:srgbClr val="C05000"/>
                </a:solidFill>
              </a:rPr>
              <a:t>ÖNERİLEN DÜZELTME</a:t>
            </a:r>
          </a:p>
          <a:p>
            <a:pPr>
              <a:spcAft>
                <a:spcPts val="0"/>
              </a:spcAft>
            </a:pPr>
            <a:r>
              <a:rPr sz="1300" b="0" i="0">
                <a:solidFill>
                  <a:srgbClr val="222222"/>
                </a:solidFill>
              </a:rPr>
              <a:t>Şıkların, bant planının güncel kaynağı olan FTM Teknik Ölçütler </a:t>
            </a:r>
            <a:r>
              <a:rPr sz="1300" b="0" i="1">
                <a:solidFill>
                  <a:srgbClr val="222222"/>
                </a:solidFill>
              </a:rPr>
              <a:t>(BTK Kurul Kararı 23/9/2022)</a:t>
            </a:r>
            <a:r>
              <a:rPr sz="1300" b="0" i="0">
                <a:solidFill>
                  <a:srgbClr val="222222"/>
                </a:solidFill>
              </a:rPr>
              <a:t> Md.22 ve Tablo 25'i içerecek biçimde yenilenmesini öneririz.</a:t>
            </a:r>
          </a:p>
        </p:txBody>
      </p:sp>
      <p:sp>
        <p:nvSpPr>
          <p:cNvPr id="6" name="TextBox 5"/>
          <p:cNvSpPr txBox="1"/>
          <p:nvPr/>
        </p:nvSpPr>
        <p:spPr>
          <a:xfrm>
            <a:off x="365760" y="6492240"/>
            <a:ext cx="11460175" cy="274320"/>
          </a:xfrm>
          <a:prstGeom prst="rect">
            <a:avLst/>
          </a:prstGeom>
          <a:noFill/>
        </p:spPr>
        <p:txBody>
          <a:bodyPr wrap="none">
            <a:spAutoFit/>
          </a:bodyPr>
          <a:lstStyle/>
          <a:p>
            <a:r>
              <a:rPr sz="1000" b="0" i="0">
                <a:solidFill>
                  <a:srgbClr val="595959"/>
                </a:solidFill>
              </a:rPr>
              <a:t>KEGM Düzeltme Önerisi — Bulgu 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60175" cy="548640"/>
          </a:xfrm>
          <a:prstGeom prst="rect">
            <a:avLst/>
          </a:prstGeom>
          <a:noFill/>
        </p:spPr>
        <p:txBody>
          <a:bodyPr wrap="none">
            <a:spAutoFit/>
          </a:bodyPr>
          <a:lstStyle/>
          <a:p>
            <a:r>
              <a:rPr sz="2000" b="1" i="0">
                <a:solidFill>
                  <a:srgbClr val="FFFFFF"/>
                </a:solidFill>
              </a:rPr>
              <a:t>BULGU 3</a:t>
            </a:r>
            <a:r>
              <a:rPr sz="1500" b="0" i="0">
                <a:solidFill>
                  <a:srgbClr val="D6E4F0"/>
                </a:solidFill>
              </a:rPr>
              <a:t>   ·   Düzenlemeler Soru Bankası, Soru 60 — Türkiye'nin ITU Bölgesi</a:t>
            </a:r>
          </a:p>
        </p:txBody>
      </p:sp>
      <p:sp>
        <p:nvSpPr>
          <p:cNvPr id="4" name="Rectangle 3"/>
          <p:cNvSpPr/>
          <p:nvPr/>
        </p:nvSpPr>
        <p:spPr>
          <a:xfrm>
            <a:off x="457200" y="960120"/>
            <a:ext cx="5364345" cy="5440680"/>
          </a:xfrm>
          <a:prstGeom prst="rect">
            <a:avLst/>
          </a:prstGeom>
          <a:solidFill>
            <a:srgbClr val="F7F9FB"/>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bIns="137160"/>
          <a:lstStyle/>
          <a:p>
            <a:pPr algn="ctr">
              <a:spcAft>
                <a:spcPts val="600"/>
              </a:spcAft>
            </a:pPr>
            <a:r>
              <a:rPr sz="1300" b="1" i="0">
                <a:solidFill>
                  <a:srgbClr val="1F3864"/>
                </a:solidFill>
              </a:rPr>
              <a:t>ORİJİNAL SORU</a:t>
            </a:r>
          </a:p>
          <a:p>
            <a:pPr>
              <a:spcAft>
                <a:spcPts val="1000"/>
              </a:spcAft>
            </a:pPr>
            <a:r>
              <a:rPr sz="1450" b="1" i="0">
                <a:solidFill>
                  <a:srgbClr val="222222"/>
                </a:solidFill>
              </a:rPr>
              <a:t>Türkiye, ITU'ya göre hangi bölge içinde yer almaktadır?</a:t>
            </a:r>
          </a:p>
          <a:p>
            <a:pPr>
              <a:spcAft>
                <a:spcPts val="600"/>
              </a:spcAft>
            </a:pPr>
            <a:r>
              <a:rPr sz="1350" b="0" i="0">
                <a:solidFill>
                  <a:srgbClr val="222222"/>
                </a:solidFill>
              </a:rPr>
              <a:t>a)  </a:t>
            </a:r>
            <a:r>
              <a:rPr sz="1350" b="0" i="0">
                <a:solidFill>
                  <a:srgbClr val="222222"/>
                </a:solidFill>
              </a:rPr>
              <a:t>21</a:t>
            </a:r>
          </a:p>
          <a:p>
            <a:pPr>
              <a:spcAft>
                <a:spcPts val="600"/>
              </a:spcAft>
            </a:pPr>
            <a:r>
              <a:rPr sz="1350" b="1" i="0">
                <a:solidFill>
                  <a:srgbClr val="A92B2B"/>
                </a:solidFill>
              </a:rPr>
              <a:t>b)  </a:t>
            </a:r>
            <a:r>
              <a:rPr sz="1350" b="1" i="0">
                <a:solidFill>
                  <a:srgbClr val="A92B2B"/>
                </a:solidFill>
              </a:rPr>
              <a:t>20</a:t>
            </a:r>
            <a:r>
              <a:rPr sz="1150" b="0" i="0">
                <a:solidFill>
                  <a:srgbClr val="A92B2B"/>
                </a:solidFill>
              </a:rPr>
              <a:t>   ← Resmî cevap anahtarı</a:t>
            </a:r>
          </a:p>
          <a:p>
            <a:pPr>
              <a:spcAft>
                <a:spcPts val="600"/>
              </a:spcAft>
            </a:pPr>
            <a:r>
              <a:rPr sz="1350" b="0" i="0">
                <a:solidFill>
                  <a:srgbClr val="222222"/>
                </a:solidFill>
              </a:rPr>
              <a:t>c)  </a:t>
            </a:r>
            <a:r>
              <a:rPr sz="1350" b="0" i="0">
                <a:solidFill>
                  <a:srgbClr val="222222"/>
                </a:solidFill>
              </a:rPr>
              <a:t>3</a:t>
            </a:r>
          </a:p>
          <a:p>
            <a:pPr>
              <a:spcAft>
                <a:spcPts val="600"/>
              </a:spcAft>
            </a:pPr>
            <a:r>
              <a:rPr sz="1350" b="0" i="0">
                <a:solidFill>
                  <a:srgbClr val="222222"/>
                </a:solidFill>
              </a:rPr>
              <a:t>d)  </a:t>
            </a:r>
            <a:r>
              <a:rPr sz="1350" b="0" i="0">
                <a:solidFill>
                  <a:srgbClr val="222222"/>
                </a:solidFill>
              </a:rPr>
              <a:t>1</a:t>
            </a:r>
          </a:p>
        </p:txBody>
      </p:sp>
      <p:sp>
        <p:nvSpPr>
          <p:cNvPr id="5" name="Rectangle 4"/>
          <p:cNvSpPr/>
          <p:nvPr/>
        </p:nvSpPr>
        <p:spPr>
          <a:xfrm>
            <a:off x="6050145" y="960120"/>
            <a:ext cx="5684350" cy="5440680"/>
          </a:xfrm>
          <a:prstGeom prst="rect">
            <a:avLst/>
          </a:prstGeom>
          <a:solidFill>
            <a:srgbClr val="E2EFDA"/>
          </a:solidFill>
          <a:ln w="9525">
            <a:solidFill>
              <a:srgbClr val="9BC17A"/>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bIns="137160"/>
          <a:lstStyle/>
          <a:p>
            <a:pPr algn="ctr">
              <a:spcAft>
                <a:spcPts val="600"/>
              </a:spcAft>
            </a:pPr>
            <a:r>
              <a:rPr sz="1300" b="1" i="0">
                <a:solidFill>
                  <a:srgbClr val="2E7D32"/>
                </a:solidFill>
              </a:rPr>
              <a:t>GEREKÇE / KANIT</a:t>
            </a:r>
          </a:p>
          <a:p>
            <a:pPr>
              <a:spcAft>
                <a:spcPts val="1200"/>
              </a:spcAft>
            </a:pPr>
            <a:r>
              <a:rPr sz="1300" b="0" i="0">
                <a:solidFill>
                  <a:srgbClr val="222222"/>
                </a:solidFill>
              </a:rPr>
              <a:t>ITU dünyayı üç bölgeye ayırır </a:t>
            </a:r>
            <a:r>
              <a:rPr sz="1300" b="0" i="1">
                <a:solidFill>
                  <a:srgbClr val="222222"/>
                </a:solidFill>
              </a:rPr>
              <a:t>(Region 1, Region 2, Region 3)</a:t>
            </a:r>
            <a:r>
              <a:rPr sz="1300" b="0" i="0">
                <a:solidFill>
                  <a:srgbClr val="222222"/>
                </a:solidFill>
              </a:rPr>
              <a:t> ve Türkiye Bölge 1'dedir; yani doğru cevap </a:t>
            </a:r>
            <a:r>
              <a:rPr sz="1300" b="0" i="1">
                <a:solidFill>
                  <a:srgbClr val="222222"/>
                </a:solidFill>
              </a:rPr>
              <a:t>(d)</a:t>
            </a:r>
            <a:r>
              <a:rPr sz="1300" b="0" i="0">
                <a:solidFill>
                  <a:srgbClr val="222222"/>
                </a:solidFill>
              </a:rPr>
              <a:t>'dir. İşaretli cevaptaki 20 sayısı ITU'ya değil, CQ dergisinin yarışmalar için tanımladığı CQ Zone bölümlemesine aittir — Türkiye CQ Zone 20'dedir. ITU'nun ayrıca kendi “ITU Zone” bölümlemesi vardır ve Türkiye bu sistemde Zone 39'dur. Birbirinden bağımsız bu üç sistem </a:t>
            </a:r>
            <a:r>
              <a:rPr sz="1300" b="0" i="1">
                <a:solidFill>
                  <a:srgbClr val="222222"/>
                </a:solidFill>
              </a:rPr>
              <a:t>(IARU Region, CQ Zone, ITU Zone)</a:t>
            </a:r>
            <a:r>
              <a:rPr sz="1300" b="0" i="0">
                <a:solidFill>
                  <a:srgbClr val="222222"/>
                </a:solidFill>
              </a:rPr>
              <a:t> camiada sıkça karıştırılmaktadır; soru bu karışıklığı sınav yoluyla pekiştirmektedir.</a:t>
            </a:r>
          </a:p>
          <a:p>
            <a:pPr>
              <a:spcAft>
                <a:spcPts val="400"/>
              </a:spcAft>
            </a:pPr>
            <a:r>
              <a:rPr sz="1300" b="1" i="0">
                <a:solidFill>
                  <a:srgbClr val="C05000"/>
                </a:solidFill>
              </a:rPr>
              <a:t>ÖNERİLEN DÜZELTME</a:t>
            </a:r>
          </a:p>
          <a:p>
            <a:pPr>
              <a:spcAft>
                <a:spcPts val="0"/>
              </a:spcAft>
            </a:pPr>
            <a:r>
              <a:rPr sz="1300" b="0" i="0">
                <a:solidFill>
                  <a:srgbClr val="222222"/>
                </a:solidFill>
              </a:rPr>
              <a:t>Cevap anahtarının </a:t>
            </a:r>
            <a:r>
              <a:rPr sz="1300" b="0" i="1">
                <a:solidFill>
                  <a:srgbClr val="222222"/>
                </a:solidFill>
              </a:rPr>
              <a:t>(d)</a:t>
            </a:r>
            <a:r>
              <a:rPr sz="1300" b="0" i="0">
                <a:solidFill>
                  <a:srgbClr val="222222"/>
                </a:solidFill>
              </a:rPr>
              <a:t> “1” olarak güncellenmesini öneririz. Alternatif olarak soru, “CQ Zone” veya “ITU Zone” soracak biçimde yeniden yazılabilir; bu durumda doğru cevaplar sırasıyla 20 ve 39 olur.</a:t>
            </a:r>
          </a:p>
        </p:txBody>
      </p:sp>
      <p:sp>
        <p:nvSpPr>
          <p:cNvPr id="6" name="TextBox 5"/>
          <p:cNvSpPr txBox="1"/>
          <p:nvPr/>
        </p:nvSpPr>
        <p:spPr>
          <a:xfrm>
            <a:off x="365760" y="6492240"/>
            <a:ext cx="11460175" cy="274320"/>
          </a:xfrm>
          <a:prstGeom prst="rect">
            <a:avLst/>
          </a:prstGeom>
          <a:noFill/>
        </p:spPr>
        <p:txBody>
          <a:bodyPr wrap="none">
            <a:spAutoFit/>
          </a:bodyPr>
          <a:lstStyle/>
          <a:p>
            <a:r>
              <a:rPr sz="1000" b="0" i="0">
                <a:solidFill>
                  <a:srgbClr val="595959"/>
                </a:solidFill>
              </a:rPr>
              <a:t>KEGM Düzeltme Önerisi — Bulgu 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60175" cy="548640"/>
          </a:xfrm>
          <a:prstGeom prst="rect">
            <a:avLst/>
          </a:prstGeom>
          <a:noFill/>
        </p:spPr>
        <p:txBody>
          <a:bodyPr wrap="none">
            <a:spAutoFit/>
          </a:bodyPr>
          <a:lstStyle/>
          <a:p>
            <a:r>
              <a:rPr sz="2000" b="1" i="0">
                <a:solidFill>
                  <a:srgbClr val="FFFFFF"/>
                </a:solidFill>
              </a:rPr>
              <a:t>BULGU 4</a:t>
            </a:r>
            <a:r>
              <a:rPr sz="1500" b="0" i="0">
                <a:solidFill>
                  <a:srgbClr val="D6E4F0"/>
                </a:solidFill>
              </a:rPr>
              <a:t>   ·   İşletme Soru Bankası, Soru 22 — “IARU ZONE” Kavram Hatası</a:t>
            </a:r>
          </a:p>
        </p:txBody>
      </p:sp>
      <p:sp>
        <p:nvSpPr>
          <p:cNvPr id="4" name="Rectangle 3"/>
          <p:cNvSpPr/>
          <p:nvPr/>
        </p:nvSpPr>
        <p:spPr>
          <a:xfrm>
            <a:off x="457200" y="960120"/>
            <a:ext cx="5364345" cy="5440680"/>
          </a:xfrm>
          <a:prstGeom prst="rect">
            <a:avLst/>
          </a:prstGeom>
          <a:solidFill>
            <a:srgbClr val="F7F9FB"/>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bIns="137160"/>
          <a:lstStyle/>
          <a:p>
            <a:pPr algn="ctr">
              <a:spcAft>
                <a:spcPts val="600"/>
              </a:spcAft>
            </a:pPr>
            <a:r>
              <a:rPr sz="1300" b="1" i="0">
                <a:solidFill>
                  <a:srgbClr val="1F3864"/>
                </a:solidFill>
              </a:rPr>
              <a:t>ORİJİNAL SORU</a:t>
            </a:r>
          </a:p>
          <a:p>
            <a:pPr>
              <a:spcAft>
                <a:spcPts val="1000"/>
              </a:spcAft>
            </a:pPr>
            <a:r>
              <a:rPr sz="1450" b="1" i="0">
                <a:solidFill>
                  <a:srgbClr val="222222"/>
                </a:solidFill>
              </a:rPr>
              <a:t>Türkiye'deki amatörlere ait QSL kartlarında yazılı bulunan “IARU ZONE 20” ifadesi ne anlama gelmektedir?</a:t>
            </a:r>
          </a:p>
          <a:p>
            <a:pPr>
              <a:spcAft>
                <a:spcPts val="600"/>
              </a:spcAft>
            </a:pPr>
            <a:r>
              <a:rPr sz="1350" b="0" i="0">
                <a:solidFill>
                  <a:srgbClr val="222222"/>
                </a:solidFill>
              </a:rPr>
              <a:t>a)  </a:t>
            </a:r>
            <a:r>
              <a:rPr sz="1350" b="0" i="0">
                <a:solidFill>
                  <a:srgbClr val="222222"/>
                </a:solidFill>
              </a:rPr>
              <a:t>Türkiye'nin üyelik sırasını</a:t>
            </a:r>
          </a:p>
          <a:p>
            <a:pPr>
              <a:spcAft>
                <a:spcPts val="600"/>
              </a:spcAft>
            </a:pPr>
            <a:r>
              <a:rPr sz="1350" b="0" i="0">
                <a:solidFill>
                  <a:srgbClr val="222222"/>
                </a:solidFill>
              </a:rPr>
              <a:t>b)  </a:t>
            </a:r>
            <a:r>
              <a:rPr sz="1350" b="0" i="0">
                <a:solidFill>
                  <a:srgbClr val="222222"/>
                </a:solidFill>
              </a:rPr>
              <a:t>Türkiye'nin başarı sıralamasındaki yerini</a:t>
            </a:r>
          </a:p>
          <a:p>
            <a:pPr>
              <a:spcAft>
                <a:spcPts val="600"/>
              </a:spcAft>
            </a:pPr>
            <a:r>
              <a:rPr sz="1350" b="1" i="0">
                <a:solidFill>
                  <a:srgbClr val="A92B2B"/>
                </a:solidFill>
              </a:rPr>
              <a:t>c)  </a:t>
            </a:r>
            <a:r>
              <a:rPr sz="1350" b="1" i="0">
                <a:solidFill>
                  <a:srgbClr val="A92B2B"/>
                </a:solidFill>
              </a:rPr>
              <a:t>Türkiye'nin bölge numarasını</a:t>
            </a:r>
            <a:r>
              <a:rPr sz="1150" b="0" i="0">
                <a:solidFill>
                  <a:srgbClr val="A92B2B"/>
                </a:solidFill>
              </a:rPr>
              <a:t>   ← Resmî cevap anahtarı</a:t>
            </a:r>
          </a:p>
          <a:p>
            <a:pPr>
              <a:spcAft>
                <a:spcPts val="600"/>
              </a:spcAft>
            </a:pPr>
            <a:r>
              <a:rPr sz="1350" b="0" i="0">
                <a:solidFill>
                  <a:srgbClr val="222222"/>
                </a:solidFill>
              </a:rPr>
              <a:t>d)  </a:t>
            </a:r>
            <a:r>
              <a:rPr sz="1350" b="0" i="0">
                <a:solidFill>
                  <a:srgbClr val="222222"/>
                </a:solidFill>
              </a:rPr>
              <a:t>Türkiye'nin üyelik kodunu</a:t>
            </a:r>
          </a:p>
        </p:txBody>
      </p:sp>
      <p:sp>
        <p:nvSpPr>
          <p:cNvPr id="5" name="Rectangle 4"/>
          <p:cNvSpPr/>
          <p:nvPr/>
        </p:nvSpPr>
        <p:spPr>
          <a:xfrm>
            <a:off x="6050145" y="960120"/>
            <a:ext cx="5684350" cy="5440680"/>
          </a:xfrm>
          <a:prstGeom prst="rect">
            <a:avLst/>
          </a:prstGeom>
          <a:solidFill>
            <a:srgbClr val="E2EFDA"/>
          </a:solidFill>
          <a:ln w="9525">
            <a:solidFill>
              <a:srgbClr val="9BC17A"/>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bIns="137160"/>
          <a:lstStyle/>
          <a:p>
            <a:pPr algn="ctr">
              <a:spcAft>
                <a:spcPts val="600"/>
              </a:spcAft>
            </a:pPr>
            <a:r>
              <a:rPr sz="1300" b="1" i="0">
                <a:solidFill>
                  <a:srgbClr val="2E7D32"/>
                </a:solidFill>
              </a:rPr>
              <a:t>GEREKÇE / KANIT</a:t>
            </a:r>
          </a:p>
          <a:p>
            <a:pPr>
              <a:spcAft>
                <a:spcPts val="1200"/>
              </a:spcAft>
            </a:pPr>
            <a:r>
              <a:rPr sz="1300" b="0" i="0">
                <a:solidFill>
                  <a:srgbClr val="222222"/>
                </a:solidFill>
              </a:rPr>
              <a:t>İşaretli cevap </a:t>
            </a:r>
            <a:r>
              <a:rPr sz="1300" b="0" i="1">
                <a:solidFill>
                  <a:srgbClr val="222222"/>
                </a:solidFill>
              </a:rPr>
              <a:t>(c)</a:t>
            </a:r>
            <a:r>
              <a:rPr sz="1300" b="0" i="0">
                <a:solidFill>
                  <a:srgbClr val="222222"/>
                </a:solidFill>
              </a:rPr>
              <a:t>, verilen dört şık içinde en yakın olanıdır; sorun cevapta değil, soru metnindedir. IARU'nun numaralandırılmış bir “zone” sistemi yoktur: IARU dünyayı üç Region'a ayırır ve Türkiye IARU Region 1'dedir. QSL kartlarında görülen 20 sayısı CQ Zone'a aittir </a:t>
            </a:r>
            <a:r>
              <a:rPr sz="1300" b="0" i="1">
                <a:solidFill>
                  <a:srgbClr val="222222"/>
                </a:solidFill>
              </a:rPr>
              <a:t>(Türkiye'nin ITU Zone'u ise 39'dur)</a:t>
            </a:r>
            <a:r>
              <a:rPr sz="1300" b="0" i="0">
                <a:solidFill>
                  <a:srgbClr val="222222"/>
                </a:solidFill>
              </a:rPr>
              <a:t>. Soru bu haliyle, camiada yaygın olan bir kavram karışıklığını sınav yoluyla pekiştirmektedir. Bulgu 3 ile aynı kökten gelmektedir.</a:t>
            </a:r>
          </a:p>
          <a:p>
            <a:pPr>
              <a:spcAft>
                <a:spcPts val="400"/>
              </a:spcAft>
            </a:pPr>
            <a:r>
              <a:rPr sz="1300" b="1" i="0">
                <a:solidFill>
                  <a:srgbClr val="C05000"/>
                </a:solidFill>
              </a:rPr>
              <a:t>ÖNERİLEN DÜZELTME</a:t>
            </a:r>
          </a:p>
          <a:p>
            <a:pPr>
              <a:spcAft>
                <a:spcPts val="0"/>
              </a:spcAft>
            </a:pPr>
            <a:r>
              <a:rPr sz="1300" b="0" i="0">
                <a:solidFill>
                  <a:srgbClr val="222222"/>
                </a:solidFill>
              </a:rPr>
              <a:t>Soru metnindeki “IARU ZONE 20” ifadesinin “CQ ZONE 20” olarak düzeltilmesini; şık </a:t>
            </a:r>
            <a:r>
              <a:rPr sz="1300" b="0" i="1">
                <a:solidFill>
                  <a:srgbClr val="222222"/>
                </a:solidFill>
              </a:rPr>
              <a:t>(c)</a:t>
            </a:r>
            <a:r>
              <a:rPr sz="1300" b="0" i="0">
                <a:solidFill>
                  <a:srgbClr val="222222"/>
                </a:solidFill>
              </a:rPr>
              <a:t>'nin “Türkiye'nin yarışma bölge numarasını” biçiminde netleştirilmesini öneririz. Düzeltme, Düzenlemeler Soru 60 ile birlikte değerlendirilmelidir.</a:t>
            </a:r>
          </a:p>
        </p:txBody>
      </p:sp>
      <p:sp>
        <p:nvSpPr>
          <p:cNvPr id="6" name="TextBox 5"/>
          <p:cNvSpPr txBox="1"/>
          <p:nvPr/>
        </p:nvSpPr>
        <p:spPr>
          <a:xfrm>
            <a:off x="365760" y="6492240"/>
            <a:ext cx="11460175" cy="274320"/>
          </a:xfrm>
          <a:prstGeom prst="rect">
            <a:avLst/>
          </a:prstGeom>
          <a:noFill/>
        </p:spPr>
        <p:txBody>
          <a:bodyPr wrap="none">
            <a:spAutoFit/>
          </a:bodyPr>
          <a:lstStyle/>
          <a:p>
            <a:r>
              <a:rPr sz="1000" b="0" i="0">
                <a:solidFill>
                  <a:srgbClr val="595959"/>
                </a:solidFill>
              </a:rPr>
              <a:t>KEGM Düzeltme Önerisi — Bulgu 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60175" cy="548640"/>
          </a:xfrm>
          <a:prstGeom prst="rect">
            <a:avLst/>
          </a:prstGeom>
          <a:noFill/>
        </p:spPr>
        <p:txBody>
          <a:bodyPr wrap="none">
            <a:spAutoFit/>
          </a:bodyPr>
          <a:lstStyle/>
          <a:p>
            <a:r>
              <a:rPr sz="2000" b="1" i="0">
                <a:solidFill>
                  <a:srgbClr val="FFFFFF"/>
                </a:solidFill>
              </a:rPr>
              <a:t>BULGU 5</a:t>
            </a:r>
            <a:r>
              <a:rPr sz="1500" b="0" i="0">
                <a:solidFill>
                  <a:srgbClr val="D6E4F0"/>
                </a:solidFill>
              </a:rPr>
              <a:t>   ·   İşletme Soru Bankası, Soru 43 — CQ Çağrısı — Mod Zorunluluğu</a:t>
            </a:r>
          </a:p>
        </p:txBody>
      </p:sp>
      <p:sp>
        <p:nvSpPr>
          <p:cNvPr id="4" name="Rectangle 3"/>
          <p:cNvSpPr/>
          <p:nvPr/>
        </p:nvSpPr>
        <p:spPr>
          <a:xfrm>
            <a:off x="457200" y="960120"/>
            <a:ext cx="5364345" cy="5440680"/>
          </a:xfrm>
          <a:prstGeom prst="rect">
            <a:avLst/>
          </a:prstGeom>
          <a:solidFill>
            <a:srgbClr val="F7F9FB"/>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bIns="137160"/>
          <a:lstStyle/>
          <a:p>
            <a:pPr algn="ctr">
              <a:spcAft>
                <a:spcPts val="600"/>
              </a:spcAft>
            </a:pPr>
            <a:r>
              <a:rPr sz="1300" b="1" i="0">
                <a:solidFill>
                  <a:srgbClr val="1F3864"/>
                </a:solidFill>
              </a:rPr>
              <a:t>ORİJİNAL SORU</a:t>
            </a:r>
          </a:p>
          <a:p>
            <a:pPr>
              <a:spcAft>
                <a:spcPts val="1000"/>
              </a:spcAft>
            </a:pPr>
            <a:r>
              <a:rPr sz="1450" b="1" i="0">
                <a:solidFill>
                  <a:srgbClr val="222222"/>
                </a:solidFill>
              </a:rPr>
              <a:t>CQ Çağrısı yapılırken aşağıdakilerden hangisi uygulanır?</a:t>
            </a:r>
          </a:p>
          <a:p>
            <a:pPr>
              <a:spcAft>
                <a:spcPts val="600"/>
              </a:spcAft>
            </a:pPr>
            <a:r>
              <a:rPr sz="1350" b="0" i="0">
                <a:solidFill>
                  <a:srgbClr val="222222"/>
                </a:solidFill>
              </a:rPr>
              <a:t>a)  </a:t>
            </a:r>
            <a:r>
              <a:rPr sz="1350" b="0" i="0">
                <a:solidFill>
                  <a:srgbClr val="222222"/>
                </a:solidFill>
              </a:rPr>
              <a:t>Zayıf bir istasyonun çalıştığı frekansta çağrı yapmak</a:t>
            </a:r>
          </a:p>
          <a:p>
            <a:pPr>
              <a:spcAft>
                <a:spcPts val="600"/>
              </a:spcAft>
            </a:pPr>
            <a:r>
              <a:rPr sz="1350" b="1" i="0">
                <a:solidFill>
                  <a:srgbClr val="A92B2B"/>
                </a:solidFill>
              </a:rPr>
              <a:t>b)  </a:t>
            </a:r>
            <a:r>
              <a:rPr sz="1350" b="1" i="0">
                <a:solidFill>
                  <a:srgbClr val="A92B2B"/>
                </a:solidFill>
              </a:rPr>
              <a:t>Daima CW kullanmak</a:t>
            </a:r>
            <a:r>
              <a:rPr sz="1150" b="0" i="0">
                <a:solidFill>
                  <a:srgbClr val="A92B2B"/>
                </a:solidFill>
              </a:rPr>
              <a:t>   ← Resmî cevap anahtarı</a:t>
            </a:r>
          </a:p>
          <a:p>
            <a:pPr>
              <a:spcAft>
                <a:spcPts val="600"/>
              </a:spcAft>
            </a:pPr>
            <a:r>
              <a:rPr sz="1350" b="0" i="0">
                <a:solidFill>
                  <a:srgbClr val="222222"/>
                </a:solidFill>
              </a:rPr>
              <a:t>c)  </a:t>
            </a:r>
            <a:r>
              <a:rPr sz="1350" b="0" i="0">
                <a:solidFill>
                  <a:srgbClr val="222222"/>
                </a:solidFill>
              </a:rPr>
              <a:t>Sadece uzak istasyonlara çağrı yapmak</a:t>
            </a:r>
          </a:p>
          <a:p>
            <a:pPr>
              <a:spcAft>
                <a:spcPts val="600"/>
              </a:spcAft>
            </a:pPr>
            <a:r>
              <a:rPr sz="1350" b="0" i="0">
                <a:solidFill>
                  <a:srgbClr val="222222"/>
                </a:solidFill>
              </a:rPr>
              <a:t>d)  </a:t>
            </a:r>
            <a:r>
              <a:rPr sz="1350" b="0" i="0">
                <a:solidFill>
                  <a:srgbClr val="222222"/>
                </a:solidFill>
              </a:rPr>
              <a:t>Çağrıya başlamadan önce frekansın boş olup olmadığını kontrol etmek</a:t>
            </a:r>
          </a:p>
        </p:txBody>
      </p:sp>
      <p:sp>
        <p:nvSpPr>
          <p:cNvPr id="5" name="Rectangle 4"/>
          <p:cNvSpPr/>
          <p:nvPr/>
        </p:nvSpPr>
        <p:spPr>
          <a:xfrm>
            <a:off x="6050145" y="960120"/>
            <a:ext cx="5684350" cy="5440680"/>
          </a:xfrm>
          <a:prstGeom prst="rect">
            <a:avLst/>
          </a:prstGeom>
          <a:solidFill>
            <a:srgbClr val="E2EFDA"/>
          </a:solidFill>
          <a:ln w="9525">
            <a:solidFill>
              <a:srgbClr val="9BC17A"/>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bIns="137160"/>
          <a:lstStyle/>
          <a:p>
            <a:pPr algn="ctr">
              <a:spcAft>
                <a:spcPts val="600"/>
              </a:spcAft>
            </a:pPr>
            <a:r>
              <a:rPr sz="1300" b="1" i="0">
                <a:solidFill>
                  <a:srgbClr val="2E7D32"/>
                </a:solidFill>
              </a:rPr>
              <a:t>GEREKÇE / KANIT</a:t>
            </a:r>
          </a:p>
          <a:p>
            <a:pPr>
              <a:spcAft>
                <a:spcPts val="1200"/>
              </a:spcAft>
            </a:pPr>
            <a:r>
              <a:rPr sz="1300" b="0" i="0">
                <a:solidFill>
                  <a:srgbClr val="222222"/>
                </a:solidFill>
              </a:rPr>
              <a:t>CQ </a:t>
            </a:r>
            <a:r>
              <a:rPr sz="1300" b="0" i="1">
                <a:solidFill>
                  <a:srgbClr val="222222"/>
                </a:solidFill>
              </a:rPr>
              <a:t>(genel çağrı)</a:t>
            </a:r>
            <a:r>
              <a:rPr sz="1300" b="0" i="0">
                <a:solidFill>
                  <a:srgbClr val="222222"/>
                </a:solidFill>
              </a:rPr>
              <a:t>, amatör telsizcilikte CW, SSB </a:t>
            </a:r>
            <a:r>
              <a:rPr sz="1300" b="0" i="1">
                <a:solidFill>
                  <a:srgbClr val="222222"/>
                </a:solidFill>
              </a:rPr>
              <a:t>(ses)</a:t>
            </a:r>
            <a:r>
              <a:rPr sz="1300" b="0" i="0">
                <a:solidFill>
                  <a:srgbClr val="222222"/>
                </a:solidFill>
              </a:rPr>
              <a:t> veya dijital modların herhangi biriyle yapılabilir; hiçbir uluslararası veya ulusal düzenlemede CQ çağrısının yalnızca CW ile yapılması gibi bir zorunluluk yoktur. Buna karşın, herhangi bir frekansta çağrı yapmadan önce o frekansın boş </a:t>
            </a:r>
            <a:r>
              <a:rPr sz="1300" b="0" i="1">
                <a:solidFill>
                  <a:srgbClr val="222222"/>
                </a:solidFill>
              </a:rPr>
              <a:t>(kullanımda olmadığı)</a:t>
            </a:r>
            <a:r>
              <a:rPr sz="1300" b="0" i="0">
                <a:solidFill>
                  <a:srgbClr val="222222"/>
                </a:solidFill>
              </a:rPr>
              <a:t> olduğundan emin olunması, evrensel kabul görmüş ve tartışmasız bir işletme adabı kuralıdır.</a:t>
            </a:r>
          </a:p>
          <a:p>
            <a:pPr>
              <a:spcAft>
                <a:spcPts val="400"/>
              </a:spcAft>
            </a:pPr>
            <a:r>
              <a:rPr sz="1300" b="1" i="0">
                <a:solidFill>
                  <a:srgbClr val="C05000"/>
                </a:solidFill>
              </a:rPr>
              <a:t>ÖNERİLEN DÜZELTME</a:t>
            </a:r>
          </a:p>
          <a:p>
            <a:pPr>
              <a:spcAft>
                <a:spcPts val="0"/>
              </a:spcAft>
            </a:pPr>
            <a:r>
              <a:rPr sz="1300" b="0" i="0">
                <a:solidFill>
                  <a:srgbClr val="222222"/>
                </a:solidFill>
              </a:rPr>
              <a:t>Cevap anahtarının </a:t>
            </a:r>
            <a:r>
              <a:rPr sz="1300" b="0" i="1">
                <a:solidFill>
                  <a:srgbClr val="222222"/>
                </a:solidFill>
              </a:rPr>
              <a:t>(d)</a:t>
            </a:r>
            <a:r>
              <a:rPr sz="1300" b="0" i="0">
                <a:solidFill>
                  <a:srgbClr val="222222"/>
                </a:solidFill>
              </a:rPr>
              <a:t> “Çağrıya başlamadan önce frekansın boş olup olmadığını kontrol etmek” olarak güncellenmesini öneririz.</a:t>
            </a:r>
          </a:p>
        </p:txBody>
      </p:sp>
      <p:sp>
        <p:nvSpPr>
          <p:cNvPr id="6" name="TextBox 5"/>
          <p:cNvSpPr txBox="1"/>
          <p:nvPr/>
        </p:nvSpPr>
        <p:spPr>
          <a:xfrm>
            <a:off x="365760" y="6492240"/>
            <a:ext cx="11460175" cy="274320"/>
          </a:xfrm>
          <a:prstGeom prst="rect">
            <a:avLst/>
          </a:prstGeom>
          <a:noFill/>
        </p:spPr>
        <p:txBody>
          <a:bodyPr wrap="none">
            <a:spAutoFit/>
          </a:bodyPr>
          <a:lstStyle/>
          <a:p>
            <a:r>
              <a:rPr sz="1000" b="0" i="0">
                <a:solidFill>
                  <a:srgbClr val="595959"/>
                </a:solidFill>
              </a:rPr>
              <a:t>KEGM Düzeltme Önerisi — Bulgu 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60175" cy="548640"/>
          </a:xfrm>
          <a:prstGeom prst="rect">
            <a:avLst/>
          </a:prstGeom>
          <a:noFill/>
        </p:spPr>
        <p:txBody>
          <a:bodyPr wrap="none">
            <a:spAutoFit/>
          </a:bodyPr>
          <a:lstStyle/>
          <a:p>
            <a:r>
              <a:rPr sz="2000" b="1" i="0">
                <a:solidFill>
                  <a:srgbClr val="FFFFFF"/>
                </a:solidFill>
              </a:rPr>
              <a:t>BULGU 6</a:t>
            </a:r>
            <a:r>
              <a:rPr sz="1500" b="0" i="0">
                <a:solidFill>
                  <a:srgbClr val="D6E4F0"/>
                </a:solidFill>
              </a:rPr>
              <a:t>   ·   İşletme Soru Bankası, Soru 89 — Dernek Çağrı İşaretinin Ön Eki</a:t>
            </a:r>
          </a:p>
        </p:txBody>
      </p:sp>
      <p:sp>
        <p:nvSpPr>
          <p:cNvPr id="4" name="Rectangle 3"/>
          <p:cNvSpPr/>
          <p:nvPr/>
        </p:nvSpPr>
        <p:spPr>
          <a:xfrm>
            <a:off x="457200" y="960120"/>
            <a:ext cx="5364345" cy="5440680"/>
          </a:xfrm>
          <a:prstGeom prst="rect">
            <a:avLst/>
          </a:prstGeom>
          <a:solidFill>
            <a:srgbClr val="F7F9FB"/>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bIns="137160"/>
          <a:lstStyle/>
          <a:p>
            <a:pPr algn="ctr">
              <a:spcAft>
                <a:spcPts val="600"/>
              </a:spcAft>
            </a:pPr>
            <a:r>
              <a:rPr sz="1300" b="1" i="0">
                <a:solidFill>
                  <a:srgbClr val="1F3864"/>
                </a:solidFill>
              </a:rPr>
              <a:t>ORİJİNAL SORU</a:t>
            </a:r>
          </a:p>
          <a:p>
            <a:pPr>
              <a:spcAft>
                <a:spcPts val="1000"/>
              </a:spcAft>
            </a:pPr>
            <a:r>
              <a:rPr sz="1450" b="1" i="0">
                <a:solidFill>
                  <a:srgbClr val="222222"/>
                </a:solidFill>
              </a:rPr>
              <a:t>TA2KA çağrı işaretinin özelliği nedir?</a:t>
            </a:r>
          </a:p>
          <a:p>
            <a:pPr>
              <a:spcAft>
                <a:spcPts val="600"/>
              </a:spcAft>
            </a:pPr>
            <a:r>
              <a:rPr sz="1350" b="0" i="0">
                <a:solidFill>
                  <a:srgbClr val="222222"/>
                </a:solidFill>
              </a:rPr>
              <a:t>a)  </a:t>
            </a:r>
            <a:r>
              <a:rPr sz="1350" b="0" i="0">
                <a:solidFill>
                  <a:srgbClr val="222222"/>
                </a:solidFill>
              </a:rPr>
              <a:t>2. Bölgede bulunan bir amatöre ait istasyondur</a:t>
            </a:r>
          </a:p>
          <a:p>
            <a:pPr>
              <a:spcAft>
                <a:spcPts val="600"/>
              </a:spcAft>
            </a:pPr>
            <a:r>
              <a:rPr sz="1350" b="1" i="0">
                <a:solidFill>
                  <a:srgbClr val="A92B2B"/>
                </a:solidFill>
              </a:rPr>
              <a:t>b)  </a:t>
            </a:r>
            <a:r>
              <a:rPr sz="1350" b="1" i="0">
                <a:solidFill>
                  <a:srgbClr val="A92B2B"/>
                </a:solidFill>
              </a:rPr>
              <a:t>Dernek istasyonudur</a:t>
            </a:r>
            <a:r>
              <a:rPr sz="1150" b="0" i="0">
                <a:solidFill>
                  <a:srgbClr val="A92B2B"/>
                </a:solidFill>
              </a:rPr>
              <a:t>   ← Resmî cevap anahtarı</a:t>
            </a:r>
          </a:p>
          <a:p>
            <a:pPr>
              <a:spcAft>
                <a:spcPts val="600"/>
              </a:spcAft>
            </a:pPr>
            <a:r>
              <a:rPr sz="1350" b="0" i="0">
                <a:solidFill>
                  <a:srgbClr val="222222"/>
                </a:solidFill>
              </a:rPr>
              <a:t>c)  </a:t>
            </a:r>
            <a:r>
              <a:rPr sz="1350" b="0" i="0">
                <a:solidFill>
                  <a:srgbClr val="222222"/>
                </a:solidFill>
              </a:rPr>
              <a:t>Eğitim ve öğretim kuruluşlarına ait istasyondur</a:t>
            </a:r>
          </a:p>
          <a:p>
            <a:pPr>
              <a:spcAft>
                <a:spcPts val="600"/>
              </a:spcAft>
            </a:pPr>
            <a:r>
              <a:rPr sz="1350" b="0" i="0">
                <a:solidFill>
                  <a:srgbClr val="222222"/>
                </a:solidFill>
              </a:rPr>
              <a:t>d)  </a:t>
            </a:r>
            <a:r>
              <a:rPr sz="1350" b="0" i="0">
                <a:solidFill>
                  <a:srgbClr val="222222"/>
                </a:solidFill>
              </a:rPr>
              <a:t>2. bölgede geçici olarak çalışan bir istasyondur</a:t>
            </a:r>
          </a:p>
        </p:txBody>
      </p:sp>
      <p:sp>
        <p:nvSpPr>
          <p:cNvPr id="5" name="Rectangle 4"/>
          <p:cNvSpPr/>
          <p:nvPr/>
        </p:nvSpPr>
        <p:spPr>
          <a:xfrm>
            <a:off x="6050145" y="960120"/>
            <a:ext cx="5684350" cy="5440680"/>
          </a:xfrm>
          <a:prstGeom prst="rect">
            <a:avLst/>
          </a:prstGeom>
          <a:solidFill>
            <a:srgbClr val="E2EFDA"/>
          </a:solidFill>
          <a:ln w="9525">
            <a:solidFill>
              <a:srgbClr val="9BC17A"/>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bIns="137160"/>
          <a:lstStyle/>
          <a:p>
            <a:pPr algn="ctr">
              <a:spcAft>
                <a:spcPts val="600"/>
              </a:spcAft>
            </a:pPr>
            <a:r>
              <a:rPr sz="1300" b="1" i="0">
                <a:solidFill>
                  <a:srgbClr val="2E7D32"/>
                </a:solidFill>
              </a:rPr>
              <a:t>GEREKÇE / KANIT</a:t>
            </a:r>
          </a:p>
          <a:p>
            <a:pPr>
              <a:spcAft>
                <a:spcPts val="1200"/>
              </a:spcAft>
            </a:pPr>
            <a:r>
              <a:rPr sz="1300" b="0" i="0">
                <a:solidFill>
                  <a:srgbClr val="222222"/>
                </a:solidFill>
              </a:rPr>
              <a:t>KEGM Amatör Telsizcilik Sınav ve Belgelendirme Yönetmeliği'nin 6/2-</a:t>
            </a:r>
            <a:r>
              <a:rPr sz="1300" b="0" i="1">
                <a:solidFill>
                  <a:srgbClr val="222222"/>
                </a:solidFill>
              </a:rPr>
              <a:t>(ç)</a:t>
            </a:r>
            <a:r>
              <a:rPr sz="1300" b="0" i="0">
                <a:solidFill>
                  <a:srgbClr val="222222"/>
                </a:solidFill>
              </a:rPr>
              <a:t> bendi — 20/2/2011 tarihli ve 27852 sayılı Resmî Gazete ile değişik — organizasyonlara ve organizasyonların kurduğu aktarıcı/röle istasyonlarına YM ön eki tahsis edileceğini düzenler. Aynı fıkranın </a:t>
            </a:r>
            <a:r>
              <a:rPr sz="1300" b="0" i="1">
                <a:solidFill>
                  <a:srgbClr val="222222"/>
                </a:solidFill>
              </a:rPr>
              <a:t>(a)</a:t>
            </a:r>
            <a:r>
              <a:rPr sz="1300" b="0" i="0">
                <a:solidFill>
                  <a:srgbClr val="222222"/>
                </a:solidFill>
              </a:rPr>
              <a:t> bendine göre TA ön eki, A sınıfı belgeye sahip gerçek kişilere aittir. Son ekin K harfiyle başlaması kuralı </a:t>
            </a:r>
            <a:r>
              <a:rPr sz="1300" b="0" i="1">
                <a:solidFill>
                  <a:srgbClr val="222222"/>
                </a:solidFill>
              </a:rPr>
              <a:t>(Md.6/4-a)</a:t>
            </a:r>
            <a:r>
              <a:rPr sz="1300" b="0" i="0">
                <a:solidFill>
                  <a:srgbClr val="222222"/>
                </a:solidFill>
              </a:rPr>
              <a:t> değişmemiştir; değişen, ön ektir. Buna göre bugün bir dernek istasyonunun çağrı işareti YM2KA biçiminde olur; TA2KA olamaz. Ayrıca Geçici Madde 2, Yönetmeliğe uygun olmayan çağrı işaretlerinin 1/3/2012'ye kadar uygun hâle getirilmesini zorunlu kılmış; Geçici Madde 3, bu tarihte düzeltilmeyenlerin resen iptal edilmiş sayılacağını hükme bağlamıştır. Soru, 2011 öncesi uygulamayı yansıtmaktadır.</a:t>
            </a:r>
          </a:p>
          <a:p>
            <a:pPr>
              <a:spcAft>
                <a:spcPts val="400"/>
              </a:spcAft>
            </a:pPr>
            <a:r>
              <a:rPr sz="1300" b="1" i="0">
                <a:solidFill>
                  <a:srgbClr val="C05000"/>
                </a:solidFill>
              </a:rPr>
              <a:t>ÖNERİLEN DÜZELTME</a:t>
            </a:r>
          </a:p>
          <a:p>
            <a:pPr>
              <a:spcAft>
                <a:spcPts val="0"/>
              </a:spcAft>
            </a:pPr>
            <a:r>
              <a:rPr sz="1300" b="0" i="0">
                <a:solidFill>
                  <a:srgbClr val="222222"/>
                </a:solidFill>
              </a:rPr>
              <a:t>Cevap anahtarının </a:t>
            </a:r>
            <a:r>
              <a:rPr sz="1300" b="0" i="1">
                <a:solidFill>
                  <a:srgbClr val="222222"/>
                </a:solidFill>
              </a:rPr>
              <a:t>(a)</a:t>
            </a:r>
            <a:r>
              <a:rPr sz="1300" b="0" i="0">
                <a:solidFill>
                  <a:srgbClr val="222222"/>
                </a:solidFill>
              </a:rPr>
              <a:t> “2. Bölgede bulunan bir amatöre ait istasyondur” olarak güncellenmesini öneririz.</a:t>
            </a:r>
          </a:p>
        </p:txBody>
      </p:sp>
      <p:sp>
        <p:nvSpPr>
          <p:cNvPr id="6" name="TextBox 5"/>
          <p:cNvSpPr txBox="1"/>
          <p:nvPr/>
        </p:nvSpPr>
        <p:spPr>
          <a:xfrm>
            <a:off x="365760" y="6492240"/>
            <a:ext cx="11460175" cy="274320"/>
          </a:xfrm>
          <a:prstGeom prst="rect">
            <a:avLst/>
          </a:prstGeom>
          <a:noFill/>
        </p:spPr>
        <p:txBody>
          <a:bodyPr wrap="none">
            <a:spAutoFit/>
          </a:bodyPr>
          <a:lstStyle/>
          <a:p>
            <a:r>
              <a:rPr sz="1000" b="0" i="0">
                <a:solidFill>
                  <a:srgbClr val="595959"/>
                </a:solidFill>
              </a:rPr>
              <a:t>KEGM Düzeltme Önerisi — Bulgu 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60175" cy="548640"/>
          </a:xfrm>
          <a:prstGeom prst="rect">
            <a:avLst/>
          </a:prstGeom>
          <a:noFill/>
        </p:spPr>
        <p:txBody>
          <a:bodyPr wrap="none">
            <a:spAutoFit/>
          </a:bodyPr>
          <a:lstStyle/>
          <a:p>
            <a:r>
              <a:rPr sz="2000" b="1" i="0">
                <a:solidFill>
                  <a:srgbClr val="FFFFFF"/>
                </a:solidFill>
              </a:rPr>
              <a:t>BULGU 7</a:t>
            </a:r>
            <a:r>
              <a:rPr sz="1500" b="0" i="0">
                <a:solidFill>
                  <a:srgbClr val="D6E4F0"/>
                </a:solidFill>
              </a:rPr>
              <a:t>   ·   Teknik Soru Bankası, Soru 46 — RMS → Tepeden Tepeye Değer</a:t>
            </a:r>
          </a:p>
        </p:txBody>
      </p:sp>
      <p:sp>
        <p:nvSpPr>
          <p:cNvPr id="4" name="Rectangle 3"/>
          <p:cNvSpPr/>
          <p:nvPr/>
        </p:nvSpPr>
        <p:spPr>
          <a:xfrm>
            <a:off x="457200" y="960120"/>
            <a:ext cx="5364345" cy="5440680"/>
          </a:xfrm>
          <a:prstGeom prst="rect">
            <a:avLst/>
          </a:prstGeom>
          <a:solidFill>
            <a:srgbClr val="F7F9FB"/>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bIns="137160"/>
          <a:lstStyle/>
          <a:p>
            <a:pPr algn="ctr">
              <a:spcAft>
                <a:spcPts val="600"/>
              </a:spcAft>
            </a:pPr>
            <a:r>
              <a:rPr sz="1300" b="1" i="0">
                <a:solidFill>
                  <a:srgbClr val="1F3864"/>
                </a:solidFill>
              </a:rPr>
              <a:t>ORİJİNAL SORU</a:t>
            </a:r>
          </a:p>
          <a:p>
            <a:pPr>
              <a:spcAft>
                <a:spcPts val="1000"/>
              </a:spcAft>
            </a:pPr>
            <a:r>
              <a:rPr sz="1450" b="1" i="0">
                <a:solidFill>
                  <a:srgbClr val="222222"/>
                </a:solidFill>
              </a:rPr>
              <a:t>Sinüs şeklinde bir dalganın efektif (RMS) değeri 12 volttur. Tepeden tepeye değeri aşağıdakilerden hangisidir?</a:t>
            </a:r>
          </a:p>
          <a:p>
            <a:pPr>
              <a:spcAft>
                <a:spcPts val="600"/>
              </a:spcAft>
            </a:pPr>
            <a:r>
              <a:rPr sz="1350" b="1" i="0">
                <a:solidFill>
                  <a:srgbClr val="A92B2B"/>
                </a:solidFill>
              </a:rPr>
              <a:t>a)  </a:t>
            </a:r>
            <a:r>
              <a:rPr sz="1350" b="1" i="0">
                <a:solidFill>
                  <a:srgbClr val="A92B2B"/>
                </a:solidFill>
              </a:rPr>
              <a:t>16.97 V</a:t>
            </a:r>
            <a:r>
              <a:rPr sz="1150" b="0" i="0">
                <a:solidFill>
                  <a:srgbClr val="A92B2B"/>
                </a:solidFill>
              </a:rPr>
              <a:t>   ← Resmî cevap anahtarı</a:t>
            </a:r>
          </a:p>
          <a:p>
            <a:pPr>
              <a:spcAft>
                <a:spcPts val="600"/>
              </a:spcAft>
            </a:pPr>
            <a:r>
              <a:rPr sz="1350" b="0" i="0">
                <a:solidFill>
                  <a:srgbClr val="222222"/>
                </a:solidFill>
              </a:rPr>
              <a:t>b)  </a:t>
            </a:r>
            <a:r>
              <a:rPr sz="1350" b="0" i="0">
                <a:solidFill>
                  <a:srgbClr val="222222"/>
                </a:solidFill>
              </a:rPr>
              <a:t>24 V</a:t>
            </a:r>
          </a:p>
          <a:p>
            <a:pPr>
              <a:spcAft>
                <a:spcPts val="600"/>
              </a:spcAft>
            </a:pPr>
            <a:r>
              <a:rPr sz="1350" b="0" i="0">
                <a:solidFill>
                  <a:srgbClr val="222222"/>
                </a:solidFill>
              </a:rPr>
              <a:t>c)  </a:t>
            </a:r>
            <a:r>
              <a:rPr sz="1350" b="0" i="0">
                <a:solidFill>
                  <a:srgbClr val="222222"/>
                </a:solidFill>
              </a:rPr>
              <a:t>33.9 V</a:t>
            </a:r>
          </a:p>
          <a:p>
            <a:pPr>
              <a:spcAft>
                <a:spcPts val="600"/>
              </a:spcAft>
            </a:pPr>
            <a:r>
              <a:rPr sz="1350" b="0" i="0">
                <a:solidFill>
                  <a:srgbClr val="222222"/>
                </a:solidFill>
              </a:rPr>
              <a:t>d)  </a:t>
            </a:r>
            <a:r>
              <a:rPr sz="1350" b="0" i="0">
                <a:solidFill>
                  <a:srgbClr val="222222"/>
                </a:solidFill>
              </a:rPr>
              <a:t>36.4 V</a:t>
            </a:r>
          </a:p>
        </p:txBody>
      </p:sp>
      <p:sp>
        <p:nvSpPr>
          <p:cNvPr id="5" name="Rectangle 4"/>
          <p:cNvSpPr/>
          <p:nvPr/>
        </p:nvSpPr>
        <p:spPr>
          <a:xfrm>
            <a:off x="6050145" y="960120"/>
            <a:ext cx="5684350" cy="5440680"/>
          </a:xfrm>
          <a:prstGeom prst="rect">
            <a:avLst/>
          </a:prstGeom>
          <a:solidFill>
            <a:srgbClr val="E2EFDA"/>
          </a:solidFill>
          <a:ln w="9525">
            <a:solidFill>
              <a:srgbClr val="9BC17A"/>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bIns="137160"/>
          <a:lstStyle/>
          <a:p>
            <a:pPr algn="ctr">
              <a:spcAft>
                <a:spcPts val="600"/>
              </a:spcAft>
            </a:pPr>
            <a:r>
              <a:rPr sz="1300" b="1" i="0">
                <a:solidFill>
                  <a:srgbClr val="2E7D32"/>
                </a:solidFill>
              </a:rPr>
              <a:t>GEREKÇE / KANIT</a:t>
            </a:r>
          </a:p>
          <a:p>
            <a:pPr>
              <a:spcAft>
                <a:spcPts val="1200"/>
              </a:spcAft>
            </a:pPr>
            <a:r>
              <a:rPr sz="1300" b="0" i="0">
                <a:solidFill>
                  <a:srgbClr val="222222"/>
                </a:solidFill>
              </a:rPr>
              <a:t>Standart formüle göre tepe </a:t>
            </a:r>
            <a:r>
              <a:rPr sz="1300" b="0" i="1">
                <a:solidFill>
                  <a:srgbClr val="222222"/>
                </a:solidFill>
              </a:rPr>
              <a:t>(peak)</a:t>
            </a:r>
            <a:r>
              <a:rPr sz="1300" b="0" i="0">
                <a:solidFill>
                  <a:srgbClr val="222222"/>
                </a:solidFill>
              </a:rPr>
              <a:t> değer = RMS × 1,4142 = 12 × 1,4142 ≈ 16.97 V'tur — bu, resmî anahtarın işaretlediği </a:t>
            </a:r>
            <a:r>
              <a:rPr sz="1300" b="0" i="1">
                <a:solidFill>
                  <a:srgbClr val="222222"/>
                </a:solidFill>
              </a:rPr>
              <a:t>(a)</a:t>
            </a:r>
            <a:r>
              <a:rPr sz="1300" b="0" i="0">
                <a:solidFill>
                  <a:srgbClr val="222222"/>
                </a:solidFill>
              </a:rPr>
              <a:t> şıkkına karşılık gelir, ancak bu TEPE değeridir. Soru açıkça “tepeden tepeye” </a:t>
            </a:r>
            <a:r>
              <a:rPr sz="1300" b="0" i="1">
                <a:solidFill>
                  <a:srgbClr val="222222"/>
                </a:solidFill>
              </a:rPr>
              <a:t>(peak-to-peak)</a:t>
            </a:r>
            <a:r>
              <a:rPr sz="1300" b="0" i="0">
                <a:solidFill>
                  <a:srgbClr val="222222"/>
                </a:solidFill>
              </a:rPr>
              <a:t> değeri sormaktadır; bu değer tepe değerin iki katıdır: 2×16.97 ≈ 33.9 V, yani şık </a:t>
            </a:r>
            <a:r>
              <a:rPr sz="1300" b="0" i="1">
                <a:solidFill>
                  <a:srgbClr val="222222"/>
                </a:solidFill>
              </a:rPr>
              <a:t>(c)</a:t>
            </a:r>
            <a:r>
              <a:rPr sz="1300" b="0" i="0">
                <a:solidFill>
                  <a:srgbClr val="222222"/>
                </a:solidFill>
              </a:rPr>
              <a:t>. “Tepe” ve “tepeden tepeye” kavramları farklı büyüklüklerdir ve sınav sorularında sık karıştırılan bir noktadır.</a:t>
            </a:r>
          </a:p>
          <a:p>
            <a:pPr>
              <a:spcAft>
                <a:spcPts val="400"/>
              </a:spcAft>
            </a:pPr>
            <a:r>
              <a:rPr sz="1300" b="1" i="0">
                <a:solidFill>
                  <a:srgbClr val="C05000"/>
                </a:solidFill>
              </a:rPr>
              <a:t>ÖNERİLEN DÜZELTME</a:t>
            </a:r>
          </a:p>
          <a:p>
            <a:pPr>
              <a:spcAft>
                <a:spcPts val="0"/>
              </a:spcAft>
            </a:pPr>
            <a:r>
              <a:rPr sz="1300" b="0" i="0">
                <a:solidFill>
                  <a:srgbClr val="222222"/>
                </a:solidFill>
              </a:rPr>
              <a:t>İki düzeltme yolundan biri uygulanabilir: </a:t>
            </a:r>
            <a:r>
              <a:rPr sz="1300" b="0" i="1">
                <a:solidFill>
                  <a:srgbClr val="222222"/>
                </a:solidFill>
              </a:rPr>
              <a:t>(i)</a:t>
            </a:r>
            <a:r>
              <a:rPr sz="1300" b="0" i="0">
                <a:solidFill>
                  <a:srgbClr val="222222"/>
                </a:solidFill>
              </a:rPr>
              <a:t> soru metni “tepe değeri” olarak değiştirilirse mevcut cevap anahtarı </a:t>
            </a:r>
            <a:r>
              <a:rPr sz="1300" b="0" i="1">
                <a:solidFill>
                  <a:srgbClr val="222222"/>
                </a:solidFill>
              </a:rPr>
              <a:t>(a)</a:t>
            </a:r>
            <a:r>
              <a:rPr sz="1300" b="0" i="0">
                <a:solidFill>
                  <a:srgbClr val="222222"/>
                </a:solidFill>
              </a:rPr>
              <a:t> doğru kalır; </a:t>
            </a:r>
            <a:r>
              <a:rPr sz="1300" b="0" i="1">
                <a:solidFill>
                  <a:srgbClr val="222222"/>
                </a:solidFill>
              </a:rPr>
              <a:t>(ii)</a:t>
            </a:r>
            <a:r>
              <a:rPr sz="1300" b="0" i="0">
                <a:solidFill>
                  <a:srgbClr val="222222"/>
                </a:solidFill>
              </a:rPr>
              <a:t> soru metni “tepeden tepeye” olarak korunursa cevap anahtarının </a:t>
            </a:r>
            <a:r>
              <a:rPr sz="1300" b="0" i="1">
                <a:solidFill>
                  <a:srgbClr val="222222"/>
                </a:solidFill>
              </a:rPr>
              <a:t>(c)</a:t>
            </a:r>
            <a:r>
              <a:rPr sz="1300" b="0" i="0">
                <a:solidFill>
                  <a:srgbClr val="222222"/>
                </a:solidFill>
              </a:rPr>
              <a:t> olarak güncellenmesi gerekir.</a:t>
            </a:r>
          </a:p>
        </p:txBody>
      </p:sp>
      <p:sp>
        <p:nvSpPr>
          <p:cNvPr id="6" name="TextBox 5"/>
          <p:cNvSpPr txBox="1"/>
          <p:nvPr/>
        </p:nvSpPr>
        <p:spPr>
          <a:xfrm>
            <a:off x="365760" y="6492240"/>
            <a:ext cx="11460175" cy="274320"/>
          </a:xfrm>
          <a:prstGeom prst="rect">
            <a:avLst/>
          </a:prstGeom>
          <a:noFill/>
        </p:spPr>
        <p:txBody>
          <a:bodyPr wrap="none">
            <a:spAutoFit/>
          </a:bodyPr>
          <a:lstStyle/>
          <a:p>
            <a:r>
              <a:rPr sz="1000" b="0" i="0">
                <a:solidFill>
                  <a:srgbClr val="595959"/>
                </a:solidFill>
              </a:rPr>
              <a:t>KEGM Düzeltme Önerisi — Bulgu 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60175" cy="548640"/>
          </a:xfrm>
          <a:prstGeom prst="rect">
            <a:avLst/>
          </a:prstGeom>
          <a:noFill/>
        </p:spPr>
        <p:txBody>
          <a:bodyPr wrap="none">
            <a:spAutoFit/>
          </a:bodyPr>
          <a:lstStyle/>
          <a:p>
            <a:r>
              <a:rPr sz="2000" b="1" i="0">
                <a:solidFill>
                  <a:srgbClr val="FFFFFF"/>
                </a:solidFill>
              </a:rPr>
              <a:t>BULGU 8</a:t>
            </a:r>
            <a:r>
              <a:rPr sz="1500" b="0" i="0">
                <a:solidFill>
                  <a:srgbClr val="D6E4F0"/>
                </a:solidFill>
              </a:rPr>
              <a:t>   ·   Teknik Soru Bankası, Soru 66 — LC Rezonans Frekansı Hesabı</a:t>
            </a:r>
          </a:p>
        </p:txBody>
      </p:sp>
      <p:sp>
        <p:nvSpPr>
          <p:cNvPr id="4" name="Rectangle 3"/>
          <p:cNvSpPr/>
          <p:nvPr/>
        </p:nvSpPr>
        <p:spPr>
          <a:xfrm>
            <a:off x="457200" y="960120"/>
            <a:ext cx="5364345" cy="5440680"/>
          </a:xfrm>
          <a:prstGeom prst="rect">
            <a:avLst/>
          </a:prstGeom>
          <a:solidFill>
            <a:srgbClr val="F7F9FB"/>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bIns="137160"/>
          <a:lstStyle/>
          <a:p>
            <a:pPr algn="ctr">
              <a:spcAft>
                <a:spcPts val="600"/>
              </a:spcAft>
            </a:pPr>
            <a:r>
              <a:rPr sz="1300" b="1" i="0">
                <a:solidFill>
                  <a:srgbClr val="1F3864"/>
                </a:solidFill>
              </a:rPr>
              <a:t>ORİJİNAL SORU</a:t>
            </a:r>
          </a:p>
          <a:p>
            <a:pPr>
              <a:spcAft>
                <a:spcPts val="1000"/>
              </a:spcAft>
            </a:pPr>
            <a:r>
              <a:rPr sz="1450" b="1" i="0">
                <a:solidFill>
                  <a:srgbClr val="222222"/>
                </a:solidFill>
              </a:rPr>
              <a:t>1 mH'lik bir bobin, 1 µF'lık bir kondansatör ile paralel bağlanmıştır. Devrenin rezonans frekansı nedir?</a:t>
            </a:r>
          </a:p>
          <a:p>
            <a:pPr>
              <a:spcAft>
                <a:spcPts val="600"/>
              </a:spcAft>
            </a:pPr>
            <a:r>
              <a:rPr sz="1350" b="0" i="0">
                <a:solidFill>
                  <a:srgbClr val="222222"/>
                </a:solidFill>
              </a:rPr>
              <a:t>a)  </a:t>
            </a:r>
            <a:r>
              <a:rPr sz="1350" b="0" i="0">
                <a:solidFill>
                  <a:srgbClr val="222222"/>
                </a:solidFill>
              </a:rPr>
              <a:t>0.5033 KHz</a:t>
            </a:r>
          </a:p>
          <a:p>
            <a:pPr>
              <a:spcAft>
                <a:spcPts val="600"/>
              </a:spcAft>
            </a:pPr>
            <a:r>
              <a:rPr sz="1350" b="1" i="0">
                <a:solidFill>
                  <a:srgbClr val="A92B2B"/>
                </a:solidFill>
              </a:rPr>
              <a:t>b)  </a:t>
            </a:r>
            <a:r>
              <a:rPr sz="1350" b="1" i="0">
                <a:solidFill>
                  <a:srgbClr val="A92B2B"/>
                </a:solidFill>
              </a:rPr>
              <a:t>0.5033 MHz</a:t>
            </a:r>
            <a:r>
              <a:rPr sz="1150" b="0" i="0">
                <a:solidFill>
                  <a:srgbClr val="A92B2B"/>
                </a:solidFill>
              </a:rPr>
              <a:t>   ← Resmî cevap anahtarı</a:t>
            </a:r>
          </a:p>
          <a:p>
            <a:pPr>
              <a:spcAft>
                <a:spcPts val="600"/>
              </a:spcAft>
            </a:pPr>
            <a:r>
              <a:rPr sz="1350" b="0" i="0">
                <a:solidFill>
                  <a:srgbClr val="222222"/>
                </a:solidFill>
              </a:rPr>
              <a:t>c)  </a:t>
            </a:r>
            <a:r>
              <a:rPr sz="1350" b="0" i="0">
                <a:solidFill>
                  <a:srgbClr val="222222"/>
                </a:solidFill>
              </a:rPr>
              <a:t>5.033 KHz</a:t>
            </a:r>
          </a:p>
          <a:p>
            <a:pPr>
              <a:spcAft>
                <a:spcPts val="600"/>
              </a:spcAft>
            </a:pPr>
            <a:r>
              <a:rPr sz="1350" b="0" i="0">
                <a:solidFill>
                  <a:srgbClr val="222222"/>
                </a:solidFill>
              </a:rPr>
              <a:t>d)  </a:t>
            </a:r>
            <a:r>
              <a:rPr sz="1350" b="0" i="0">
                <a:solidFill>
                  <a:srgbClr val="222222"/>
                </a:solidFill>
              </a:rPr>
              <a:t>5.033 MHz</a:t>
            </a:r>
          </a:p>
        </p:txBody>
      </p:sp>
      <p:sp>
        <p:nvSpPr>
          <p:cNvPr id="5" name="Rectangle 4"/>
          <p:cNvSpPr/>
          <p:nvPr/>
        </p:nvSpPr>
        <p:spPr>
          <a:xfrm>
            <a:off x="6050145" y="960120"/>
            <a:ext cx="5684350" cy="5440680"/>
          </a:xfrm>
          <a:prstGeom prst="rect">
            <a:avLst/>
          </a:prstGeom>
          <a:solidFill>
            <a:srgbClr val="E2EFDA"/>
          </a:solidFill>
          <a:ln w="9525">
            <a:solidFill>
              <a:srgbClr val="9BC17A"/>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bIns="137160"/>
          <a:lstStyle/>
          <a:p>
            <a:pPr algn="ctr">
              <a:spcAft>
                <a:spcPts val="600"/>
              </a:spcAft>
            </a:pPr>
            <a:r>
              <a:rPr sz="1300" b="1" i="0">
                <a:solidFill>
                  <a:srgbClr val="2E7D32"/>
                </a:solidFill>
              </a:rPr>
              <a:t>GEREKÇE / KANIT</a:t>
            </a:r>
          </a:p>
          <a:p>
            <a:pPr>
              <a:spcAft>
                <a:spcPts val="1200"/>
              </a:spcAft>
            </a:pPr>
            <a:r>
              <a:rPr sz="1300" b="0" i="0">
                <a:solidFill>
                  <a:srgbClr val="222222"/>
                </a:solidFill>
              </a:rPr>
              <a:t>Standart rezonans formülü — f = 1 / (2π × karekök(LC)) — uygulandığında: L = 1×10⁻³ H, C = 1×10⁻⁶ F için LC = 1×10⁻⁹; karekök(LC) = 3,162×10⁻⁵; f = 1 / (2π × 3,162×10⁻⁵) ≈ 5033 Hz = 5,033 kHz, yani şık (c). Bu, matematiksel olarak kesin bir sonuçtur. Resmî anahtarın işaretlediği (b) 0.5033 MHz değerine ancak kondansatör değeri 1 µF değil ~100 pF olsaydı ulaşılabilirdi; bu durum sorunun kaynağında olası bir değer yazım hatasına işaret etmektedir.</a:t>
            </a:r>
          </a:p>
          <a:p>
            <a:pPr>
              <a:spcAft>
                <a:spcPts val="400"/>
              </a:spcAft>
            </a:pPr>
            <a:r>
              <a:rPr sz="1300" b="1" i="0">
                <a:solidFill>
                  <a:srgbClr val="C05000"/>
                </a:solidFill>
              </a:rPr>
              <a:t>ÖNERİLEN DÜZELTME</a:t>
            </a:r>
          </a:p>
          <a:p>
            <a:pPr>
              <a:spcAft>
                <a:spcPts val="0"/>
              </a:spcAft>
            </a:pPr>
            <a:r>
              <a:rPr sz="1300" b="0" i="0">
                <a:solidFill>
                  <a:srgbClr val="222222"/>
                </a:solidFill>
              </a:rPr>
              <a:t>İki düzeltme yolundan biri uygulanabilir: (i) soru metnindeki kondansatör değeri “1 µF” yerine “100 pF” olarak düzeltilirse mevcut cevap anahtarı (b) doğru olur; (ii) verilen değerler (1 mH, 1 µF) korunursa cevap anahtarının (c) 5.033 kHz olarak güncellenmesi gerekir.</a:t>
            </a:r>
          </a:p>
        </p:txBody>
      </p:sp>
      <p:sp>
        <p:nvSpPr>
          <p:cNvPr id="6" name="TextBox 5"/>
          <p:cNvSpPr txBox="1"/>
          <p:nvPr/>
        </p:nvSpPr>
        <p:spPr>
          <a:xfrm>
            <a:off x="365760" y="6492240"/>
            <a:ext cx="11460175" cy="274320"/>
          </a:xfrm>
          <a:prstGeom prst="rect">
            <a:avLst/>
          </a:prstGeom>
          <a:noFill/>
        </p:spPr>
        <p:txBody>
          <a:bodyPr wrap="none">
            <a:spAutoFit/>
          </a:bodyPr>
          <a:lstStyle/>
          <a:p>
            <a:r>
              <a:rPr sz="1000" b="0" i="0">
                <a:solidFill>
                  <a:srgbClr val="595959"/>
                </a:solidFill>
              </a:rPr>
              <a:t>KEGM Düzeltme Önerisi — Bulgu 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60175" cy="548640"/>
          </a:xfrm>
          <a:prstGeom prst="rect">
            <a:avLst/>
          </a:prstGeom>
          <a:noFill/>
        </p:spPr>
        <p:txBody>
          <a:bodyPr wrap="none">
            <a:spAutoFit/>
          </a:bodyPr>
          <a:lstStyle/>
          <a:p>
            <a:r>
              <a:rPr sz="2000" b="1" i="0">
                <a:solidFill>
                  <a:srgbClr val="FFFFFF"/>
                </a:solidFill>
              </a:rPr>
              <a:t>BULGU 9</a:t>
            </a:r>
            <a:r>
              <a:rPr sz="1500" b="0" i="0">
                <a:solidFill>
                  <a:srgbClr val="D6E4F0"/>
                </a:solidFill>
              </a:rPr>
              <a:t>   ·   Teknik Soru Bankası, Soru 120 — Dipol Anten Kısalma Sebebi</a:t>
            </a:r>
          </a:p>
        </p:txBody>
      </p:sp>
      <p:sp>
        <p:nvSpPr>
          <p:cNvPr id="4" name="Rectangle 3"/>
          <p:cNvSpPr/>
          <p:nvPr/>
        </p:nvSpPr>
        <p:spPr>
          <a:xfrm>
            <a:off x="457200" y="960120"/>
            <a:ext cx="5364345" cy="5440680"/>
          </a:xfrm>
          <a:prstGeom prst="rect">
            <a:avLst/>
          </a:prstGeom>
          <a:solidFill>
            <a:srgbClr val="F7F9FB"/>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bIns="137160"/>
          <a:lstStyle/>
          <a:p>
            <a:pPr algn="ctr">
              <a:spcAft>
                <a:spcPts val="600"/>
              </a:spcAft>
            </a:pPr>
            <a:r>
              <a:rPr sz="1300" b="1" i="0">
                <a:solidFill>
                  <a:srgbClr val="1F3864"/>
                </a:solidFill>
              </a:rPr>
              <a:t>ORİJİNAL SORU</a:t>
            </a:r>
          </a:p>
          <a:p>
            <a:pPr>
              <a:spcAft>
                <a:spcPts val="1000"/>
              </a:spcAft>
            </a:pPr>
            <a:r>
              <a:rPr sz="1450" b="1" i="0">
                <a:solidFill>
                  <a:srgbClr val="222222"/>
                </a:solidFill>
              </a:rPr>
              <a:t>λ/2 dipol antenin fiziksel boyu, hesaplanan elektriksel dalga boyundan yaklaşık %5 daha küçüktür. Bunun sebebi aşağıdakilerden hangisidir?</a:t>
            </a:r>
          </a:p>
          <a:p>
            <a:pPr>
              <a:spcAft>
                <a:spcPts val="600"/>
              </a:spcAft>
            </a:pPr>
            <a:r>
              <a:rPr sz="1350" b="0" i="0">
                <a:solidFill>
                  <a:srgbClr val="222222"/>
                </a:solidFill>
              </a:rPr>
              <a:t>a)  </a:t>
            </a:r>
            <a:r>
              <a:rPr sz="1350" b="0" i="0">
                <a:solidFill>
                  <a:srgbClr val="222222"/>
                </a:solidFill>
              </a:rPr>
              <a:t>Uzayı yüksek dielektrik sabitindendir.</a:t>
            </a:r>
          </a:p>
          <a:p>
            <a:pPr>
              <a:spcAft>
                <a:spcPts val="600"/>
              </a:spcAft>
            </a:pPr>
            <a:r>
              <a:rPr sz="1350" b="1" i="0">
                <a:solidFill>
                  <a:srgbClr val="A92B2B"/>
                </a:solidFill>
              </a:rPr>
              <a:t>b)  </a:t>
            </a:r>
            <a:r>
              <a:rPr sz="1350" b="1" i="0">
                <a:solidFill>
                  <a:srgbClr val="A92B2B"/>
                </a:solidFill>
              </a:rPr>
              <a:t>Antenin empedansının rezistif olması içindir.</a:t>
            </a:r>
            <a:r>
              <a:rPr sz="1150" b="0" i="0">
                <a:solidFill>
                  <a:srgbClr val="A92B2B"/>
                </a:solidFill>
              </a:rPr>
              <a:t>   ← Resmî cevap anahtarı</a:t>
            </a:r>
          </a:p>
          <a:p>
            <a:pPr>
              <a:spcAft>
                <a:spcPts val="600"/>
              </a:spcAft>
            </a:pPr>
            <a:r>
              <a:rPr sz="1350" b="0" i="0">
                <a:solidFill>
                  <a:srgbClr val="222222"/>
                </a:solidFill>
              </a:rPr>
              <a:t>c)  </a:t>
            </a:r>
            <a:r>
              <a:rPr sz="1350" b="0" i="0">
                <a:solidFill>
                  <a:srgbClr val="222222"/>
                </a:solidFill>
              </a:rPr>
              <a:t>Atmosferin oksijen içermesindendir.</a:t>
            </a:r>
          </a:p>
          <a:p>
            <a:pPr>
              <a:spcAft>
                <a:spcPts val="600"/>
              </a:spcAft>
            </a:pPr>
            <a:r>
              <a:rPr sz="1350" b="0" i="0">
                <a:solidFill>
                  <a:srgbClr val="222222"/>
                </a:solidFill>
              </a:rPr>
              <a:t>d)  </a:t>
            </a:r>
            <a:r>
              <a:rPr sz="1350" b="0" i="0">
                <a:solidFill>
                  <a:srgbClr val="222222"/>
                </a:solidFill>
              </a:rPr>
              <a:t>Hattaki yayınım hızı uzaydaki yayınım hızından düşüktür.</a:t>
            </a:r>
          </a:p>
        </p:txBody>
      </p:sp>
      <p:sp>
        <p:nvSpPr>
          <p:cNvPr id="5" name="Rectangle 4"/>
          <p:cNvSpPr/>
          <p:nvPr/>
        </p:nvSpPr>
        <p:spPr>
          <a:xfrm>
            <a:off x="6050145" y="960120"/>
            <a:ext cx="5684350" cy="5440680"/>
          </a:xfrm>
          <a:prstGeom prst="rect">
            <a:avLst/>
          </a:prstGeom>
          <a:solidFill>
            <a:srgbClr val="E2EFDA"/>
          </a:solidFill>
          <a:ln w="9525">
            <a:solidFill>
              <a:srgbClr val="9BC17A"/>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bIns="137160"/>
          <a:lstStyle/>
          <a:p>
            <a:pPr algn="ctr">
              <a:spcAft>
                <a:spcPts val="600"/>
              </a:spcAft>
            </a:pPr>
            <a:r>
              <a:rPr sz="1300" b="1" i="0">
                <a:solidFill>
                  <a:srgbClr val="2E7D32"/>
                </a:solidFill>
              </a:rPr>
              <a:t>GEREKÇE / KANIT</a:t>
            </a:r>
          </a:p>
          <a:p>
            <a:pPr>
              <a:spcAft>
                <a:spcPts val="1200"/>
              </a:spcAft>
            </a:pPr>
            <a:r>
              <a:rPr sz="1300" b="0" i="0">
                <a:solidFill>
                  <a:srgbClr val="222222"/>
                </a:solidFill>
              </a:rPr>
              <a:t>Antenin rezonans noktasında empedansının rezistif </a:t>
            </a:r>
            <a:r>
              <a:rPr sz="1300" b="0" i="1">
                <a:solidFill>
                  <a:srgbClr val="222222"/>
                </a:solidFill>
              </a:rPr>
              <a:t>(reaktif bileşeni sıfır)</a:t>
            </a:r>
            <a:r>
              <a:rPr sz="1300" b="0" i="0">
                <a:solidFill>
                  <a:srgbClr val="222222"/>
                </a:solidFill>
              </a:rPr>
              <a:t> olması, rezonansın bir SONUCUDUR; %5'lik fiziksel kısalmanın SEBEBİNİ açıklamaz. Bu kısalmanın uluslararası amatör telsiz literatüründe </a:t>
            </a:r>
            <a:r>
              <a:rPr sz="1300" b="0" i="1">
                <a:solidFill>
                  <a:srgbClr val="222222"/>
                </a:solidFill>
              </a:rPr>
              <a:t>(ör. ARRL Handbook)</a:t>
            </a:r>
            <a:r>
              <a:rPr sz="1300" b="0" i="0">
                <a:solidFill>
                  <a:srgbClr val="222222"/>
                </a:solidFill>
              </a:rPr>
              <a:t> kabul edilen standart açıklaması, iletken üzerindeki sinyal yayılım hızının serbest uzaydaki </a:t>
            </a:r>
            <a:r>
              <a:rPr sz="1300" b="0" i="1">
                <a:solidFill>
                  <a:srgbClr val="222222"/>
                </a:solidFill>
              </a:rPr>
              <a:t>(ışık)</a:t>
            </a:r>
            <a:r>
              <a:rPr sz="1300" b="0" i="0">
                <a:solidFill>
                  <a:srgbClr val="222222"/>
                </a:solidFill>
              </a:rPr>
              <a:t> hızından bir miktar düşük olmasıdır </a:t>
            </a:r>
            <a:r>
              <a:rPr sz="1300" b="0" i="1">
                <a:solidFill>
                  <a:srgbClr val="222222"/>
                </a:solidFill>
              </a:rPr>
              <a:t>(uç etkisi/kapasitans nedeniyle)</a:t>
            </a:r>
            <a:r>
              <a:rPr sz="1300" b="0" i="0">
                <a:solidFill>
                  <a:srgbClr val="222222"/>
                </a:solidFill>
              </a:rPr>
              <a:t> — bu, şık </a:t>
            </a:r>
            <a:r>
              <a:rPr sz="1300" b="0" i="1">
                <a:solidFill>
                  <a:srgbClr val="222222"/>
                </a:solidFill>
              </a:rPr>
              <a:t>(d)</a:t>
            </a:r>
            <a:r>
              <a:rPr sz="1300" b="0" i="0">
                <a:solidFill>
                  <a:srgbClr val="222222"/>
                </a:solidFill>
              </a:rPr>
              <a:t>'dir.</a:t>
            </a:r>
          </a:p>
          <a:p>
            <a:pPr>
              <a:spcAft>
                <a:spcPts val="400"/>
              </a:spcAft>
            </a:pPr>
            <a:r>
              <a:rPr sz="1300" b="1" i="0">
                <a:solidFill>
                  <a:srgbClr val="C05000"/>
                </a:solidFill>
              </a:rPr>
              <a:t>ÖNERİLEN DÜZELTME</a:t>
            </a:r>
          </a:p>
          <a:p>
            <a:pPr>
              <a:spcAft>
                <a:spcPts val="0"/>
              </a:spcAft>
            </a:pPr>
            <a:r>
              <a:rPr sz="1300" b="0" i="0">
                <a:solidFill>
                  <a:srgbClr val="222222"/>
                </a:solidFill>
              </a:rPr>
              <a:t>Cevap anahtarının </a:t>
            </a:r>
            <a:r>
              <a:rPr sz="1300" b="0" i="1">
                <a:solidFill>
                  <a:srgbClr val="222222"/>
                </a:solidFill>
              </a:rPr>
              <a:t>(d)</a:t>
            </a:r>
            <a:r>
              <a:rPr sz="1300" b="0" i="0">
                <a:solidFill>
                  <a:srgbClr val="222222"/>
                </a:solidFill>
              </a:rPr>
              <a:t> “Hattaki yayınım hızı uzaydaki yayınım hızından düşüktür” olarak güncellenmesini öneririz.</a:t>
            </a:r>
          </a:p>
        </p:txBody>
      </p:sp>
      <p:sp>
        <p:nvSpPr>
          <p:cNvPr id="6" name="TextBox 5"/>
          <p:cNvSpPr txBox="1"/>
          <p:nvPr/>
        </p:nvSpPr>
        <p:spPr>
          <a:xfrm>
            <a:off x="365760" y="6492240"/>
            <a:ext cx="11460175" cy="274320"/>
          </a:xfrm>
          <a:prstGeom prst="rect">
            <a:avLst/>
          </a:prstGeom>
          <a:noFill/>
        </p:spPr>
        <p:txBody>
          <a:bodyPr wrap="none">
            <a:spAutoFit/>
          </a:bodyPr>
          <a:lstStyle/>
          <a:p>
            <a:r>
              <a:rPr sz="1000" b="0" i="0">
                <a:solidFill>
                  <a:srgbClr val="595959"/>
                </a:solidFill>
              </a:rPr>
              <a:t>KEGM Düzeltme Önerisi — Bulgu 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77295" cy="640080"/>
          </a:xfrm>
          <a:prstGeom prst="rect">
            <a:avLst/>
          </a:prstGeom>
          <a:noFill/>
        </p:spPr>
        <p:txBody>
          <a:bodyPr wrap="none">
            <a:spAutoFit/>
          </a:bodyPr>
          <a:lstStyle/>
          <a:p>
            <a:r>
              <a:rPr sz="2400" b="1" i="0">
                <a:solidFill>
                  <a:srgbClr val="FFFFFF"/>
                </a:solidFill>
              </a:rPr>
              <a:t>KÖK NEDEN VE EK NOTLAR</a:t>
            </a:r>
          </a:p>
        </p:txBody>
      </p:sp>
      <p:sp>
        <p:nvSpPr>
          <p:cNvPr id="4" name="Rectangle 3"/>
          <p:cNvSpPr/>
          <p:nvPr/>
        </p:nvSpPr>
        <p:spPr>
          <a:xfrm>
            <a:off x="731520" y="1180440"/>
            <a:ext cx="10728655" cy="4650000"/>
          </a:xfrm>
          <a:prstGeom prst="rect">
            <a:avLst/>
          </a:prstGeom>
          <a:solidFill>
            <a:srgbClr val="F7F9FB"/>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l">
              <a:spcAft>
                <a:spcPts val="400"/>
              </a:spcAft>
            </a:pPr>
            <a:r>
              <a:rPr sz="1300" b="1" i="0">
                <a:solidFill>
                  <a:srgbClr val="1F3864"/>
                </a:solidFill>
              </a:rPr>
              <a:t>▪  Bulgu 1 ve 2 yalnızca soru bankasının değil, dayanak yönetmeliğin de sorunudur.</a:t>
            </a:r>
          </a:p>
          <a:p>
            <a:pPr>
              <a:spcAft>
                <a:spcPts val="1200"/>
              </a:spcAft>
            </a:pPr>
            <a:r>
              <a:rPr sz="1250" b="0" i="0">
                <a:solidFill>
                  <a:srgbClr val="222222"/>
                </a:solidFill>
              </a:rPr>
              <a:t>     Amatör Telsizcilik Sınav ve Belgelendirme Yönetmeliği'nin 4 üncü maddesinin </a:t>
            </a:r>
            <a:r>
              <a:rPr sz="1250" b="0" i="1">
                <a:solidFill>
                  <a:srgbClr val="222222"/>
                </a:solidFill>
              </a:rPr>
              <a:t>(ğ)</a:t>
            </a:r>
            <a:r>
              <a:rPr sz="1250" b="0" i="0">
                <a:solidFill>
                  <a:srgbClr val="222222"/>
                </a:solidFill>
              </a:rPr>
              <a:t> bendi, “amatör radyo bant planı” tanımını hâlâ mülga Özel Telsiz Sistemleri Yönetmeliği'ne atıfla yapmaktadır. Soru bankası bu bakımdan yönetmeliği sadakatle yansıtmaktadır; kalıcı çözüm için soru metinleriyle birlikte bu tanımın da FTM mevzuatına göre güncellenmesi gerekir.</a:t>
            </a:r>
          </a:p>
          <a:p>
            <a:pPr>
              <a:spcAft>
                <a:spcPts val="400"/>
              </a:spcAft>
            </a:pPr>
            <a:r>
              <a:rPr sz="1300" b="1" i="0">
                <a:solidFill>
                  <a:srgbClr val="1F3864"/>
                </a:solidFill>
              </a:rPr>
              <a:t>▪  Düzenlemeler Soru 18 de aynı zincire bağlıdır.</a:t>
            </a:r>
          </a:p>
          <a:p>
            <a:pPr>
              <a:spcAft>
                <a:spcPts val="1200"/>
              </a:spcAft>
            </a:pPr>
            <a:r>
              <a:rPr sz="1250" b="0" i="0">
                <a:solidFill>
                  <a:srgbClr val="222222"/>
                </a:solidFill>
              </a:rPr>
              <a:t>     “Özel Telsiz Sistemleri Yönetmeliğinin yayınlanması ile hangi yönetmelik yürürlükten kaldırılmıştır?” sorusu tarihsel olarak doğrudur; ancak sorduğu yönetmeliğin kendisi de 2018'de mülga olduğundan, bugün yürürlükteki mevzuatı ölçmemektedir. Ayrı bir hata olarak değil, güncellenecek sorular arasında değerlendirilmesini öneririz.</a:t>
            </a:r>
          </a:p>
          <a:p>
            <a:pPr>
              <a:spcAft>
                <a:spcPts val="400"/>
              </a:spcAft>
            </a:pPr>
            <a:r>
              <a:rPr sz="1300" b="1" i="0">
                <a:solidFill>
                  <a:srgbClr val="1F3864"/>
                </a:solidFill>
              </a:rPr>
              <a:t>▪  Bu belge, sınavın kendisine değil, yayımda olan soru dosyalarına ilişkindir.</a:t>
            </a:r>
          </a:p>
          <a:p>
            <a:pPr>
              <a:spcAft>
                <a:spcPts val="1200"/>
              </a:spcAft>
            </a:pPr>
            <a:r>
              <a:rPr sz="1250" b="0" i="0">
                <a:solidFill>
                  <a:srgbClr val="222222"/>
                </a:solidFill>
              </a:rPr>
              <a:t>     Tarafımıza, söz konusu soruların güncel sınav sisteminde kullanılmadığı ve yalnızca yayımda kalan eski soru dosyalarında bulunduğu bilgisi iletilmiştir. Bu bilgi doğruysa talebimiz, sınav sonuçlarının düzeltilmesi değil, adayların hâlâ bu dosyalarla çalışıyor olması nedeniyle dosyaların güncellenmesi veya yayımdan kaldırılmasıdır.</a:t>
            </a:r>
          </a:p>
          <a:p>
            <a:pPr>
              <a:spcAft>
                <a:spcPts val="400"/>
              </a:spcAft>
            </a:pPr>
            <a:r>
              <a:rPr sz="1300" b="1" i="0">
                <a:solidFill>
                  <a:srgbClr val="1F3864"/>
                </a:solidFill>
              </a:rPr>
              <a:t>▪  Kapsam sınırı.</a:t>
            </a:r>
          </a:p>
          <a:p>
            <a:pPr>
              <a:spcAft>
                <a:spcPts val="1200"/>
              </a:spcAft>
            </a:pPr>
            <a:r>
              <a:rPr sz="1250" b="0" i="0">
                <a:solidFill>
                  <a:srgbClr val="222222"/>
                </a:solidFill>
              </a:rPr>
              <a:t>     Bulgular yalnızca A-B sınıfı üç soru bankası üzerinde yapılmıştır; C sınıfı bankaları bu incelemeye dâhil değildir. Üçüncü taraflarca yayımlanmış çözümlü soru dosyalarıyla karşılaştırma yapılmamıştır.</a:t>
            </a:r>
          </a:p>
        </p:txBody>
      </p:sp>
      <p:sp>
        <p:nvSpPr>
          <p:cNvPr id="5" name="TextBox 4"/>
          <p:cNvSpPr txBox="1"/>
          <p:nvPr/>
        </p:nvSpPr>
        <p:spPr>
          <a:xfrm>
            <a:off x="365760" y="6492240"/>
            <a:ext cx="11460175" cy="274320"/>
          </a:xfrm>
          <a:prstGeom prst="rect">
            <a:avLst/>
          </a:prstGeom>
          <a:noFill/>
        </p:spPr>
        <p:txBody>
          <a:bodyPr wrap="none">
            <a:spAutoFit/>
          </a:bodyPr>
          <a:lstStyle/>
          <a:p>
            <a:r>
              <a:rPr sz="1000" b="0" i="0">
                <a:solidFill>
                  <a:srgbClr val="595959"/>
                </a:solidFill>
              </a:rPr>
              <a:t>KEGM Düzeltme Önerisi — Kök Neden ve Ek Notlar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280160"/>
            <a:ext cx="10362895" cy="914400"/>
          </a:xfrm>
          <a:prstGeom prst="rect">
            <a:avLst/>
          </a:prstGeom>
          <a:noFill/>
        </p:spPr>
        <p:txBody>
          <a:bodyPr wrap="square">
            <a:spAutoFit/>
          </a:bodyPr>
          <a:lstStyle/>
          <a:p>
            <a:r>
              <a:rPr sz="3200" b="1" i="0">
                <a:solidFill>
                  <a:srgbClr val="FFFFFF"/>
                </a:solidFill>
              </a:rPr>
              <a:t>TALEP</a:t>
            </a:r>
          </a:p>
        </p:txBody>
      </p:sp>
      <p:sp>
        <p:nvSpPr>
          <p:cNvPr id="4" name="TextBox 3"/>
          <p:cNvSpPr txBox="1"/>
          <p:nvPr/>
        </p:nvSpPr>
        <p:spPr>
          <a:xfrm>
            <a:off x="914400" y="2240000"/>
            <a:ext cx="10362895" cy="3600000"/>
          </a:xfrm>
          <a:prstGeom prst="rect">
            <a:avLst/>
          </a:prstGeom>
          <a:noFill/>
        </p:spPr>
        <p:txBody>
          <a:bodyPr wrap="square">
            <a:spAutoFit/>
          </a:bodyPr>
          <a:lstStyle/>
          <a:p>
            <a:pPr>
              <a:spcAft>
                <a:spcPts val="1000"/>
              </a:spcAft>
            </a:pPr>
            <a:r>
              <a:rPr sz="1500" b="0" i="0">
                <a:solidFill>
                  <a:srgbClr val="D6E4F0"/>
                </a:solidFill>
              </a:rPr>
              <a:t>•  Bulgu 1, 2 ve Ek Not'ta belirtilen mülga mevzuata dayanan soruların </a:t>
            </a:r>
            <a:r>
              <a:rPr sz="1500" b="0" i="1">
                <a:solidFill>
                  <a:srgbClr val="D6E4F0"/>
                </a:solidFill>
              </a:rPr>
              <a:t>(Düzenlemeler 17, 42 ve 18)</a:t>
            </a:r>
            <a:r>
              <a:rPr sz="1500" b="0" i="0">
                <a:solidFill>
                  <a:srgbClr val="D6E4F0"/>
                </a:solidFill>
              </a:rPr>
              <a:t> yürürlükteki FTM Yönetmeliği ve FTM Teknik Ölçütler </a:t>
            </a:r>
            <a:r>
              <a:rPr sz="1500" b="0" i="1">
                <a:solidFill>
                  <a:srgbClr val="D6E4F0"/>
                </a:solidFill>
              </a:rPr>
              <a:t>(BTK Kurul Kararı 23/9/2022)</a:t>
            </a:r>
            <a:r>
              <a:rPr sz="1500" b="0" i="0">
                <a:solidFill>
                  <a:srgbClr val="D6E4F0"/>
                </a:solidFill>
              </a:rPr>
              <a:t> esas alınarak yenilenmesini,</a:t>
            </a:r>
          </a:p>
          <a:p>
            <a:pPr>
              <a:spcAft>
                <a:spcPts val="1000"/>
              </a:spcAft>
            </a:pPr>
            <a:r>
              <a:rPr sz="1500" b="0" i="0">
                <a:solidFill>
                  <a:srgbClr val="D6E4F0"/>
                </a:solidFill>
              </a:rPr>
              <a:t>•  ITU Region / CQ Zone / ITU Zone ayrımının netleştirilerek Düzenlemeler 60 ve İşletme 22'nin düzeltilmesini,</a:t>
            </a:r>
          </a:p>
          <a:p>
            <a:pPr>
              <a:spcAft>
                <a:spcPts val="1000"/>
              </a:spcAft>
            </a:pPr>
            <a:r>
              <a:rPr sz="1500" b="0" i="0">
                <a:solidFill>
                  <a:srgbClr val="D6E4F0"/>
                </a:solidFill>
              </a:rPr>
              <a:t>•  İşletme 89'un, çağrı işareti ön ekine ilişkin 20/2/2011 tarihli Yönetmelik değişikliği doğrultusunda güncellenmesini,</a:t>
            </a:r>
          </a:p>
          <a:p>
            <a:pPr>
              <a:spcAft>
                <a:spcPts val="1000"/>
              </a:spcAft>
            </a:pPr>
            <a:r>
              <a:rPr sz="1500" b="0" i="0">
                <a:solidFill>
                  <a:srgbClr val="D6E4F0"/>
                </a:solidFill>
              </a:rPr>
              <a:t>•  İşletme 43 ile Teknik 120'nin cevap anahtarlarının; Teknik 46 ve 66'da ise iki düzeltme yolundan hangisinin tercih edileceğinin değerlendirilmesini,</a:t>
            </a:r>
          </a:p>
          <a:p>
            <a:pPr>
              <a:spcAft>
                <a:spcPts val="1000"/>
              </a:spcAft>
            </a:pPr>
            <a:r>
              <a:rPr sz="1500" b="0" i="0">
                <a:solidFill>
                  <a:srgbClr val="D6E4F0"/>
                </a:solidFill>
              </a:rPr>
              <a:t>•  Adaylar hâlihazırda bu dosyalarla çalıştığından, yayımda kalan soru dosyalarının güncellenmesini veya yayımdan kaldırılmasını</a:t>
            </a:r>
          </a:p>
          <a:p>
            <a:pPr>
              <a:spcAft>
                <a:spcPts val="0"/>
              </a:spcAft>
            </a:pPr>
            <a:r>
              <a:rPr sz="1500" b="0" i="0">
                <a:solidFill>
                  <a:srgbClr val="FFFFFF"/>
                </a:solidFill>
              </a:rPr>
              <a:t>saygıyla arz ve talep ederiz.</a:t>
            </a:r>
          </a:p>
        </p:txBody>
      </p:sp>
      <p:sp>
        <p:nvSpPr>
          <p:cNvPr id="5" name="TextBox 4"/>
          <p:cNvSpPr txBox="1"/>
          <p:nvPr/>
        </p:nvSpPr>
        <p:spPr>
          <a:xfrm>
            <a:off x="914400" y="6035040"/>
            <a:ext cx="10362895" cy="548640"/>
          </a:xfrm>
          <a:prstGeom prst="rect">
            <a:avLst/>
          </a:prstGeom>
          <a:noFill/>
        </p:spPr>
        <p:txBody>
          <a:bodyPr wrap="square">
            <a:spAutoFit/>
          </a:bodyPr>
          <a:lstStyle/>
          <a:p>
            <a:r>
              <a:rPr sz="1300" b="0" i="0">
                <a:solidFill>
                  <a:srgbClr val="D6E4F0"/>
                </a:solidFill>
              </a:rPr>
              <a:t>İletişim: [Kulüp / Şube adı] — [Ad-Soyad, Çağrı İşareti, e-posta]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
  <dcterms:created xsi:type="dcterms:W3CDTF">2013-01-27T09:14:16Z</dcterms:created>
  <dcterms:modified xsi:type="dcterms:W3CDTF">2013-01-27T09:15:58Z</dcterms:modified>
  <cp:category/>
</cp:coreProperties>
</file>