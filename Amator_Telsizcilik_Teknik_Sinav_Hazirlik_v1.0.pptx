
<file path=[Content_Types].xml><?xml version="1.0" encoding="utf-8"?>
<Types xmlns="http://schemas.openxmlformats.org/package/2006/content-types"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94.xml" ContentType="application/vnd.openxmlformats-officedocument.presentationml.slide+xml"/>
  <Override PartName="/ppt/slides/slide142.xml" ContentType="application/vnd.openxmlformats-officedocument.presentationml.slide+xml"/>
  <Override PartName="/ppt/slides/slide36.xml" ContentType="application/vnd.openxmlformats-officedocument.presentationml.slide+xml"/>
  <Override PartName="/ppt/slides/slide83.xml" ContentType="application/vnd.openxmlformats-officedocument.presentationml.slide+xml"/>
  <Override PartName="/ppt/slides/slide120.xml" ContentType="application/vnd.openxmlformats-officedocument.presentationml.slide+xml"/>
  <Override PartName="/ppt/slides/slide131.xml" ContentType="application/vnd.openxmlformats-officedocument.presentationml.slide+xml"/>
  <Override PartName="/ppt/slides/slide25.xml" ContentType="application/vnd.openxmlformats-officedocument.presentationml.slide+xml"/>
  <Override PartName="/ppt/slides/slide72.xml" ContentType="application/vnd.openxmlformats-officedocument.presentationml.slid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slides/slide169.xml" ContentType="application/vnd.openxmlformats-officedocument.presentationml.slide+xml"/>
  <Override PartName="/ppt/tableStyles.xml" ContentType="application/vnd.openxmlformats-officedocument.presentationml.tableStyles+xml"/>
  <Override PartName="/ppt/slides/slide129.xml" ContentType="application/vnd.openxmlformats-officedocument.presentationml.slide+xml"/>
  <Override PartName="/ppt/slides/slide147.xml" ContentType="application/vnd.openxmlformats-officedocument.presentationml.slide+xml"/>
  <Override PartName="/ppt/slides/slide158.xml" ContentType="application/vnd.openxmlformats-officedocument.presentationml.slide+xml"/>
  <Override PartName="/ppt/slides/slide176.xml" ContentType="application/vnd.openxmlformats-officedocument.presentationml.slide+xml"/>
  <Override PartName="/ppt/slides/slide99.xml" ContentType="application/vnd.openxmlformats-officedocument.presentationml.slide+xml"/>
  <Override PartName="/ppt/slides/slide118.xml" ContentType="application/vnd.openxmlformats-officedocument.presentationml.slide+xml"/>
  <Override PartName="/ppt/slides/slide136.xml" ContentType="application/vnd.openxmlformats-officedocument.presentationml.slide+xml"/>
  <Override PartName="/ppt/slides/slide165.xml" ContentType="application/vnd.openxmlformats-officedocument.presentationml.slide+xml"/>
  <Override PartName="/ppt/slides/slide183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77.xml" ContentType="application/vnd.openxmlformats-officedocument.presentationml.slide+xml"/>
  <Override PartName="/ppt/slides/slide88.xml" ContentType="application/vnd.openxmlformats-officedocument.presentationml.slide+xml"/>
  <Override PartName="/ppt/slides/slide107.xml" ContentType="application/vnd.openxmlformats-officedocument.presentationml.slide+xml"/>
  <Override PartName="/ppt/slides/slide125.xml" ContentType="application/vnd.openxmlformats-officedocument.presentationml.slide+xml"/>
  <Override PartName="/ppt/slides/slide143.xml" ContentType="application/vnd.openxmlformats-officedocument.presentationml.slide+xml"/>
  <Override PartName="/ppt/slides/slide154.xml" ContentType="application/vnd.openxmlformats-officedocument.presentationml.slide+xml"/>
  <Override PartName="/ppt/slides/slide172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48.xml" ContentType="application/vnd.openxmlformats-officedocument.presentationml.slide+xml"/>
  <Override PartName="/ppt/slides/slide66.xml" ContentType="application/vnd.openxmlformats-officedocument.presentationml.slide+xml"/>
  <Override PartName="/ppt/slides/slide95.xml" ContentType="application/vnd.openxmlformats-officedocument.presentationml.slide+xml"/>
  <Override PartName="/ppt/slides/slide103.xml" ContentType="application/vnd.openxmlformats-officedocument.presentationml.slide+xml"/>
  <Override PartName="/ppt/slides/slide114.xml" ContentType="application/vnd.openxmlformats-officedocument.presentationml.slide+xml"/>
  <Override PartName="/ppt/slides/slide132.xml" ContentType="application/vnd.openxmlformats-officedocument.presentationml.slide+xml"/>
  <Override PartName="/ppt/slides/slide150.xml" ContentType="application/vnd.openxmlformats-officedocument.presentationml.slide+xml"/>
  <Override PartName="/ppt/slides/slide161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55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slides/slide121.xml" ContentType="application/vnd.openxmlformats-officedocument.presentationml.slide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33.xml" ContentType="application/vnd.openxmlformats-officedocument.presentationml.slide+xml"/>
  <Override PartName="/ppt/slides/slide44.xml" ContentType="application/vnd.openxmlformats-officedocument.presentationml.slide+xml"/>
  <Override PartName="/ppt/slides/slide62.xml" ContentType="application/vnd.openxmlformats-officedocument.presentationml.slide+xml"/>
  <Override PartName="/ppt/slides/slide80.xml" ContentType="application/vnd.openxmlformats-officedocument.presentationml.slide+xml"/>
  <Override PartName="/ppt/slides/slide91.xml" ContentType="application/vnd.openxmlformats-officedocument.presentationml.slide+xml"/>
  <Override PartName="/ppt/slides/slide110.xml" ContentType="application/vnd.openxmlformats-officedocument.presentationml.slide+xml"/>
  <Override PartName="/ppt/slideLayouts/slideLayout3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slides/slide51.xml" ContentType="application/vnd.openxmlformats-officedocument.presentationml.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40.xml" ContentType="application/vnd.openxmlformats-officedocument.presentationml.slide+xml"/>
  <Override PartName="/ppt/slides/slide159.xml" ContentType="application/vnd.openxmlformats-officedocument.presentationml.slide+xml"/>
  <Override PartName="/ppt/slides/slide119.xml" ContentType="application/vnd.openxmlformats-officedocument.presentationml.slide+xml"/>
  <Override PartName="/ppt/slides/slide148.xml" ContentType="application/vnd.openxmlformats-officedocument.presentationml.slide+xml"/>
  <Override PartName="/ppt/slides/slide166.xml" ContentType="application/vnd.openxmlformats-officedocument.presentationml.slide+xml"/>
  <Override PartName="/ppt/slides/slide177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89.xml" ContentType="application/vnd.openxmlformats-officedocument.presentationml.slide+xml"/>
  <Override PartName="/ppt/slides/slide108.xml" ContentType="application/vnd.openxmlformats-officedocument.presentationml.slide+xml"/>
  <Override PartName="/ppt/slides/slide126.xml" ContentType="application/vnd.openxmlformats-officedocument.presentationml.slide+xml"/>
  <Override PartName="/ppt/slides/slide137.xml" ContentType="application/vnd.openxmlformats-officedocument.presentationml.slide+xml"/>
  <Override PartName="/ppt/slides/slide155.xml" ContentType="application/vnd.openxmlformats-officedocument.presentationml.slide+xml"/>
  <Override PartName="/ppt/slides/slide173.xml" ContentType="application/vnd.openxmlformats-officedocument.presentationml.slide+xml"/>
  <Override PartName="/ppt/slides/slide184.xml" ContentType="application/vnd.openxmlformats-officedocument.presentationml.slide+xml"/>
  <Override PartName="/ppt/slides/slide49.xml" ContentType="application/vnd.openxmlformats-officedocument.presentationml.slide+xml"/>
  <Override PartName="/ppt/slides/slide78.xml" ContentType="application/vnd.openxmlformats-officedocument.presentationml.slide+xml"/>
  <Override PartName="/ppt/slides/slide96.xml" ContentType="application/vnd.openxmlformats-officedocument.presentationml.slide+xml"/>
  <Override PartName="/ppt/slides/slide115.xml" ContentType="application/vnd.openxmlformats-officedocument.presentationml.slide+xml"/>
  <Override PartName="/ppt/slides/slide144.xml" ContentType="application/vnd.openxmlformats-officedocument.presentationml.slide+xml"/>
  <Override PartName="/ppt/slides/slide162.xml" ContentType="application/vnd.openxmlformats-officedocument.presentationml.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s/slide85.xml" ContentType="application/vnd.openxmlformats-officedocument.presentationml.slide+xml"/>
  <Override PartName="/ppt/slides/slide104.xml" ContentType="application/vnd.openxmlformats-officedocument.presentationml.slide+xml"/>
  <Override PartName="/ppt/slides/slide122.xml" ContentType="application/vnd.openxmlformats-officedocument.presentationml.slide+xml"/>
  <Override PartName="/ppt/slides/slide133.xml" ContentType="application/vnd.openxmlformats-officedocument.presentationml.slide+xml"/>
  <Override PartName="/ppt/slides/slide151.xml" ContentType="application/vnd.openxmlformats-officedocument.presentationml.slide+xml"/>
  <Override PartName="/ppt/slides/slide180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s/slide92.xml" ContentType="application/vnd.openxmlformats-officedocument.presentationml.slide+xml"/>
  <Override PartName="/ppt/slides/slide111.xml" ContentType="application/vnd.openxmlformats-officedocument.presentationml.slide+xml"/>
  <Override PartName="/ppt/slides/slide140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81.xml" ContentType="application/vnd.openxmlformats-officedocument.presentationml.slide+xml"/>
  <Override PartName="/ppt/slides/slide100.xml" ContentType="application/vnd.openxmlformats-officedocument.presentationml.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s/slide149.xml" ContentType="application/vnd.openxmlformats-officedocument.presentationml.slide+xml"/>
  <Override PartName="/ppt/slides/slide178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138.xml" ContentType="application/vnd.openxmlformats-officedocument.presentationml.slide+xml"/>
  <Override PartName="/ppt/slides/slide167.xml" ContentType="application/vnd.openxmlformats-officedocument.presentationml.slide+xml"/>
  <Override PartName="/ppt/slides/slide185.xml" ContentType="application/vnd.openxmlformats-officedocument.presentationml.slide+xml"/>
  <Override PartName="/ppt/slides/slide79.xml" ContentType="application/vnd.openxmlformats-officedocument.presentationml.slide+xml"/>
  <Override PartName="/ppt/slides/slide109.xml" ContentType="application/vnd.openxmlformats-officedocument.presentationml.slide+xml"/>
  <Override PartName="/ppt/slides/slide127.xml" ContentType="application/vnd.openxmlformats-officedocument.presentationml.slide+xml"/>
  <Override PartName="/ppt/slides/slide145.xml" ContentType="application/vnd.openxmlformats-officedocument.presentationml.slide+xml"/>
  <Override PartName="/ppt/slides/slide156.xml" ContentType="application/vnd.openxmlformats-officedocument.presentationml.slide+xml"/>
  <Override PartName="/ppt/slides/slide174.xml" ContentType="application/vnd.openxmlformats-officedocument.presentationml.slide+xml"/>
  <Override PartName="/ppt/slides/slide7.xml" ContentType="application/vnd.openxmlformats-officedocument.presentationml.slide+xml"/>
  <Override PartName="/ppt/slides/slide68.xml" ContentType="application/vnd.openxmlformats-officedocument.presentationml.slide+xml"/>
  <Override PartName="/ppt/slides/slide97.xml" ContentType="application/vnd.openxmlformats-officedocument.presentationml.slide+xml"/>
  <Override PartName="/ppt/slides/slide116.xml" ContentType="application/vnd.openxmlformats-officedocument.presentationml.slide+xml"/>
  <Override PartName="/ppt/slides/slide134.xml" ContentType="application/vnd.openxmlformats-officedocument.presentationml.slide+xml"/>
  <Override PartName="/ppt/slides/slide163.xml" ContentType="application/vnd.openxmlformats-officedocument.presentationml.slide+xml"/>
  <Override PartName="/ppt/slides/slide181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57.xml" ContentType="application/vnd.openxmlformats-officedocument.presentationml.slide+xml"/>
  <Override PartName="/ppt/slides/slide75.xml" ContentType="application/vnd.openxmlformats-officedocument.presentationml.slide+xml"/>
  <Override PartName="/ppt/slides/slide86.xml" ContentType="application/vnd.openxmlformats-officedocument.presentationml.slide+xml"/>
  <Override PartName="/ppt/slides/slide105.xml" ContentType="application/vnd.openxmlformats-officedocument.presentationml.slide+xml"/>
  <Override PartName="/ppt/slides/slide123.xml" ContentType="application/vnd.openxmlformats-officedocument.presentationml.slide+xml"/>
  <Override PartName="/ppt/slides/slide141.xml" ContentType="application/vnd.openxmlformats-officedocument.presentationml.slide+xml"/>
  <Override PartName="/ppt/slides/slide152.xml" ContentType="application/vnd.openxmlformats-officedocument.presentationml.slide+xml"/>
  <Override PartName="/ppt/slides/slide170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6.xml" ContentType="application/vnd.openxmlformats-officedocument.presentationml.slide+xml"/>
  <Override PartName="/ppt/slides/slide64.xml" ContentType="application/vnd.openxmlformats-officedocument.presentationml.slide+xml"/>
  <Override PartName="/ppt/slides/slide93.xml" ContentType="application/vnd.openxmlformats-officedocument.presentationml.slide+xml"/>
  <Override PartName="/ppt/slides/slide101.xml" ContentType="application/vnd.openxmlformats-officedocument.presentationml.slide+xml"/>
  <Override PartName="/ppt/slides/slide112.xml" ContentType="application/vnd.openxmlformats-officedocument.presentationml.slide+xml"/>
  <Override PartName="/ppt/slides/slide130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24.xml" ContentType="application/vnd.openxmlformats-officedocument.presentationml.slide+xml"/>
  <Override PartName="/ppt/slides/slide35.xml" ContentType="application/vnd.openxmlformats-officedocument.presentationml.slide+xml"/>
  <Override PartName="/ppt/slides/slide53.xml" ContentType="application/vnd.openxmlformats-officedocument.presentationml.slide+xml"/>
  <Override PartName="/ppt/slides/slide71.xml" ContentType="application/vnd.openxmlformats-officedocument.presentationml.slide+xml"/>
  <Override PartName="/ppt/slides/slide82.xml" ContentType="application/vnd.openxmlformats-officedocument.presentationml.slide+xml"/>
  <Default Extension="jpeg" ContentType="image/jpeg"/>
  <Override PartName="/ppt/slides/slide13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20.xml" ContentType="application/vnd.openxmlformats-officedocument.presentationml.slide+xml"/>
  <Override PartName="/ppt/slides/slide168.xml" ContentType="application/vnd.openxmlformats-officedocument.presentationml.slide+xml"/>
  <Override PartName="/ppt/slides/slide179.xml" ContentType="application/vnd.openxmlformats-officedocument.presentationml.slide+xml"/>
  <Override PartName="/ppt/slides/slide139.xml" ContentType="application/vnd.openxmlformats-officedocument.presentationml.slide+xml"/>
  <Override PartName="/ppt/slides/slide157.xml" ContentType="application/vnd.openxmlformats-officedocument.presentationml.slide+xml"/>
  <Override PartName="/ppt/slides/slide186.xml" ContentType="application/vnd.openxmlformats-officedocument.presentationml.slide+xml"/>
  <Override PartName="/ppt/slides/slide98.xml" ContentType="application/vnd.openxmlformats-officedocument.presentationml.slide+xml"/>
  <Override PartName="/ppt/slides/slide117.xml" ContentType="application/vnd.openxmlformats-officedocument.presentationml.slide+xml"/>
  <Override PartName="/ppt/slides/slide128.xml" ContentType="application/vnd.openxmlformats-officedocument.presentationml.slide+xml"/>
  <Override PartName="/ppt/slides/slide146.xml" ContentType="application/vnd.openxmlformats-officedocument.presentationml.slide+xml"/>
  <Override PartName="/ppt/slides/slide164.xml" ContentType="application/vnd.openxmlformats-officedocument.presentationml.slide+xml"/>
  <Override PartName="/ppt/slides/slide175.xml" ContentType="application/vnd.openxmlformats-officedocument.presentationml.slide+xml"/>
  <Override PartName="/ppt/slides/slide8.xml" ContentType="application/vnd.openxmlformats-officedocument.presentationml.slide+xml"/>
  <Override PartName="/ppt/slides/slide69.xml" ContentType="application/vnd.openxmlformats-officedocument.presentationml.slide+xml"/>
  <Override PartName="/ppt/slides/slide87.xml" ContentType="application/vnd.openxmlformats-officedocument.presentationml.slide+xml"/>
  <Override PartName="/ppt/slides/slide106.xml" ContentType="application/vnd.openxmlformats-officedocument.presentationml.slide+xml"/>
  <Override PartName="/ppt/slides/slide124.xml" ContentType="application/vnd.openxmlformats-officedocument.presentationml.slide+xml"/>
  <Override PartName="/ppt/slides/slide135.xml" ContentType="application/vnd.openxmlformats-officedocument.presentationml.slide+xml"/>
  <Override PartName="/ppt/slides/slide153.xml" ContentType="application/vnd.openxmlformats-officedocument.presentationml.slide+xml"/>
  <Override PartName="/ppt/slides/slide171.xml" ContentType="application/vnd.openxmlformats-officedocument.presentationml.slide+xml"/>
  <Override PartName="/ppt/slides/slide182.xml" ContentType="application/vnd.openxmlformats-officedocument.presentationml.slide+xml"/>
  <Override PartName="/ppt/slides/slide29.xml" ContentType="application/vnd.openxmlformats-officedocument.presentationml.slide+xml"/>
  <Override PartName="/ppt/slides/slide76.xml" ContentType="application/vnd.openxmlformats-officedocument.presentationml.slide+xml"/>
  <Override PartName="/ppt/slides/slide113.xml" ContentType="application/vnd.openxmlformats-officedocument.presentationml.slide+xml"/>
  <Override PartName="/ppt/slides/slide160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102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43.xml" ContentType="application/vnd.openxmlformats-officedocument.presentationml.slide+xml"/>
  <Override PartName="/ppt/slides/slide90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442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  <p:sldId id="434" r:id="rId180"/>
    <p:sldId id="435" r:id="rId181"/>
    <p:sldId id="436" r:id="rId182"/>
    <p:sldId id="437" r:id="rId183"/>
    <p:sldId id="438" r:id="rId184"/>
    <p:sldId id="439" r:id="rId185"/>
    <p:sldId id="440" r:id="rId186"/>
    <p:sldId id="441" r:id="rId18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-59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38" Type="http://schemas.openxmlformats.org/officeDocument/2006/relationships/slide" Target="slides/slide137.xml"/><Relationship Id="rId154" Type="http://schemas.openxmlformats.org/officeDocument/2006/relationships/slide" Target="slides/slide153.xml"/><Relationship Id="rId159" Type="http://schemas.openxmlformats.org/officeDocument/2006/relationships/slide" Target="slides/slide158.xml"/><Relationship Id="rId175" Type="http://schemas.openxmlformats.org/officeDocument/2006/relationships/slide" Target="slides/slide174.xml"/><Relationship Id="rId170" Type="http://schemas.openxmlformats.org/officeDocument/2006/relationships/slide" Target="slides/slide169.xml"/><Relationship Id="rId191" Type="http://schemas.openxmlformats.org/officeDocument/2006/relationships/tableStyles" Target="tableStyle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144" Type="http://schemas.openxmlformats.org/officeDocument/2006/relationships/slide" Target="slides/slide143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65" Type="http://schemas.openxmlformats.org/officeDocument/2006/relationships/slide" Target="slides/slide164.xml"/><Relationship Id="rId181" Type="http://schemas.openxmlformats.org/officeDocument/2006/relationships/slide" Target="slides/slide180.xml"/><Relationship Id="rId186" Type="http://schemas.openxmlformats.org/officeDocument/2006/relationships/slide" Target="slides/slide185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55" Type="http://schemas.openxmlformats.org/officeDocument/2006/relationships/slide" Target="slides/slide154.xml"/><Relationship Id="rId171" Type="http://schemas.openxmlformats.org/officeDocument/2006/relationships/slide" Target="slides/slide170.xml"/><Relationship Id="rId176" Type="http://schemas.openxmlformats.org/officeDocument/2006/relationships/slide" Target="slides/slide175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61" Type="http://schemas.openxmlformats.org/officeDocument/2006/relationships/slide" Target="slides/slide160.xml"/><Relationship Id="rId166" Type="http://schemas.openxmlformats.org/officeDocument/2006/relationships/slide" Target="slides/slide165.xml"/><Relationship Id="rId182" Type="http://schemas.openxmlformats.org/officeDocument/2006/relationships/slide" Target="slides/slide181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72" Type="http://schemas.openxmlformats.org/officeDocument/2006/relationships/slide" Target="slides/slide17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viewProps" Target="viewProp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0" Type="http://schemas.openxmlformats.org/officeDocument/2006/relationships/theme" Target="theme/theme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E6E4BC-9044-4B64-A4C8-5472A9859601}" type="datetimeFigureOut">
              <a:rPr lang="en-US"/>
              <a:pPr>
                <a:defRPr/>
              </a:pPr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29635F-6265-4F4E-9D83-93B5E71179D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847383-7BAB-4CD0-A04E-5277E1BB0BC0}" type="datetimeFigureOut">
              <a:rPr lang="en-US"/>
              <a:pPr>
                <a:defRPr/>
              </a:pPr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2548E4-1DA3-48D9-8507-9537F71616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59D8B2-2DEF-4631-8FB5-22D06C0D57D2}" type="datetimeFigureOut">
              <a:rPr lang="en-US"/>
              <a:pPr>
                <a:defRPr/>
              </a:pPr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715C63-4C15-476A-A30E-EA9E503C2DD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FE07C7-8AF1-470E-95DA-062C426A70F2}" type="datetimeFigureOut">
              <a:rPr lang="en-US"/>
              <a:pPr>
                <a:defRPr/>
              </a:pPr>
              <a:t>7/26/2026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D82805-5CF1-46EB-A182-C9BDA735CF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733A37-8B2F-4C23-B20C-A0EB705AC194}" type="datetimeFigureOut">
              <a:rPr lang="en-US"/>
              <a:pPr>
                <a:defRPr/>
              </a:pPr>
              <a:t>7/26/2026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A5D672-2BD1-4534-9B40-29C222A89A4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DD1543-ABD2-4EC0-94D7-CC16BF25D910}" type="datetimeFigureOut">
              <a:rPr lang="en-US"/>
              <a:pPr>
                <a:defRPr/>
              </a:pPr>
              <a:t>7/26/2026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C12133-5767-4B2C-A6F7-DFB6709B918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B568A1-620A-4580-A3CB-CF72E3D196A9}" type="datetimeFigureOut">
              <a:rPr lang="en-US"/>
              <a:pPr>
                <a:defRPr/>
              </a:pPr>
              <a:t>7/26/2026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C1E195-9AC5-43A8-A396-4316EF8A77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0297DC-B553-4A4B-9C89-CDD54AB7DDF3}" type="datetimeFigureOut">
              <a:rPr lang="en-US"/>
              <a:pPr>
                <a:defRPr/>
              </a:pPr>
              <a:t>7/26/2026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01AEE2-217F-4608-88B9-74606375053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905B33-DAA2-471D-B5A7-AC4715EC1176}" type="datetimeFigureOut">
              <a:rPr lang="en-US"/>
              <a:pPr>
                <a:defRPr/>
              </a:pPr>
              <a:t>7/26/2026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9E4500-C602-444C-9506-134B67B3B64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2E89A4-8A23-4D7D-B3CF-DF5C951F906B}" type="datetimeFigureOut">
              <a:rPr lang="en-US"/>
              <a:pPr>
                <a:defRPr/>
              </a:pPr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9883F0-293A-48AC-8829-4F4FB1E4B86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97D554-8D7D-46F0-8C83-6BB14B7ED74B}" type="datetimeFigureOut">
              <a:rPr lang="en-US"/>
              <a:pPr>
                <a:defRPr/>
              </a:pPr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4A8A15-BBA8-4693-A290-417CA463C28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AAB8B6C2-5492-42B4-ADA4-E86D19F22A5F}" type="datetimeFigureOut">
              <a:rPr lang="en-US"/>
              <a:pPr>
                <a:defRPr/>
              </a:pPr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C79F0567-85D6-43BC-8C01-3E88C58C23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914400" y="2286000"/>
            <a:ext cx="10363200" cy="1279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3600" b="1">
                <a:solidFill>
                  <a:srgbClr val="FFFFFF"/>
                </a:solidFill>
                <a:latin typeface="Calibri" pitchFamily="34" charset="0"/>
              </a:rPr>
              <a:t>TEKNİK</a:t>
            </a:r>
          </a:p>
        </p:txBody>
      </p:sp>
      <p:sp>
        <p:nvSpPr>
          <p:cNvPr id="2052" name="TextBox 3"/>
          <p:cNvSpPr txBox="1">
            <a:spLocks noChangeArrowheads="1"/>
          </p:cNvSpPr>
          <p:nvPr/>
        </p:nvSpPr>
        <p:spPr bwMode="auto">
          <a:xfrm>
            <a:off x="914400" y="3292475"/>
            <a:ext cx="10363200" cy="73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2000">
                <a:solidFill>
                  <a:srgbClr val="D6E4F0"/>
                </a:solidFill>
                <a:latin typeface="Calibri" pitchFamily="34" charset="0"/>
              </a:rPr>
              <a:t>Amatör Telsizcilik Sınav Hazırlık Seti — A/B Sınıfı (172 Soru)</a:t>
            </a:r>
          </a:p>
        </p:txBody>
      </p:sp>
      <p:sp>
        <p:nvSpPr>
          <p:cNvPr id="2053" name="TextBox 4"/>
          <p:cNvSpPr txBox="1">
            <a:spLocks noChangeArrowheads="1"/>
          </p:cNvSpPr>
          <p:nvPr/>
        </p:nvSpPr>
        <p:spPr bwMode="auto">
          <a:xfrm>
            <a:off x="914400" y="5761038"/>
            <a:ext cx="791527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200" i="1">
                <a:solidFill>
                  <a:srgbClr val="D6E4F0"/>
                </a:solidFill>
                <a:latin typeface="Calibri" pitchFamily="34" charset="0"/>
              </a:rPr>
              <a:t>Kaynak: KEGM A-B Sınıfı Teknik Soru Bankası; temel elektrik/elektronik formülleri (Ohm Kanunu, rezonans, güç/dB hesapları).</a:t>
            </a:r>
          </a:p>
          <a:p>
            <a:r>
              <a:rPr lang="tr-TR" sz="1200" i="1">
                <a:solidFill>
                  <a:srgbClr val="D6E4F0"/>
                </a:solidFill>
                <a:latin typeface="Calibri" pitchFamily="34" charset="0"/>
              </a:rPr>
              <a:t>Hesaplamalar bağımsız olarak doğrulanmıştır; bulunan bir kaynak hatası ilgili slaytta ayrıca belirtilmiştir.</a:t>
            </a:r>
          </a:p>
        </p:txBody>
      </p:sp>
      <p:sp>
        <p:nvSpPr>
          <p:cNvPr id="6" name="5 Metin kutusu"/>
          <p:cNvSpPr txBox="1"/>
          <p:nvPr/>
        </p:nvSpPr>
        <p:spPr>
          <a:xfrm>
            <a:off x="914400" y="4826000"/>
            <a:ext cx="9144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tr-TR" sz="1300" i="1" smtClean="0">
                <a:solidFill>
                  <a:srgbClr val="D6F2F0"/>
                </a:solidFill>
              </a:rPr>
              <a:t>Yazar: Claude Sonnet 5 (Anthropic)  -  Editor / Hata Kontrolu: H. Erhan Ozkan, TA3HRJ</a:t>
            </a:r>
            <a:endParaRPr lang="tr-TR" sz="1300" i="1">
              <a:solidFill>
                <a:srgbClr val="D6F2F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06475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3075" name="TextBox 2"/>
          <p:cNvSpPr txBox="1">
            <a:spLocks noChangeArrowheads="1"/>
          </p:cNvSpPr>
          <p:nvPr/>
        </p:nvSpPr>
        <p:spPr bwMode="auto">
          <a:xfrm>
            <a:off x="457200" y="165100"/>
            <a:ext cx="11277600" cy="73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2400" b="1">
                <a:solidFill>
                  <a:srgbClr val="FFFFFF"/>
                </a:solidFill>
                <a:latin typeface="Calibri" pitchFamily="34" charset="0"/>
              </a:rPr>
              <a:t>BÖLÜM 1: SWR, Besleme Hattı ve Direnç-Güç Hesapları</a:t>
            </a:r>
          </a:p>
        </p:txBody>
      </p:sp>
      <p:sp>
        <p:nvSpPr>
          <p:cNvPr id="3076" name="TextBox 3"/>
          <p:cNvSpPr txBox="1">
            <a:spLocks noChangeArrowheads="1"/>
          </p:cNvSpPr>
          <p:nvPr/>
        </p:nvSpPr>
        <p:spPr bwMode="auto">
          <a:xfrm>
            <a:off x="639763" y="1371600"/>
            <a:ext cx="10912475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Aft>
                <a:spcPts val="1300"/>
              </a:spcAft>
            </a:pPr>
            <a:r>
              <a:rPr lang="tr-TR" sz="1700">
                <a:solidFill>
                  <a:srgbClr val="222222"/>
                </a:solidFill>
                <a:latin typeface="Calibri" pitchFamily="34" charset="0"/>
              </a:rPr>
              <a:t>•  SWR </a:t>
            </a:r>
            <a:r>
              <a:rPr lang="tr-TR" sz="1700" i="1">
                <a:solidFill>
                  <a:srgbClr val="222222"/>
                </a:solidFill>
                <a:latin typeface="Calibri" pitchFamily="34" charset="0"/>
              </a:rPr>
              <a:t>(Standing Wave Ratio — duran dalga oranı)</a:t>
            </a:r>
            <a:r>
              <a:rPr lang="tr-TR" sz="1700">
                <a:solidFill>
                  <a:srgbClr val="222222"/>
                </a:solidFill>
                <a:latin typeface="Calibri" pitchFamily="34" charset="0"/>
              </a:rPr>
              <a:t>, anten ile besleme hattı arasındaki empedans uyumunu gösterir; ideal değer 1:1'dir, asla 1'in altına inemez.</a:t>
            </a:r>
          </a:p>
          <a:p>
            <a:pPr>
              <a:spcAft>
                <a:spcPts val="1300"/>
              </a:spcAft>
            </a:pPr>
            <a:r>
              <a:rPr lang="tr-TR" sz="1700">
                <a:solidFill>
                  <a:srgbClr val="222222"/>
                </a:solidFill>
                <a:latin typeface="Calibri" pitchFamily="34" charset="0"/>
              </a:rPr>
              <a:t>•  Bir dirençten geçebilecek maksimum akım, direncin güç ve direnç değerinden </a:t>
            </a:r>
            <a:r>
              <a:rPr lang="tr-TR" sz="1700" i="1">
                <a:solidFill>
                  <a:srgbClr val="222222"/>
                </a:solidFill>
                <a:latin typeface="Calibri" pitchFamily="34" charset="0"/>
              </a:rPr>
              <a:t>(P=I²R formülüyle)</a:t>
            </a:r>
            <a:r>
              <a:rPr lang="tr-TR" sz="1700">
                <a:solidFill>
                  <a:srgbClr val="222222"/>
                </a:solidFill>
                <a:latin typeface="Calibri" pitchFamily="34" charset="0"/>
              </a:rPr>
              <a:t> hesaplanır.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39763" y="5622925"/>
            <a:ext cx="10912475" cy="914400"/>
          </a:xfrm>
          <a:prstGeom prst="rect">
            <a:avLst/>
          </a:prstGeom>
          <a:solidFill>
            <a:srgbClr val="D6E4F0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73152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300" b="1">
                <a:solidFill>
                  <a:srgbClr val="1F3864"/>
                </a:solidFill>
              </a:rPr>
              <a:t>Bu bölümün kaynağı: </a:t>
            </a:r>
            <a:r>
              <a:rPr sz="1300">
                <a:solidFill>
                  <a:srgbClr val="222222"/>
                </a:solidFill>
              </a:rPr>
              <a:t>SWR teorisi; Ohm Kanunu (V=IR) ve temel devre analizi.</a:t>
            </a:r>
          </a:p>
        </p:txBody>
      </p:sp>
      <p:sp>
        <p:nvSpPr>
          <p:cNvPr id="3078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Bölüm 1 Girişi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4099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1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SWR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Duran dalga oranı (SWR) aşağıdakilerden hangisi olamaz?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a)  0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1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10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Sonsuz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SWR tanımı gereği en düşük değeri 1'dir </a:t>
            </a:r>
            <a:r>
              <a:rPr sz="1250" i="1">
                <a:solidFill>
                  <a:srgbClr val="222222"/>
                </a:solidFill>
              </a:rPr>
              <a:t>(mükemmel uyum)</a:t>
            </a:r>
            <a:r>
              <a:rPr sz="1250">
                <a:solidFill>
                  <a:srgbClr val="222222"/>
                </a:solidFill>
              </a:rPr>
              <a:t>; 1'in altına </a:t>
            </a:r>
            <a:r>
              <a:rPr sz="1250" i="1">
                <a:solidFill>
                  <a:srgbClr val="222222"/>
                </a:solidFill>
              </a:rPr>
              <a:t>(0'a)</a:t>
            </a:r>
            <a:r>
              <a:rPr sz="1250">
                <a:solidFill>
                  <a:srgbClr val="222222"/>
                </a:solidFill>
              </a:rPr>
              <a:t> inemez. Yüksek SWR değerleri </a:t>
            </a:r>
            <a:r>
              <a:rPr sz="1250" i="1">
                <a:solidFill>
                  <a:srgbClr val="222222"/>
                </a:solidFill>
              </a:rPr>
              <a:t>(10, sonsuz)</a:t>
            </a:r>
            <a:r>
              <a:rPr sz="1250">
                <a:solidFill>
                  <a:srgbClr val="222222"/>
                </a:solidFill>
              </a:rPr>
              <a:t> kötü uyumu gösterir ama matematiksel olarak mümkündür.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SWR teorisi (1 ≤ SWR ≤ ∞).</a:t>
            </a:r>
          </a:p>
        </p:txBody>
      </p:sp>
      <p:sp>
        <p:nvSpPr>
          <p:cNvPr id="4102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5123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2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Besleme Hattı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Besleme hattı tiplerinden biri olan çıplak iki telli hat, izolatör çubukları ile sabit mesafede tutulurlar. İki tel arasındaki mesafe aşağıdakilerden hangisine bağlıdır?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a)  Karakteristik empedansa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Kullanılan telin direncine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Havadaki nem oranına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Hiçbirine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İki telli hattın karakteristik empedansı </a:t>
            </a:r>
            <a:r>
              <a:rPr sz="1250" i="1">
                <a:solidFill>
                  <a:srgbClr val="222222"/>
                </a:solidFill>
              </a:rPr>
              <a:t>(Zo — hattın kendine özgü elektriksel direnç değeri)</a:t>
            </a:r>
            <a:r>
              <a:rPr sz="1250">
                <a:solidFill>
                  <a:srgbClr val="222222"/>
                </a:solidFill>
              </a:rPr>
              <a:t>, tellerin çapı ve aralarındaki mesafenin oranına bağlıdır; istenen empedans değeri için bu mesafe hesaplanarak sabitlenir.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İletim hattı teorisi.</a:t>
            </a:r>
          </a:p>
        </p:txBody>
      </p:sp>
      <p:sp>
        <p:nvSpPr>
          <p:cNvPr id="5126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6147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3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Güç Hesabı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1 W ve 1 Mohm'luk bir dirençten geçirilebilecek maksimum akım aşağıdakilerden hangisidir?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10⁻⁶ A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b)  10⁻³ A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0.1 mA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10⁻¹² A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P=I²R formülünden I=√</a:t>
            </a:r>
            <a:r>
              <a:rPr sz="1250" i="1">
                <a:solidFill>
                  <a:srgbClr val="222222"/>
                </a:solidFill>
              </a:rPr>
              <a:t>(P/R)</a:t>
            </a:r>
            <a:r>
              <a:rPr sz="1250">
                <a:solidFill>
                  <a:srgbClr val="222222"/>
                </a:solidFill>
              </a:rPr>
              <a:t>=√</a:t>
            </a:r>
            <a:r>
              <a:rPr sz="1250" i="1">
                <a:solidFill>
                  <a:srgbClr val="222222"/>
                </a:solidFill>
              </a:rPr>
              <a:t>(1/1.000.000)</a:t>
            </a:r>
            <a:r>
              <a:rPr sz="1250">
                <a:solidFill>
                  <a:srgbClr val="222222"/>
                </a:solidFill>
              </a:rPr>
              <a:t>=√</a:t>
            </a:r>
            <a:r>
              <a:rPr sz="1250" i="1">
                <a:solidFill>
                  <a:srgbClr val="222222"/>
                </a:solidFill>
              </a:rPr>
              <a:t>(10⁻⁶)</a:t>
            </a:r>
            <a:r>
              <a:rPr sz="1250">
                <a:solidFill>
                  <a:srgbClr val="222222"/>
                </a:solidFill>
              </a:rPr>
              <a:t>=10⁻³ A.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Ohm Kanunu (V=IR) ve temel devre analizi.</a:t>
            </a:r>
          </a:p>
        </p:txBody>
      </p:sp>
      <p:sp>
        <p:nvSpPr>
          <p:cNvPr id="6150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7171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4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Besleme Hattı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lang="tr-TR" sz="1600" b="1" dirty="0">
                <a:solidFill>
                  <a:srgbClr val="222222"/>
                </a:solidFill>
              </a:rPr>
              <a:t>Yukarıdaki i</a:t>
            </a:r>
            <a:r>
              <a:rPr sz="1600" b="1">
                <a:solidFill>
                  <a:srgbClr val="222222"/>
                </a:solidFill>
              </a:rPr>
              <a:t>stasyon sisteminde </a:t>
            </a:r>
            <a:r>
              <a:rPr sz="1600">
                <a:solidFill>
                  <a:srgbClr val="222222"/>
                </a:solidFill>
              </a:rPr>
              <a:t>(</a:t>
            </a:r>
            <a:r>
              <a:rPr sz="1600" i="1">
                <a:solidFill>
                  <a:srgbClr val="222222"/>
                </a:solidFill>
              </a:rPr>
              <a:t>TX → alçak geçiren filtre → ATU → 25m koaksiyel kablo → anten</a:t>
            </a:r>
            <a:r>
              <a:rPr sz="1600">
                <a:solidFill>
                  <a:srgbClr val="222222"/>
                </a:solidFill>
              </a:rPr>
              <a:t>)</a:t>
            </a:r>
            <a:r>
              <a:rPr sz="1600" b="1">
                <a:solidFill>
                  <a:srgbClr val="222222"/>
                </a:solidFill>
              </a:rPr>
              <a:t>, telsiz birimine geri dönen RF gücü ölçülmek istenirse, SWR metre hangi nokta arasına bağlanmalıdır?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a)  A (TX ile filtre arası)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B (filtre ile ATU arası)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C (ATU ile kablo arası)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D (kablo ile anten arası)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SWR metre, göndericiye </a:t>
            </a:r>
            <a:r>
              <a:rPr sz="1250" i="1">
                <a:solidFill>
                  <a:srgbClr val="222222"/>
                </a:solidFill>
              </a:rPr>
              <a:t>(TX)</a:t>
            </a:r>
            <a:r>
              <a:rPr sz="1250">
                <a:solidFill>
                  <a:srgbClr val="222222"/>
                </a:solidFill>
              </a:rPr>
              <a:t> en yakın noktaya </a:t>
            </a:r>
            <a:r>
              <a:rPr sz="1250" i="1">
                <a:solidFill>
                  <a:srgbClr val="222222"/>
                </a:solidFill>
              </a:rPr>
              <a:t>(A)</a:t>
            </a:r>
            <a:r>
              <a:rPr sz="1250">
                <a:solidFill>
                  <a:srgbClr val="222222"/>
                </a:solidFill>
              </a:rPr>
              <a:t> bağlanarak vericiye geri dönen yansıyan gücü doğrudan ölçer; ATU </a:t>
            </a:r>
            <a:r>
              <a:rPr sz="1250" i="1">
                <a:solidFill>
                  <a:srgbClr val="222222"/>
                </a:solidFill>
              </a:rPr>
              <a:t>(anten uydurma devresi — empedansı vericiye uygun hale getiren devre)</a:t>
            </a:r>
            <a:r>
              <a:rPr sz="1250">
                <a:solidFill>
                  <a:srgbClr val="222222"/>
                </a:solidFill>
              </a:rPr>
              <a:t> sonrasındaki noktalarda ölçüm, ATU'nun düzelttiği empedansı gösterir, gerçek anten uyumunu değil.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SWR ölçüm noktası seçimi.</a:t>
            </a:r>
          </a:p>
        </p:txBody>
      </p:sp>
      <p:sp>
        <p:nvSpPr>
          <p:cNvPr id="7174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4</a:t>
            </a:r>
          </a:p>
        </p:txBody>
      </p:sp>
      <p:pic>
        <p:nvPicPr>
          <p:cNvPr id="717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2450" y="1092200"/>
            <a:ext cx="5395913" cy="1265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8195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5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Anten Empedansı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lang="tr-TR" sz="1600" dirty="0">
                <a:solidFill>
                  <a:srgbClr val="222222"/>
                </a:solidFill>
              </a:rPr>
              <a:t>(</a:t>
            </a:r>
            <a:r>
              <a:rPr sz="1600" i="1">
                <a:solidFill>
                  <a:srgbClr val="222222"/>
                </a:solidFill>
              </a:rPr>
              <a:t>Çeyrek dalga (λ/4) uzunluğunda, Zo=50 ohm'luk kısa devre sonlandırılmış bir hat</a:t>
            </a:r>
            <a:r>
              <a:rPr lang="tr-TR" sz="1600" dirty="0">
                <a:solidFill>
                  <a:srgbClr val="222222"/>
                </a:solidFill>
              </a:rPr>
              <a:t>)</a:t>
            </a:r>
            <a:r>
              <a:rPr sz="1600">
                <a:solidFill>
                  <a:srgbClr val="222222"/>
                </a:solidFill>
              </a:rPr>
              <a:t>:</a:t>
            </a:r>
            <a:r>
              <a:rPr lang="tr-TR" sz="1600" b="1" dirty="0">
                <a:solidFill>
                  <a:srgbClr val="222222"/>
                </a:solidFill>
              </a:rPr>
              <a:t/>
            </a:r>
            <a:br>
              <a:rPr lang="tr-TR" sz="1600" b="1" dirty="0">
                <a:solidFill>
                  <a:srgbClr val="222222"/>
                </a:solidFill>
              </a:rPr>
            </a:br>
            <a:r>
              <a:rPr sz="1600" b="1">
                <a:solidFill>
                  <a:srgbClr val="222222"/>
                </a:solidFill>
              </a:rPr>
              <a:t>A ucundaki empedans kaç ohm'dur?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Sıfır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50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150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d)  Sonsuz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Kısa devre ile sonlandırılmış bir çeyrek dalga hattı, giriş ucunda </a:t>
            </a:r>
            <a:r>
              <a:rPr sz="1250" i="1">
                <a:solidFill>
                  <a:srgbClr val="222222"/>
                </a:solidFill>
              </a:rPr>
              <a:t>(A)</a:t>
            </a:r>
            <a:r>
              <a:rPr sz="1250">
                <a:solidFill>
                  <a:srgbClr val="222222"/>
                </a:solidFill>
              </a:rPr>
              <a:t> empedansı SONSUZA çevirir </a:t>
            </a:r>
            <a:r>
              <a:rPr sz="1250" i="1">
                <a:solidFill>
                  <a:srgbClr val="222222"/>
                </a:solidFill>
              </a:rPr>
              <a:t>(empedans dönüştürücü özelliği)</a:t>
            </a:r>
            <a:r>
              <a:rPr sz="1250">
                <a:solidFill>
                  <a:srgbClr val="222222"/>
                </a:solidFill>
              </a:rPr>
              <a:t> — bu, çeyrek dalga hatların klasik bir davranışıdır.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İletim hattı empedans dönüştürme teorisi (λ/4 hat).</a:t>
            </a:r>
          </a:p>
        </p:txBody>
      </p:sp>
      <p:sp>
        <p:nvSpPr>
          <p:cNvPr id="8198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5</a:t>
            </a:r>
          </a:p>
        </p:txBody>
      </p:sp>
      <p:pic>
        <p:nvPicPr>
          <p:cNvPr id="8199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6888" y="1287463"/>
            <a:ext cx="5505450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9219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6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Frekans Katlama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Girişine 10 kHz frekansında bir sinyal verilen bir frekans katlayıcıdan 120 kHz'lik bir çıkış isteniyorsa, aşağıdaki devrelerden hangisine ihtiyaç duyulur?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Frekans dörtleyici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Bir frekans dörtleyici ve bir frekans ikileyici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Bir frekans üçleyici ve bir frekans ikileyici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d)  Bir frekans dörtleyici ve bir frekans üçleyici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120/10=12 katı gerekiyor. 12=4×3 olduğundan, art arda bağlı bir frekans dörtleyici </a:t>
            </a:r>
            <a:r>
              <a:rPr sz="1250" i="1">
                <a:solidFill>
                  <a:srgbClr val="222222"/>
                </a:solidFill>
              </a:rPr>
              <a:t>(×4)</a:t>
            </a:r>
            <a:r>
              <a:rPr sz="1250">
                <a:solidFill>
                  <a:srgbClr val="222222"/>
                </a:solidFill>
              </a:rPr>
              <a:t> ve bir frekans üçleyici </a:t>
            </a:r>
            <a:r>
              <a:rPr sz="1250" i="1">
                <a:solidFill>
                  <a:srgbClr val="222222"/>
                </a:solidFill>
              </a:rPr>
              <a:t>(×3)</a:t>
            </a:r>
            <a:r>
              <a:rPr sz="1250">
                <a:solidFill>
                  <a:srgbClr val="222222"/>
                </a:solidFill>
              </a:rPr>
              <a:t> katı bu çarpımı sağlar.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Frekans çoğaltma (multiplication) devreleri.</a:t>
            </a:r>
          </a:p>
        </p:txBody>
      </p:sp>
      <p:sp>
        <p:nvSpPr>
          <p:cNvPr id="9222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0243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7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SWR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SWR değerlerindeki düzensiz değişikliklerle ne gösteriliyor olabilir?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Verici modüle ediliyor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b)  Besleme hattı veya anteninizdeki gevşek bağlantı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Verici aşırı modüle ediliyor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Diğer istasyonlardan karışma sinyalinizi bozuyor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SWR değerinin düzenli çalışma sırasında beklenmedik şekilde dalgalanması, genellikle fiziksel bir bağlantı sorununa </a:t>
            </a:r>
            <a:r>
              <a:rPr sz="1250" i="1">
                <a:solidFill>
                  <a:srgbClr val="222222"/>
                </a:solidFill>
              </a:rPr>
              <a:t>(gevşek konektör, hasarlı kablo)</a:t>
            </a:r>
            <a:r>
              <a:rPr sz="1250">
                <a:solidFill>
                  <a:srgbClr val="222222"/>
                </a:solidFill>
              </a:rPr>
              <a:t> işaret eder.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Anten/besleme hattı arıza tespiti.</a:t>
            </a:r>
          </a:p>
        </p:txBody>
      </p:sp>
      <p:sp>
        <p:nvSpPr>
          <p:cNvPr id="10246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1267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8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Alıcı Devresi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Bir süperheterodin alıcı 880 kHz'e ayarlanmıştır. Alıcının ara frekansı 455 kHz olduğuna göre lokal osilatör frekansı aşağıdakilerden hangisidir?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a)  1335 kHz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1790 kHz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2000 kHz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880 kHz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Lokal osilatör frekansı = sinyal frekansı + ara frekans </a:t>
            </a:r>
            <a:r>
              <a:rPr sz="1250" i="1">
                <a:solidFill>
                  <a:srgbClr val="222222"/>
                </a:solidFill>
              </a:rPr>
              <a:t>(yüksek taraf enjeksiyonu — LO'nun sinyal frekansının üzerinde olması yöntemi)</a:t>
            </a:r>
            <a:r>
              <a:rPr sz="1250">
                <a:solidFill>
                  <a:srgbClr val="222222"/>
                </a:solidFill>
              </a:rPr>
              <a:t>: 880+455=1335 kHz.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Süperheterodin alıcı teorisi (LO = f_sinyal + IF).</a:t>
            </a:r>
          </a:p>
        </p:txBody>
      </p:sp>
      <p:sp>
        <p:nvSpPr>
          <p:cNvPr id="11270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2291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9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Verici Devresi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Bir SSB vericisinin çıkış katında hangi yükselteç türü kullanılır?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a)  A sınıfı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B sınıfı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C sınıfı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AB sınıfı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SSB </a:t>
            </a:r>
            <a:r>
              <a:rPr sz="1250" i="1">
                <a:solidFill>
                  <a:srgbClr val="222222"/>
                </a:solidFill>
              </a:rPr>
              <a:t>(genlik bilgisini de taşıyan doğrusal bir sinyal)</a:t>
            </a:r>
            <a:r>
              <a:rPr sz="1250">
                <a:solidFill>
                  <a:srgbClr val="222222"/>
                </a:solidFill>
              </a:rPr>
              <a:t> sinyalinin şeklinin bozulmadan </a:t>
            </a:r>
            <a:r>
              <a:rPr sz="1250" i="1">
                <a:solidFill>
                  <a:srgbClr val="222222"/>
                </a:solidFill>
              </a:rPr>
              <a:t>(lineer olarak)</a:t>
            </a:r>
            <a:r>
              <a:rPr sz="1250">
                <a:solidFill>
                  <a:srgbClr val="222222"/>
                </a:solidFill>
              </a:rPr>
              <a:t> yükseltilmesi gerektiğinden, en doğrusal çalışan A sınıfı yükselteç bu amaçla tercih edilir </a:t>
            </a:r>
            <a:r>
              <a:rPr sz="1250" i="1">
                <a:solidFill>
                  <a:srgbClr val="222222"/>
                </a:solidFill>
              </a:rPr>
              <a:t>(pratikte verimlilik için AB sınıfı da yaygındır, ama bu sorunun resmi cevabı A sınıfıdır)</a:t>
            </a:r>
            <a:r>
              <a:rPr sz="1250">
                <a:solidFill>
                  <a:srgbClr val="222222"/>
                </a:solidFill>
              </a:rPr>
              <a:t>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Yükselteç sınıfları ve doğrusallık gereksinimi.</a:t>
            </a:r>
          </a:p>
        </p:txBody>
      </p:sp>
      <p:sp>
        <p:nvSpPr>
          <p:cNvPr id="12294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3315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10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Alıcı Devresi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455 kHz ara frekanslı bir alıcı, 3775 kHz'i dinlemek üzere ayarlanmıştır. Lokal osilatör frekansı sinyal frekansından büyük olduğunda bu alıcının hayal frekansı (image frequency) nedir?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a)  4685 kHz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3320 kHz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4230 kHz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2865 kHz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LO = sinyal + IF = 3775+455 = 4230 kHz. Hayal frekansı </a:t>
            </a:r>
            <a:r>
              <a:rPr sz="1250" i="1">
                <a:solidFill>
                  <a:srgbClr val="222222"/>
                </a:solidFill>
              </a:rPr>
              <a:t>(image frequency — istenmeyen, aynı ara frekansta karışan ikinci bir sinyal kaynağı)</a:t>
            </a:r>
            <a:r>
              <a:rPr sz="1250">
                <a:solidFill>
                  <a:srgbClr val="222222"/>
                </a:solidFill>
              </a:rPr>
              <a:t> = LO + IF = 4230+455 = 4685 kHz.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Süperheterodin alıcı hayal frekansı teorisi.</a:t>
            </a:r>
          </a:p>
        </p:txBody>
      </p:sp>
      <p:sp>
        <p:nvSpPr>
          <p:cNvPr id="13318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10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4339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11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Verici Devresi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Bir SSB vericisinin dengeli modülatör çıkışında aşağıdakilerden hangileri vardır?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Tam taşıyıcı ve çift yan band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Tam taşıyıcı ve tek yan band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c)  Sadece çift yan band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Sadece tek yan band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Dengeli modülatör </a:t>
            </a:r>
            <a:r>
              <a:rPr sz="1250" i="1">
                <a:solidFill>
                  <a:srgbClr val="222222"/>
                </a:solidFill>
              </a:rPr>
              <a:t>(balanced modulator)</a:t>
            </a:r>
            <a:r>
              <a:rPr sz="1250">
                <a:solidFill>
                  <a:srgbClr val="222222"/>
                </a:solidFill>
              </a:rPr>
              <a:t>, taşıyıcıyı bastırıp sadece iki yan bandı </a:t>
            </a:r>
            <a:r>
              <a:rPr sz="1250" i="1">
                <a:solidFill>
                  <a:srgbClr val="222222"/>
                </a:solidFill>
              </a:rPr>
              <a:t>(üst ve alt)</a:t>
            </a:r>
            <a:r>
              <a:rPr sz="1250">
                <a:solidFill>
                  <a:srgbClr val="222222"/>
                </a:solidFill>
              </a:rPr>
              <a:t> çıkışa verir; tek yan bant seçimi bu adımdan SONRA gelen bir filtre katında yapılır.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SSB verici blok yapısı.</a:t>
            </a:r>
          </a:p>
        </p:txBody>
      </p:sp>
      <p:sp>
        <p:nvSpPr>
          <p:cNvPr id="14342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11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5363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12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Anten Boyu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Bir yarım dalga anteninin boyu 7.5 metredir. Bu antenin yaklaşık rezonans frekansı nedir?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15 MHz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b)  20 MHz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25 MHz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30 MHz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Yarım dalga anten boyu </a:t>
            </a:r>
            <a:r>
              <a:rPr sz="1250" i="1">
                <a:solidFill>
                  <a:srgbClr val="222222"/>
                </a:solidFill>
              </a:rPr>
              <a:t>(m)</a:t>
            </a:r>
            <a:r>
              <a:rPr sz="1250">
                <a:solidFill>
                  <a:srgbClr val="222222"/>
                </a:solidFill>
              </a:rPr>
              <a:t> ≈ 150/f</a:t>
            </a:r>
            <a:r>
              <a:rPr sz="1250" i="1">
                <a:solidFill>
                  <a:srgbClr val="222222"/>
                </a:solidFill>
              </a:rPr>
              <a:t>(MHz)</a:t>
            </a:r>
            <a:r>
              <a:rPr sz="1250">
                <a:solidFill>
                  <a:srgbClr val="222222"/>
                </a:solidFill>
              </a:rPr>
              <a:t> formülünden f=150/7.5=20 MHz.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Yarım/çeyrek dalga anten uzunluğu formülleri (λ=300/f).</a:t>
            </a:r>
          </a:p>
        </p:txBody>
      </p:sp>
      <p:sp>
        <p:nvSpPr>
          <p:cNvPr id="15366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12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6387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13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Genel Bilgi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Bir verici istasyonunun frekansı yerine bazen bir uzunluk verilir. Metre cinsinden verilen bu uzunluk aşağıdakilerden hangisinin ölçüsüdür?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Elektromanyetik dalgaların yayılabileceği en uygun yüksekliğin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b)  Yayın yapılan frekansa karşılık gelen dalga boyunun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Antenin yerden yüksekliğinin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Anteni vericiye bağlayan iletim hattının ideal boyunun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"20 metre bandı", "80 metre bandı" gibi isimler, o bandın frekansına karşılık gelen dalga boyunu </a:t>
            </a:r>
            <a:r>
              <a:rPr sz="1250" i="1">
                <a:solidFill>
                  <a:srgbClr val="222222"/>
                </a:solidFill>
              </a:rPr>
              <a:t>(λ=300/f)</a:t>
            </a:r>
            <a:r>
              <a:rPr sz="1250">
                <a:solidFill>
                  <a:srgbClr val="222222"/>
                </a:solidFill>
              </a:rPr>
              <a:t> ifade eder — anten yüksekliği veya kablo boyu ile ilgisi yoktur.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Bant adlandırma geleneği (dalga boyu).</a:t>
            </a:r>
          </a:p>
        </p:txBody>
      </p:sp>
      <p:sp>
        <p:nvSpPr>
          <p:cNvPr id="16390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13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06475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7411" name="TextBox 2"/>
          <p:cNvSpPr txBox="1">
            <a:spLocks noChangeArrowheads="1"/>
          </p:cNvSpPr>
          <p:nvPr/>
        </p:nvSpPr>
        <p:spPr bwMode="auto">
          <a:xfrm>
            <a:off x="457200" y="165100"/>
            <a:ext cx="11277600" cy="73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2400" b="1">
                <a:solidFill>
                  <a:srgbClr val="FFFFFF"/>
                </a:solidFill>
                <a:latin typeface="Calibri" pitchFamily="34" charset="0"/>
              </a:rPr>
              <a:t>BÖLÜM 2: Anten Tipleri ve Bileşenler</a:t>
            </a:r>
          </a:p>
        </p:txBody>
      </p:sp>
      <p:sp>
        <p:nvSpPr>
          <p:cNvPr id="17412" name="TextBox 3"/>
          <p:cNvSpPr txBox="1">
            <a:spLocks noChangeArrowheads="1"/>
          </p:cNvSpPr>
          <p:nvPr/>
        </p:nvSpPr>
        <p:spPr bwMode="auto">
          <a:xfrm>
            <a:off x="639763" y="1371600"/>
            <a:ext cx="10912475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Aft>
                <a:spcPts val="1300"/>
              </a:spcAft>
            </a:pPr>
            <a:r>
              <a:rPr lang="tr-TR" sz="1700">
                <a:solidFill>
                  <a:srgbClr val="222222"/>
                </a:solidFill>
                <a:latin typeface="Calibri" pitchFamily="34" charset="0"/>
              </a:rPr>
              <a:t>•  Farklı anten türleri </a:t>
            </a:r>
            <a:r>
              <a:rPr lang="tr-TR" sz="1700" i="1">
                <a:solidFill>
                  <a:srgbClr val="222222"/>
                </a:solidFill>
                <a:latin typeface="Calibri" pitchFamily="34" charset="0"/>
              </a:rPr>
              <a:t>(dipol, Yagi, quad, trap)</a:t>
            </a:r>
            <a:r>
              <a:rPr lang="tr-TR" sz="1700">
                <a:solidFill>
                  <a:srgbClr val="222222"/>
                </a:solidFill>
                <a:latin typeface="Calibri" pitchFamily="34" charset="0"/>
              </a:rPr>
              <a:t> farklı kazanç, yön ve çok-bant özellikleri sunar.</a:t>
            </a:r>
          </a:p>
          <a:p>
            <a:pPr>
              <a:spcAft>
                <a:spcPts val="1300"/>
              </a:spcAft>
            </a:pPr>
            <a:r>
              <a:rPr lang="tr-TR" sz="1700">
                <a:solidFill>
                  <a:srgbClr val="222222"/>
                </a:solidFill>
                <a:latin typeface="Calibri" pitchFamily="34" charset="0"/>
              </a:rPr>
              <a:t>•  Direnç renk kodları ve kondansatör/diyot temel değerleri, elektronik devrelerin okunmasında temel bilgidir.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39763" y="5622925"/>
            <a:ext cx="10912475" cy="914400"/>
          </a:xfrm>
          <a:prstGeom prst="rect">
            <a:avLst/>
          </a:prstGeom>
          <a:solidFill>
            <a:srgbClr val="D6E4F0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73152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300" b="1">
                <a:solidFill>
                  <a:srgbClr val="1F3864"/>
                </a:solidFill>
              </a:rPr>
              <a:t>Bu bölümün kaynağı: </a:t>
            </a:r>
            <a:r>
              <a:rPr sz="1300">
                <a:solidFill>
                  <a:srgbClr val="222222"/>
                </a:solidFill>
              </a:rPr>
              <a:t>Genel anten teorisi; direnç renk kodu standardı; yarı iletken temel değerleri.</a:t>
            </a:r>
          </a:p>
        </p:txBody>
      </p:sp>
      <p:sp>
        <p:nvSpPr>
          <p:cNvPr id="17414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Bölüm 2 Girişi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8435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14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Anten Boyu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10 MHz'de rezonansa gelen çeyrek dalga bir antenin boyu yaklaşık olarak aşağıdakilerden hangisidir?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a)  7.5 m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15 m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20 m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30 m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Çeyrek dalga anten boyu </a:t>
            </a:r>
            <a:r>
              <a:rPr sz="1250" i="1">
                <a:solidFill>
                  <a:srgbClr val="222222"/>
                </a:solidFill>
              </a:rPr>
              <a:t>(m)</a:t>
            </a:r>
            <a:r>
              <a:rPr sz="1250">
                <a:solidFill>
                  <a:srgbClr val="222222"/>
                </a:solidFill>
              </a:rPr>
              <a:t> ≈ 75/f</a:t>
            </a:r>
            <a:r>
              <a:rPr sz="1250" i="1">
                <a:solidFill>
                  <a:srgbClr val="222222"/>
                </a:solidFill>
              </a:rPr>
              <a:t>(MHz)</a:t>
            </a:r>
            <a:r>
              <a:rPr sz="1250">
                <a:solidFill>
                  <a:srgbClr val="222222"/>
                </a:solidFill>
              </a:rPr>
              <a:t> formülünden 75/10=7.5 m.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Yarım/çeyrek dalga anten uzunluğu formülleri (λ=300/f).</a:t>
            </a:r>
          </a:p>
        </p:txBody>
      </p:sp>
      <p:sp>
        <p:nvSpPr>
          <p:cNvPr id="18438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14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9459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15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Anten Tipleri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Şekildeki </a:t>
            </a:r>
            <a:r>
              <a:rPr lang="tr-TR" sz="1600" i="1" dirty="0">
                <a:solidFill>
                  <a:srgbClr val="222222"/>
                </a:solidFill>
              </a:rPr>
              <a:t>(</a:t>
            </a:r>
            <a:r>
              <a:rPr sz="1600" i="1">
                <a:solidFill>
                  <a:srgbClr val="222222"/>
                </a:solidFill>
              </a:rPr>
              <a:t>8 </a:t>
            </a:r>
            <a:r>
              <a:rPr lang="tr-TR" sz="1600" i="1" dirty="0">
                <a:solidFill>
                  <a:srgbClr val="222222"/>
                </a:solidFill>
              </a:rPr>
              <a:t>[</a:t>
            </a:r>
            <a:r>
              <a:rPr sz="1600" i="1">
                <a:solidFill>
                  <a:srgbClr val="222222"/>
                </a:solidFill>
              </a:rPr>
              <a:t>sekiz</a:t>
            </a:r>
            <a:r>
              <a:rPr lang="tr-TR" sz="1600" i="1" dirty="0">
                <a:solidFill>
                  <a:srgbClr val="222222"/>
                </a:solidFill>
              </a:rPr>
              <a:t>]</a:t>
            </a:r>
            <a:r>
              <a:rPr sz="1600" i="1">
                <a:solidFill>
                  <a:srgbClr val="222222"/>
                </a:solidFill>
              </a:rPr>
              <a:t> şeklinde iki loba sahip</a:t>
            </a:r>
            <a:r>
              <a:rPr lang="tr-TR" sz="1600" i="1" dirty="0">
                <a:solidFill>
                  <a:srgbClr val="222222"/>
                </a:solidFill>
              </a:rPr>
              <a:t>)</a:t>
            </a:r>
            <a:r>
              <a:rPr sz="1600" i="1">
                <a:solidFill>
                  <a:srgbClr val="222222"/>
                </a:solidFill>
              </a:rPr>
              <a:t> </a:t>
            </a:r>
            <a:r>
              <a:rPr sz="1600" b="1">
                <a:solidFill>
                  <a:srgbClr val="222222"/>
                </a:solidFill>
              </a:rPr>
              <a:t>yayılım kalıbı hangi anten tipine aittir?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a)  Yarım dalga dipol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Çeyrek dalga anten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8 şekli anten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Beam anten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Klasik yarım dalga dipol antenin yatay düzlemdeki yayılım kalıbı, antene dik yönde en güçlü, anten eksenine paralel yönde en zayıf olan karakteristik "8" </a:t>
            </a:r>
            <a:r>
              <a:rPr sz="1250" i="1">
                <a:solidFill>
                  <a:srgbClr val="222222"/>
                </a:solidFill>
              </a:rPr>
              <a:t>(sekiz)</a:t>
            </a:r>
            <a:r>
              <a:rPr sz="1250">
                <a:solidFill>
                  <a:srgbClr val="222222"/>
                </a:solidFill>
              </a:rPr>
              <a:t> şeklidir.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Anten yayılım kalıpları (radiation pattern).</a:t>
            </a:r>
          </a:p>
        </p:txBody>
      </p:sp>
      <p:sp>
        <p:nvSpPr>
          <p:cNvPr id="19462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15</a:t>
            </a:r>
          </a:p>
        </p:txBody>
      </p:sp>
      <p:pic>
        <p:nvPicPr>
          <p:cNvPr id="1946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89088" y="1033463"/>
            <a:ext cx="3255962" cy="1654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20483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16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Anten Tipleri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Aşağıdaki antenlerden kazancı en yüksek olan hangisidir?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İzotropik anten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Yatay dipol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Çeyrek dalga markoni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d)  Yagi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Yagi anten, birden fazla elemanla </a:t>
            </a:r>
            <a:r>
              <a:rPr sz="1250" i="1">
                <a:solidFill>
                  <a:srgbClr val="222222"/>
                </a:solidFill>
              </a:rPr>
              <a:t>(yansıtıcı+yönlendirici)</a:t>
            </a:r>
            <a:r>
              <a:rPr sz="1250">
                <a:solidFill>
                  <a:srgbClr val="222222"/>
                </a:solidFill>
              </a:rPr>
              <a:t> sinyali belirli bir yöne odaklayarak diğerlerine göre en yüksek kazancı sağlar; izotropik anten ise </a:t>
            </a:r>
            <a:r>
              <a:rPr sz="1250" i="1">
                <a:solidFill>
                  <a:srgbClr val="222222"/>
                </a:solidFill>
              </a:rPr>
              <a:t>(tüm yönlere eşit yayan teorik referans anten)</a:t>
            </a:r>
            <a:r>
              <a:rPr sz="1250">
                <a:solidFill>
                  <a:srgbClr val="222222"/>
                </a:solidFill>
              </a:rPr>
              <a:t> en düşük kazançlıdır </a:t>
            </a:r>
            <a:r>
              <a:rPr sz="1250" i="1">
                <a:solidFill>
                  <a:srgbClr val="222222"/>
                </a:solidFill>
              </a:rPr>
              <a:t>(0 dB referans)</a:t>
            </a:r>
            <a:r>
              <a:rPr sz="1250">
                <a:solidFill>
                  <a:srgbClr val="222222"/>
                </a:solidFill>
              </a:rPr>
              <a:t>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Anten kazancı karşılaştırması.</a:t>
            </a:r>
          </a:p>
        </p:txBody>
      </p:sp>
      <p:sp>
        <p:nvSpPr>
          <p:cNvPr id="20486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16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21507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17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Anten Tipleri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Şekilde görülen </a:t>
            </a:r>
            <a:r>
              <a:rPr lang="tr-TR" sz="1600" i="1" dirty="0">
                <a:solidFill>
                  <a:srgbClr val="222222"/>
                </a:solidFill>
              </a:rPr>
              <a:t>(</a:t>
            </a:r>
            <a:r>
              <a:rPr sz="1600" i="1">
                <a:solidFill>
                  <a:srgbClr val="222222"/>
                </a:solidFill>
              </a:rPr>
              <a:t>iki bobin-kondansatör </a:t>
            </a:r>
            <a:r>
              <a:rPr lang="tr-TR" sz="1600" i="1" dirty="0">
                <a:solidFill>
                  <a:srgbClr val="222222"/>
                </a:solidFill>
              </a:rPr>
              <a:t>[</a:t>
            </a:r>
            <a:r>
              <a:rPr sz="1600" i="1">
                <a:solidFill>
                  <a:srgbClr val="222222"/>
                </a:solidFill>
              </a:rPr>
              <a:t>LC</a:t>
            </a:r>
            <a:r>
              <a:rPr lang="tr-TR" sz="1600" i="1" dirty="0">
                <a:solidFill>
                  <a:srgbClr val="222222"/>
                </a:solidFill>
              </a:rPr>
              <a:t>]</a:t>
            </a:r>
            <a:r>
              <a:rPr sz="1600" i="1">
                <a:solidFill>
                  <a:srgbClr val="222222"/>
                </a:solidFill>
              </a:rPr>
              <a:t> bloğunun ortadan birbirine bağlandığı</a:t>
            </a:r>
            <a:r>
              <a:rPr lang="tr-TR" sz="1600" i="1" dirty="0">
                <a:solidFill>
                  <a:srgbClr val="222222"/>
                </a:solidFill>
              </a:rPr>
              <a:t>)</a:t>
            </a:r>
            <a:r>
              <a:rPr sz="1600" b="1">
                <a:solidFill>
                  <a:srgbClr val="222222"/>
                </a:solidFill>
              </a:rPr>
              <a:t> anten tipi nedir?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END FED (dipten beslemeli)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Basit dipol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Cubical quad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d)  Trap dipol (kapan dipol)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Trap dipol, anten kolları üzerine yerleştirilmiş LC "kapan" </a:t>
            </a:r>
            <a:r>
              <a:rPr sz="1250" i="1">
                <a:solidFill>
                  <a:srgbClr val="222222"/>
                </a:solidFill>
              </a:rPr>
              <a:t>(trap)</a:t>
            </a:r>
            <a:r>
              <a:rPr sz="1250">
                <a:solidFill>
                  <a:srgbClr val="222222"/>
                </a:solidFill>
              </a:rPr>
              <a:t> devreleriyle, farklı frekanslarda antenin elektriksel uzunluğunu otomatik olarak değiştirerek çok bantlı çalışmayı sağlar.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Trap (kapanlı) anten tasarımı.</a:t>
            </a:r>
          </a:p>
        </p:txBody>
      </p:sp>
      <p:sp>
        <p:nvSpPr>
          <p:cNvPr id="21510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17</a:t>
            </a:r>
          </a:p>
        </p:txBody>
      </p:sp>
      <p:pic>
        <p:nvPicPr>
          <p:cNvPr id="21511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9288" y="1084263"/>
            <a:ext cx="5229225" cy="1112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22531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18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Anten Tipleri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Trap (kapanlı) antenin kullanım avantajı nedir?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Yönlü anten olması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Tam dalga anten olması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c)  Çok bandda çalışabilmesi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Çok kazançlı olması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Trap devreleri, tek bir fiziksel antenin birden fazla amatör bandında </a:t>
            </a:r>
            <a:r>
              <a:rPr sz="1250" i="1">
                <a:solidFill>
                  <a:srgbClr val="222222"/>
                </a:solidFill>
              </a:rPr>
              <a:t>(örn. 40m, 20m, 15m)</a:t>
            </a:r>
            <a:r>
              <a:rPr sz="1250">
                <a:solidFill>
                  <a:srgbClr val="222222"/>
                </a:solidFill>
              </a:rPr>
              <a:t> rezonansa gelmesini sağlayarak çok-bant kullanımına imkân verir.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Trap (kapanlı) anten tasarımı.</a:t>
            </a:r>
          </a:p>
        </p:txBody>
      </p:sp>
      <p:sp>
        <p:nvSpPr>
          <p:cNvPr id="22534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18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23555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19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Anten Tipleri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Şehir merkezine konacak bir röle anteni için aşağıdakilerden hangisi uygundur?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Yagi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b)  Çeyrek dalga dikey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Yatay dipol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Hiçbiri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Röle istasyonları tüm yönlerdeki kullanıcılara hizmet vermelidir; Yagi gibi yönlü antenler tek yöne odaklandığından uygun değildir. Çeyrek dalga dikey </a:t>
            </a:r>
            <a:r>
              <a:rPr sz="1250" i="1">
                <a:solidFill>
                  <a:srgbClr val="222222"/>
                </a:solidFill>
              </a:rPr>
              <a:t>(vertikal)</a:t>
            </a:r>
            <a:r>
              <a:rPr sz="1250">
                <a:solidFill>
                  <a:srgbClr val="222222"/>
                </a:solidFill>
              </a:rPr>
              <a:t> anten, her yöne eşit şekilde yayan </a:t>
            </a:r>
            <a:r>
              <a:rPr sz="1250" i="1">
                <a:solidFill>
                  <a:srgbClr val="222222"/>
                </a:solidFill>
              </a:rPr>
              <a:t>(omnidirectional)</a:t>
            </a:r>
            <a:r>
              <a:rPr sz="1250">
                <a:solidFill>
                  <a:srgbClr val="222222"/>
                </a:solidFill>
              </a:rPr>
              <a:t> bir kalıp sunar, röle için idealdir.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Röle anten seçim kriterleri.</a:t>
            </a:r>
          </a:p>
        </p:txBody>
      </p:sp>
      <p:sp>
        <p:nvSpPr>
          <p:cNvPr id="23558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19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24579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20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Direnç Kodu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lang="tr-TR" sz="1600" b="1" dirty="0">
                <a:solidFill>
                  <a:srgbClr val="222222"/>
                </a:solidFill>
              </a:rPr>
              <a:t>Yukarıda çizimi yapılan</a:t>
            </a:r>
            <a:r>
              <a:rPr sz="1600" b="1">
                <a:solidFill>
                  <a:srgbClr val="222222"/>
                </a:solidFill>
              </a:rPr>
              <a:t> direncin </a:t>
            </a:r>
            <a:r>
              <a:rPr lang="tr-TR" sz="1600" i="1" dirty="0">
                <a:solidFill>
                  <a:srgbClr val="222222"/>
                </a:solidFill>
              </a:rPr>
              <a:t>(</a:t>
            </a:r>
            <a:r>
              <a:rPr sz="1600" i="1">
                <a:solidFill>
                  <a:srgbClr val="222222"/>
                </a:solidFill>
              </a:rPr>
              <a:t>bantları sırasıyla Kahverengi-Kırmızı-Turuncu-Altın renklerinde ise</a:t>
            </a:r>
            <a:r>
              <a:rPr lang="tr-TR" sz="1600" i="1" dirty="0">
                <a:solidFill>
                  <a:srgbClr val="222222"/>
                </a:solidFill>
              </a:rPr>
              <a:t>)</a:t>
            </a:r>
            <a:r>
              <a:rPr sz="1600" b="1">
                <a:solidFill>
                  <a:srgbClr val="222222"/>
                </a:solidFill>
              </a:rPr>
              <a:t> değeri ve toleransı nedir?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120 Ω, %5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120 KΩ, %10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10 Ω, %10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d)  12 KΩ, %5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Renk kodu: Kahverengi=1, Kırmızı=2, Turuncu=çarpan</a:t>
            </a:r>
            <a:r>
              <a:rPr sz="1250" i="1">
                <a:solidFill>
                  <a:srgbClr val="222222"/>
                </a:solidFill>
              </a:rPr>
              <a:t>(×1000)</a:t>
            </a:r>
            <a:r>
              <a:rPr sz="1250">
                <a:solidFill>
                  <a:srgbClr val="222222"/>
                </a:solidFill>
              </a:rPr>
              <a:t>, Altın=tolerans</a:t>
            </a:r>
            <a:r>
              <a:rPr sz="1250" i="1">
                <a:solidFill>
                  <a:srgbClr val="222222"/>
                </a:solidFill>
              </a:rPr>
              <a:t>(%5)</a:t>
            </a:r>
            <a:r>
              <a:rPr sz="1250">
                <a:solidFill>
                  <a:srgbClr val="222222"/>
                </a:solidFill>
              </a:rPr>
              <a:t>. 12×1000=12.000Ω=12KΩ, tolerans %5.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Direnç renk kodu standardı (EIA).</a:t>
            </a:r>
          </a:p>
        </p:txBody>
      </p:sp>
      <p:sp>
        <p:nvSpPr>
          <p:cNvPr id="24582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20</a:t>
            </a:r>
          </a:p>
        </p:txBody>
      </p:sp>
      <p:pic>
        <p:nvPicPr>
          <p:cNvPr id="2458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71613" y="1085850"/>
            <a:ext cx="3530600" cy="1522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25603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21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Kapasitans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Paralel bağlı 12 pF, 15 pF ve 20 pF'lik üç kondansatörün toplam değeri (eşdeğer kapasitans) nedir?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5 pF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b)  47 pF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8 pF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56 pF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Paralel bağlı kondansatörlerde toplam kapasitans, değerlerin doğrudan toplamıdır: 12+15+20=47 pF.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Kapasitans hesabı (paralel bağlantı: Ctoplam=C1+C2+C3).</a:t>
            </a:r>
          </a:p>
        </p:txBody>
      </p:sp>
      <p:sp>
        <p:nvSpPr>
          <p:cNvPr id="25606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21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26627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22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Yarı İletken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İletim halinde olan bir germanyum diyodun uçları arasındaki voltaj düşümü yaklaşık ne kadardır?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a)  0.3 V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0.6 V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0.7 V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1.3 V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Germanyum diyotların tipik ileri yön voltaj düşümü ~0.3V'tur </a:t>
            </a:r>
            <a:r>
              <a:rPr sz="1250" i="1">
                <a:solidFill>
                  <a:srgbClr val="222222"/>
                </a:solidFill>
              </a:rPr>
              <a:t>(silisyum diyotlarda bu değer ~0.7V'tur — daha yüksektir)</a:t>
            </a:r>
            <a:r>
              <a:rPr sz="1250">
                <a:solidFill>
                  <a:srgbClr val="222222"/>
                </a:solidFill>
              </a:rPr>
              <a:t>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Yarı iletken diyot temel değerleri.</a:t>
            </a:r>
          </a:p>
        </p:txBody>
      </p:sp>
      <p:sp>
        <p:nvSpPr>
          <p:cNvPr id="26630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22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27651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23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Devre Tanıma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lang="tr-TR" sz="1600" b="1" dirty="0">
                <a:solidFill>
                  <a:srgbClr val="222222"/>
                </a:solidFill>
              </a:rPr>
              <a:t>Aşağıdaki </a:t>
            </a:r>
            <a:r>
              <a:rPr lang="tr-TR" sz="1600" i="1" dirty="0">
                <a:solidFill>
                  <a:srgbClr val="222222"/>
                </a:solidFill>
              </a:rPr>
              <a:t>(a</a:t>
            </a:r>
            <a:r>
              <a:rPr sz="1600" i="1">
                <a:solidFill>
                  <a:srgbClr val="222222"/>
                </a:solidFill>
              </a:rPr>
              <a:t>nten, transformatör, ayarlı kondansatör, sabit kondansatör ve diyottan oluşan</a:t>
            </a:r>
            <a:r>
              <a:rPr lang="tr-TR" sz="1600" i="1" dirty="0">
                <a:solidFill>
                  <a:srgbClr val="222222"/>
                </a:solidFill>
              </a:rPr>
              <a:t>)</a:t>
            </a:r>
            <a:r>
              <a:rPr sz="1600" b="1">
                <a:solidFill>
                  <a:srgbClr val="222222"/>
                </a:solidFill>
              </a:rPr>
              <a:t> devre</a:t>
            </a:r>
            <a:r>
              <a:rPr lang="tr-TR" sz="1600" b="1" dirty="0" err="1">
                <a:solidFill>
                  <a:srgbClr val="222222"/>
                </a:solidFill>
              </a:rPr>
              <a:t>nin</a:t>
            </a:r>
            <a:r>
              <a:rPr lang="tr-TR" sz="1600" b="1" dirty="0">
                <a:solidFill>
                  <a:srgbClr val="222222"/>
                </a:solidFill>
              </a:rPr>
              <a:t> adı</a:t>
            </a:r>
            <a:r>
              <a:rPr sz="1600" b="1">
                <a:solidFill>
                  <a:srgbClr val="222222"/>
                </a:solidFill>
              </a:rPr>
              <a:t> nedir?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a)  Basit bir alıcı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Basit bir verici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Doğrultucu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Basit bir alıcı-verici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Bu, klasik bir "kristal alıcı" </a:t>
            </a:r>
            <a:r>
              <a:rPr sz="1250" i="1">
                <a:solidFill>
                  <a:srgbClr val="222222"/>
                </a:solidFill>
              </a:rPr>
              <a:t>(basit AM detektör devresi)</a:t>
            </a:r>
            <a:r>
              <a:rPr sz="1250">
                <a:solidFill>
                  <a:srgbClr val="222222"/>
                </a:solidFill>
              </a:rPr>
              <a:t> yapısıdır: anten sinyali akort devresinden </a:t>
            </a:r>
            <a:r>
              <a:rPr sz="1250" i="1">
                <a:solidFill>
                  <a:srgbClr val="222222"/>
                </a:solidFill>
              </a:rPr>
              <a:t>(LC)</a:t>
            </a:r>
            <a:r>
              <a:rPr sz="1250">
                <a:solidFill>
                  <a:srgbClr val="222222"/>
                </a:solidFill>
              </a:rPr>
              <a:t> geçer, diyot ile detekte edilir </a:t>
            </a:r>
            <a:r>
              <a:rPr sz="1250" i="1">
                <a:solidFill>
                  <a:srgbClr val="222222"/>
                </a:solidFill>
              </a:rPr>
              <a:t>(demodüle edilir)</a:t>
            </a:r>
            <a:r>
              <a:rPr sz="1250">
                <a:solidFill>
                  <a:srgbClr val="222222"/>
                </a:solidFill>
              </a:rPr>
              <a:t> — verici elemanı </a:t>
            </a:r>
            <a:r>
              <a:rPr sz="1250" i="1">
                <a:solidFill>
                  <a:srgbClr val="222222"/>
                </a:solidFill>
              </a:rPr>
              <a:t>(osilatör/amplifikatör)</a:t>
            </a:r>
            <a:r>
              <a:rPr sz="1250">
                <a:solidFill>
                  <a:srgbClr val="222222"/>
                </a:solidFill>
              </a:rPr>
              <a:t> içermez.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Basit AM alıcı (detektör) devresi.</a:t>
            </a:r>
          </a:p>
        </p:txBody>
      </p:sp>
      <p:sp>
        <p:nvSpPr>
          <p:cNvPr id="27654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23</a:t>
            </a:r>
          </a:p>
        </p:txBody>
      </p:sp>
      <p:pic>
        <p:nvPicPr>
          <p:cNvPr id="2765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60613" y="1066800"/>
            <a:ext cx="1771650" cy="1560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28675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24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Yarı İletken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Aşağıdaki elektronik parçalardan hangisi alternatif akımın endüksiyon yolu ile bir devreden başka bir devreye aktarılması prensibi ile çalışır?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Kondansatörler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Transistörler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c)  Transformatörler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Dirençler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Transformatör, elektromanyetik endüksiyon </a:t>
            </a:r>
            <a:r>
              <a:rPr sz="1250" i="1">
                <a:solidFill>
                  <a:srgbClr val="222222"/>
                </a:solidFill>
              </a:rPr>
              <a:t>(bir bobindeki değişen akımın, fiziksel bağlantı olmadan yakındaki başka bir bobinde gerilim/akım oluşturması)</a:t>
            </a:r>
            <a:r>
              <a:rPr sz="1250">
                <a:solidFill>
                  <a:srgbClr val="222222"/>
                </a:solidFill>
              </a:rPr>
              <a:t> ilkesiyle çalışır.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Transformatör çalışma prensibi.</a:t>
            </a:r>
          </a:p>
        </p:txBody>
      </p:sp>
      <p:sp>
        <p:nvSpPr>
          <p:cNvPr id="28678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24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06475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29699" name="TextBox 2"/>
          <p:cNvSpPr txBox="1">
            <a:spLocks noChangeArrowheads="1"/>
          </p:cNvSpPr>
          <p:nvPr/>
        </p:nvSpPr>
        <p:spPr bwMode="auto">
          <a:xfrm>
            <a:off x="457200" y="165100"/>
            <a:ext cx="11277600" cy="73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2400" b="1">
                <a:solidFill>
                  <a:srgbClr val="FFFFFF"/>
                </a:solidFill>
                <a:latin typeface="Calibri" pitchFamily="34" charset="0"/>
              </a:rPr>
              <a:t>BÖLÜM 3: Devre Hesapları I</a:t>
            </a:r>
          </a:p>
        </p:txBody>
      </p:sp>
      <p:sp>
        <p:nvSpPr>
          <p:cNvPr id="29700" name="TextBox 3"/>
          <p:cNvSpPr txBox="1">
            <a:spLocks noChangeArrowheads="1"/>
          </p:cNvSpPr>
          <p:nvPr/>
        </p:nvSpPr>
        <p:spPr bwMode="auto">
          <a:xfrm>
            <a:off x="639763" y="1371600"/>
            <a:ext cx="10912475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Aft>
                <a:spcPts val="1300"/>
              </a:spcAft>
            </a:pPr>
            <a:r>
              <a:rPr lang="tr-TR" sz="1700">
                <a:solidFill>
                  <a:srgbClr val="222222"/>
                </a:solidFill>
                <a:latin typeface="Calibri" pitchFamily="34" charset="0"/>
              </a:rPr>
              <a:t>•  Seri ve paralel dirençlerde akım/gerilim/güç hesapları, Ohm Kanunu ve Kirchhoff kurallarına dayanır.</a:t>
            </a:r>
          </a:p>
          <a:p>
            <a:pPr>
              <a:spcAft>
                <a:spcPts val="1300"/>
              </a:spcAft>
            </a:pPr>
            <a:r>
              <a:rPr lang="tr-TR" sz="1700">
                <a:solidFill>
                  <a:srgbClr val="222222"/>
                </a:solidFill>
                <a:latin typeface="Calibri" pitchFamily="34" charset="0"/>
              </a:rPr>
              <a:t>•  RMS </a:t>
            </a:r>
            <a:r>
              <a:rPr lang="tr-TR" sz="1700" i="1">
                <a:solidFill>
                  <a:srgbClr val="222222"/>
                </a:solidFill>
                <a:latin typeface="Calibri" pitchFamily="34" charset="0"/>
              </a:rPr>
              <a:t>(etkin)</a:t>
            </a:r>
            <a:r>
              <a:rPr lang="tr-TR" sz="1700">
                <a:solidFill>
                  <a:srgbClr val="222222"/>
                </a:solidFill>
                <a:latin typeface="Calibri" pitchFamily="34" charset="0"/>
              </a:rPr>
              <a:t> ve tepe değer arasındaki ilişki, sinüs dalgalarının analizinde temel bir formüldür.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39763" y="5622925"/>
            <a:ext cx="10912475" cy="914400"/>
          </a:xfrm>
          <a:prstGeom prst="rect">
            <a:avLst/>
          </a:prstGeom>
          <a:solidFill>
            <a:srgbClr val="D6E4F0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73152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300" b="1">
                <a:solidFill>
                  <a:srgbClr val="1F3864"/>
                </a:solidFill>
              </a:rPr>
              <a:t>Bu bölümün kaynağı: </a:t>
            </a:r>
            <a:r>
              <a:rPr sz="1300">
                <a:solidFill>
                  <a:srgbClr val="222222"/>
                </a:solidFill>
              </a:rPr>
              <a:t>Ohm Kanunu (V=IR) ve temel devre analizi. RMS-tepe değer dönüşümü (Vtepe=Vrms×√2).</a:t>
            </a:r>
          </a:p>
        </p:txBody>
      </p:sp>
      <p:sp>
        <p:nvSpPr>
          <p:cNvPr id="29702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Bölüm 3 Girişi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30723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25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Devre Hesabı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lang="tr-TR" sz="1600" b="1" dirty="0">
                <a:solidFill>
                  <a:srgbClr val="222222"/>
                </a:solidFill>
              </a:rPr>
              <a:t>Şekilde görülen devrede </a:t>
            </a:r>
            <a:r>
              <a:rPr sz="1600" b="1">
                <a:solidFill>
                  <a:srgbClr val="222222"/>
                </a:solidFill>
              </a:rPr>
              <a:t>I2 akımının değeri nedir?</a:t>
            </a:r>
            <a:r>
              <a:rPr lang="tr-TR" sz="1600" b="1" dirty="0">
                <a:solidFill>
                  <a:srgbClr val="222222"/>
                </a:solidFill>
              </a:rPr>
              <a:t> </a:t>
            </a:r>
            <a:r>
              <a:rPr lang="tr-TR" sz="1600" i="1" dirty="0">
                <a:solidFill>
                  <a:srgbClr val="222222"/>
                </a:solidFill>
              </a:rPr>
              <a:t>(Devrede iki 50 </a:t>
            </a:r>
            <a:r>
              <a:rPr lang="tr-TR" sz="1600" i="1" dirty="0" err="1">
                <a:solidFill>
                  <a:srgbClr val="222222"/>
                </a:solidFill>
              </a:rPr>
              <a:t>ohm'luk</a:t>
            </a:r>
            <a:r>
              <a:rPr lang="tr-TR" sz="1600" i="1" dirty="0">
                <a:solidFill>
                  <a:srgbClr val="222222"/>
                </a:solidFill>
              </a:rPr>
              <a:t> direnç paralel bağlı, ardından 25 </a:t>
            </a:r>
            <a:r>
              <a:rPr lang="tr-TR" sz="1600" i="1" dirty="0" err="1">
                <a:solidFill>
                  <a:srgbClr val="222222"/>
                </a:solidFill>
              </a:rPr>
              <a:t>ohm'luk</a:t>
            </a:r>
            <a:r>
              <a:rPr lang="tr-TR" sz="1600" i="1" dirty="0">
                <a:solidFill>
                  <a:srgbClr val="222222"/>
                </a:solidFill>
              </a:rPr>
              <a:t> direnç ve 50V kaynak bulunuyor.)</a:t>
            </a:r>
            <a:endParaRPr sz="1600" i="1">
              <a:solidFill>
                <a:srgbClr val="222222"/>
              </a:solidFill>
            </a:endParaRP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1.25 A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1 A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2 A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d)  0.5 A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Devrenin tam şema düzenine göre değişen bir seri-paralel direnç hesabıdır; resmi cevap anahtarına göre I2=0.5A'dir.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Resmi cevap anahtarı (seri-paralel direnç devresi).</a:t>
            </a:r>
          </a:p>
        </p:txBody>
      </p:sp>
      <p:sp>
        <p:nvSpPr>
          <p:cNvPr id="30726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25</a:t>
            </a:r>
          </a:p>
        </p:txBody>
      </p:sp>
      <p:pic>
        <p:nvPicPr>
          <p:cNvPr id="30727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87525" y="1020763"/>
            <a:ext cx="2921000" cy="1547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31747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26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Devre Hesabı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Şekildeki devrede 27 ohm'luk dirençten geçen akımın değeri </a:t>
            </a:r>
            <a:r>
              <a:rPr sz="1600" i="1">
                <a:solidFill>
                  <a:srgbClr val="222222"/>
                </a:solidFill>
              </a:rPr>
              <a:t>(27 ohm, 33 ohm ve 120 ohm dirençler, 6V kaynak ile) </a:t>
            </a:r>
            <a:r>
              <a:rPr sz="1600" b="1">
                <a:solidFill>
                  <a:srgbClr val="222222"/>
                </a:solidFill>
              </a:rPr>
              <a:t>aşağıdakilerden hangisidir?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0.5 A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0.6 A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0.3 A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d)  0.1 A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Bu, birden fazla direncin karma </a:t>
            </a:r>
            <a:r>
              <a:rPr sz="1250" i="1">
                <a:solidFill>
                  <a:srgbClr val="222222"/>
                </a:solidFill>
              </a:rPr>
              <a:t>(seri-paralel)</a:t>
            </a:r>
            <a:r>
              <a:rPr sz="1250">
                <a:solidFill>
                  <a:srgbClr val="222222"/>
                </a:solidFill>
              </a:rPr>
              <a:t> bağlandığı bir devredir; resmi cevap anahtarına göre 27 ohm'dan geçen akım 0.1A'dir.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Resmi cevap anahtarı (seri-paralel direnç devresi).</a:t>
            </a:r>
          </a:p>
        </p:txBody>
      </p:sp>
      <p:sp>
        <p:nvSpPr>
          <p:cNvPr id="31750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26</a:t>
            </a:r>
          </a:p>
        </p:txBody>
      </p:sp>
      <p:pic>
        <p:nvPicPr>
          <p:cNvPr id="31751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59013" y="1057275"/>
            <a:ext cx="2081212" cy="147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32771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27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RMS-Tepe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Sinüs şeklindeki bir dalganın etkin (RMS) değeri 200 volttur. Bu gerilimin tepe değeri ne kadardır?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200 volt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141 volt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c)  282 volt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380 volt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Tepe değer = RMS × √2 = 200 × 1.4142 ≈ 282 volt.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RMS-tepe değer dönüşümü.</a:t>
            </a:r>
          </a:p>
        </p:txBody>
      </p:sp>
      <p:sp>
        <p:nvSpPr>
          <p:cNvPr id="32774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27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33795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28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Yükselteç Devresi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lang="tr-TR" sz="1600" b="1" dirty="0">
                <a:solidFill>
                  <a:srgbClr val="222222"/>
                </a:solidFill>
              </a:rPr>
              <a:t>Aşağıdaki</a:t>
            </a:r>
            <a:r>
              <a:rPr sz="1600" b="1">
                <a:solidFill>
                  <a:srgbClr val="222222"/>
                </a:solidFill>
              </a:rPr>
              <a:t> ses yükselteç devresinde, transistörün emiter ucuna bağlı RE direnci kısa devre edilirse: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Kazanç azalır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b)  Kazanç artar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Kazanç değişmez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Uğultu artar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RE </a:t>
            </a:r>
            <a:r>
              <a:rPr sz="1250" i="1">
                <a:solidFill>
                  <a:srgbClr val="222222"/>
                </a:solidFill>
              </a:rPr>
              <a:t>(emiter direnci)</a:t>
            </a:r>
            <a:r>
              <a:rPr sz="1250">
                <a:solidFill>
                  <a:srgbClr val="222222"/>
                </a:solidFill>
              </a:rPr>
              <a:t>, yükselteçte negatif geri besleme oluşturarak kazancı sınırlar; bu direnç kısa devre edildiğinde </a:t>
            </a:r>
            <a:r>
              <a:rPr sz="1250" i="1">
                <a:solidFill>
                  <a:srgbClr val="222222"/>
                </a:solidFill>
              </a:rPr>
              <a:t>(devre dışı bırakıldığında)</a:t>
            </a:r>
            <a:r>
              <a:rPr sz="1250">
                <a:solidFill>
                  <a:srgbClr val="222222"/>
                </a:solidFill>
              </a:rPr>
              <a:t> geri besleme kaybolur ve kazanç artar.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Transistörlü yükselteç geri besleme teorisi.</a:t>
            </a:r>
          </a:p>
        </p:txBody>
      </p:sp>
      <p:sp>
        <p:nvSpPr>
          <p:cNvPr id="33798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28</a:t>
            </a:r>
          </a:p>
        </p:txBody>
      </p:sp>
      <p:pic>
        <p:nvPicPr>
          <p:cNvPr id="33799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63750" y="1022350"/>
            <a:ext cx="2373313" cy="168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34819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29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Güç Hesabı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Şekilde görülen devrede </a:t>
            </a:r>
            <a:r>
              <a:rPr sz="1600" i="1">
                <a:solidFill>
                  <a:srgbClr val="222222"/>
                </a:solidFill>
              </a:rPr>
              <a:t>(6 ohm, 3 ohm, 1 ohm seri bağlı, 10V kaynak)</a:t>
            </a:r>
            <a:r>
              <a:rPr lang="tr-TR" sz="1600" i="1" dirty="0">
                <a:solidFill>
                  <a:srgbClr val="222222"/>
                </a:solidFill>
              </a:rPr>
              <a:t>,</a:t>
            </a:r>
            <a:r>
              <a:rPr sz="1600" b="1">
                <a:solidFill>
                  <a:srgbClr val="222222"/>
                </a:solidFill>
              </a:rPr>
              <a:t> 3 Ohm'luk dirençte harcanan güç nedir?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10 watt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1 watt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5 watt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d)  3 watt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Seri devrede toplam direnç = 6+3+1=10 ohm; toplam akım I=V/R=10/10=1A. Aynı akım tüm seri elemanlardan geçtiğinden, 3 ohm'daki güç P=I²R=1²×3=3 watt.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Ohm Kanunu (V=IR) ve temel devre analizi.</a:t>
            </a:r>
          </a:p>
        </p:txBody>
      </p:sp>
      <p:sp>
        <p:nvSpPr>
          <p:cNvPr id="34822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29</a:t>
            </a:r>
          </a:p>
        </p:txBody>
      </p:sp>
      <p:pic>
        <p:nvPicPr>
          <p:cNvPr id="3482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44600" y="1076325"/>
            <a:ext cx="4221163" cy="148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35843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30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Güç Kaynağı Filtresi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Bir güç kaynağının beslediği devrede yük akımı geniş sınırlar içinde hızla değişiyor ise, bu güç kaynağının çıkışında hangi tip filtre kullanılmalıdır?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RC filtre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Kondansatör filtre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c)  Girişi şok bobinli kondansatör filtre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Filtre kullanılmamalıdır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Girişi şok bobinli </a:t>
            </a:r>
            <a:r>
              <a:rPr sz="1250" i="1">
                <a:solidFill>
                  <a:srgbClr val="222222"/>
                </a:solidFill>
              </a:rPr>
              <a:t>(choke-input)</a:t>
            </a:r>
            <a:r>
              <a:rPr sz="1250">
                <a:solidFill>
                  <a:srgbClr val="222222"/>
                </a:solidFill>
              </a:rPr>
              <a:t> filtre, değişken/ağır yük akımı koşullarında çıkış gerilimini daha kararlı tutar — sadece kondansatör filtreye göre yük değişimlerine karşı daha dayanıklıdır.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Güç kaynağı filtre tasarımı.</a:t>
            </a:r>
          </a:p>
        </p:txBody>
      </p:sp>
      <p:sp>
        <p:nvSpPr>
          <p:cNvPr id="35846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30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36867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31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RF Devresi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Bir RF filtrede kullanılacak kondansatör aşağıdakilerden hangisidir?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Alüminyum elektrolitik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Tantalyum elektrolitik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c)  Seramik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Polikarbonat dielektrikli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Seramik kondansatörler, yüksek frekanslarda </a:t>
            </a:r>
            <a:r>
              <a:rPr sz="1250" i="1">
                <a:solidFill>
                  <a:srgbClr val="222222"/>
                </a:solidFill>
              </a:rPr>
              <a:t>(RF)</a:t>
            </a:r>
            <a:r>
              <a:rPr sz="1250">
                <a:solidFill>
                  <a:srgbClr val="222222"/>
                </a:solidFill>
              </a:rPr>
              <a:t> düşük kayıp ve iyi frekans tepkisi gösterdiğinden RF devrelerinde tercih edilir; elektrolitik kondansatörler yüksek frekansta verimsizdir.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RF devre elemanı seçimi.</a:t>
            </a:r>
          </a:p>
        </p:txBody>
      </p:sp>
      <p:sp>
        <p:nvSpPr>
          <p:cNvPr id="36870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31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37891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32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Güç Birimleri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Bir yükselteçte çıkış gücü dBm cinsinden veriliyor. Aynı gücün Watt cinsinden değeri hesaplanırken alınan referans çarpan değeri aşağıdakilerden hangisidir?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10 watt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1 watt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c)  1 miliwatt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10 miliwatt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dBm, 1 miliwatt </a:t>
            </a:r>
            <a:r>
              <a:rPr sz="1250" i="1">
                <a:solidFill>
                  <a:srgbClr val="222222"/>
                </a:solidFill>
              </a:rPr>
              <a:t>(mW)</a:t>
            </a:r>
            <a:r>
              <a:rPr sz="1250">
                <a:solidFill>
                  <a:srgbClr val="222222"/>
                </a:solidFill>
              </a:rPr>
              <a:t> referans alınarak hesaplanan bir güç birimidir </a:t>
            </a:r>
            <a:r>
              <a:rPr sz="1250" i="1">
                <a:solidFill>
                  <a:srgbClr val="222222"/>
                </a:solidFill>
              </a:rPr>
              <a:t>(dBW ise 1 watt referans alır)</a:t>
            </a:r>
            <a:r>
              <a:rPr sz="1250">
                <a:solidFill>
                  <a:srgbClr val="222222"/>
                </a:solidFill>
              </a:rPr>
              <a:t>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dBm/dBW güç birimi tanımları.</a:t>
            </a:r>
          </a:p>
        </p:txBody>
      </p:sp>
      <p:sp>
        <p:nvSpPr>
          <p:cNvPr id="37894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32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38915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33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Rezonans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lang="tr-TR" sz="1600" b="1" dirty="0">
                <a:solidFill>
                  <a:srgbClr val="222222"/>
                </a:solidFill>
              </a:rPr>
              <a:t>Aşağıdaki</a:t>
            </a:r>
            <a:r>
              <a:rPr sz="1600" b="1">
                <a:solidFill>
                  <a:srgbClr val="222222"/>
                </a:solidFill>
              </a:rPr>
              <a:t> </a:t>
            </a:r>
            <a:r>
              <a:rPr lang="el-GR" sz="1600" i="1" dirty="0">
                <a:solidFill>
                  <a:srgbClr val="222222"/>
                </a:solidFill>
              </a:rPr>
              <a:t>(1000/π μ</a:t>
            </a:r>
            <a:r>
              <a:rPr lang="tr-TR" sz="1600" i="1" dirty="0" err="1">
                <a:solidFill>
                  <a:srgbClr val="222222"/>
                </a:solidFill>
              </a:rPr>
              <a:t>H'lik</a:t>
            </a:r>
            <a:r>
              <a:rPr lang="tr-TR" sz="1600" i="1" dirty="0">
                <a:solidFill>
                  <a:srgbClr val="222222"/>
                </a:solidFill>
              </a:rPr>
              <a:t> bir bobin ile 1000/</a:t>
            </a:r>
            <a:r>
              <a:rPr lang="el-GR" sz="1600" i="1" dirty="0">
                <a:solidFill>
                  <a:srgbClr val="222222"/>
                </a:solidFill>
              </a:rPr>
              <a:t>π </a:t>
            </a:r>
            <a:r>
              <a:rPr lang="tr-TR" sz="1600" i="1" dirty="0" err="1">
                <a:solidFill>
                  <a:srgbClr val="222222"/>
                </a:solidFill>
              </a:rPr>
              <a:t>pF'lik</a:t>
            </a:r>
            <a:r>
              <a:rPr lang="tr-TR" sz="1600" i="1" dirty="0">
                <a:solidFill>
                  <a:srgbClr val="222222"/>
                </a:solidFill>
              </a:rPr>
              <a:t> bir kondansatörden oluşan) </a:t>
            </a:r>
            <a:r>
              <a:rPr sz="1600" b="1">
                <a:solidFill>
                  <a:srgbClr val="222222"/>
                </a:solidFill>
              </a:rPr>
              <a:t>seri rezonans devresinin rezonans frekansı nedir?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a)  0.5 MHz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1 MHz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5 MHz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0.01 MHz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f=1/</a:t>
            </a:r>
            <a:r>
              <a:rPr sz="1250" i="1">
                <a:solidFill>
                  <a:srgbClr val="222222"/>
                </a:solidFill>
              </a:rPr>
              <a:t>(2π√(LC)</a:t>
            </a:r>
            <a:r>
              <a:rPr sz="1250">
                <a:solidFill>
                  <a:srgbClr val="222222"/>
                </a:solidFill>
              </a:rPr>
              <a:t>) formülünde L ve C değerlerindeki π terimleri birbirini sadeleştirecek şekilde seçilmiştir; sonuç f=0.5 MHz çıkar </a:t>
            </a:r>
            <a:r>
              <a:rPr sz="1250" i="1">
                <a:solidFill>
                  <a:srgbClr val="222222"/>
                </a:solidFill>
              </a:rPr>
              <a:t>(doğrulanmış hesap)</a:t>
            </a:r>
            <a:r>
              <a:rPr sz="1250">
                <a:solidFill>
                  <a:srgbClr val="222222"/>
                </a:solidFill>
              </a:rPr>
              <a:t>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LC rezonans formülü: f = 1/(2π√(LC)).</a:t>
            </a:r>
          </a:p>
        </p:txBody>
      </p:sp>
      <p:sp>
        <p:nvSpPr>
          <p:cNvPr id="38918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33</a:t>
            </a:r>
          </a:p>
        </p:txBody>
      </p:sp>
      <p:pic>
        <p:nvPicPr>
          <p:cNvPr id="38919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38288" y="1147763"/>
            <a:ext cx="3352800" cy="1285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06475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39939" name="TextBox 2"/>
          <p:cNvSpPr txBox="1">
            <a:spLocks noChangeArrowheads="1"/>
          </p:cNvSpPr>
          <p:nvPr/>
        </p:nvSpPr>
        <p:spPr bwMode="auto">
          <a:xfrm>
            <a:off x="457200" y="165100"/>
            <a:ext cx="11277600" cy="73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2400" b="1">
                <a:solidFill>
                  <a:srgbClr val="FFFFFF"/>
                </a:solidFill>
                <a:latin typeface="Calibri" pitchFamily="34" charset="0"/>
              </a:rPr>
              <a:t>BÖLÜM 4: Verici Katları ve Propagasyon</a:t>
            </a:r>
          </a:p>
        </p:txBody>
      </p:sp>
      <p:sp>
        <p:nvSpPr>
          <p:cNvPr id="39940" name="TextBox 3"/>
          <p:cNvSpPr txBox="1">
            <a:spLocks noChangeArrowheads="1"/>
          </p:cNvSpPr>
          <p:nvPr/>
        </p:nvSpPr>
        <p:spPr bwMode="auto">
          <a:xfrm>
            <a:off x="639763" y="1371600"/>
            <a:ext cx="10912475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Aft>
                <a:spcPts val="1300"/>
              </a:spcAft>
            </a:pPr>
            <a:r>
              <a:rPr lang="tr-TR" sz="1700">
                <a:solidFill>
                  <a:srgbClr val="222222"/>
                </a:solidFill>
                <a:latin typeface="Calibri" pitchFamily="34" charset="0"/>
              </a:rPr>
              <a:t>•  Verici blok şemasında sinyal, osilatörden güç katına </a:t>
            </a:r>
            <a:r>
              <a:rPr lang="tr-TR" sz="1700" i="1">
                <a:solidFill>
                  <a:srgbClr val="222222"/>
                </a:solidFill>
                <a:latin typeface="Calibri" pitchFamily="34" charset="0"/>
              </a:rPr>
              <a:t>(PA)</a:t>
            </a:r>
            <a:r>
              <a:rPr lang="tr-TR" sz="1700">
                <a:solidFill>
                  <a:srgbClr val="222222"/>
                </a:solidFill>
                <a:latin typeface="Calibri" pitchFamily="34" charset="0"/>
              </a:rPr>
              <a:t> doğru sırayla ilerler; her kat farklı bir görevi üstlenir.</a:t>
            </a:r>
          </a:p>
          <a:p>
            <a:pPr>
              <a:spcAft>
                <a:spcPts val="1300"/>
              </a:spcAft>
            </a:pPr>
            <a:r>
              <a:rPr lang="tr-TR" sz="1700">
                <a:solidFill>
                  <a:srgbClr val="222222"/>
                </a:solidFill>
                <a:latin typeface="Calibri" pitchFamily="34" charset="0"/>
              </a:rPr>
              <a:t>•  İyonosferik yayılım </a:t>
            </a:r>
            <a:r>
              <a:rPr lang="tr-TR" sz="1700" i="1">
                <a:solidFill>
                  <a:srgbClr val="222222"/>
                </a:solidFill>
                <a:latin typeface="Calibri" pitchFamily="34" charset="0"/>
              </a:rPr>
              <a:t>(propagasyon)</a:t>
            </a:r>
            <a:r>
              <a:rPr lang="tr-TR" sz="1700">
                <a:solidFill>
                  <a:srgbClr val="222222"/>
                </a:solidFill>
                <a:latin typeface="Calibri" pitchFamily="34" charset="0"/>
              </a:rPr>
              <a:t>, güneş aktivitesinden </a:t>
            </a:r>
            <a:r>
              <a:rPr lang="tr-TR" sz="1700" i="1">
                <a:solidFill>
                  <a:srgbClr val="222222"/>
                </a:solidFill>
                <a:latin typeface="Calibri" pitchFamily="34" charset="0"/>
              </a:rPr>
              <a:t>(güneş lekesi döngüsü)</a:t>
            </a:r>
            <a:r>
              <a:rPr lang="tr-TR" sz="1700">
                <a:solidFill>
                  <a:srgbClr val="222222"/>
                </a:solidFill>
                <a:latin typeface="Calibri" pitchFamily="34" charset="0"/>
              </a:rPr>
              <a:t> doğrudan etkilenir.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39763" y="5622925"/>
            <a:ext cx="10912475" cy="914400"/>
          </a:xfrm>
          <a:prstGeom prst="rect">
            <a:avLst/>
          </a:prstGeom>
          <a:solidFill>
            <a:srgbClr val="D6E4F0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73152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300" b="1">
                <a:solidFill>
                  <a:srgbClr val="1F3864"/>
                </a:solidFill>
              </a:rPr>
              <a:t>Bu bölümün kaynağı: </a:t>
            </a:r>
            <a:r>
              <a:rPr sz="1300">
                <a:solidFill>
                  <a:srgbClr val="222222"/>
                </a:solidFill>
              </a:rPr>
              <a:t>Verici blok yapısı; radyo dalga yayılımı (propagasyon) teorisi.</a:t>
            </a:r>
          </a:p>
        </p:txBody>
      </p:sp>
      <p:sp>
        <p:nvSpPr>
          <p:cNvPr id="39942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Bölüm 4 Girişi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40963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34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Verici Devresi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lang="tr-TR" sz="1600" b="1" dirty="0">
                <a:solidFill>
                  <a:srgbClr val="222222"/>
                </a:solidFill>
              </a:rPr>
              <a:t>Aşağıda b</a:t>
            </a:r>
            <a:r>
              <a:rPr sz="1600" b="1">
                <a:solidFill>
                  <a:srgbClr val="222222"/>
                </a:solidFill>
              </a:rPr>
              <a:t>lok şeması</a:t>
            </a:r>
            <a:r>
              <a:rPr lang="tr-TR" sz="1600" b="1" dirty="0">
                <a:solidFill>
                  <a:srgbClr val="222222"/>
                </a:solidFill>
              </a:rPr>
              <a:t> görülen</a:t>
            </a:r>
            <a:r>
              <a:rPr sz="1600" b="1">
                <a:solidFill>
                  <a:srgbClr val="222222"/>
                </a:solidFill>
              </a:rPr>
              <a:t> </a:t>
            </a:r>
            <a:r>
              <a:rPr lang="tr-TR" sz="1600" i="1" dirty="0">
                <a:solidFill>
                  <a:srgbClr val="222222"/>
                </a:solidFill>
              </a:rPr>
              <a:t>([A-B-C-D] şeklinde; </a:t>
            </a:r>
            <a:r>
              <a:rPr sz="1600" i="1">
                <a:solidFill>
                  <a:srgbClr val="222222"/>
                </a:solidFill>
              </a:rPr>
              <a:t>OSC → Buffer → Driver → PA</a:t>
            </a:r>
            <a:r>
              <a:rPr lang="tr-TR" sz="1600" i="1" dirty="0">
                <a:solidFill>
                  <a:srgbClr val="222222"/>
                </a:solidFill>
              </a:rPr>
              <a:t> → Anten)</a:t>
            </a:r>
            <a:r>
              <a:rPr sz="1600" b="1">
                <a:solidFill>
                  <a:srgbClr val="222222"/>
                </a:solidFill>
              </a:rPr>
              <a:t> bir CW vericisinde maniple</a:t>
            </a:r>
            <a:r>
              <a:rPr lang="tr-TR" sz="1600" b="1" dirty="0">
                <a:solidFill>
                  <a:srgbClr val="222222"/>
                </a:solidFill>
              </a:rPr>
              <a:t> </a:t>
            </a:r>
            <a:r>
              <a:rPr sz="1600" b="1">
                <a:solidFill>
                  <a:srgbClr val="222222"/>
                </a:solidFill>
              </a:rPr>
              <a:t>hangi bölümü kontrol etmelidir?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A (OSC)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b)  B (Buffer)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C (Driver)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D (PA)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Maniple </a:t>
            </a:r>
            <a:r>
              <a:rPr sz="1250" i="1">
                <a:solidFill>
                  <a:srgbClr val="222222"/>
                </a:solidFill>
              </a:rPr>
              <a:t>(Mors anahtarlaması)</a:t>
            </a:r>
            <a:r>
              <a:rPr sz="1250">
                <a:solidFill>
                  <a:srgbClr val="222222"/>
                </a:solidFill>
              </a:rPr>
              <a:t>, sinyalin ilk oluştuğu osilatör katından hemen sonraki tampon </a:t>
            </a:r>
            <a:r>
              <a:rPr sz="1250" i="1">
                <a:solidFill>
                  <a:srgbClr val="222222"/>
                </a:solidFill>
              </a:rPr>
              <a:t>(Buffer)</a:t>
            </a:r>
            <a:r>
              <a:rPr sz="1250">
                <a:solidFill>
                  <a:srgbClr val="222222"/>
                </a:solidFill>
              </a:rPr>
              <a:t> katında yapılır — osilatörün kendisini doğrudan anahtarlamak frekans kararlılığını bozar.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CW verici blok yapısı ve anahtarlama noktası.</a:t>
            </a:r>
          </a:p>
        </p:txBody>
      </p:sp>
      <p:sp>
        <p:nvSpPr>
          <p:cNvPr id="40966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34</a:t>
            </a:r>
          </a:p>
        </p:txBody>
      </p:sp>
      <p:pic>
        <p:nvPicPr>
          <p:cNvPr id="40967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2788" y="1071563"/>
            <a:ext cx="5119687" cy="1241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41987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35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Yarı İletken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Zener diyodun kullanılmasının ana amacı nedir?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RF deteksiyonu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Kazanç elde etme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Gürültüyü azaltma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d)  Sabit gerilim elde etme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Zener diyot, belirli bir ters gerilimde </a:t>
            </a:r>
            <a:r>
              <a:rPr sz="1250" i="1">
                <a:solidFill>
                  <a:srgbClr val="222222"/>
                </a:solidFill>
              </a:rPr>
              <a:t>(Zener voltajı)</a:t>
            </a:r>
            <a:r>
              <a:rPr sz="1250">
                <a:solidFill>
                  <a:srgbClr val="222222"/>
                </a:solidFill>
              </a:rPr>
              <a:t> sabit bir gerilim düşümü sağlayarak gerilim regülasyonu </a:t>
            </a:r>
            <a:r>
              <a:rPr sz="1250" i="1">
                <a:solidFill>
                  <a:srgbClr val="222222"/>
                </a:solidFill>
              </a:rPr>
              <a:t>(sabitleme)</a:t>
            </a:r>
            <a:r>
              <a:rPr sz="1250">
                <a:solidFill>
                  <a:srgbClr val="222222"/>
                </a:solidFill>
              </a:rPr>
              <a:t> amacıyla kullanılır.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Zener diyot çalışma prensibi.</a:t>
            </a:r>
          </a:p>
        </p:txBody>
      </p:sp>
      <p:sp>
        <p:nvSpPr>
          <p:cNvPr id="41990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35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43011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36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Propagasyon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Toprak (yer) dalgaları hangi tür haberleşmede kullanılır?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Yüksek frekans – kısa mesafe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Yüksek frekans – uzun mesafe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Alçak frekans – kısa mesafe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d)  Alçak frekans – uzun mesafe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Yer dalgaları </a:t>
            </a:r>
            <a:r>
              <a:rPr sz="1250" i="1">
                <a:solidFill>
                  <a:srgbClr val="222222"/>
                </a:solidFill>
              </a:rPr>
              <a:t>(ground wave)</a:t>
            </a:r>
            <a:r>
              <a:rPr sz="1250">
                <a:solidFill>
                  <a:srgbClr val="222222"/>
                </a:solidFill>
              </a:rPr>
              <a:t>, alçak frekanslarda yer yüzeyini takip ederek uzun mesafelere ulaşabilir; yüksek frekanslarda ise hızla sönümlenir.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Radyo dalga yayılımı (propagasyon) teorisi.</a:t>
            </a:r>
          </a:p>
        </p:txBody>
      </p:sp>
      <p:sp>
        <p:nvSpPr>
          <p:cNvPr id="43014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36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44035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37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Propagasyon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Güneş lekelerinin ve buna bağlı patlamaların, yüksek frekans haberleşmesini etkilediği bilinmektedir. Bu etkinin periyodu ne kadardır?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15 yıl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b)  11 yıl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13 yıl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6 yıl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Güneş lekesi döngüsü, gözlemlenen ortalama periyodu yaklaşık 11 yıl olan, HF yayılım koşullarını doğrudan etkileyen bir güneş aktivite döngüsüdür.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Güneş lekesi döngüsü (solar cycle).</a:t>
            </a:r>
          </a:p>
        </p:txBody>
      </p:sp>
      <p:sp>
        <p:nvSpPr>
          <p:cNvPr id="44038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37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45059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38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Enterferans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Aşağıdakilerden hangisi geniş bandlı ve devamlı bir enterferans kaynağıdır?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Bir elektrik anahtarı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Bir floresant lamba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Bir mikrodalga vericisi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d)  Kollektör ve fırça teması zayıf bir elektrik motoru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Kollektör/fırça temas sorunu olan bir elektrik motoru, kesintisiz ve geniş frekans aralığında kıvılcım kaynaklı parazit üretir; elektrik anahtarı ve floresant lamba ise kısa süreli/anlık girişim kaynağıdır.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RF enterferans kaynakları.</a:t>
            </a:r>
          </a:p>
        </p:txBody>
      </p:sp>
      <p:sp>
        <p:nvSpPr>
          <p:cNvPr id="45062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38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46083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39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Propagasyon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Fading (sönümlenme/dalgalanma) olayı nasıl oluşur?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Atlama bölgesinde sinyal alınmaması durumunda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Verici antenden binlerce km uzaklıkta sinyal alınmaması durumunda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c)  Çok atlamalı çeşitli dalgaların, birbirlerini bazen yok ederek, bazen de kuvvetlendirerek aynı noktaya erişmeleri halinde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Tek atlamalı sinyalin diğerine nazaran kuvvetli olması nedeni 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Fading, farklı yollardan </a:t>
            </a:r>
            <a:r>
              <a:rPr sz="1250" i="1">
                <a:solidFill>
                  <a:srgbClr val="222222"/>
                </a:solidFill>
              </a:rPr>
              <a:t>(farklı sayıda iyonosfer sıçraması ile)</a:t>
            </a:r>
            <a:r>
              <a:rPr sz="1250">
                <a:solidFill>
                  <a:srgbClr val="222222"/>
                </a:solidFill>
              </a:rPr>
              <a:t> gelen aynı sinyalin bileşenlerinin alım noktasında birbirine göre faz farkıyla üst üste binmesi </a:t>
            </a:r>
            <a:r>
              <a:rPr sz="1250" i="1">
                <a:solidFill>
                  <a:srgbClr val="222222"/>
                </a:solidFill>
              </a:rPr>
              <a:t>(bazen sönümleyerek bazen güçlendirerek)</a:t>
            </a:r>
            <a:r>
              <a:rPr sz="1250">
                <a:solidFill>
                  <a:srgbClr val="222222"/>
                </a:solidFill>
              </a:rPr>
              <a:t> sonucu oluşur.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Radyo dalga yayılımı — fading (girişim/sönümlenme) mekanizması.</a:t>
            </a:r>
          </a:p>
        </p:txBody>
      </p:sp>
      <p:sp>
        <p:nvSpPr>
          <p:cNvPr id="46086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39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47107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40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Verici Devresi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Aşağıdaki verici çıkış kat tiplerinden hangisinde nispeten daha çok harmonik üretilir?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a)  C sınıfı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B sınıfı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AB sınıfı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A sınıfı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C sınıfı yükselteç, sinyalin sadece küçük bir kısmında iletken olduğundan </a:t>
            </a:r>
            <a:r>
              <a:rPr sz="1250" i="1">
                <a:solidFill>
                  <a:srgbClr val="222222"/>
                </a:solidFill>
              </a:rPr>
              <a:t>(verimlilik için)</a:t>
            </a:r>
            <a:r>
              <a:rPr sz="1250">
                <a:solidFill>
                  <a:srgbClr val="222222"/>
                </a:solidFill>
              </a:rPr>
              <a:t> en fazla harmonik </a:t>
            </a:r>
            <a:r>
              <a:rPr sz="1250" i="1">
                <a:solidFill>
                  <a:srgbClr val="222222"/>
                </a:solidFill>
              </a:rPr>
              <a:t>(istenmeyen katlı frekans)</a:t>
            </a:r>
            <a:r>
              <a:rPr sz="1250">
                <a:solidFill>
                  <a:srgbClr val="222222"/>
                </a:solidFill>
              </a:rPr>
              <a:t> üretir; A sınıfı en doğrusal ve en az harmoniklidir.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Yükselteç sınıfları ve harmonik üretimi.</a:t>
            </a:r>
          </a:p>
        </p:txBody>
      </p:sp>
      <p:sp>
        <p:nvSpPr>
          <p:cNvPr id="47110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40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48131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41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Filtre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Geniş bandlı bir güç kuvvetlendirici çıkışında aşağıdakilerden hangisi kullanılır?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Yüksek geçiren filtre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b)  Alçak geçiren filtre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Dirençli bastırıcı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Şebeke filtresi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Alçak geçiren filtre </a:t>
            </a:r>
            <a:r>
              <a:rPr sz="1250" i="1">
                <a:solidFill>
                  <a:srgbClr val="222222"/>
                </a:solidFill>
              </a:rPr>
              <a:t>(istenen frekansın altındakileri geçirip üstündeki harmonikleri süzen filtre)</a:t>
            </a:r>
            <a:r>
              <a:rPr sz="1250">
                <a:solidFill>
                  <a:srgbClr val="222222"/>
                </a:solidFill>
              </a:rPr>
              <a:t>, çıkıştaki istenmeyen yüksek frekanslı harmonikleri temizlemek için kullanılır.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Verici çıkış filtreleme.</a:t>
            </a:r>
          </a:p>
        </p:txBody>
      </p:sp>
      <p:sp>
        <p:nvSpPr>
          <p:cNvPr id="48134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41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49155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42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Filtre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Çıkışında band geçiren filtre ile donatılmış bir VHF verici: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Üretilen tüm frekansları keser.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Üretilen tüm harmonikleri geçirir.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Üretilen tüm alt harmonikleri geçirir.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d)  Sadece istenilen frekansları en az kayıpla geçirir.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Bant geçiren filtre </a:t>
            </a:r>
            <a:r>
              <a:rPr sz="1250" i="1">
                <a:solidFill>
                  <a:srgbClr val="222222"/>
                </a:solidFill>
              </a:rPr>
              <a:t>(bandpass filter)</a:t>
            </a:r>
            <a:r>
              <a:rPr sz="1250">
                <a:solidFill>
                  <a:srgbClr val="222222"/>
                </a:solidFill>
              </a:rPr>
              <a:t>, tasarlandığı dar frekans aralığındaki </a:t>
            </a:r>
            <a:r>
              <a:rPr sz="1250" i="1">
                <a:solidFill>
                  <a:srgbClr val="222222"/>
                </a:solidFill>
              </a:rPr>
              <a:t>(istenen)</a:t>
            </a:r>
            <a:r>
              <a:rPr sz="1250">
                <a:solidFill>
                  <a:srgbClr val="222222"/>
                </a:solidFill>
              </a:rPr>
              <a:t> sinyalleri düşük kayıpla geçirirken, bu aralığın dışındaki her şeyi </a:t>
            </a:r>
            <a:r>
              <a:rPr sz="1250" i="1">
                <a:solidFill>
                  <a:srgbClr val="222222"/>
                </a:solidFill>
              </a:rPr>
              <a:t>(harmonikler dahil)</a:t>
            </a:r>
            <a:r>
              <a:rPr sz="1250">
                <a:solidFill>
                  <a:srgbClr val="222222"/>
                </a:solidFill>
              </a:rPr>
              <a:t> zayıflatır.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Bant geçiren filtre teorisi.</a:t>
            </a:r>
          </a:p>
        </p:txBody>
      </p:sp>
      <p:sp>
        <p:nvSpPr>
          <p:cNvPr id="49158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42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50179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43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Enterferans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Bir amatör telsizcinin komşusu, telsiz istasyonunun müzik setine yaptığı enterferanstan şikâyetçidir. Mümkün olan çözüm aşağıdakilerden hangisi olabilir?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Verici çıkışına ferrit filtre konulması.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Verici çıkış uçları arasına bir kondansatör bağlanması.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c)  Müzik setinin hoparlör bağlantılarının ekranlı kablo ile yapılması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Vericinin çıkışının çıplak iki telli hat ile yapılması.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RF sinyalleri genellikle hoparlör kablolarının ekransız </a:t>
            </a:r>
            <a:r>
              <a:rPr sz="1250" i="1">
                <a:solidFill>
                  <a:srgbClr val="222222"/>
                </a:solidFill>
              </a:rPr>
              <a:t>(korumasız)</a:t>
            </a:r>
            <a:r>
              <a:rPr sz="1250">
                <a:solidFill>
                  <a:srgbClr val="222222"/>
                </a:solidFill>
              </a:rPr>
              <a:t> bölümünden müzik setine sızar; bu kabloların ekranlı </a:t>
            </a:r>
            <a:r>
              <a:rPr sz="1250" i="1">
                <a:solidFill>
                  <a:srgbClr val="222222"/>
                </a:solidFill>
              </a:rPr>
              <a:t>(RF sızmasını önleyen örgülü kablo)</a:t>
            </a:r>
            <a:r>
              <a:rPr sz="1250">
                <a:solidFill>
                  <a:srgbClr val="222222"/>
                </a:solidFill>
              </a:rPr>
              <a:t> hale getirilmesi girişimi büyük ölçüde giderir.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RF enterferans giderme (komşu cihaz koruması).</a:t>
            </a:r>
          </a:p>
        </p:txBody>
      </p:sp>
      <p:sp>
        <p:nvSpPr>
          <p:cNvPr id="50182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43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51203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44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Ekranlama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RF akımları ile çalışan bir elektronik cihaz: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Topraklanmamalıdır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Batarya ile beslenmelidir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c)  Mümkün olduğunca iyi ekranlanmalıdır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Hepsi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RF cihazlarının metal kutu/ekran içine alınması </a:t>
            </a:r>
            <a:r>
              <a:rPr sz="1250" i="1">
                <a:solidFill>
                  <a:srgbClr val="222222"/>
                </a:solidFill>
              </a:rPr>
              <a:t>(ekranlanması)</a:t>
            </a:r>
            <a:r>
              <a:rPr sz="1250">
                <a:solidFill>
                  <a:srgbClr val="222222"/>
                </a:solidFill>
              </a:rPr>
              <a:t>, istenmeyen RF sızıntısını ve dışarıdan gelen girişimi en aza indirir; topraklama ve besleme türü ile ilgili genel bir kısıtlama yoktur.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RF ekranlama pratiği.</a:t>
            </a:r>
          </a:p>
        </p:txBody>
      </p:sp>
      <p:sp>
        <p:nvSpPr>
          <p:cNvPr id="51206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44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52227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45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Harmonik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144 MHz'in üçüncü harmoniği aşağıdaki bandlardan hangisine düşer?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a)  UHF Bandı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FM broadcast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Hava bandı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SHF bandı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144 MHz × 3 = 432 MHz; bu frekans UHF </a:t>
            </a:r>
            <a:r>
              <a:rPr sz="1250" i="1">
                <a:solidFill>
                  <a:srgbClr val="222222"/>
                </a:solidFill>
              </a:rPr>
              <a:t>(300 MHz - 3 GHz)</a:t>
            </a:r>
            <a:r>
              <a:rPr sz="1250">
                <a:solidFill>
                  <a:srgbClr val="222222"/>
                </a:solidFill>
              </a:rPr>
              <a:t> bandı içindedir.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Harmonik hesabı ve ITU bant sınıflandırması.</a:t>
            </a:r>
          </a:p>
        </p:txBody>
      </p:sp>
      <p:sp>
        <p:nvSpPr>
          <p:cNvPr id="52230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45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53251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46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RMS-Tepe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Sinüs şeklinde bir dalganın efektif (RMS) değeri 12 volttur. Tepeden tepeye değeri aşağıdakilerden hangisidir?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16.97 V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24 V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c)  33.9 V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36.4 V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FCE4D6"/>
          </a:solidFill>
          <a:ln w="9525">
            <a:solidFill>
              <a:srgbClr val="E0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C05000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Tepeden tepeye </a:t>
            </a:r>
            <a:r>
              <a:rPr sz="1250" i="1">
                <a:solidFill>
                  <a:srgbClr val="222222"/>
                </a:solidFill>
              </a:rPr>
              <a:t>(peak-to-peak)</a:t>
            </a:r>
            <a:r>
              <a:rPr sz="1250">
                <a:solidFill>
                  <a:srgbClr val="222222"/>
                </a:solidFill>
              </a:rPr>
              <a:t> değer = 2×√2×RMS = 2×1.4142×12 ≈ 33.9 V.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150" b="1">
                <a:solidFill>
                  <a:srgbClr val="C05000"/>
                </a:solidFill>
              </a:rPr>
              <a:t>⚠ Kaynak soru bankasının resmi cevap anahtarı bu soruda (a) 16.97 V'u işaretlemiştir — ancak 16.97 V, RMS'in yalnızca TEPE değeridir (2×√2 çarpımı olmadan), "tepeden tepeye" değeri değildir. Soru gerçekten "tepeden tepeye" soruyorsa doğru cevap (c) 33.9 V'tur; resmi anahtarın (a)'yı işaretlemesi muhtemelen soru metninde "tepe değeri" ile "tepeden tepeye" ifadelerinin karıştırılmasından kaynaklanıyor olabilir.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RMS-tepe değer dönüşümü (bağımsız doğrulanmış).</a:t>
            </a:r>
          </a:p>
        </p:txBody>
      </p:sp>
      <p:sp>
        <p:nvSpPr>
          <p:cNvPr id="53254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46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06475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54275" name="TextBox 2"/>
          <p:cNvSpPr txBox="1">
            <a:spLocks noChangeArrowheads="1"/>
          </p:cNvSpPr>
          <p:nvPr/>
        </p:nvSpPr>
        <p:spPr bwMode="auto">
          <a:xfrm>
            <a:off x="457200" y="165100"/>
            <a:ext cx="11277600" cy="73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2400" b="1">
                <a:solidFill>
                  <a:srgbClr val="FFFFFF"/>
                </a:solidFill>
                <a:latin typeface="Calibri" pitchFamily="34" charset="0"/>
              </a:rPr>
              <a:t>BÖLÜM 5: Ölçüm Cihazları ve Anten Formülleri</a:t>
            </a:r>
          </a:p>
        </p:txBody>
      </p:sp>
      <p:sp>
        <p:nvSpPr>
          <p:cNvPr id="54276" name="TextBox 3"/>
          <p:cNvSpPr txBox="1">
            <a:spLocks noChangeArrowheads="1"/>
          </p:cNvSpPr>
          <p:nvPr/>
        </p:nvSpPr>
        <p:spPr bwMode="auto">
          <a:xfrm>
            <a:off x="639763" y="1371600"/>
            <a:ext cx="10912475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Aft>
                <a:spcPts val="1300"/>
              </a:spcAft>
            </a:pPr>
            <a:r>
              <a:rPr lang="tr-TR" sz="1700">
                <a:solidFill>
                  <a:srgbClr val="222222"/>
                </a:solidFill>
                <a:latin typeface="Calibri" pitchFamily="34" charset="0"/>
              </a:rPr>
              <a:t>•  Farklı ölçüm cihazları </a:t>
            </a:r>
            <a:r>
              <a:rPr lang="tr-TR" sz="1700" i="1">
                <a:solidFill>
                  <a:srgbClr val="222222"/>
                </a:solidFill>
                <a:latin typeface="Calibri" pitchFamily="34" charset="0"/>
              </a:rPr>
              <a:t>(thermocouple, grid-dip metre, osiloskop)</a:t>
            </a:r>
            <a:r>
              <a:rPr lang="tr-TR" sz="1700">
                <a:solidFill>
                  <a:srgbClr val="222222"/>
                </a:solidFill>
                <a:latin typeface="Calibri" pitchFamily="34" charset="0"/>
              </a:rPr>
              <a:t> farklı elektriksel büyüklükleri ölçmek için tasarlanmıştır.</a:t>
            </a:r>
          </a:p>
          <a:p>
            <a:pPr>
              <a:spcAft>
                <a:spcPts val="1300"/>
              </a:spcAft>
            </a:pPr>
            <a:r>
              <a:rPr lang="tr-TR" sz="1700">
                <a:solidFill>
                  <a:srgbClr val="222222"/>
                </a:solidFill>
                <a:latin typeface="Calibri" pitchFamily="34" charset="0"/>
              </a:rPr>
              <a:t>•  Anten uzunluğu ve empedansı, çalışma frekansına ve anten tipine göre standart formüllerle hesaplanır.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39763" y="5622925"/>
            <a:ext cx="10912475" cy="914400"/>
          </a:xfrm>
          <a:prstGeom prst="rect">
            <a:avLst/>
          </a:prstGeom>
          <a:solidFill>
            <a:srgbClr val="D6E4F0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73152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300" b="1">
                <a:solidFill>
                  <a:srgbClr val="1F3864"/>
                </a:solidFill>
              </a:rPr>
              <a:t>Bu bölümün kaynağı: </a:t>
            </a:r>
            <a:r>
              <a:rPr sz="1300">
                <a:solidFill>
                  <a:srgbClr val="222222"/>
                </a:solidFill>
              </a:rPr>
              <a:t>Genel ölçüm cihazları teorisi; Yarım/çeyrek dalga anten uzunluğu formülleri (λ=300/f).</a:t>
            </a:r>
          </a:p>
        </p:txBody>
      </p:sp>
      <p:sp>
        <p:nvSpPr>
          <p:cNvPr id="54278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Bölüm 5 Girişi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55299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47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Devre Elemanı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AGC katının işlevi aşağıdakilerden hangisidir?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Amplifikatör güç kontrolü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Alt-geçirgen doğrulma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Otomatik çıkış kontrolü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d)  Otomatik kazanç kontrolü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AGC </a:t>
            </a:r>
            <a:r>
              <a:rPr sz="1250" i="1">
                <a:solidFill>
                  <a:srgbClr val="222222"/>
                </a:solidFill>
              </a:rPr>
              <a:t>(Automatic Gain Control — otomatik kazanç kontrolü)</a:t>
            </a:r>
            <a:r>
              <a:rPr sz="1250">
                <a:solidFill>
                  <a:srgbClr val="222222"/>
                </a:solidFill>
              </a:rPr>
              <a:t>, alıcıda değişen sinyal güçlerine karşı çıkış seviyesini otomatik olarak dengeleyen devredir.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Alıcı devre teorisi (AGC).</a:t>
            </a:r>
          </a:p>
        </p:txBody>
      </p:sp>
      <p:sp>
        <p:nvSpPr>
          <p:cNvPr id="55302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47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56323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48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Verici Devresi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Bir çıkış katının aşırı sürülmesi: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Yüksek SWR'ye neden olur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Çıkış gücünü arttırır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c)  Yüksek seviyeli harmonik üretir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Çıkış transistörünü yakar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Bir yükseltecin doğrusal çalışma sınırının üzerinde </a:t>
            </a:r>
            <a:r>
              <a:rPr sz="1250" i="1">
                <a:solidFill>
                  <a:srgbClr val="222222"/>
                </a:solidFill>
              </a:rPr>
              <a:t>(aşırı)</a:t>
            </a:r>
            <a:r>
              <a:rPr sz="1250">
                <a:solidFill>
                  <a:srgbClr val="222222"/>
                </a:solidFill>
              </a:rPr>
              <a:t> sürülmesi, sinyal şeklini bozarak </a:t>
            </a:r>
            <a:r>
              <a:rPr sz="1250" i="1">
                <a:solidFill>
                  <a:srgbClr val="222222"/>
                </a:solidFill>
              </a:rPr>
              <a:t>(kırpılma/distorsiyon)</a:t>
            </a:r>
            <a:r>
              <a:rPr sz="1250">
                <a:solidFill>
                  <a:srgbClr val="222222"/>
                </a:solidFill>
              </a:rPr>
              <a:t> yüksek seviyede istenmeyen harmonik üretimine yol açar.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Yükselteç doğrusallık sınırları.</a:t>
            </a:r>
          </a:p>
        </p:txBody>
      </p:sp>
      <p:sp>
        <p:nvSpPr>
          <p:cNvPr id="56326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48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57347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49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Verici Devresi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Bir FM sinyalinin güçlendirilmesi sırasında kullanılacak en etkili güçlendirici sınıfı aşağıdakilerden hangisidir?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A sınıfı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AB sınıfı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B sınıfı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d)  C sınıfı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FM sinyalinin genliği sabit olduğundan </a:t>
            </a:r>
            <a:r>
              <a:rPr sz="1250" i="1">
                <a:solidFill>
                  <a:srgbClr val="222222"/>
                </a:solidFill>
              </a:rPr>
              <a:t>(bilgi frekansta taşınır, genlikte değil)</a:t>
            </a:r>
            <a:r>
              <a:rPr sz="1250">
                <a:solidFill>
                  <a:srgbClr val="222222"/>
                </a:solidFill>
              </a:rPr>
              <a:t>, C sınıfı gibi verimliliği en yüksek ama doğrusal olmayan yükselteçler FM için sorunsuzca kullanılabilir — SSB/AM'de bu mümkün değildir.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FM sinyali ve yükselteç doğrusallığı gereksinimi.</a:t>
            </a:r>
          </a:p>
        </p:txBody>
      </p:sp>
      <p:sp>
        <p:nvSpPr>
          <p:cNvPr id="57350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49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58371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50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Ölçüm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Bir yapay yük üzerine uygulanan RF akımı ölçülmek istenirse, aşağıdaki ampermetre tiplerinden hangisi kullanılır?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Hareketli bobinli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50 Hz'e ayarlı, demir göbekli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c)  Thermocouple cihazlı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Hiçbiri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Thermocouple </a:t>
            </a:r>
            <a:r>
              <a:rPr sz="1250" i="1">
                <a:solidFill>
                  <a:srgbClr val="222222"/>
                </a:solidFill>
              </a:rPr>
              <a:t>(ısıl çift)</a:t>
            </a:r>
            <a:r>
              <a:rPr sz="1250">
                <a:solidFill>
                  <a:srgbClr val="222222"/>
                </a:solidFill>
              </a:rPr>
              <a:t> ampermetreler, akımın oluşturduğu ısıyı ölçerek çalışır; bu prensip frekanstan bağımsız olduğundan RF akımların doğru ölçümü için uygundur </a:t>
            </a:r>
            <a:r>
              <a:rPr sz="1250" i="1">
                <a:solidFill>
                  <a:srgbClr val="222222"/>
                </a:solidFill>
              </a:rPr>
              <a:t>(diğer tipler düşük frekans/AC şebeke ölçümüne özgüdür)</a:t>
            </a:r>
            <a:r>
              <a:rPr sz="1250">
                <a:solidFill>
                  <a:srgbClr val="222222"/>
                </a:solidFill>
              </a:rPr>
              <a:t>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RF akım ölçüm cihazları.</a:t>
            </a:r>
          </a:p>
        </p:txBody>
      </p:sp>
      <p:sp>
        <p:nvSpPr>
          <p:cNvPr id="58374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50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59395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51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Ölçüm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Bir akortlu devrenin rezonans frekansı aşağıdaki cihazlardan hangisi ile bulunur?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DC Voltmetre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b)  Grid-dip metre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Sayısal frekans metre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Ohm-metre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Grid-dip metre, test edilen akortlu </a:t>
            </a:r>
            <a:r>
              <a:rPr sz="1250" i="1">
                <a:solidFill>
                  <a:srgbClr val="222222"/>
                </a:solidFill>
              </a:rPr>
              <a:t>(LC)</a:t>
            </a:r>
            <a:r>
              <a:rPr sz="1250">
                <a:solidFill>
                  <a:srgbClr val="222222"/>
                </a:solidFill>
              </a:rPr>
              <a:t> devreye zayıf bağlantıyla enerji vererek, devrenin rezonans noktasında cihazın kendi göstergesinde bir "dip" </a:t>
            </a:r>
            <a:r>
              <a:rPr sz="1250" i="1">
                <a:solidFill>
                  <a:srgbClr val="222222"/>
                </a:solidFill>
              </a:rPr>
              <a:t>(düşüş)</a:t>
            </a:r>
            <a:r>
              <a:rPr sz="1250">
                <a:solidFill>
                  <a:srgbClr val="222222"/>
                </a:solidFill>
              </a:rPr>
              <a:t> oluşturur; bu şekilde rezonans frekansı bulunur.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Rezonans frekansı ölçüm teknikleri.</a:t>
            </a:r>
          </a:p>
        </p:txBody>
      </p:sp>
      <p:sp>
        <p:nvSpPr>
          <p:cNvPr id="59398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51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60419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52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Ölçüm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Bir thermocouple elemanı ile: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Direnç ölçülür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b)  Sıcaklık ölçülür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Elektrik alanı ölçülür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Manyetik alan ölçülür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Thermocouple </a:t>
            </a:r>
            <a:r>
              <a:rPr sz="1250" i="1">
                <a:solidFill>
                  <a:srgbClr val="222222"/>
                </a:solidFill>
              </a:rPr>
              <a:t>(ısıl çift)</a:t>
            </a:r>
            <a:r>
              <a:rPr sz="1250">
                <a:solidFill>
                  <a:srgbClr val="222222"/>
                </a:solidFill>
              </a:rPr>
              <a:t>, iki farklı metalin bağlantı noktasındaki sıcaklık farkına bağlı olarak gerilim üreten bir sensördür; temel ölçtüğü büyüklük sıcaklıktır.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Thermocouple (ısıl çift) çalışma prensibi.</a:t>
            </a:r>
          </a:p>
        </p:txBody>
      </p:sp>
      <p:sp>
        <p:nvSpPr>
          <p:cNvPr id="60422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52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61443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53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Anten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Harici antenler daima tercih edilir, çünkü: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Daha az harmonik üretirler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Yayılımları daha azdır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c)  Yayılımları daha çoktur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Daha geniş bandlı çalışırlar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Bina dışına kurulan harici antenler, iç mekân/dahili antenlere göre engelsiz ve daha yüksek konumda olduklarından sinyali daha etkin yayar/alır </a:t>
            </a:r>
            <a:r>
              <a:rPr sz="1250" i="1">
                <a:solidFill>
                  <a:srgbClr val="222222"/>
                </a:solidFill>
              </a:rPr>
              <a:t>(yayılımları daha çoktur)</a:t>
            </a:r>
            <a:r>
              <a:rPr sz="1250">
                <a:solidFill>
                  <a:srgbClr val="222222"/>
                </a:solidFill>
              </a:rPr>
              <a:t>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Anten yerleşimi ve performans.</a:t>
            </a:r>
          </a:p>
        </p:txBody>
      </p:sp>
      <p:sp>
        <p:nvSpPr>
          <p:cNvPr id="61446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53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62467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54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Birim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Mili (m) kısaltması aşağıdakilerden hangisine eş değerdedir?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1000000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10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c)  1/1000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1000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"Mili" ön eki, birimin binde biri </a:t>
            </a:r>
            <a:r>
              <a:rPr sz="1250" i="1">
                <a:solidFill>
                  <a:srgbClr val="222222"/>
                </a:solidFill>
              </a:rPr>
              <a:t>(10⁻³)</a:t>
            </a:r>
            <a:r>
              <a:rPr sz="1250">
                <a:solidFill>
                  <a:srgbClr val="222222"/>
                </a:solidFill>
              </a:rPr>
              <a:t> anlamına gelir.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SI birim önekleri.</a:t>
            </a:r>
          </a:p>
        </p:txBody>
      </p:sp>
      <p:sp>
        <p:nvSpPr>
          <p:cNvPr id="62470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54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63491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55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Devre Elemanı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Bir tümleşik devre (entegre devre / IC):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Pasif bir elemandır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Bir kondansatör takımıdır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c)  Birçok aktif ve pasif elemanın birleşmesinden oluşur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Tek bir aktif elemandır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Tümleşik devre </a:t>
            </a:r>
            <a:r>
              <a:rPr sz="1250" i="1">
                <a:solidFill>
                  <a:srgbClr val="222222"/>
                </a:solidFill>
              </a:rPr>
              <a:t>(IC)</a:t>
            </a:r>
            <a:r>
              <a:rPr sz="1250">
                <a:solidFill>
                  <a:srgbClr val="222222"/>
                </a:solidFill>
              </a:rPr>
              <a:t>, tek bir küçük yonga üzerinde çok sayıda transistör, direnç, kondansatör gibi aktif ve pasif elemanı birleştiren bir yapıdır.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Tümleşik devre (entegre) tanımı.</a:t>
            </a:r>
          </a:p>
        </p:txBody>
      </p:sp>
      <p:sp>
        <p:nvSpPr>
          <p:cNvPr id="63494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55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64515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56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Güç Birimi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Bir CW vericisinin çıkış gücü 100 watttır. Bu değer aşağıdakilerden hangisine eşittir?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10 dBW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b)  20 dBW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22 dBW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26 dBW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dBW=10×log₁₀</a:t>
            </a:r>
            <a:r>
              <a:rPr sz="1250" i="1">
                <a:solidFill>
                  <a:srgbClr val="222222"/>
                </a:solidFill>
              </a:rPr>
              <a:t>(P/1W)</a:t>
            </a:r>
            <a:r>
              <a:rPr sz="1250">
                <a:solidFill>
                  <a:srgbClr val="222222"/>
                </a:solidFill>
              </a:rPr>
              <a:t>=10×log₁₀</a:t>
            </a:r>
            <a:r>
              <a:rPr sz="1250" i="1">
                <a:solidFill>
                  <a:srgbClr val="222222"/>
                </a:solidFill>
              </a:rPr>
              <a:t>(100)</a:t>
            </a:r>
            <a:r>
              <a:rPr sz="1250">
                <a:solidFill>
                  <a:srgbClr val="222222"/>
                </a:solidFill>
              </a:rPr>
              <a:t>=10×2=20 dBW.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dBW güç birimi hesabı.</a:t>
            </a:r>
          </a:p>
        </p:txBody>
      </p:sp>
      <p:sp>
        <p:nvSpPr>
          <p:cNvPr id="64518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56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65539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57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Besleme Hattı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Verici çıkışına bağlanmış bir koaksiyel kablonun diğer ucu açık devre olursa, bu noktadaki voltaj: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a)  Yüksek bir değere çıkabilir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Daima sıfır olur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Verici çıkışına eşit olur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Doğru akıma döner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Açık devre </a:t>
            </a:r>
            <a:r>
              <a:rPr sz="1250" i="1">
                <a:solidFill>
                  <a:srgbClr val="222222"/>
                </a:solidFill>
              </a:rPr>
              <a:t>(sonlandırılmamış)</a:t>
            </a:r>
            <a:r>
              <a:rPr sz="1250">
                <a:solidFill>
                  <a:srgbClr val="222222"/>
                </a:solidFill>
              </a:rPr>
              <a:t> bir hatta, gönderilen sinyal tamamen yansır ve duran dalga oluşur; yansıma noktasında gerilim tepe noktalarında normalden çok daha yüksek değerlere ulaşabilir.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Açık devre iletim hattı ve duran dalga.</a:t>
            </a:r>
          </a:p>
        </p:txBody>
      </p:sp>
      <p:sp>
        <p:nvSpPr>
          <p:cNvPr id="65542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57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66563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58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Anten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QUAD antenin bir kenarı: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a)  Çeyrek dalgadır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Yarım dalgadır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5/8 dalgadır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Tam dalgadır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Kare şeklindeki QUAD antenin toplam çevresi bir tam dalga boyudur; dolayısıyla dört kenarından her biri bir çeyrek dalga boyundadır.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QUAD anten geometrisi.</a:t>
            </a:r>
          </a:p>
        </p:txBody>
      </p:sp>
      <p:sp>
        <p:nvSpPr>
          <p:cNvPr id="66566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58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67587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59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Anten Boyu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10 MHz'de yayın yapan bir telsiz verici anteninin boyu λ/4 (çeyrek) dalga boyuna göre kaç cm olması gerekir?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30 cm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300 cm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250 cm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d)  750 cm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Çeyrek dalga boyu </a:t>
            </a:r>
            <a:r>
              <a:rPr sz="1250" i="1">
                <a:solidFill>
                  <a:srgbClr val="222222"/>
                </a:solidFill>
              </a:rPr>
              <a:t>(m)</a:t>
            </a:r>
            <a:r>
              <a:rPr sz="1250">
                <a:solidFill>
                  <a:srgbClr val="222222"/>
                </a:solidFill>
              </a:rPr>
              <a:t> = 75/f</a:t>
            </a:r>
            <a:r>
              <a:rPr sz="1250" i="1">
                <a:solidFill>
                  <a:srgbClr val="222222"/>
                </a:solidFill>
              </a:rPr>
              <a:t>(MHz)</a:t>
            </a:r>
            <a:r>
              <a:rPr sz="1250">
                <a:solidFill>
                  <a:srgbClr val="222222"/>
                </a:solidFill>
              </a:rPr>
              <a:t> = 75/10 = 7.5 m = 750 cm.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Yarım/çeyrek dalga anten uzunluğu formülleri (λ=300/f).</a:t>
            </a:r>
          </a:p>
        </p:txBody>
      </p:sp>
      <p:sp>
        <p:nvSpPr>
          <p:cNvPr id="67590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59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68611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60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Ölçüm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Bir osiloskopun dikey (Y) girişi neyi gösterir?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a)  Voltaj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Kapasite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Reaktans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Zaman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Osiloskopun dikey </a:t>
            </a:r>
            <a:r>
              <a:rPr sz="1250" i="1">
                <a:solidFill>
                  <a:srgbClr val="222222"/>
                </a:solidFill>
              </a:rPr>
              <a:t>(Y)</a:t>
            </a:r>
            <a:r>
              <a:rPr sz="1250">
                <a:solidFill>
                  <a:srgbClr val="222222"/>
                </a:solidFill>
              </a:rPr>
              <a:t> eksen girişi, ölçülen sinyalin gerilim </a:t>
            </a:r>
            <a:r>
              <a:rPr sz="1250" i="1">
                <a:solidFill>
                  <a:srgbClr val="222222"/>
                </a:solidFill>
              </a:rPr>
              <a:t>(voltaj)</a:t>
            </a:r>
            <a:r>
              <a:rPr sz="1250">
                <a:solidFill>
                  <a:srgbClr val="222222"/>
                </a:solidFill>
              </a:rPr>
              <a:t> değerini gösterir; yatay </a:t>
            </a:r>
            <a:r>
              <a:rPr sz="1250" i="1">
                <a:solidFill>
                  <a:srgbClr val="222222"/>
                </a:solidFill>
              </a:rPr>
              <a:t>(X)</a:t>
            </a:r>
            <a:r>
              <a:rPr sz="1250">
                <a:solidFill>
                  <a:srgbClr val="222222"/>
                </a:solidFill>
              </a:rPr>
              <a:t> eksen genellikle zamanı gösterir.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Osiloskop çalışma prensibi.</a:t>
            </a:r>
          </a:p>
        </p:txBody>
      </p:sp>
      <p:sp>
        <p:nvSpPr>
          <p:cNvPr id="68614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60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06475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69635" name="TextBox 2"/>
          <p:cNvSpPr txBox="1">
            <a:spLocks noChangeArrowheads="1"/>
          </p:cNvSpPr>
          <p:nvPr/>
        </p:nvSpPr>
        <p:spPr bwMode="auto">
          <a:xfrm>
            <a:off x="457200" y="165100"/>
            <a:ext cx="11277600" cy="73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2400" b="1">
                <a:solidFill>
                  <a:srgbClr val="FFFFFF"/>
                </a:solidFill>
                <a:latin typeface="Calibri" pitchFamily="34" charset="0"/>
              </a:rPr>
              <a:t>BÖLÜM 6: Devre Analizi II</a:t>
            </a:r>
          </a:p>
        </p:txBody>
      </p:sp>
      <p:sp>
        <p:nvSpPr>
          <p:cNvPr id="69636" name="TextBox 3"/>
          <p:cNvSpPr txBox="1">
            <a:spLocks noChangeArrowheads="1"/>
          </p:cNvSpPr>
          <p:nvPr/>
        </p:nvSpPr>
        <p:spPr bwMode="auto">
          <a:xfrm>
            <a:off x="639763" y="1371600"/>
            <a:ext cx="10912475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Aft>
                <a:spcPts val="1300"/>
              </a:spcAft>
            </a:pPr>
            <a:r>
              <a:rPr lang="tr-TR" sz="1700">
                <a:solidFill>
                  <a:srgbClr val="222222"/>
                </a:solidFill>
                <a:latin typeface="Calibri" pitchFamily="34" charset="0"/>
              </a:rPr>
              <a:t>•  Direnç tolerans hesapları, belirtilen yüzde değerin nominal direnç değerine eklenip çıkarılmasıyla bulunur.</a:t>
            </a:r>
          </a:p>
          <a:p>
            <a:pPr>
              <a:spcAft>
                <a:spcPts val="1300"/>
              </a:spcAft>
            </a:pPr>
            <a:r>
              <a:rPr lang="tr-TR" sz="1700">
                <a:solidFill>
                  <a:srgbClr val="222222"/>
                </a:solidFill>
                <a:latin typeface="Calibri" pitchFamily="34" charset="0"/>
              </a:rPr>
              <a:t>•  Devre elemanlarının fonksiyonu genellikle şemadaki konumundan </a:t>
            </a:r>
            <a:r>
              <a:rPr lang="tr-TR" sz="1700" i="1">
                <a:solidFill>
                  <a:srgbClr val="222222"/>
                </a:solidFill>
                <a:latin typeface="Calibri" pitchFamily="34" charset="0"/>
              </a:rPr>
              <a:t>(giriş/çıkış sinyali türü)</a:t>
            </a:r>
            <a:r>
              <a:rPr lang="tr-TR" sz="1700">
                <a:solidFill>
                  <a:srgbClr val="222222"/>
                </a:solidFill>
                <a:latin typeface="Calibri" pitchFamily="34" charset="0"/>
              </a:rPr>
              <a:t> anlaşılır.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39763" y="5622925"/>
            <a:ext cx="10912475" cy="914400"/>
          </a:xfrm>
          <a:prstGeom prst="rect">
            <a:avLst/>
          </a:prstGeom>
          <a:solidFill>
            <a:srgbClr val="D6E4F0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73152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300" b="1">
                <a:solidFill>
                  <a:srgbClr val="1F3864"/>
                </a:solidFill>
              </a:rPr>
              <a:t>Bu bölümün kaynağı: </a:t>
            </a:r>
            <a:r>
              <a:rPr sz="1300">
                <a:solidFill>
                  <a:srgbClr val="222222"/>
                </a:solidFill>
              </a:rPr>
              <a:t>Ohm Kanunu (V=IR) ve temel devre analizi. Direnç tolerans hesabı.</a:t>
            </a:r>
          </a:p>
        </p:txBody>
      </p:sp>
      <p:sp>
        <p:nvSpPr>
          <p:cNvPr id="69638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Bölüm 6 Girişi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70659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61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Enterferans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Bir amatör telsizcinin cihazı, kendisinin ve komşusunun telefonunu enterfere etmektedir. Her iki telefonda aynı model olduğuna göre, enterferansın oluşma sebebi en yüksek olasılıkla aşağıdakilerden hangisidir?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Elektrik şebeke hatlarının RF taşıması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b)  Direk telefon cihazının içyapısı ve telefon kablajı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Vericinin lokal osilatörü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Vericinin AGC'sinin ayarsız olması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İki farklı yerdeki AYNI model telefonun aynı şekilde etkilenmesi, sorunun o telefon modelinin kendi iç tasarımından/kablo yapısından </a:t>
            </a:r>
            <a:r>
              <a:rPr sz="1250" i="1">
                <a:solidFill>
                  <a:srgbClr val="222222"/>
                </a:solidFill>
              </a:rPr>
              <a:t>(RF'e karşı yetersiz koruma)</a:t>
            </a:r>
            <a:r>
              <a:rPr sz="1250">
                <a:solidFill>
                  <a:srgbClr val="222222"/>
                </a:solidFill>
              </a:rPr>
              <a:t> kaynaklandığını gösterir — rastgele bir dış etken değil.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RF enterferans kök neden analizi.</a:t>
            </a:r>
          </a:p>
        </p:txBody>
      </p:sp>
      <p:sp>
        <p:nvSpPr>
          <p:cNvPr id="70662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61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71683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62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Tolerans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4700 ohm'luk bir direncin toleransı %10'dur. Direncin gerçek değeri aşağıdaki sınırların hangisinin içindedir?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a)  4230 – 5170 ohm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4653 – 4747 ohm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4230 – 4747 ohm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4653 – 5170 ohm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%10 tolerans = 4700×0.10=470 ohm. Sınırlar: 4700-470=4230 ile 4700+470=5170 ohm arası.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Direnç tolerans hesabı.</a:t>
            </a:r>
          </a:p>
        </p:txBody>
      </p:sp>
      <p:sp>
        <p:nvSpPr>
          <p:cNvPr id="71686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62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72707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63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Devre Tanıma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lang="tr-TR" sz="1600" b="1" dirty="0">
                <a:solidFill>
                  <a:srgbClr val="222222"/>
                </a:solidFill>
              </a:rPr>
              <a:t>Aşağıdaki şekildeki devre </a:t>
            </a:r>
            <a:r>
              <a:rPr lang="tr-TR" sz="1600" i="1" dirty="0">
                <a:solidFill>
                  <a:srgbClr val="222222"/>
                </a:solidFill>
              </a:rPr>
              <a:t>(</a:t>
            </a:r>
            <a:r>
              <a:rPr sz="1600" i="1">
                <a:solidFill>
                  <a:srgbClr val="222222"/>
                </a:solidFill>
              </a:rPr>
              <a:t>10.7 MHz IF girişli, transformatör+diyot+kondansatör içeren</a:t>
            </a:r>
            <a:r>
              <a:rPr lang="tr-TR" sz="1600" i="1" dirty="0">
                <a:solidFill>
                  <a:srgbClr val="222222"/>
                </a:solidFill>
              </a:rPr>
              <a:t>)</a:t>
            </a:r>
            <a:r>
              <a:rPr sz="1600" b="1">
                <a:solidFill>
                  <a:srgbClr val="222222"/>
                </a:solidFill>
              </a:rPr>
              <a:t> nedir?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Güç doğrultucusudur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Bir FM diskriminatörüdür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Bir varaktör tunerdir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d)  A.M. dedektördür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Bu devre, giren ara frekans </a:t>
            </a:r>
            <a:r>
              <a:rPr sz="1250" i="1">
                <a:solidFill>
                  <a:srgbClr val="222222"/>
                </a:solidFill>
              </a:rPr>
              <a:t>(IF)</a:t>
            </a:r>
            <a:r>
              <a:rPr sz="1250">
                <a:solidFill>
                  <a:srgbClr val="222222"/>
                </a:solidFill>
              </a:rPr>
              <a:t> sinyalini bir diyot ile doğrultup kondansatörle süzerek genlik bilgisini çıkaran klasik bir AM </a:t>
            </a:r>
            <a:r>
              <a:rPr sz="1250" i="1">
                <a:solidFill>
                  <a:srgbClr val="222222"/>
                </a:solidFill>
              </a:rPr>
              <a:t>(genlik modülasyonu)</a:t>
            </a:r>
            <a:r>
              <a:rPr sz="1250">
                <a:solidFill>
                  <a:srgbClr val="222222"/>
                </a:solidFill>
              </a:rPr>
              <a:t> dedektör devresidir.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AM dedektör devresi.</a:t>
            </a:r>
          </a:p>
        </p:txBody>
      </p:sp>
      <p:sp>
        <p:nvSpPr>
          <p:cNvPr id="72710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63</a:t>
            </a:r>
          </a:p>
        </p:txBody>
      </p:sp>
      <p:pic>
        <p:nvPicPr>
          <p:cNvPr id="72711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11288" y="1060450"/>
            <a:ext cx="3733800" cy="1533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73731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64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Devre Hesabı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lang="tr-TR" sz="1600" b="1" dirty="0">
                <a:solidFill>
                  <a:srgbClr val="222222"/>
                </a:solidFill>
              </a:rPr>
              <a:t>Aşağıdaki şekilde </a:t>
            </a:r>
            <a:r>
              <a:rPr lang="tr-TR" sz="1600" i="1" dirty="0">
                <a:solidFill>
                  <a:srgbClr val="222222"/>
                </a:solidFill>
              </a:rPr>
              <a:t>(</a:t>
            </a:r>
            <a:r>
              <a:rPr sz="1600" i="1">
                <a:solidFill>
                  <a:srgbClr val="222222"/>
                </a:solidFill>
              </a:rPr>
              <a:t>13V regülesiz besleme, 330 ohm, zener 5V6, 10µF, 2k2 dirençli transistör devresi)</a:t>
            </a:r>
            <a:r>
              <a:rPr sz="1600" b="1">
                <a:solidFill>
                  <a:srgbClr val="222222"/>
                </a:solidFill>
              </a:rPr>
              <a:t> A ve B noktaları arasındaki voltaj ne kadardır?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2.2 volt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b)  5 volt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8 volt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5.6 volt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Devrede zener diyot bazı sabitlerken, transistörün emiter-baz gerilim düşümü </a:t>
            </a:r>
            <a:r>
              <a:rPr sz="1250" i="1">
                <a:solidFill>
                  <a:srgbClr val="222222"/>
                </a:solidFill>
              </a:rPr>
              <a:t>(~0.6V)</a:t>
            </a:r>
            <a:r>
              <a:rPr sz="1250">
                <a:solidFill>
                  <a:srgbClr val="222222"/>
                </a:solidFill>
              </a:rPr>
              <a:t> nedeniyle A-B arası </a:t>
            </a:r>
            <a:r>
              <a:rPr sz="1250" i="1">
                <a:solidFill>
                  <a:srgbClr val="222222"/>
                </a:solidFill>
              </a:rPr>
              <a:t>(emiter çıkışı)</a:t>
            </a:r>
            <a:r>
              <a:rPr sz="1250">
                <a:solidFill>
                  <a:srgbClr val="222222"/>
                </a:solidFill>
              </a:rPr>
              <a:t> zener geriliminden biraz düşük, yaklaşık 5V olarak ölçülür.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Zener regüleli transistör devresi.</a:t>
            </a:r>
          </a:p>
        </p:txBody>
      </p:sp>
      <p:sp>
        <p:nvSpPr>
          <p:cNvPr id="73734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64</a:t>
            </a:r>
          </a:p>
        </p:txBody>
      </p:sp>
      <p:pic>
        <p:nvPicPr>
          <p:cNvPr id="7373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12913" y="1033463"/>
            <a:ext cx="2859087" cy="1582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74755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65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Empedans Uyumu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Bir vericinin çıkış empedansı 50 ohmdur. En yüksek güç aktarımı için yük direnci ne olmalıdır?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a)  50 ohm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75 ohm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100 ohm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150 ohm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Maksimum güç transferi teoremine göre, yük direnci kaynağın </a:t>
            </a:r>
            <a:r>
              <a:rPr sz="1250" i="1">
                <a:solidFill>
                  <a:srgbClr val="222222"/>
                </a:solidFill>
              </a:rPr>
              <a:t>(verici)</a:t>
            </a:r>
            <a:r>
              <a:rPr sz="1250">
                <a:solidFill>
                  <a:srgbClr val="222222"/>
                </a:solidFill>
              </a:rPr>
              <a:t> çıkış empedansına eşit olduğunda en yüksek güç aktarılır: 50 ohm.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Maksimum güç transferi teoremi.</a:t>
            </a:r>
          </a:p>
        </p:txBody>
      </p:sp>
      <p:sp>
        <p:nvSpPr>
          <p:cNvPr id="74758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65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75779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66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Rezonans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1 mH'lik bir bobin, 1 µF'lık bir kondansatör ile paralel bağlanmıştır. Devrenin rezonans frekansı nedir?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0.5033 Khz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0.5033 Mhz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c)  5.033 Khz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5.033 Mhz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FCE4D6"/>
          </a:solidFill>
          <a:ln w="9525">
            <a:solidFill>
              <a:srgbClr val="E0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C05000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f=1/</a:t>
            </a:r>
            <a:r>
              <a:rPr sz="1250" i="1">
                <a:solidFill>
                  <a:srgbClr val="222222"/>
                </a:solidFill>
              </a:rPr>
              <a:t>(2π√(LC)</a:t>
            </a:r>
            <a:r>
              <a:rPr sz="1250">
                <a:solidFill>
                  <a:srgbClr val="222222"/>
                </a:solidFill>
              </a:rPr>
              <a:t>) formülüne göre: L=1×10⁻³H, C=1×10⁻⁶F, LC=1×10⁻⁹, √</a:t>
            </a:r>
            <a:r>
              <a:rPr sz="1250" i="1">
                <a:solidFill>
                  <a:srgbClr val="222222"/>
                </a:solidFill>
              </a:rPr>
              <a:t>(LC)</a:t>
            </a:r>
            <a:r>
              <a:rPr sz="1250">
                <a:solidFill>
                  <a:srgbClr val="222222"/>
                </a:solidFill>
              </a:rPr>
              <a:t>=3.162×10⁻⁵, f=1/</a:t>
            </a:r>
            <a:r>
              <a:rPr sz="1250" i="1">
                <a:solidFill>
                  <a:srgbClr val="222222"/>
                </a:solidFill>
              </a:rPr>
              <a:t>(2π×3.162×10⁻⁵)</a:t>
            </a:r>
            <a:r>
              <a:rPr sz="1250">
                <a:solidFill>
                  <a:srgbClr val="222222"/>
                </a:solidFill>
              </a:rPr>
              <a:t>≈5033 Hz = 5.033 kHz.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150" b="1">
                <a:solidFill>
                  <a:srgbClr val="C05000"/>
                </a:solidFill>
              </a:rPr>
              <a:t>⚠ Kaynak soru bankasının resmi cevap anahtarı bu soruda (b) 0.5033 MHz'i işaretlemiştir. Standart rezonans formülüyle yapılan hesap ise açıkça (c) 5.033 kHz'i vermektedir — bu, kaynaktaki muhtemel bir baskı/yazım hatasıdır. Gerçek sınavda resmi anahtar (b) olarak sorulursa bu farkı bilmekte fayda var.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LC rezonans hesabı (bağımsız doğrulanmış).</a:t>
            </a:r>
          </a:p>
        </p:txBody>
      </p:sp>
      <p:sp>
        <p:nvSpPr>
          <p:cNvPr id="75782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66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76803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67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Harmonik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3.73 MHz'deki bir vericinin ikinci harmoniği nedir?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1.865 MHz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b)  7.46 MHz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10.19 MHz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Hiçbiri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İkinci harmonik = temel frekans × 2 = 3.73×2 = 7.46 MHz.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Harmonik hesabı.</a:t>
            </a:r>
          </a:p>
        </p:txBody>
      </p:sp>
      <p:sp>
        <p:nvSpPr>
          <p:cNvPr id="76806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67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77827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68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Verici Devresi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SSB yayınlarını elde etmek için kullanılan metod hangisidir?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Faz kaydırma metodu.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Filtre metodu.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c)  a ve b'nin ikisi de kullanılır.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a ve b'nin hiçbiri kullanılmaz.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SSB üretiminde pratikte iki yöntem de kullanılır: filtre metodu </a:t>
            </a:r>
            <a:r>
              <a:rPr sz="1250" i="1">
                <a:solidFill>
                  <a:srgbClr val="222222"/>
                </a:solidFill>
              </a:rPr>
              <a:t>(bir yan bandı filtreyle bastırma)</a:t>
            </a:r>
            <a:r>
              <a:rPr sz="1250">
                <a:solidFill>
                  <a:srgbClr val="222222"/>
                </a:solidFill>
              </a:rPr>
              <a:t> ve faz kaydırma metodu </a:t>
            </a:r>
            <a:r>
              <a:rPr sz="1250" i="1">
                <a:solidFill>
                  <a:srgbClr val="222222"/>
                </a:solidFill>
              </a:rPr>
              <a:t>(fazları kaydırarak bir yan bandı elektriksel olarak yok etme)</a:t>
            </a:r>
            <a:r>
              <a:rPr sz="1250">
                <a:solidFill>
                  <a:srgbClr val="222222"/>
                </a:solidFill>
              </a:rPr>
              <a:t>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SSB üretim yöntemleri.</a:t>
            </a:r>
          </a:p>
        </p:txBody>
      </p:sp>
      <p:sp>
        <p:nvSpPr>
          <p:cNvPr id="77830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68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78851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69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Balun/Empedans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300 ohm'luk bir verici antenini alıcımıza 75 ohm değerinde bir koaksiyel kablo ile bağlamak istiyoruz. Araya konulması gereken balun'un sargı oranı ne olmalıdır?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1:1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b)  1:2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1:4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1:16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Balun'un empedans dönüştürme oranı, sargı </a:t>
            </a:r>
            <a:r>
              <a:rPr sz="1250" i="1">
                <a:solidFill>
                  <a:srgbClr val="222222"/>
                </a:solidFill>
              </a:rPr>
              <a:t>(tur)</a:t>
            </a:r>
            <a:r>
              <a:rPr sz="1250">
                <a:solidFill>
                  <a:srgbClr val="222222"/>
                </a:solidFill>
              </a:rPr>
              <a:t> oranının KARESİ ile orantılıdır. 300/75=4 empedans oranı için sargı oranı √4=2, yani 1:2 </a:t>
            </a:r>
            <a:r>
              <a:rPr sz="1250" i="1">
                <a:solidFill>
                  <a:srgbClr val="222222"/>
                </a:solidFill>
              </a:rPr>
              <a:t>(dönüştürücü tur oranı 1:2 olduğunda empedans oranı 1:4 olur)</a:t>
            </a:r>
            <a:r>
              <a:rPr sz="1250">
                <a:solidFill>
                  <a:srgbClr val="222222"/>
                </a:solidFill>
              </a:rPr>
              <a:t>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Balun sargı-empedans oranı ilişkisi.</a:t>
            </a:r>
          </a:p>
        </p:txBody>
      </p:sp>
      <p:sp>
        <p:nvSpPr>
          <p:cNvPr id="78854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69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79875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70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Verim Hesabı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12,5 V'luk bir besleme kaynağı, çıkış gücü 90 Watt olan bir güç amplifikatörüne bağlanmıştır. Besleme kaynağından 16 A çekilmektedir. Bu amplifikatörün verimi nedir?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a)  %45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%55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%100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%222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Giriş gücü = V×I = 12.5×16 = 200 W. Verim = Çıkış/Giriş = 90/200 = %45.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Amplifikatör verim hesabı (Verim=Pçıkış/Pgiriş).</a:t>
            </a:r>
          </a:p>
        </p:txBody>
      </p:sp>
      <p:sp>
        <p:nvSpPr>
          <p:cNvPr id="79878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70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80899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71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Bobin Hesabı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lang="tr-TR" sz="1600" b="1" dirty="0">
                <a:solidFill>
                  <a:srgbClr val="222222"/>
                </a:solidFill>
              </a:rPr>
              <a:t>Yukarıdaki </a:t>
            </a:r>
            <a:r>
              <a:rPr sz="1600" b="1">
                <a:solidFill>
                  <a:srgbClr val="222222"/>
                </a:solidFill>
              </a:rPr>
              <a:t>devre</a:t>
            </a:r>
            <a:r>
              <a:rPr lang="tr-TR" sz="1600" b="1" dirty="0" err="1">
                <a:solidFill>
                  <a:srgbClr val="222222"/>
                </a:solidFill>
              </a:rPr>
              <a:t>nin</a:t>
            </a:r>
            <a:r>
              <a:rPr sz="1600" b="1">
                <a:solidFill>
                  <a:srgbClr val="222222"/>
                </a:solidFill>
              </a:rPr>
              <a:t> </a:t>
            </a:r>
            <a:r>
              <a:rPr sz="1600" i="1">
                <a:solidFill>
                  <a:srgbClr val="222222"/>
                </a:solidFill>
              </a:rPr>
              <a:t>(bir seri bobin + iki paralel bobin, her biri 2H)</a:t>
            </a:r>
            <a:r>
              <a:rPr sz="1600" b="1">
                <a:solidFill>
                  <a:srgbClr val="222222"/>
                </a:solidFill>
              </a:rPr>
              <a:t> A ve B uçları arasındaki toplam bobin değeri nedir?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1.33 H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b)  3 H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3.5 H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6 H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İki paralel 2H bobinin eşdeğeri = 2/2=1H; bu, seri bağlı 2H'lik bobinle toplanır: 2+1=3H.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Bobin seri-paralel eşdeğer hesabı.</a:t>
            </a:r>
          </a:p>
        </p:txBody>
      </p:sp>
      <p:sp>
        <p:nvSpPr>
          <p:cNvPr id="80902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71</a:t>
            </a:r>
          </a:p>
        </p:txBody>
      </p:sp>
      <p:pic>
        <p:nvPicPr>
          <p:cNvPr id="8090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95413" y="1328738"/>
            <a:ext cx="3705225" cy="89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81923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72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Kapasitans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Üç farklı değerde kondansatör paralel bağlandığında toplam kapasite ne olur?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a)  En yüksek değerli kapasiteden daha büyük.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Üçünün aritmetiksel ortalaması.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En düşük değerli kapasiteden daha küçük.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En yüksek ve düşük kapasiteli kondansatörler arasında herhangi bir değer.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Paralel bağlı kondansatörlerde toplam kapasitans, tüm değerlerin toplamıdır; bu nedenle sonuç her zaman en büyük tekil değerden de büyük olur.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Kapasitans hesabı (paralel bağlantı).</a:t>
            </a:r>
          </a:p>
        </p:txBody>
      </p:sp>
      <p:sp>
        <p:nvSpPr>
          <p:cNvPr id="81926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72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06475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82947" name="TextBox 2"/>
          <p:cNvSpPr txBox="1">
            <a:spLocks noChangeArrowheads="1"/>
          </p:cNvSpPr>
          <p:nvPr/>
        </p:nvSpPr>
        <p:spPr bwMode="auto">
          <a:xfrm>
            <a:off x="457200" y="165100"/>
            <a:ext cx="11277600" cy="73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2400" b="1">
                <a:solidFill>
                  <a:srgbClr val="FFFFFF"/>
                </a:solidFill>
                <a:latin typeface="Calibri" pitchFamily="34" charset="0"/>
              </a:rPr>
              <a:t>BÖLÜM 7: Filtreler ve Modülasyon</a:t>
            </a:r>
          </a:p>
        </p:txBody>
      </p:sp>
      <p:sp>
        <p:nvSpPr>
          <p:cNvPr id="82948" name="TextBox 3"/>
          <p:cNvSpPr txBox="1">
            <a:spLocks noChangeArrowheads="1"/>
          </p:cNvSpPr>
          <p:nvPr/>
        </p:nvSpPr>
        <p:spPr bwMode="auto">
          <a:xfrm>
            <a:off x="639763" y="1371600"/>
            <a:ext cx="10912475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Aft>
                <a:spcPts val="1300"/>
              </a:spcAft>
            </a:pPr>
            <a:r>
              <a:rPr lang="tr-TR" sz="1700">
                <a:solidFill>
                  <a:srgbClr val="222222"/>
                </a:solidFill>
                <a:latin typeface="Calibri" pitchFamily="34" charset="0"/>
              </a:rPr>
              <a:t>•  Filtre devreleri </a:t>
            </a:r>
            <a:r>
              <a:rPr lang="tr-TR" sz="1700" i="1">
                <a:solidFill>
                  <a:srgbClr val="222222"/>
                </a:solidFill>
                <a:latin typeface="Calibri" pitchFamily="34" charset="0"/>
              </a:rPr>
              <a:t>(alçak/yüksek/bant geçiren)</a:t>
            </a:r>
            <a:r>
              <a:rPr lang="tr-TR" sz="1700">
                <a:solidFill>
                  <a:srgbClr val="222222"/>
                </a:solidFill>
                <a:latin typeface="Calibri" pitchFamily="34" charset="0"/>
              </a:rPr>
              <a:t> devre elemanlarının </a:t>
            </a:r>
            <a:r>
              <a:rPr lang="tr-TR" sz="1700" i="1">
                <a:solidFill>
                  <a:srgbClr val="222222"/>
                </a:solidFill>
                <a:latin typeface="Calibri" pitchFamily="34" charset="0"/>
              </a:rPr>
              <a:t>(L, C, R)</a:t>
            </a:r>
            <a:r>
              <a:rPr lang="tr-TR" sz="1700">
                <a:solidFill>
                  <a:srgbClr val="222222"/>
                </a:solidFill>
                <a:latin typeface="Calibri" pitchFamily="34" charset="0"/>
              </a:rPr>
              <a:t> diziliş şekline göre ayırt edilir.</a:t>
            </a:r>
          </a:p>
          <a:p>
            <a:pPr>
              <a:spcAft>
                <a:spcPts val="1300"/>
              </a:spcAft>
            </a:pPr>
            <a:r>
              <a:rPr lang="tr-TR" sz="1700">
                <a:solidFill>
                  <a:srgbClr val="222222"/>
                </a:solidFill>
                <a:latin typeface="Calibri" pitchFamily="34" charset="0"/>
              </a:rPr>
              <a:t>•  Modülasyon çeşitleri </a:t>
            </a:r>
            <a:r>
              <a:rPr lang="tr-TR" sz="1700" i="1">
                <a:solidFill>
                  <a:srgbClr val="222222"/>
                </a:solidFill>
                <a:latin typeface="Calibri" pitchFamily="34" charset="0"/>
              </a:rPr>
              <a:t>(genlik, frekans)</a:t>
            </a:r>
            <a:r>
              <a:rPr lang="tr-TR" sz="1700">
                <a:solidFill>
                  <a:srgbClr val="222222"/>
                </a:solidFill>
                <a:latin typeface="Calibri" pitchFamily="34" charset="0"/>
              </a:rPr>
              <a:t> taşıyıcı sinyalin hangi özelliğinin </a:t>
            </a:r>
            <a:r>
              <a:rPr lang="tr-TR" sz="1700" i="1">
                <a:solidFill>
                  <a:srgbClr val="222222"/>
                </a:solidFill>
                <a:latin typeface="Calibri" pitchFamily="34" charset="0"/>
              </a:rPr>
              <a:t>(genlik mi frekans mı)</a:t>
            </a:r>
            <a:r>
              <a:rPr lang="tr-TR" sz="1700">
                <a:solidFill>
                  <a:srgbClr val="222222"/>
                </a:solidFill>
                <a:latin typeface="Calibri" pitchFamily="34" charset="0"/>
              </a:rPr>
              <a:t> değiştirildiğine göre sınıflandırılır.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39763" y="5622925"/>
            <a:ext cx="10912475" cy="914400"/>
          </a:xfrm>
          <a:prstGeom prst="rect">
            <a:avLst/>
          </a:prstGeom>
          <a:solidFill>
            <a:srgbClr val="D6E4F0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73152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300" b="1">
                <a:solidFill>
                  <a:srgbClr val="1F3864"/>
                </a:solidFill>
              </a:rPr>
              <a:t>Bu bölümün kaynağı: </a:t>
            </a:r>
            <a:r>
              <a:rPr sz="1300">
                <a:solidFill>
                  <a:srgbClr val="222222"/>
                </a:solidFill>
              </a:rPr>
              <a:t>Filtre devresi tasarımı; genlik/frekans modülasyonu teorisi.</a:t>
            </a:r>
          </a:p>
        </p:txBody>
      </p:sp>
      <p:sp>
        <p:nvSpPr>
          <p:cNvPr id="82950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Bölüm 7 Girişi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83971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73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Filtre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lang="tr-TR" sz="1600" b="1" dirty="0">
                <a:solidFill>
                  <a:srgbClr val="222222"/>
                </a:solidFill>
              </a:rPr>
              <a:t>Aşağıdakilerden </a:t>
            </a:r>
            <a:r>
              <a:rPr sz="1600" b="1">
                <a:solidFill>
                  <a:srgbClr val="222222"/>
                </a:solidFill>
              </a:rPr>
              <a:t>hangisi yüksek geçirgen filtredir?</a:t>
            </a:r>
            <a:r>
              <a:rPr lang="tr-TR" sz="1600" b="1" dirty="0">
                <a:solidFill>
                  <a:srgbClr val="222222"/>
                </a:solidFill>
              </a:rPr>
              <a:t> </a:t>
            </a:r>
            <a:r>
              <a:rPr lang="tr-TR" sz="1600" i="1" dirty="0">
                <a:solidFill>
                  <a:srgbClr val="222222"/>
                </a:solidFill>
              </a:rPr>
              <a:t>(Şıklarda verilen dört farklı L-C-R devre şemasından)</a:t>
            </a:r>
            <a:endParaRPr sz="1600" i="1">
              <a:solidFill>
                <a:srgbClr val="222222"/>
              </a:solidFill>
            </a:endParaRP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Şema (a): seri R'ler + paralel C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b)  Şema (b): seri L'ler + paralel C (ortada)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Şema (c): paralel LC + seri R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Şema (d): seri R + paralel C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Yüksek geçiren filtrelerde seri kola kondansatör </a:t>
            </a:r>
            <a:r>
              <a:rPr sz="1250" i="1">
                <a:solidFill>
                  <a:srgbClr val="222222"/>
                </a:solidFill>
              </a:rPr>
              <a:t>(yüksek frekansı kolay geçirir)</a:t>
            </a:r>
            <a:r>
              <a:rPr sz="1250">
                <a:solidFill>
                  <a:srgbClr val="222222"/>
                </a:solidFill>
              </a:rPr>
              <a:t>, paralel/şönt kola bobin </a:t>
            </a:r>
            <a:r>
              <a:rPr sz="1250" i="1">
                <a:solidFill>
                  <a:srgbClr val="222222"/>
                </a:solidFill>
              </a:rPr>
              <a:t>(yüksek frekansı bloke eder)</a:t>
            </a:r>
            <a:r>
              <a:rPr sz="1250">
                <a:solidFill>
                  <a:srgbClr val="222222"/>
                </a:solidFill>
              </a:rPr>
              <a:t> konur; bu düzeni sağlayan şema </a:t>
            </a:r>
            <a:r>
              <a:rPr sz="1250" i="1">
                <a:solidFill>
                  <a:srgbClr val="222222"/>
                </a:solidFill>
              </a:rPr>
              <a:t>(b)</a:t>
            </a:r>
            <a:r>
              <a:rPr sz="1250">
                <a:solidFill>
                  <a:srgbClr val="222222"/>
                </a:solidFill>
              </a:rPr>
              <a:t>'dir.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Yüksek geçiren filtre (T-tipi) topolojisi.</a:t>
            </a:r>
          </a:p>
        </p:txBody>
      </p:sp>
      <p:sp>
        <p:nvSpPr>
          <p:cNvPr id="83974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73</a:t>
            </a:r>
          </a:p>
        </p:txBody>
      </p:sp>
      <p:pic>
        <p:nvPicPr>
          <p:cNvPr id="839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54050" y="1101725"/>
            <a:ext cx="5224463" cy="1273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84995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74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Faz Farkı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10 µF'lık iki kondansatör 10V, 1 kHz'lik bir besleme kaynağına paralel bağlanmıştır. Akım ve gerilim arasındaki faz farkı ne kadardır?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0 derece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45 derece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60 derece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d)  90 derece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İdeal </a:t>
            </a:r>
            <a:r>
              <a:rPr sz="1250" i="1">
                <a:solidFill>
                  <a:srgbClr val="222222"/>
                </a:solidFill>
              </a:rPr>
              <a:t>(saf)</a:t>
            </a:r>
            <a:r>
              <a:rPr sz="1250">
                <a:solidFill>
                  <a:srgbClr val="222222"/>
                </a:solidFill>
              </a:rPr>
              <a:t> bir kondansatörde akım her zaman gerilimden 90 derece öne </a:t>
            </a:r>
            <a:r>
              <a:rPr sz="1250" i="1">
                <a:solidFill>
                  <a:srgbClr val="222222"/>
                </a:solidFill>
              </a:rPr>
              <a:t>(ileri)</a:t>
            </a:r>
            <a:r>
              <a:rPr sz="1250">
                <a:solidFill>
                  <a:srgbClr val="222222"/>
                </a:solidFill>
              </a:rPr>
              <a:t> gider; bu, kondansatörlerin temel elektriksel özelliğidir.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Kondansatörde akım-gerilim faz ilişkisi.</a:t>
            </a:r>
          </a:p>
        </p:txBody>
      </p:sp>
      <p:sp>
        <p:nvSpPr>
          <p:cNvPr id="84998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74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86019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75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Filtre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endParaRPr lang="tr-TR" sz="1600" b="1" dirty="0">
              <a:solidFill>
                <a:srgbClr val="222222"/>
              </a:solidFill>
            </a:endParaRPr>
          </a:p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lang="tr-TR" sz="1600" b="1" dirty="0">
                <a:solidFill>
                  <a:srgbClr val="222222"/>
                </a:solidFill>
              </a:rPr>
              <a:t>Aşağıdakilerden hangi filtre </a:t>
            </a:r>
            <a:r>
              <a:rPr sz="1600" b="1">
                <a:solidFill>
                  <a:srgbClr val="222222"/>
                </a:solidFill>
              </a:rPr>
              <a:t>HF vericinin çıkışındaki harmonikleri minimuma indir</a:t>
            </a:r>
            <a:r>
              <a:rPr lang="tr-TR" sz="1600" b="1" dirty="0">
                <a:solidFill>
                  <a:srgbClr val="222222"/>
                </a:solidFill>
              </a:rPr>
              <a:t>ir?</a:t>
            </a:r>
            <a:r>
              <a:rPr sz="1600" b="1">
                <a:solidFill>
                  <a:srgbClr val="222222"/>
                </a:solidFill>
              </a:rPr>
              <a:t> </a:t>
            </a:r>
            <a:r>
              <a:rPr sz="1600" i="1">
                <a:solidFill>
                  <a:srgbClr val="222222"/>
                </a:solidFill>
              </a:rPr>
              <a:t>(30 MHz kesim noktalı grafiklerden)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Yükselen eğri (30MHz'e kadar geçirir, sonrasında da geçmeye devam eder)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b)  30 MHz'e kadar geçiren, sonrasını keskin şekilde kesen alçak geçiren karakteristik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30 MHz'den sonra yükselen (yüksek geçiren) karakteristik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Kademeli/dalgalı geçiren karakteristik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HF vericisinin </a:t>
            </a:r>
            <a:r>
              <a:rPr sz="1250" i="1">
                <a:solidFill>
                  <a:srgbClr val="222222"/>
                </a:solidFill>
              </a:rPr>
              <a:t>(30 MHz'e kadar)</a:t>
            </a:r>
            <a:r>
              <a:rPr sz="1250">
                <a:solidFill>
                  <a:srgbClr val="222222"/>
                </a:solidFill>
              </a:rPr>
              <a:t> istenen sinyalini geçirip, bunun ÜZERİNDEKİ harmonikleri keskin şekilde kesen bir ALÇAK GEÇİREN filtre karakteristiği gereklidir.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Verici çıkış alçak geçiren filtre tasarımı.</a:t>
            </a:r>
          </a:p>
        </p:txBody>
      </p:sp>
      <p:sp>
        <p:nvSpPr>
          <p:cNvPr id="86022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75</a:t>
            </a:r>
          </a:p>
        </p:txBody>
      </p:sp>
      <p:pic>
        <p:nvPicPr>
          <p:cNvPr id="8602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82650" y="993775"/>
            <a:ext cx="4821238" cy="1479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87043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76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Filtre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lang="tr-TR" sz="1600" b="1" dirty="0">
                <a:solidFill>
                  <a:srgbClr val="222222"/>
                </a:solidFill>
              </a:rPr>
              <a:t>Aşağıdaki devrelerden hangisi b</a:t>
            </a:r>
            <a:r>
              <a:rPr sz="1600" b="1">
                <a:solidFill>
                  <a:srgbClr val="222222"/>
                </a:solidFill>
              </a:rPr>
              <a:t>ir mikrofon devresinde bant genişliğini minimum yapmak için kullanılan </a:t>
            </a:r>
            <a:r>
              <a:rPr lang="tr-TR" sz="1600" b="1" dirty="0">
                <a:solidFill>
                  <a:srgbClr val="222222"/>
                </a:solidFill>
              </a:rPr>
              <a:t>bir </a:t>
            </a:r>
            <a:r>
              <a:rPr sz="1600" b="1">
                <a:solidFill>
                  <a:srgbClr val="222222"/>
                </a:solidFill>
              </a:rPr>
              <a:t>alçak geçiren filtre</a:t>
            </a:r>
            <a:r>
              <a:rPr lang="tr-TR" sz="1600" b="1" dirty="0" err="1">
                <a:solidFill>
                  <a:srgbClr val="222222"/>
                </a:solidFill>
              </a:rPr>
              <a:t>dir</a:t>
            </a:r>
            <a:r>
              <a:rPr lang="tr-TR" sz="1600" b="1" dirty="0">
                <a:solidFill>
                  <a:srgbClr val="222222"/>
                </a:solidFill>
              </a:rPr>
              <a:t>?</a:t>
            </a:r>
            <a:endParaRPr sz="1600" b="1">
              <a:solidFill>
                <a:srgbClr val="222222"/>
              </a:solidFill>
            </a:endParaRP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a)  Seri R + paralel iki C (T-tipi RC filtre)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Seri R + paralel iki L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Seri C + paralel iki L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Seri R + paralel bir L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Ses </a:t>
            </a:r>
            <a:r>
              <a:rPr sz="1250" i="1">
                <a:solidFill>
                  <a:srgbClr val="222222"/>
                </a:solidFill>
              </a:rPr>
              <a:t>(mikrofon)</a:t>
            </a:r>
            <a:r>
              <a:rPr sz="1250">
                <a:solidFill>
                  <a:srgbClr val="222222"/>
                </a:solidFill>
              </a:rPr>
              <a:t> sinyalinde yüksek frekans bileşenlerini </a:t>
            </a:r>
            <a:r>
              <a:rPr sz="1250" i="1">
                <a:solidFill>
                  <a:srgbClr val="222222"/>
                </a:solidFill>
              </a:rPr>
              <a:t>(gereksiz bant genişliğini)</a:t>
            </a:r>
            <a:r>
              <a:rPr sz="1250">
                <a:solidFill>
                  <a:srgbClr val="222222"/>
                </a:solidFill>
              </a:rPr>
              <a:t> kısmak için, seri dirence paralel kondansatörlerin eklendiği basit bir RC alçak geçiren filtre kullanılır.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Ses devresi alçak geçiren filtre tasarımı.</a:t>
            </a:r>
          </a:p>
        </p:txBody>
      </p:sp>
      <p:sp>
        <p:nvSpPr>
          <p:cNvPr id="87046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76</a:t>
            </a:r>
          </a:p>
        </p:txBody>
      </p:sp>
      <p:pic>
        <p:nvPicPr>
          <p:cNvPr id="87047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9138" y="1117600"/>
            <a:ext cx="5113337" cy="1277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88067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77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Yükselteç Devresi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endParaRPr lang="tr-TR" sz="1600" b="1" dirty="0">
              <a:solidFill>
                <a:srgbClr val="222222"/>
              </a:solidFill>
            </a:endParaRPr>
          </a:p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endParaRPr lang="tr-TR" sz="1600" b="1" dirty="0">
              <a:solidFill>
                <a:srgbClr val="222222"/>
              </a:solidFill>
            </a:endParaRPr>
          </a:p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endParaRPr lang="tr-TR" sz="1600" b="1" dirty="0">
              <a:solidFill>
                <a:srgbClr val="222222"/>
              </a:solidFill>
            </a:endParaRPr>
          </a:p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lang="tr-TR" sz="1600" b="1" dirty="0">
                <a:solidFill>
                  <a:srgbClr val="222222"/>
                </a:solidFill>
              </a:rPr>
              <a:t>Aşağıda bir amplifikatör devresi görülmektedir.</a:t>
            </a:r>
            <a:r>
              <a:rPr sz="1600" b="1">
                <a:solidFill>
                  <a:srgbClr val="222222"/>
                </a:solidFill>
              </a:rPr>
              <a:t> R2 ve C1 üzerinde</a:t>
            </a:r>
            <a:r>
              <a:rPr lang="tr-TR" sz="1600" b="1" dirty="0">
                <a:solidFill>
                  <a:srgbClr val="222222"/>
                </a:solidFill>
              </a:rPr>
              <a:t> akıp </a:t>
            </a:r>
            <a:r>
              <a:rPr sz="1600" b="1">
                <a:solidFill>
                  <a:srgbClr val="222222"/>
                </a:solidFill>
              </a:rPr>
              <a:t>D noktasına</a:t>
            </a:r>
            <a:r>
              <a:rPr lang="tr-TR" sz="1600" b="1" dirty="0">
                <a:solidFill>
                  <a:srgbClr val="222222"/>
                </a:solidFill>
              </a:rPr>
              <a:t> </a:t>
            </a:r>
            <a:r>
              <a:rPr sz="1600" b="1">
                <a:solidFill>
                  <a:srgbClr val="222222"/>
                </a:solidFill>
              </a:rPr>
              <a:t>ulaşan akım hangisidir?</a:t>
            </a:r>
            <a:r>
              <a:rPr lang="tr-TR" sz="1600" b="1" dirty="0">
                <a:solidFill>
                  <a:srgbClr val="222222"/>
                </a:solidFill>
              </a:rPr>
              <a:t> </a:t>
            </a:r>
            <a:r>
              <a:rPr lang="tr-TR" sz="1600" i="1" dirty="0">
                <a:solidFill>
                  <a:srgbClr val="222222"/>
                </a:solidFill>
              </a:rPr>
              <a:t>(İki kademeli bir amplifikatör devresinde ikinci </a:t>
            </a:r>
            <a:r>
              <a:rPr lang="tr-TR" sz="1600" i="1" dirty="0" err="1">
                <a:solidFill>
                  <a:srgbClr val="222222"/>
                </a:solidFill>
              </a:rPr>
              <a:t>transistöre</a:t>
            </a:r>
            <a:r>
              <a:rPr lang="tr-TR" sz="1600" i="1" dirty="0">
                <a:solidFill>
                  <a:srgbClr val="222222"/>
                </a:solidFill>
              </a:rPr>
              <a:t> ulaşan akım)</a:t>
            </a:r>
            <a:endParaRPr sz="1600" i="1">
              <a:solidFill>
                <a:srgbClr val="222222"/>
              </a:solidFill>
            </a:endParaRP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A transistörünün çıkış akımıdır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b)  Negatif geri besleme akımıdır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Yükseltecin giriş akımıdır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Pozitif geri besleme akımıdır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Çıkıştan </a:t>
            </a:r>
            <a:r>
              <a:rPr sz="1250" i="1">
                <a:solidFill>
                  <a:srgbClr val="222222"/>
                </a:solidFill>
              </a:rPr>
              <a:t>(A transistörü)</a:t>
            </a:r>
            <a:r>
              <a:rPr sz="1250">
                <a:solidFill>
                  <a:srgbClr val="222222"/>
                </a:solidFill>
              </a:rPr>
              <a:t> alınıp R2-C1 üzerinden girişe </a:t>
            </a:r>
            <a:r>
              <a:rPr sz="1250" i="1">
                <a:solidFill>
                  <a:srgbClr val="222222"/>
                </a:solidFill>
              </a:rPr>
              <a:t>(D, B transistörünün girişi)</a:t>
            </a:r>
            <a:r>
              <a:rPr sz="1250">
                <a:solidFill>
                  <a:srgbClr val="222222"/>
                </a:solidFill>
              </a:rPr>
              <a:t> geri gönderilen bu akım, kazancı sınırlayıp kararlılığı artıran bir NEGATİF geri besleme yoludur.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Çok kademeli yükselteçte geri besleme yolu.</a:t>
            </a:r>
          </a:p>
        </p:txBody>
      </p:sp>
      <p:sp>
        <p:nvSpPr>
          <p:cNvPr id="88070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77</a:t>
            </a:r>
          </a:p>
        </p:txBody>
      </p:sp>
      <p:pic>
        <p:nvPicPr>
          <p:cNvPr id="88071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06613" y="1020763"/>
            <a:ext cx="2274887" cy="1906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89091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78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Modülasyon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Aşağıdaki modülasyon çeşitlerinden hangisi genlik modülasyonu değildir?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Seri modülasyon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Transformatör modülasyonu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Şok modülasyonu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d)  Reaktans modülasyonu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Reaktans modülasyonu, taşıyıcının FREKANSINI değiştiren bir FM üretim tekniğidir; diğer üçü </a:t>
            </a:r>
            <a:r>
              <a:rPr sz="1250" i="1">
                <a:solidFill>
                  <a:srgbClr val="222222"/>
                </a:solidFill>
              </a:rPr>
              <a:t>(seri, transformatör, şok modülasyonu)</a:t>
            </a:r>
            <a:r>
              <a:rPr sz="1250">
                <a:solidFill>
                  <a:srgbClr val="222222"/>
                </a:solidFill>
              </a:rPr>
              <a:t> taşıyıcının GENLİĞİNİ değiştiren klasik AM üretim yöntemleridir.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AM/FM üretim teknikleri.</a:t>
            </a:r>
          </a:p>
        </p:txBody>
      </p:sp>
      <p:sp>
        <p:nvSpPr>
          <p:cNvPr id="89094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78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90115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79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Modülasyon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Şekilde</a:t>
            </a:r>
            <a:r>
              <a:rPr sz="1600" i="1">
                <a:solidFill>
                  <a:srgbClr val="222222"/>
                </a:solidFill>
              </a:rPr>
              <a:t> </a:t>
            </a:r>
            <a:r>
              <a:rPr lang="tr-TR" sz="1600" i="1" dirty="0">
                <a:solidFill>
                  <a:srgbClr val="222222"/>
                </a:solidFill>
              </a:rPr>
              <a:t>(</a:t>
            </a:r>
            <a:r>
              <a:rPr sz="1600" i="1">
                <a:solidFill>
                  <a:srgbClr val="222222"/>
                </a:solidFill>
              </a:rPr>
              <a:t>zarfı zaman zaman sıfıra inip aşırı genişleyen bir AM sinyali görülmektedir</a:t>
            </a:r>
            <a:r>
              <a:rPr lang="tr-TR" sz="1600" i="1" dirty="0">
                <a:solidFill>
                  <a:srgbClr val="222222"/>
                </a:solidFill>
              </a:rPr>
              <a:t>)</a:t>
            </a:r>
            <a:r>
              <a:rPr sz="1600" b="1">
                <a:solidFill>
                  <a:srgbClr val="222222"/>
                </a:solidFill>
              </a:rPr>
              <a:t> </a:t>
            </a:r>
            <a:r>
              <a:rPr lang="tr-TR" sz="1600" b="1" dirty="0">
                <a:solidFill>
                  <a:srgbClr val="222222"/>
                </a:solidFill>
              </a:rPr>
              <a:t>görülen </a:t>
            </a:r>
            <a:r>
              <a:rPr sz="1600" b="1">
                <a:solidFill>
                  <a:srgbClr val="222222"/>
                </a:solidFill>
              </a:rPr>
              <a:t>sinyal hakkında ne söylenebilir?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%100 modülelidir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%50 modülelidir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Modülasyon yüzdesi çok düşüktür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d)  Aşırı modüleli sinyaldir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Zarf şeklinin normal sınırların dışına taşarak bozulması </a:t>
            </a:r>
            <a:r>
              <a:rPr sz="1250" i="1">
                <a:solidFill>
                  <a:srgbClr val="222222"/>
                </a:solidFill>
              </a:rPr>
              <a:t>(kırpılma benzeri düzensizlik)</a:t>
            </a:r>
            <a:r>
              <a:rPr sz="1250">
                <a:solidFill>
                  <a:srgbClr val="222222"/>
                </a:solidFill>
              </a:rPr>
              <a:t>, modülasyon indeksinin %100'ü aştığı, yani AŞIRI modülasyon durumunu gösterir — bu istenmeyen bir bozulmadır.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AM aşırı modülasyon belirtileri.</a:t>
            </a:r>
          </a:p>
        </p:txBody>
      </p:sp>
      <p:sp>
        <p:nvSpPr>
          <p:cNvPr id="90118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79</a:t>
            </a:r>
          </a:p>
        </p:txBody>
      </p:sp>
      <p:pic>
        <p:nvPicPr>
          <p:cNvPr id="90119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87488" y="1089025"/>
            <a:ext cx="3529012" cy="1535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91139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80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Anten Boyu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Yarım dalga dipol antenin fiziki uzunluğu 81 m olduğuna göre vericinin yayın frekansı aşağıdakilerden hangisidir?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672 Khz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b)  1.8 Mhz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879 Khz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760 Khz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Yarım dalga anten boyu </a:t>
            </a:r>
            <a:r>
              <a:rPr sz="1250" i="1">
                <a:solidFill>
                  <a:srgbClr val="222222"/>
                </a:solidFill>
              </a:rPr>
              <a:t>(m)</a:t>
            </a:r>
            <a:r>
              <a:rPr sz="1250">
                <a:solidFill>
                  <a:srgbClr val="222222"/>
                </a:solidFill>
              </a:rPr>
              <a:t> ≈ 142.65/f</a:t>
            </a:r>
            <a:r>
              <a:rPr sz="1250" i="1">
                <a:solidFill>
                  <a:srgbClr val="222222"/>
                </a:solidFill>
              </a:rPr>
              <a:t>(MHz)</a:t>
            </a:r>
            <a:r>
              <a:rPr sz="1250">
                <a:solidFill>
                  <a:srgbClr val="222222"/>
                </a:solidFill>
              </a:rPr>
              <a:t> formülünden </a:t>
            </a:r>
            <a:r>
              <a:rPr sz="1250" i="1">
                <a:solidFill>
                  <a:srgbClr val="222222"/>
                </a:solidFill>
              </a:rPr>
              <a:t>(kısalma faktörü dahil)</a:t>
            </a:r>
            <a:r>
              <a:rPr sz="1250">
                <a:solidFill>
                  <a:srgbClr val="222222"/>
                </a:solidFill>
              </a:rPr>
              <a:t> f≈142.65/81≈1.76 MHz — seçeneklerin en yakını 1.8 MHz'dir.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Yarım/çeyrek dalga anten uzunluğu formülleri (λ=300/f).</a:t>
            </a:r>
          </a:p>
        </p:txBody>
      </p:sp>
      <p:sp>
        <p:nvSpPr>
          <p:cNvPr id="91142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80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92163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81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Detektör Devresi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endParaRPr lang="tr-TR" sz="1600" b="1" dirty="0">
              <a:solidFill>
                <a:srgbClr val="222222"/>
              </a:solidFill>
            </a:endParaRPr>
          </a:p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Şekildeki dedektör devresinin Eo çıkışında elde edilecek esas işaret üzerindeki dalgalanmayı önlemek için hangi elemanların seçimi çok önemlidir?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Cp kapasitesi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C kapasitesi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Cs kapasitesi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d)  C kapasitesi ve R direnci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Detektör çıkışındaki süzme </a:t>
            </a:r>
            <a:r>
              <a:rPr sz="1250" i="1">
                <a:solidFill>
                  <a:srgbClr val="222222"/>
                </a:solidFill>
              </a:rPr>
              <a:t>(dalgalanmayı düzleştirme)</a:t>
            </a:r>
            <a:r>
              <a:rPr sz="1250">
                <a:solidFill>
                  <a:srgbClr val="222222"/>
                </a:solidFill>
              </a:rPr>
              <a:t> kondansatör </a:t>
            </a:r>
            <a:r>
              <a:rPr sz="1250" i="1">
                <a:solidFill>
                  <a:srgbClr val="222222"/>
                </a:solidFill>
              </a:rPr>
              <a:t>(C)</a:t>
            </a:r>
            <a:r>
              <a:rPr sz="1250">
                <a:solidFill>
                  <a:srgbClr val="222222"/>
                </a:solidFill>
              </a:rPr>
              <a:t> ve paralel direncin </a:t>
            </a:r>
            <a:r>
              <a:rPr sz="1250" i="1">
                <a:solidFill>
                  <a:srgbClr val="222222"/>
                </a:solidFill>
              </a:rPr>
              <a:t>(R)</a:t>
            </a:r>
            <a:r>
              <a:rPr sz="1250">
                <a:solidFill>
                  <a:srgbClr val="222222"/>
                </a:solidFill>
              </a:rPr>
              <a:t> oluşturduğu zaman sabitine bağlıdır; bu ikisinin doğru seçimi çıkış sinyalinin temizliğini belirler.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AM detektör çıkış süzme (ripple) devresi.</a:t>
            </a:r>
          </a:p>
        </p:txBody>
      </p:sp>
      <p:sp>
        <p:nvSpPr>
          <p:cNvPr id="92166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81</a:t>
            </a:r>
          </a:p>
        </p:txBody>
      </p:sp>
      <p:pic>
        <p:nvPicPr>
          <p:cNvPr id="92167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20863" y="1030288"/>
            <a:ext cx="2759075" cy="168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06475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93187" name="TextBox 2"/>
          <p:cNvSpPr txBox="1">
            <a:spLocks noChangeArrowheads="1"/>
          </p:cNvSpPr>
          <p:nvPr/>
        </p:nvSpPr>
        <p:spPr bwMode="auto">
          <a:xfrm>
            <a:off x="457200" y="165100"/>
            <a:ext cx="11277600" cy="73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2400" b="1">
                <a:solidFill>
                  <a:srgbClr val="FFFFFF"/>
                </a:solidFill>
                <a:latin typeface="Calibri" pitchFamily="34" charset="0"/>
              </a:rPr>
              <a:t>BÖLÜM 8: Devre Analizi III, Anten ve Alıcı Hesapları</a:t>
            </a:r>
          </a:p>
        </p:txBody>
      </p:sp>
      <p:sp>
        <p:nvSpPr>
          <p:cNvPr id="93188" name="TextBox 3"/>
          <p:cNvSpPr txBox="1">
            <a:spLocks noChangeArrowheads="1"/>
          </p:cNvSpPr>
          <p:nvPr/>
        </p:nvSpPr>
        <p:spPr bwMode="auto">
          <a:xfrm>
            <a:off x="639763" y="1371600"/>
            <a:ext cx="10912475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Aft>
                <a:spcPts val="1300"/>
              </a:spcAft>
            </a:pPr>
            <a:r>
              <a:rPr lang="tr-TR" sz="1700">
                <a:solidFill>
                  <a:srgbClr val="222222"/>
                </a:solidFill>
                <a:latin typeface="Calibri" pitchFamily="34" charset="0"/>
              </a:rPr>
              <a:t>•  Diyot köprü devrelerinde, kaynağın anlık polaritesine göre hangi diyot çiftinin ilettiği değişir.</a:t>
            </a:r>
          </a:p>
          <a:p>
            <a:pPr>
              <a:spcAft>
                <a:spcPts val="1300"/>
              </a:spcAft>
            </a:pPr>
            <a:r>
              <a:rPr lang="tr-TR" sz="1700">
                <a:solidFill>
                  <a:srgbClr val="222222"/>
                </a:solidFill>
                <a:latin typeface="Calibri" pitchFamily="34" charset="0"/>
              </a:rPr>
              <a:t>•  Transformatörlerde akım, gerilimin tersine, sargı </a:t>
            </a:r>
            <a:r>
              <a:rPr lang="tr-TR" sz="1700" i="1">
                <a:solidFill>
                  <a:srgbClr val="222222"/>
                </a:solidFill>
                <a:latin typeface="Calibri" pitchFamily="34" charset="0"/>
              </a:rPr>
              <a:t>(tur)</a:t>
            </a:r>
            <a:r>
              <a:rPr lang="tr-TR" sz="1700">
                <a:solidFill>
                  <a:srgbClr val="222222"/>
                </a:solidFill>
                <a:latin typeface="Calibri" pitchFamily="34" charset="0"/>
              </a:rPr>
              <a:t> oranıyla ters orantılı değişir.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39763" y="5622925"/>
            <a:ext cx="10912475" cy="914400"/>
          </a:xfrm>
          <a:prstGeom prst="rect">
            <a:avLst/>
          </a:prstGeom>
          <a:solidFill>
            <a:srgbClr val="D6E4F0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73152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300" b="1">
                <a:solidFill>
                  <a:srgbClr val="1F3864"/>
                </a:solidFill>
              </a:rPr>
              <a:t>Bu bölümün kaynağı: </a:t>
            </a:r>
            <a:r>
              <a:rPr sz="1300">
                <a:solidFill>
                  <a:srgbClr val="222222"/>
                </a:solidFill>
              </a:rPr>
              <a:t>Ohm Kanunu (V=IR) ve temel devre analizi. Transformatör akım-gerilim ilişkisi; dalga hızı formülü (v=λ×f).</a:t>
            </a:r>
          </a:p>
        </p:txBody>
      </p:sp>
      <p:sp>
        <p:nvSpPr>
          <p:cNvPr id="93190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Bölüm 8 Girişi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94211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82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Doğrultucu Devresi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endParaRPr lang="tr-TR" sz="1600" b="1" dirty="0">
              <a:solidFill>
                <a:srgbClr val="222222"/>
              </a:solidFill>
            </a:endParaRPr>
          </a:p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Şekildeki devrede köprünün üst ucu (+) ise, ilk yarı dönüşte aşağıdakilerden hangisi doğrudur? </a:t>
            </a:r>
            <a:r>
              <a:rPr sz="1600" i="1">
                <a:solidFill>
                  <a:srgbClr val="222222"/>
                </a:solidFill>
              </a:rPr>
              <a:t>(D1,D2,D3,D4 diyot köprüsü)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D3 ve D4 iletimdedir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b)  D2 ve D3 iletimdedir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D1 ve D3 iletimdedir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Her dönüşte RL üzerindeki akımın yönü değişir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Köprü doğrultucuda, kaynağın üst ucu </a:t>
            </a:r>
            <a:r>
              <a:rPr sz="1250" i="1">
                <a:solidFill>
                  <a:srgbClr val="222222"/>
                </a:solidFill>
              </a:rPr>
              <a:t>(+)</a:t>
            </a:r>
            <a:r>
              <a:rPr sz="1250">
                <a:solidFill>
                  <a:srgbClr val="222222"/>
                </a:solidFill>
              </a:rPr>
              <a:t> olduğu yarı döngüde akım bu uçtan girip karşı köşegendeki diyot çiftinden </a:t>
            </a:r>
            <a:r>
              <a:rPr sz="1250" i="1">
                <a:solidFill>
                  <a:srgbClr val="222222"/>
                </a:solidFill>
              </a:rPr>
              <a:t>(D2 ve D3)</a:t>
            </a:r>
            <a:r>
              <a:rPr sz="1250">
                <a:solidFill>
                  <a:srgbClr val="222222"/>
                </a:solidFill>
              </a:rPr>
              <a:t> geçerek yükten akar; alt yarı döngüde ise D1-D4 çifti iletime geçer — RL üzerindeki akım yönü HER İKİ yarı döngüde de AYNI kalır </a:t>
            </a:r>
            <a:r>
              <a:rPr sz="1250" i="1">
                <a:solidFill>
                  <a:srgbClr val="222222"/>
                </a:solidFill>
              </a:rPr>
              <a:t>(bu, köprü doğrultucunun temel işlevidir)</a:t>
            </a:r>
            <a:r>
              <a:rPr sz="1250">
                <a:solidFill>
                  <a:srgbClr val="222222"/>
                </a:solidFill>
              </a:rPr>
              <a:t>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Köprü (tam dalga) doğrultucu çalışma prensibi.</a:t>
            </a:r>
          </a:p>
        </p:txBody>
      </p:sp>
      <p:sp>
        <p:nvSpPr>
          <p:cNvPr id="94214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82</a:t>
            </a:r>
          </a:p>
        </p:txBody>
      </p:sp>
      <p:pic>
        <p:nvPicPr>
          <p:cNvPr id="9421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47863" y="1068388"/>
            <a:ext cx="2727325" cy="163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95235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83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Transformatör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Yukarıdaki devrede V2 voltajının değeri nedir? (I</a:t>
            </a:r>
            <a:r>
              <a:rPr sz="1600" b="1" baseline="-25000">
                <a:solidFill>
                  <a:srgbClr val="222222"/>
                </a:solidFill>
              </a:rPr>
              <a:t>1</a:t>
            </a:r>
            <a:r>
              <a:rPr sz="1600" b="1">
                <a:solidFill>
                  <a:srgbClr val="222222"/>
                </a:solidFill>
              </a:rPr>
              <a:t>=5A, R=50Ω, n</a:t>
            </a:r>
            <a:r>
              <a:rPr sz="1600" b="1" baseline="-25000">
                <a:solidFill>
                  <a:srgbClr val="222222"/>
                </a:solidFill>
              </a:rPr>
              <a:t>2</a:t>
            </a:r>
            <a:r>
              <a:rPr sz="1600" b="1">
                <a:solidFill>
                  <a:srgbClr val="222222"/>
                </a:solidFill>
              </a:rPr>
              <a:t>/n</a:t>
            </a:r>
            <a:r>
              <a:rPr sz="1600" b="1" baseline="-25000">
                <a:solidFill>
                  <a:srgbClr val="222222"/>
                </a:solidFill>
              </a:rPr>
              <a:t>1</a:t>
            </a:r>
            <a:r>
              <a:rPr sz="1600" b="1">
                <a:solidFill>
                  <a:srgbClr val="222222"/>
                </a:solidFill>
              </a:rPr>
              <a:t>=10</a:t>
            </a:r>
            <a:r>
              <a:rPr lang="tr-TR" sz="1600" b="1" dirty="0">
                <a:solidFill>
                  <a:srgbClr val="222222"/>
                </a:solidFill>
              </a:rPr>
              <a:t>) </a:t>
            </a:r>
            <a:r>
              <a:rPr lang="tr-TR" sz="1600" i="1" dirty="0">
                <a:solidFill>
                  <a:srgbClr val="222222"/>
                </a:solidFill>
              </a:rPr>
              <a:t>(</a:t>
            </a:r>
            <a:r>
              <a:rPr sz="1600" i="1">
                <a:solidFill>
                  <a:srgbClr val="222222"/>
                </a:solidFill>
              </a:rPr>
              <a:t>transformatör devresi)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100 V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50 V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c)  25 V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12,5 V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Transformatörde akım, sargı oranıyla TERS orantılı değişir: I2=I1/</a:t>
            </a:r>
            <a:r>
              <a:rPr sz="1250" i="1">
                <a:solidFill>
                  <a:srgbClr val="222222"/>
                </a:solidFill>
              </a:rPr>
              <a:t>(n2/n1)</a:t>
            </a:r>
            <a:r>
              <a:rPr sz="1250">
                <a:solidFill>
                  <a:srgbClr val="222222"/>
                </a:solidFill>
              </a:rPr>
              <a:t>=5/10=0.5A. V2=I2×R=0.5×50=25V.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Transformatör akım-gerilim ilişkisi (bağımsız doğrulanmış).</a:t>
            </a:r>
          </a:p>
        </p:txBody>
      </p:sp>
      <p:sp>
        <p:nvSpPr>
          <p:cNvPr id="95238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83</a:t>
            </a:r>
          </a:p>
        </p:txBody>
      </p:sp>
      <p:pic>
        <p:nvPicPr>
          <p:cNvPr id="95239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36763" y="1144588"/>
            <a:ext cx="2479675" cy="1450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96259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84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Dalga Hızı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Şekildeki dalga sisteminde A ve B noktaları arasındaki uzaklık 6 metredir. C noktasından dakikada 7800 dalga geçtiğine göre dalganın yayılma hızı nedir?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a)  780 m/s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130 m/s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1300 m/s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468 m/s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A-B arası 6m bir dalga boyuna </a:t>
            </a:r>
            <a:r>
              <a:rPr sz="1250" i="1">
                <a:solidFill>
                  <a:srgbClr val="222222"/>
                </a:solidFill>
              </a:rPr>
              <a:t>(λ)</a:t>
            </a:r>
            <a:r>
              <a:rPr sz="1250">
                <a:solidFill>
                  <a:srgbClr val="222222"/>
                </a:solidFill>
              </a:rPr>
              <a:t> karşılık gelir. Frekans f=7800/60=130 dalga/saniye. Hız v=λ×f=6×130=780 m/s.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Dalga hızı formülü (v=λ×f, bağımsız doğrulanmış).</a:t>
            </a:r>
          </a:p>
        </p:txBody>
      </p:sp>
      <p:sp>
        <p:nvSpPr>
          <p:cNvPr id="96262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84</a:t>
            </a:r>
          </a:p>
        </p:txBody>
      </p:sp>
      <p:pic>
        <p:nvPicPr>
          <p:cNvPr id="9626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87513" y="1046163"/>
            <a:ext cx="3163887" cy="155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97283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85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Kondansatör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Bir kondansatörün değeri yalıtkan maddenin dielektrik sabiti ile hesaplanır. Mikanın dielektrik sabiti 6, kâğıdın ise 2'dir. Mika ve kâğıt dielektrikli kondansatörler hangi değerler bölgesinde kullanılır?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0.001 - 1 F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0.001 - 1 µF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0.001 - 1 pF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d)  0.001 - 1 nF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Mika ve kâğıt dielektrikli kondansatörler, tipik olarak küçük-orta değer aralığında </a:t>
            </a:r>
            <a:r>
              <a:rPr sz="1250" i="1">
                <a:solidFill>
                  <a:srgbClr val="222222"/>
                </a:solidFill>
              </a:rPr>
              <a:t>(nanofarad — nF, mikrofaradın binde biri)</a:t>
            </a:r>
            <a:r>
              <a:rPr sz="1250">
                <a:solidFill>
                  <a:srgbClr val="222222"/>
                </a:solidFill>
              </a:rPr>
              <a:t> üretilir; çok büyük değerler </a:t>
            </a:r>
            <a:r>
              <a:rPr sz="1250" i="1">
                <a:solidFill>
                  <a:srgbClr val="222222"/>
                </a:solidFill>
              </a:rPr>
              <a:t>(µF, F)</a:t>
            </a:r>
            <a:r>
              <a:rPr sz="1250">
                <a:solidFill>
                  <a:srgbClr val="222222"/>
                </a:solidFill>
              </a:rPr>
              <a:t> için elektrolitik kondansatörler kullanılır.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Kondansatör dielektrik malzeme-değer aralığı ilişkisi.</a:t>
            </a:r>
          </a:p>
        </p:txBody>
      </p:sp>
      <p:sp>
        <p:nvSpPr>
          <p:cNvPr id="97286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85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98307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86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Frekans Katlama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5 kHz'lik bir giriş verilen frekans çoğaltıcıdan 60 kHz'lik bir çıkış istenirse, aşağıdaki katlardan hangisine ihtiyaç duyulur?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a)  2 frekans ikileyici ve 1 üçleyici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2 frekans dörtleyici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1 frekans dörtleyici ve 1 ikileyici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1 frekans dörtleyici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60/5=12 katı gerekli. 12=2×2×3 olduğundan, iki frekans ikileyici </a:t>
            </a:r>
            <a:r>
              <a:rPr sz="1250" i="1">
                <a:solidFill>
                  <a:srgbClr val="222222"/>
                </a:solidFill>
              </a:rPr>
              <a:t>(×2, ×2)</a:t>
            </a:r>
            <a:r>
              <a:rPr sz="1250">
                <a:solidFill>
                  <a:srgbClr val="222222"/>
                </a:solidFill>
              </a:rPr>
              <a:t> ve bir üçleyici </a:t>
            </a:r>
            <a:r>
              <a:rPr sz="1250" i="1">
                <a:solidFill>
                  <a:srgbClr val="222222"/>
                </a:solidFill>
              </a:rPr>
              <a:t>(×3)</a:t>
            </a:r>
            <a:r>
              <a:rPr sz="1250">
                <a:solidFill>
                  <a:srgbClr val="222222"/>
                </a:solidFill>
              </a:rPr>
              <a:t> art arda bağlanarak bu çarpım sağlanır.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Frekans çoğaltma (multiplication) devreleri.</a:t>
            </a:r>
          </a:p>
        </p:txBody>
      </p:sp>
      <p:sp>
        <p:nvSpPr>
          <p:cNvPr id="98310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86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99331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87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İyonosfer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İyonosferde, yaz aylarında en düşük iyonizasyon derecesine sahip tabaka aşağıdakilerden hangisidir?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F2 tabakası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F1 tabakası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E tabakası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d)  D tabakası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D tabakası </a:t>
            </a:r>
            <a:r>
              <a:rPr sz="1250" i="1">
                <a:solidFill>
                  <a:srgbClr val="222222"/>
                </a:solidFill>
              </a:rPr>
              <a:t>(iyonosferin en alt, güneşle en zayıf iyonize olan katmanı)</a:t>
            </a:r>
            <a:r>
              <a:rPr sz="1250">
                <a:solidFill>
                  <a:srgbClr val="222222"/>
                </a:solidFill>
              </a:rPr>
              <a:t>, gündüz oluşur ve HF sinyallerini soğurma etkisi gösterir; genel olarak diğer katmanlara göre en zayıf/düşük iyonizasyona sahiptir.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İyonosfer katman yapısı (D, E, F1, F2).</a:t>
            </a:r>
          </a:p>
        </p:txBody>
      </p:sp>
      <p:sp>
        <p:nvSpPr>
          <p:cNvPr id="99334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87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00355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88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Köprü Devresi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endParaRPr lang="tr-TR" sz="1600" b="1" dirty="0">
              <a:solidFill>
                <a:srgbClr val="222222"/>
              </a:solidFill>
            </a:endParaRPr>
          </a:p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Şekildeki devrede r ve R bilinmeyen dirençlerdir </a:t>
            </a:r>
            <a:r>
              <a:rPr sz="1600" i="1">
                <a:solidFill>
                  <a:srgbClr val="222222"/>
                </a:solidFill>
              </a:rPr>
              <a:t>(2ohm/4ohm/1ohm/8ohm bilinen kollar, 10V kaynak)</a:t>
            </a:r>
            <a:r>
              <a:rPr sz="1600" b="1">
                <a:solidFill>
                  <a:srgbClr val="222222"/>
                </a:solidFill>
              </a:rPr>
              <a:t>. A ampermetresinin sıfır göstermesi için R'nin değeri ne olmalıdır?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3 ohm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b)  32 ohm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6 ohm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2,5 ohm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Bu, bir Wheatstone köprüsü dengeleme problemidir </a:t>
            </a:r>
            <a:r>
              <a:rPr sz="1250" i="1">
                <a:solidFill>
                  <a:srgbClr val="222222"/>
                </a:solidFill>
              </a:rPr>
              <a:t>(köprünün dengelendiğinde karşılıklı kollardaki direnç oranlarının eşit olması ilkesine dayanır)</a:t>
            </a:r>
            <a:r>
              <a:rPr sz="1250">
                <a:solidFill>
                  <a:srgbClr val="222222"/>
                </a:solidFill>
              </a:rPr>
              <a:t>; resmi cevap anahtarına göre R=32 ohm.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Wheatstone köprüsü denge koşulu.</a:t>
            </a:r>
          </a:p>
        </p:txBody>
      </p:sp>
      <p:sp>
        <p:nvSpPr>
          <p:cNvPr id="100358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88</a:t>
            </a:r>
          </a:p>
        </p:txBody>
      </p:sp>
      <p:pic>
        <p:nvPicPr>
          <p:cNvPr id="100359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31988" y="1028700"/>
            <a:ext cx="2633662" cy="160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01379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89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Kondansatör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Şekildeki devrede C1/C2=1/2 ve C</a:t>
            </a:r>
            <a:r>
              <a:rPr sz="1600" b="1" baseline="-25000">
                <a:solidFill>
                  <a:srgbClr val="222222"/>
                </a:solidFill>
              </a:rPr>
              <a:t>eş</a:t>
            </a:r>
            <a:r>
              <a:rPr sz="1600" b="1">
                <a:solidFill>
                  <a:srgbClr val="222222"/>
                </a:solidFill>
              </a:rPr>
              <a:t>=9/10 µF olduğuna göre, C1 ve C2'yi bulunuz. </a:t>
            </a:r>
            <a:r>
              <a:rPr sz="1600" i="1">
                <a:solidFill>
                  <a:srgbClr val="222222"/>
                </a:solidFill>
              </a:rPr>
              <a:t>(İki 2µF kondansatöre paralel, C1-C2 seri kolu)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4 ve 8 µF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b)  3 ve 6 µF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1 ve 2 µF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6 ve 12 µF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Verilen oran </a:t>
            </a:r>
            <a:r>
              <a:rPr sz="1250" i="1">
                <a:solidFill>
                  <a:srgbClr val="222222"/>
                </a:solidFill>
              </a:rPr>
              <a:t>(C1/C2=1/2)</a:t>
            </a:r>
            <a:r>
              <a:rPr sz="1250">
                <a:solidFill>
                  <a:srgbClr val="222222"/>
                </a:solidFill>
              </a:rPr>
              <a:t> ve eşdeğer kapasitans denklemleri birlikte çözüldüğünde, resmi cevap anahtarına göre C1=3 µF ve C2=6 µF bulunur.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Kondansatör seri-paralel eşdeğer denklem çözümü.</a:t>
            </a:r>
          </a:p>
        </p:txBody>
      </p:sp>
      <p:sp>
        <p:nvSpPr>
          <p:cNvPr id="101382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89</a:t>
            </a:r>
          </a:p>
        </p:txBody>
      </p:sp>
      <p:pic>
        <p:nvPicPr>
          <p:cNvPr id="10138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76425" y="1074738"/>
            <a:ext cx="2765425" cy="1460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02403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90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Güç Hesabı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Şekilde görülen değişken direncin (R) değeri kaça ayarlanmalıdır ki 5 ohm'luk dirençteki güç 20 Watt olsun? </a:t>
            </a:r>
            <a:r>
              <a:rPr sz="1600" i="1">
                <a:solidFill>
                  <a:srgbClr val="222222"/>
                </a:solidFill>
              </a:rPr>
              <a:t>(5 ohm||20 ohm, seri R, 50V)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a)  16 ohm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10 ohm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20 ohm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32 ohm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P=I²R formülünden 5 ohm'daki akım I=√</a:t>
            </a:r>
            <a:r>
              <a:rPr sz="1250" i="1">
                <a:solidFill>
                  <a:srgbClr val="222222"/>
                </a:solidFill>
              </a:rPr>
              <a:t>(20/5)</a:t>
            </a:r>
            <a:r>
              <a:rPr sz="1250">
                <a:solidFill>
                  <a:srgbClr val="222222"/>
                </a:solidFill>
              </a:rPr>
              <a:t>=2A bulunur; bu akımdan 5||20 kombinasyonu üzerindeki gerilim ve toplam akım hesaplanıp, kalan gerilim düşümünden R=16 ohm elde edilir </a:t>
            </a:r>
            <a:r>
              <a:rPr sz="1250" i="1">
                <a:solidFill>
                  <a:srgbClr val="222222"/>
                </a:solidFill>
              </a:rPr>
              <a:t>(doğrulanmış hesap)</a:t>
            </a:r>
            <a:r>
              <a:rPr sz="1250">
                <a:solidFill>
                  <a:srgbClr val="222222"/>
                </a:solidFill>
              </a:rPr>
              <a:t>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Paralel direnç güç dağılımı ve Ohm Kanunu (bağımsız doğrulanmış).</a:t>
            </a:r>
          </a:p>
        </p:txBody>
      </p:sp>
      <p:sp>
        <p:nvSpPr>
          <p:cNvPr id="102406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90</a:t>
            </a:r>
          </a:p>
        </p:txBody>
      </p:sp>
      <p:pic>
        <p:nvPicPr>
          <p:cNvPr id="102407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79650" y="1073150"/>
            <a:ext cx="2014538" cy="1487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03427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91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Anten Tipleri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Hangi tip antenler dörtlü, kısa dalga ve çanaktır?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1985'ten sonra icat edilen antenler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Döngü antenler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c)  Yönlü veya yönlendirilmiş antenler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Amatör telsiz istasyonları için izin verilmeyen antenler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QUAD </a:t>
            </a:r>
            <a:r>
              <a:rPr sz="1250" i="1">
                <a:solidFill>
                  <a:srgbClr val="222222"/>
                </a:solidFill>
              </a:rPr>
              <a:t>(dörtlü kare)</a:t>
            </a:r>
            <a:r>
              <a:rPr sz="1250">
                <a:solidFill>
                  <a:srgbClr val="222222"/>
                </a:solidFill>
              </a:rPr>
              <a:t>, Yagi </a:t>
            </a:r>
            <a:r>
              <a:rPr sz="1250" i="1">
                <a:solidFill>
                  <a:srgbClr val="222222"/>
                </a:solidFill>
              </a:rPr>
              <a:t>(kısa dalga çok elemanlı)</a:t>
            </a:r>
            <a:r>
              <a:rPr sz="1250">
                <a:solidFill>
                  <a:srgbClr val="222222"/>
                </a:solidFill>
              </a:rPr>
              <a:t> ve çanak </a:t>
            </a:r>
            <a:r>
              <a:rPr sz="1250" i="1">
                <a:solidFill>
                  <a:srgbClr val="222222"/>
                </a:solidFill>
              </a:rPr>
              <a:t>(parabolik)</a:t>
            </a:r>
            <a:r>
              <a:rPr sz="1250">
                <a:solidFill>
                  <a:srgbClr val="222222"/>
                </a:solidFill>
              </a:rPr>
              <a:t> antenler, hepsi sinyali belirli bir yöne odaklayan YÖNLÜ anten kategorisine girer.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Anten sınıflandırması (yönlü antenler).</a:t>
            </a:r>
          </a:p>
        </p:txBody>
      </p:sp>
      <p:sp>
        <p:nvSpPr>
          <p:cNvPr id="103430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91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04451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92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Anten Boyu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VHF II bandında (88-108 MHz) yayın yapabilmek veya dinlemek için kullanılacak bir dipol antenin fiziki uzunluğu nedir? (f=98 MHz alınız)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a)  145,4 cm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160,9 cm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170,9 cm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106,9 cm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Yarım dalga dipol boyu </a:t>
            </a:r>
            <a:r>
              <a:rPr sz="1250" i="1">
                <a:solidFill>
                  <a:srgbClr val="222222"/>
                </a:solidFill>
              </a:rPr>
              <a:t>(m)</a:t>
            </a:r>
            <a:r>
              <a:rPr sz="1250">
                <a:solidFill>
                  <a:srgbClr val="222222"/>
                </a:solidFill>
              </a:rPr>
              <a:t> ≈ 142.65/f</a:t>
            </a:r>
            <a:r>
              <a:rPr sz="1250" i="1">
                <a:solidFill>
                  <a:srgbClr val="222222"/>
                </a:solidFill>
              </a:rPr>
              <a:t>(MHz)</a:t>
            </a:r>
            <a:r>
              <a:rPr sz="1250">
                <a:solidFill>
                  <a:srgbClr val="222222"/>
                </a:solidFill>
              </a:rPr>
              <a:t> = 142.65/98 ≈ 1.456 m = 145.6 cm </a:t>
            </a:r>
            <a:r>
              <a:rPr sz="1250" i="1">
                <a:solidFill>
                  <a:srgbClr val="222222"/>
                </a:solidFill>
              </a:rPr>
              <a:t>(yaklaşık 145,4 cm ile aynı sonuca yakın)</a:t>
            </a:r>
            <a:r>
              <a:rPr sz="1250">
                <a:solidFill>
                  <a:srgbClr val="222222"/>
                </a:solidFill>
              </a:rPr>
              <a:t>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Yarım/çeyrek dalga anten uzunluğu formülleri (λ=300/f).</a:t>
            </a:r>
          </a:p>
        </p:txBody>
      </p:sp>
      <p:sp>
        <p:nvSpPr>
          <p:cNvPr id="104454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92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05475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93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Yan Bant Hesabı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Taşıyıcı frekansı 7 MHz olan bir AM istasyon yayınında ses frekansının 7 kHz olması durumunda, yan bant frekanslarının değerleri nedir?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7207 – 7193 Khz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7707 – 7693 Khz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7507 – 7493 Khz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d)  7007 – 6993 Khz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Yan bantlar, taşıyıcı ± ses frekansında oluşur: 7000+7=7007 kHz </a:t>
            </a:r>
            <a:r>
              <a:rPr sz="1250" i="1">
                <a:solidFill>
                  <a:srgbClr val="222222"/>
                </a:solidFill>
              </a:rPr>
              <a:t>(üst yan bant)</a:t>
            </a:r>
            <a:r>
              <a:rPr sz="1250">
                <a:solidFill>
                  <a:srgbClr val="222222"/>
                </a:solidFill>
              </a:rPr>
              <a:t> ve 7000-7=6993 kHz </a:t>
            </a:r>
            <a:r>
              <a:rPr sz="1250" i="1">
                <a:solidFill>
                  <a:srgbClr val="222222"/>
                </a:solidFill>
              </a:rPr>
              <a:t>(alt yan bant)</a:t>
            </a:r>
            <a:r>
              <a:rPr sz="1250">
                <a:solidFill>
                  <a:srgbClr val="222222"/>
                </a:solidFill>
              </a:rPr>
              <a:t>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AM yan bant (sideband) hesabı.</a:t>
            </a:r>
          </a:p>
        </p:txBody>
      </p:sp>
      <p:sp>
        <p:nvSpPr>
          <p:cNvPr id="105478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93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06499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94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Alıcı Devresi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3000 kHz üzerinden yayın yapan bir istasyon, ara frekansı 350 kHz olan bir alıcıda hayal olarak duyulmaktadır. Dinlenmesi istenen istasyonunun frekansı aşağıdakilerden hangisidir?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3450 Khz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3700 Khz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c)  2300 Khz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3350 Khz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Hayal frekansı ile dinlenen frekans arasındaki fark 2×IF'dir </a:t>
            </a:r>
            <a:r>
              <a:rPr sz="1250" i="1">
                <a:solidFill>
                  <a:srgbClr val="222222"/>
                </a:solidFill>
              </a:rPr>
              <a:t>(2×350=700 kHz)</a:t>
            </a:r>
            <a:r>
              <a:rPr sz="1250">
                <a:solidFill>
                  <a:srgbClr val="222222"/>
                </a:solidFill>
              </a:rPr>
              <a:t>. Hayal frekans 3000 kHz olduğuna göre, dinlenmek istenen gerçek frekans 3000-700=2300 kHz'dir.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Süperheterodin alıcı hayal frekansı ilişkisi (2×IF farkı).</a:t>
            </a:r>
          </a:p>
        </p:txBody>
      </p:sp>
      <p:sp>
        <p:nvSpPr>
          <p:cNvPr id="106502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94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07523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95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Alıcı Devresi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Bir telsiz alıcısının seçiciliği: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Ayarlandığı frekansın dışındaki frekanslarda alış kabiliyetidir.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b)  Ayarlandığı frekansın dışındaki frekansları almama kabiliyetidir.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Isıya karşı duyarlılığıdır.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Çarpmaya karşı duyarlılığıdır.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Seçicilik </a:t>
            </a:r>
            <a:r>
              <a:rPr sz="1250" i="1">
                <a:solidFill>
                  <a:srgbClr val="222222"/>
                </a:solidFill>
              </a:rPr>
              <a:t>(selectivity)</a:t>
            </a:r>
            <a:r>
              <a:rPr sz="1250">
                <a:solidFill>
                  <a:srgbClr val="222222"/>
                </a:solidFill>
              </a:rPr>
              <a:t>, bir alıcının istenen frekansı ayırıp, yakın komşu frekanslardaki istenmeyen sinyalleri REDDETME </a:t>
            </a:r>
            <a:r>
              <a:rPr sz="1250" i="1">
                <a:solidFill>
                  <a:srgbClr val="222222"/>
                </a:solidFill>
              </a:rPr>
              <a:t>(almama)</a:t>
            </a:r>
            <a:r>
              <a:rPr sz="1250">
                <a:solidFill>
                  <a:srgbClr val="222222"/>
                </a:solidFill>
              </a:rPr>
              <a:t> yeteneğidir.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Alıcı performans parametreleri (seçicilik).</a:t>
            </a:r>
          </a:p>
        </p:txBody>
      </p:sp>
      <p:sp>
        <p:nvSpPr>
          <p:cNvPr id="107526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95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08547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96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Verici Devresi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SSB verici blok şemasında </a:t>
            </a:r>
            <a:r>
              <a:rPr sz="1600" i="1">
                <a:solidFill>
                  <a:srgbClr val="222222"/>
                </a:solidFill>
              </a:rPr>
              <a:t>(OSC → X → ... → VFO ile devam eden zincirde) </a:t>
            </a:r>
            <a:r>
              <a:rPr sz="1600" b="1">
                <a:solidFill>
                  <a:srgbClr val="222222"/>
                </a:solidFill>
              </a:rPr>
              <a:t>X ile işaretli kat aşağıdakilerden hangisidir?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a)  Dengeli modülatör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Kenar band filitre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Taşıyıcı dalga osilatörü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Konvertör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SSB üretim zincirinde, taşıyıcı osilatör </a:t>
            </a:r>
            <a:r>
              <a:rPr sz="1250" i="1">
                <a:solidFill>
                  <a:srgbClr val="222222"/>
                </a:solidFill>
              </a:rPr>
              <a:t>(OSC)</a:t>
            </a:r>
            <a:r>
              <a:rPr sz="1250">
                <a:solidFill>
                  <a:srgbClr val="222222"/>
                </a:solidFill>
              </a:rPr>
              <a:t> sinyali ile ses sinyalinin birleştiği ilk kat, taşıyıcıyı bastırıp yan bantları üreten dengeli modülatördür.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SSB verici blok yapısı.</a:t>
            </a:r>
          </a:p>
        </p:txBody>
      </p:sp>
      <p:sp>
        <p:nvSpPr>
          <p:cNvPr id="108550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96</a:t>
            </a:r>
          </a:p>
        </p:txBody>
      </p:sp>
      <p:pic>
        <p:nvPicPr>
          <p:cNvPr id="108551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54100" y="1282700"/>
            <a:ext cx="4418013" cy="1103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09571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97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Rezonans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Bir paralel rezonans devresinde rezonans halinde devreden geçen toplam akım: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a)  Minimum'dur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Maksimum'dur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Endüktif'tir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Kapasitif'tir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Paralel rezonans devresinde </a:t>
            </a:r>
            <a:r>
              <a:rPr sz="1250" i="1">
                <a:solidFill>
                  <a:srgbClr val="222222"/>
                </a:solidFill>
              </a:rPr>
              <a:t>(empedansın frekansa göre grafiği tepe noktası gösterir)</a:t>
            </a:r>
            <a:r>
              <a:rPr sz="1250">
                <a:solidFill>
                  <a:srgbClr val="222222"/>
                </a:solidFill>
              </a:rPr>
              <a:t>, rezonans noktasında empedans MAKSİMUM olduğundan, kaynaktan çekilen toplam akım MİNİMUM olur.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Paralel rezonans devresi davranışı.</a:t>
            </a:r>
          </a:p>
        </p:txBody>
      </p:sp>
      <p:sp>
        <p:nvSpPr>
          <p:cNvPr id="109574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97</a:t>
            </a:r>
          </a:p>
        </p:txBody>
      </p:sp>
      <p:pic>
        <p:nvPicPr>
          <p:cNvPr id="10957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36750" y="1038225"/>
            <a:ext cx="2713038" cy="168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10595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98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Güç Hesabı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50 Ohm'luk bir yük direnci, devamlı dalga vericisinin çıkışına bağlanmıştır. </a:t>
            </a:r>
            <a:r>
              <a:rPr lang="tr-TR" sz="1600" b="1" dirty="0">
                <a:solidFill>
                  <a:srgbClr val="222222"/>
                </a:solidFill>
              </a:rPr>
              <a:t>Aşağıdaki şekilde görüldüğü gibi d</a:t>
            </a:r>
            <a:r>
              <a:rPr sz="1600" b="1">
                <a:solidFill>
                  <a:srgbClr val="222222"/>
                </a:solidFill>
              </a:rPr>
              <a:t>evredeki ampermetre 1,2 A okunduğuna göre göndermecin çıkış gücü kaç Watt'tır?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60 W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42 W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c)  72 W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50 W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P=I²R=1.2²×50=1.44×50=72 Watt.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Ohm Kanunu (V=IR) ve temel devre analizi.</a:t>
            </a:r>
          </a:p>
        </p:txBody>
      </p:sp>
      <p:sp>
        <p:nvSpPr>
          <p:cNvPr id="110598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98</a:t>
            </a:r>
          </a:p>
        </p:txBody>
      </p:sp>
      <p:pic>
        <p:nvPicPr>
          <p:cNvPr id="110599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54150" y="1174750"/>
            <a:ext cx="3622675" cy="1211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11619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99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Devre Hesabı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Aşağıdaki devrede toplam akım I kaç amperdir? </a:t>
            </a:r>
            <a:r>
              <a:rPr sz="1600" i="1">
                <a:solidFill>
                  <a:srgbClr val="222222"/>
                </a:solidFill>
              </a:rPr>
              <a:t>(paralel kollar 2A, 0.5A, 0.5A akımlar ve aralarında 1A'lık bir seri bağlantı)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1 A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1,5 A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c)  3 A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4 A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Devrenin kaynaktan çektiği toplam akım, ana paralel kollardaki akımların </a:t>
            </a:r>
            <a:r>
              <a:rPr sz="1250" i="1">
                <a:solidFill>
                  <a:srgbClr val="222222"/>
                </a:solidFill>
              </a:rPr>
              <a:t>(2A, 0.5A, 0.5A)</a:t>
            </a:r>
            <a:r>
              <a:rPr sz="1250">
                <a:solidFill>
                  <a:srgbClr val="222222"/>
                </a:solidFill>
              </a:rPr>
              <a:t> toplamına eşittir: 2+0.5+0.5=3A </a:t>
            </a:r>
            <a:r>
              <a:rPr sz="1250" i="1">
                <a:solidFill>
                  <a:srgbClr val="222222"/>
                </a:solidFill>
              </a:rPr>
              <a:t>(aradaki 1A'lık kol, bu ana akımların kendi içinde yeniden dağılımını sağlayan bir iç bağlantıdır)</a:t>
            </a:r>
            <a:r>
              <a:rPr sz="1250">
                <a:solidFill>
                  <a:srgbClr val="222222"/>
                </a:solidFill>
              </a:rPr>
              <a:t>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Kirchhoff akım kanunu (KCL).</a:t>
            </a:r>
          </a:p>
        </p:txBody>
      </p:sp>
      <p:sp>
        <p:nvSpPr>
          <p:cNvPr id="111622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99</a:t>
            </a:r>
          </a:p>
        </p:txBody>
      </p:sp>
      <p:pic>
        <p:nvPicPr>
          <p:cNvPr id="11162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82738" y="1096963"/>
            <a:ext cx="3451225" cy="143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06475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12643" name="TextBox 2"/>
          <p:cNvSpPr txBox="1">
            <a:spLocks noChangeArrowheads="1"/>
          </p:cNvSpPr>
          <p:nvPr/>
        </p:nvSpPr>
        <p:spPr bwMode="auto">
          <a:xfrm>
            <a:off x="457200" y="165100"/>
            <a:ext cx="11277600" cy="73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2400" b="1">
                <a:solidFill>
                  <a:srgbClr val="FFFFFF"/>
                </a:solidFill>
                <a:latin typeface="Calibri" pitchFamily="34" charset="0"/>
              </a:rPr>
              <a:t>BÖLÜM 9: Propagasyon, Modülasyon ve Devre Analizi IV</a:t>
            </a:r>
          </a:p>
        </p:txBody>
      </p:sp>
      <p:sp>
        <p:nvSpPr>
          <p:cNvPr id="112644" name="TextBox 3"/>
          <p:cNvSpPr txBox="1">
            <a:spLocks noChangeArrowheads="1"/>
          </p:cNvSpPr>
          <p:nvPr/>
        </p:nvSpPr>
        <p:spPr bwMode="auto">
          <a:xfrm>
            <a:off x="639763" y="1371600"/>
            <a:ext cx="10912475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Aft>
                <a:spcPts val="1300"/>
              </a:spcAft>
            </a:pPr>
            <a:r>
              <a:rPr lang="tr-TR" sz="1700">
                <a:solidFill>
                  <a:srgbClr val="222222"/>
                </a:solidFill>
                <a:latin typeface="Calibri" pitchFamily="34" charset="0"/>
              </a:rPr>
              <a:t>•  HF bandında gündüz/gece frekans seçimi, iyonosferin gün içindeki değişen yansıtma özelliğine bağlıdır.</a:t>
            </a:r>
          </a:p>
          <a:p>
            <a:pPr>
              <a:spcAft>
                <a:spcPts val="1300"/>
              </a:spcAft>
            </a:pPr>
            <a:r>
              <a:rPr lang="tr-TR" sz="1700">
                <a:solidFill>
                  <a:srgbClr val="222222"/>
                </a:solidFill>
                <a:latin typeface="Calibri" pitchFamily="34" charset="0"/>
              </a:rPr>
              <a:t>•  Yükselteç sınıfları </a:t>
            </a:r>
            <a:r>
              <a:rPr lang="tr-TR" sz="1700" i="1">
                <a:solidFill>
                  <a:srgbClr val="222222"/>
                </a:solidFill>
                <a:latin typeface="Calibri" pitchFamily="34" charset="0"/>
              </a:rPr>
              <a:t>(A, B, AB, C)</a:t>
            </a:r>
            <a:r>
              <a:rPr lang="tr-TR" sz="1700">
                <a:solidFill>
                  <a:srgbClr val="222222"/>
                </a:solidFill>
                <a:latin typeface="Calibri" pitchFamily="34" charset="0"/>
              </a:rPr>
              <a:t> çıkış akımının dalga şeklindeki farklılıklarla, modülasyon türleri de taşıyıcının hangi özelliğinin değiştirildiğiyle ayırt edilir.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39763" y="5622925"/>
            <a:ext cx="10912475" cy="914400"/>
          </a:xfrm>
          <a:prstGeom prst="rect">
            <a:avLst/>
          </a:prstGeom>
          <a:solidFill>
            <a:srgbClr val="D6E4F0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73152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300" b="1">
                <a:solidFill>
                  <a:srgbClr val="1F3864"/>
                </a:solidFill>
              </a:rPr>
              <a:t>Bu bölümün kaynağı: </a:t>
            </a:r>
            <a:r>
              <a:rPr sz="1300">
                <a:solidFill>
                  <a:srgbClr val="222222"/>
                </a:solidFill>
              </a:rPr>
              <a:t>HF propagasyon (gündüz/gece); yükselteç sınıfları; FM/AM modülasyon teorisi.</a:t>
            </a:r>
          </a:p>
        </p:txBody>
      </p:sp>
      <p:sp>
        <p:nvSpPr>
          <p:cNvPr id="112646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Bölüm 9 Girişi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13667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100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Empedans Uyumu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Bir SWR ölçerdeki hangi değer, anten ve besleme hattı arasında mükemmel bir empedans uyumunu gösterir?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1'e 2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3'e 1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c)  1'e 1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1'e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Mükemmel empedans uyumu, SWR değerinin 1:1 olduğu durumdur — bu, hiçbir gücün yansımadığı ideal durumu ifade eder.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SWR teorisi (ideal uyum = 1:1).</a:t>
            </a:r>
          </a:p>
        </p:txBody>
      </p:sp>
      <p:sp>
        <p:nvSpPr>
          <p:cNvPr id="113670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100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14691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101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Propagasyon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Gündüz ve gece HF bandında çalışırken frekans seçiminde genel olarak aşağıdakilerden hangisine uyulur?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a)  Gece alçak, gündüz yüksek frekans kullanılır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Gece yüksek, gündüz alçak frekans kullanılır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Gece, gündüz frekansının yarısı kullanılır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Gündüz, gece frekansının yarısı kullanılır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Gündüz güneş ışığıyla iyonosfer daha yoğun iyonize olduğundan daha yüksek frekanslar </a:t>
            </a:r>
            <a:r>
              <a:rPr sz="1250" i="1">
                <a:solidFill>
                  <a:srgbClr val="222222"/>
                </a:solidFill>
              </a:rPr>
              <a:t>(örn. 20m, 15m)</a:t>
            </a:r>
            <a:r>
              <a:rPr sz="1250">
                <a:solidFill>
                  <a:srgbClr val="222222"/>
                </a:solidFill>
              </a:rPr>
              <a:t> uzağa yansır; gece iyonizasyon azaldığından daha alçak frekanslar </a:t>
            </a:r>
            <a:r>
              <a:rPr sz="1250" i="1">
                <a:solidFill>
                  <a:srgbClr val="222222"/>
                </a:solidFill>
              </a:rPr>
              <a:t>(örn. 40m, 80m)</a:t>
            </a:r>
            <a:r>
              <a:rPr sz="1250">
                <a:solidFill>
                  <a:srgbClr val="222222"/>
                </a:solidFill>
              </a:rPr>
              <a:t> daha iyi çalışır.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HF propagasyon — gündüz/gece frekans davranışı.</a:t>
            </a:r>
          </a:p>
        </p:txBody>
      </p:sp>
      <p:sp>
        <p:nvSpPr>
          <p:cNvPr id="114694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101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15715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102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Modülasyon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Taşıyıcı dalganın frekansı bir ses frekans sinyalinin genliğine bağlı olarak değişirse bu modülasyon: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Genlik modülasyonudur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b)  Frekans modülasyonudur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Pals modülasyonudur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Diversite modülasyonudur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Taşıyıcının FREKANSININ, mesaj sinyalinin genliğine göre değişmesi, tanım olarak frekans modülasyonudur </a:t>
            </a:r>
            <a:r>
              <a:rPr sz="1250" i="1">
                <a:solidFill>
                  <a:srgbClr val="222222"/>
                </a:solidFill>
              </a:rPr>
              <a:t>(FM)</a:t>
            </a:r>
            <a:r>
              <a:rPr sz="1250">
                <a:solidFill>
                  <a:srgbClr val="222222"/>
                </a:solidFill>
              </a:rPr>
              <a:t> — genlik modülasyonunda ise taşıyıcının kendi genliği değişir, frekansı sabit kalır.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FM/AM tanımsal ayrımı.</a:t>
            </a:r>
          </a:p>
        </p:txBody>
      </p:sp>
      <p:sp>
        <p:nvSpPr>
          <p:cNvPr id="115718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102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16739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103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Yükselteç Sınıfları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endParaRPr lang="tr-TR" sz="1600" b="1" dirty="0">
              <a:solidFill>
                <a:srgbClr val="222222"/>
              </a:solidFill>
            </a:endParaRPr>
          </a:p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endParaRPr lang="tr-TR" sz="1600" b="1" dirty="0">
              <a:solidFill>
                <a:srgbClr val="222222"/>
              </a:solidFill>
            </a:endParaRPr>
          </a:p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Aşağıda verilen çıkış akımı </a:t>
            </a:r>
            <a:r>
              <a:rPr sz="1600" i="1">
                <a:solidFill>
                  <a:srgbClr val="222222"/>
                </a:solidFill>
              </a:rPr>
              <a:t>(I,II,III,IV dalga şekilleri: tam sinüs, yarıdan fazla, tam yarım, dar darbe) </a:t>
            </a:r>
            <a:r>
              <a:rPr sz="1600" b="1">
                <a:solidFill>
                  <a:srgbClr val="222222"/>
                </a:solidFill>
              </a:rPr>
              <a:t>hangi yükselteçlere aittir?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a)  (I) A sınıfı (II) B sınıfı (III) AB sınıfı (IV) C sınıfı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(I) A sınıfı (II) AB sınıfı (III) B sınıfı (IV) C sınıfı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(I) C sınıfı (II) AB sınıfı (III) B sınıfı (IV) A sınıfı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(I) A sınıfı (II) C sınıfı (III) B sınıfı (IV) AB sınıfı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A sınıfı çıkışı tüm döngü boyunca tam </a:t>
            </a:r>
            <a:r>
              <a:rPr sz="1250" i="1">
                <a:solidFill>
                  <a:srgbClr val="222222"/>
                </a:solidFill>
              </a:rPr>
              <a:t>(kesintisiz)</a:t>
            </a:r>
            <a:r>
              <a:rPr sz="1250">
                <a:solidFill>
                  <a:srgbClr val="222222"/>
                </a:solidFill>
              </a:rPr>
              <a:t> akar; B sınıfı tam yarısında; AB sınıfı yarıdan biraz fazlasında; C sınıfı ise döngünün küçük bir kısmında dar darbeler halinde akar.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Yükselteç sınıfları çıkış akımı karakteristikleri.</a:t>
            </a:r>
          </a:p>
        </p:txBody>
      </p:sp>
      <p:sp>
        <p:nvSpPr>
          <p:cNvPr id="116742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103</a:t>
            </a:r>
          </a:p>
        </p:txBody>
      </p:sp>
      <p:pic>
        <p:nvPicPr>
          <p:cNvPr id="11674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20775" y="1035050"/>
            <a:ext cx="4308475" cy="194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17763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104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Anten Sıralaması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Üç elemanlı Yagi anteninde bulunan elemanların, en uzundan en kısaya göre sıralanış şekli aşağıdakilerden hangisidir?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a)  Yansıtıcı, Dipol, Yönlendirici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Dipol, Yansıtıcı, Yönlendirici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Yönlendirici, Dipol, Yansıtıcı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Yansıtıcı, Yönlendirici, Dipol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Yagi antende yansıtıcı </a:t>
            </a:r>
            <a:r>
              <a:rPr sz="1250" i="1">
                <a:solidFill>
                  <a:srgbClr val="222222"/>
                </a:solidFill>
              </a:rPr>
              <a:t>(reflector)</a:t>
            </a:r>
            <a:r>
              <a:rPr sz="1250">
                <a:solidFill>
                  <a:srgbClr val="222222"/>
                </a:solidFill>
              </a:rPr>
              <a:t> en uzun eleman, aktif beslenen dipol </a:t>
            </a:r>
            <a:r>
              <a:rPr sz="1250" i="1">
                <a:solidFill>
                  <a:srgbClr val="222222"/>
                </a:solidFill>
              </a:rPr>
              <a:t>(driven element)</a:t>
            </a:r>
            <a:r>
              <a:rPr sz="1250">
                <a:solidFill>
                  <a:srgbClr val="222222"/>
                </a:solidFill>
              </a:rPr>
              <a:t> ortada, yönlendirici </a:t>
            </a:r>
            <a:r>
              <a:rPr sz="1250" i="1">
                <a:solidFill>
                  <a:srgbClr val="222222"/>
                </a:solidFill>
              </a:rPr>
              <a:t>(director)</a:t>
            </a:r>
            <a:r>
              <a:rPr sz="1250">
                <a:solidFill>
                  <a:srgbClr val="222222"/>
                </a:solidFill>
              </a:rPr>
              <a:t> en kısa elemandır.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Yagi anten eleman geometrisi.</a:t>
            </a:r>
          </a:p>
        </p:txBody>
      </p:sp>
      <p:sp>
        <p:nvSpPr>
          <p:cNvPr id="117766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104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18787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105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Modülasyon İndeksi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Aşağıdaki şekli verilmiş genlik bindiriminin </a:t>
            </a:r>
            <a:r>
              <a:rPr sz="1600" i="1">
                <a:solidFill>
                  <a:srgbClr val="222222"/>
                </a:solidFill>
              </a:rPr>
              <a:t>(1.0 çizgisi etrafında 0.5 ve 1.5 arasında salınan)</a:t>
            </a:r>
            <a:r>
              <a:rPr sz="1600" b="1">
                <a:solidFill>
                  <a:srgbClr val="222222"/>
                </a:solidFill>
              </a:rPr>
              <a:t> modülasyon endeksi kaçtır?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2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1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c)  0.5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1.75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Modülasyon indeksi, taşıyıcı genliğindeki değişimin </a:t>
            </a:r>
            <a:r>
              <a:rPr sz="1250" i="1">
                <a:solidFill>
                  <a:srgbClr val="222222"/>
                </a:solidFill>
              </a:rPr>
              <a:t>(1.5-1.0=0.5 veya 1.0-0.5=0.5)</a:t>
            </a:r>
            <a:r>
              <a:rPr sz="1250">
                <a:solidFill>
                  <a:srgbClr val="222222"/>
                </a:solidFill>
              </a:rPr>
              <a:t> taşıyıcının kendi genliğine </a:t>
            </a:r>
            <a:r>
              <a:rPr sz="1250" i="1">
                <a:solidFill>
                  <a:srgbClr val="222222"/>
                </a:solidFill>
              </a:rPr>
              <a:t>(1.0)</a:t>
            </a:r>
            <a:r>
              <a:rPr sz="1250">
                <a:solidFill>
                  <a:srgbClr val="222222"/>
                </a:solidFill>
              </a:rPr>
              <a:t> oranıdır: 0.5/1.0=0.5.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AM modülasyon indeksi hesabı.</a:t>
            </a:r>
          </a:p>
        </p:txBody>
      </p:sp>
      <p:sp>
        <p:nvSpPr>
          <p:cNvPr id="118790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105</a:t>
            </a:r>
          </a:p>
        </p:txBody>
      </p:sp>
      <p:pic>
        <p:nvPicPr>
          <p:cNvPr id="118791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93825" y="1068388"/>
            <a:ext cx="3744913" cy="154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19811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106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FM Güç Formülü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R ohm'luk bir direnç üzerine frekans modülasyonunun oluşturacağı güç hangi formülle ifade edilir? (Ac taşıyıcı genliği)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a)  (Ac)²/2R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(Ac)²/4R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Ac/2R²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Ac(rms)/R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FM sinyalinde taşıyıcı genliği sabit kaldığından, güç formülü sabit genlikli bir sinüs dalgasının klasik güç formülüyle aynıdır: P=</a:t>
            </a:r>
            <a:r>
              <a:rPr sz="1250" i="1">
                <a:solidFill>
                  <a:srgbClr val="222222"/>
                </a:solidFill>
              </a:rPr>
              <a:t>(Ac)</a:t>
            </a:r>
            <a:r>
              <a:rPr sz="1250">
                <a:solidFill>
                  <a:srgbClr val="222222"/>
                </a:solidFill>
              </a:rPr>
              <a:t>²/2R </a:t>
            </a:r>
            <a:r>
              <a:rPr sz="1250" i="1">
                <a:solidFill>
                  <a:srgbClr val="222222"/>
                </a:solidFill>
              </a:rPr>
              <a:t>(tepe genlik kullanıldığında)</a:t>
            </a:r>
            <a:r>
              <a:rPr sz="1250">
                <a:solidFill>
                  <a:srgbClr val="222222"/>
                </a:solidFill>
              </a:rPr>
              <a:t>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FM sinyali güç formülü.</a:t>
            </a:r>
          </a:p>
        </p:txBody>
      </p:sp>
      <p:sp>
        <p:nvSpPr>
          <p:cNvPr id="119814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106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20835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107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Modülasyon Karşılaştırma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Aşağıdakilerden hangisi doğrudur?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a)  FM'de taşıyıcı frekans modüle eden sinyalin frekansından büyüktür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FM'de çıkış katı lineer olmalıdır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Modüle eden sinyalin genliğine göre taşıyıcı frekansı değişiyorsa genlik modülasyonudur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FM'de modüle eden sinyalin frekansı taşıyıcı frekansından büyük olmak zorundadır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Radyo iletişiminde taşıyıcı frekans her zaman modüle eden </a:t>
            </a:r>
            <a:r>
              <a:rPr sz="1250" i="1">
                <a:solidFill>
                  <a:srgbClr val="222222"/>
                </a:solidFill>
              </a:rPr>
              <a:t>(ses)</a:t>
            </a:r>
            <a:r>
              <a:rPr sz="1250">
                <a:solidFill>
                  <a:srgbClr val="222222"/>
                </a:solidFill>
              </a:rPr>
              <a:t> sinyalin frekansından çok daha büyüktür </a:t>
            </a:r>
            <a:r>
              <a:rPr sz="1250" i="1">
                <a:solidFill>
                  <a:srgbClr val="222222"/>
                </a:solidFill>
              </a:rPr>
              <a:t>(örn. MHz'lik taşıyıcı, kHz'lik ses sinyali)</a:t>
            </a:r>
            <a:r>
              <a:rPr sz="1250">
                <a:solidFill>
                  <a:srgbClr val="222222"/>
                </a:solidFill>
              </a:rPr>
              <a:t>; diğer şıklar FM/AM tanımlarını yanlış veya tersine ifade etmektedir.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Taşıyıcı-modülasyon sinyali frekans ilişkisi.</a:t>
            </a:r>
          </a:p>
        </p:txBody>
      </p:sp>
      <p:sp>
        <p:nvSpPr>
          <p:cNvPr id="120838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107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21859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108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Reaktans Hesabı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0.2 H endüktansa sahip olan bir şok bobininin 100 Hz'deki reaktansı yaklaşık olarak kaçtır?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1.250 ohm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400 ohm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c)  125 ohm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40 ohm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XL=2πfL=2π×100×0.2≈125.6 ohm.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Endüktif reaktans hesabı (XL=2πfL).</a:t>
            </a:r>
          </a:p>
        </p:txBody>
      </p:sp>
      <p:sp>
        <p:nvSpPr>
          <p:cNvPr id="121862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108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22883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109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Yükselteç Devresi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endParaRPr lang="tr-TR" sz="1600" b="1" dirty="0">
              <a:solidFill>
                <a:srgbClr val="222222"/>
              </a:solidFill>
            </a:endParaRPr>
          </a:p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endParaRPr lang="tr-TR" sz="1600" b="1" dirty="0">
              <a:solidFill>
                <a:srgbClr val="222222"/>
              </a:solidFill>
            </a:endParaRPr>
          </a:p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endParaRPr lang="tr-TR" sz="1600" b="1" dirty="0">
              <a:solidFill>
                <a:srgbClr val="222222"/>
              </a:solidFill>
            </a:endParaRPr>
          </a:p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Aşağıdaki devrede AC kazancı arttırmak için ne yapmalıdır? </a:t>
            </a:r>
            <a:r>
              <a:rPr sz="1600" i="1">
                <a:solidFill>
                  <a:srgbClr val="222222"/>
                </a:solidFill>
              </a:rPr>
              <a:t>(RE emiter direnci, RC kolektör direnci)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Rc'nin değerini azaltmak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Re'nin değerini arttırmak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Rc'ye paralel bir kapasite bağlamak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d)  Re'ye paralel bir kapasite bağlamak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RE'ye paralel bir kondansatör bağlamak, AC sinyali için emiter direncini kısa devre ederek </a:t>
            </a:r>
            <a:r>
              <a:rPr sz="1250" i="1">
                <a:solidFill>
                  <a:srgbClr val="222222"/>
                </a:solidFill>
              </a:rPr>
              <a:t>(RE'nin AC kazancını sınırlayan negatif geri besleme etkisini ortadan kaldırarak)</a:t>
            </a:r>
            <a:r>
              <a:rPr sz="1250">
                <a:solidFill>
                  <a:srgbClr val="222222"/>
                </a:solidFill>
              </a:rPr>
              <a:t> AC kazancını artırır — DC çalışma noktası </a:t>
            </a:r>
            <a:r>
              <a:rPr sz="1250" i="1">
                <a:solidFill>
                  <a:srgbClr val="222222"/>
                </a:solidFill>
              </a:rPr>
              <a:t>(bias)</a:t>
            </a:r>
            <a:r>
              <a:rPr sz="1250">
                <a:solidFill>
                  <a:srgbClr val="222222"/>
                </a:solidFill>
              </a:rPr>
              <a:t> ise RE sayesinde korunur.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Transistörlü yükselteç AC kazanç artırma (emiter baypas kondansatörü).</a:t>
            </a:r>
          </a:p>
        </p:txBody>
      </p:sp>
      <p:sp>
        <p:nvSpPr>
          <p:cNvPr id="122886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109</a:t>
            </a:r>
          </a:p>
        </p:txBody>
      </p:sp>
      <p:pic>
        <p:nvPicPr>
          <p:cNvPr id="122887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87575" y="1042988"/>
            <a:ext cx="2343150" cy="2152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23907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110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Empedans Hesabı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0.1 H'lik bir bobinin tel direnci 10 ohm'dur. 50 Hz'de bu bobinin eşdeğer empedansı nedir?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a)  32.97 ohm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3297 ohm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1000 ohm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10 ohm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XL=2π×50×0.1≈31.4 ohm. Z=√</a:t>
            </a:r>
            <a:r>
              <a:rPr sz="1250" i="1">
                <a:solidFill>
                  <a:srgbClr val="222222"/>
                </a:solidFill>
              </a:rPr>
              <a:t>(R²+XL²)</a:t>
            </a:r>
            <a:r>
              <a:rPr sz="1250">
                <a:solidFill>
                  <a:srgbClr val="222222"/>
                </a:solidFill>
              </a:rPr>
              <a:t>=√</a:t>
            </a:r>
            <a:r>
              <a:rPr sz="1250" i="1">
                <a:solidFill>
                  <a:srgbClr val="222222"/>
                </a:solidFill>
              </a:rPr>
              <a:t>(10²+31.4²)</a:t>
            </a:r>
            <a:r>
              <a:rPr sz="1250">
                <a:solidFill>
                  <a:srgbClr val="222222"/>
                </a:solidFill>
              </a:rPr>
              <a:t>=√</a:t>
            </a:r>
            <a:r>
              <a:rPr sz="1250" i="1">
                <a:solidFill>
                  <a:srgbClr val="222222"/>
                </a:solidFill>
              </a:rPr>
              <a:t>(100+986)</a:t>
            </a:r>
            <a:r>
              <a:rPr sz="1250">
                <a:solidFill>
                  <a:srgbClr val="222222"/>
                </a:solidFill>
              </a:rPr>
              <a:t>≈√1086≈32.97 ohm.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Seri R-L devresi empedans hesabı.</a:t>
            </a:r>
          </a:p>
        </p:txBody>
      </p:sp>
      <p:sp>
        <p:nvSpPr>
          <p:cNvPr id="123910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110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24931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111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Verici Devresi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Dengeli modülatör çıkışında (SSB vericide):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Tam taşıyıcı ve iki yan band vardır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Tam taşıyıcı ve tek yan band vardır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c)  Bastırılmış taşıyıcı ve iki yan band vardır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Taşıyıcı yoktur ve tek yan band vardır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Dengeli modülatör, taşıyıcıyı bastırır </a:t>
            </a:r>
            <a:r>
              <a:rPr sz="1250" i="1">
                <a:solidFill>
                  <a:srgbClr val="222222"/>
                </a:solidFill>
              </a:rPr>
              <a:t>(tamamen yok etmez, sadece büyük ölçüde zayıflatır)</a:t>
            </a:r>
            <a:r>
              <a:rPr sz="1250">
                <a:solidFill>
                  <a:srgbClr val="222222"/>
                </a:solidFill>
              </a:rPr>
              <a:t> ve çıkışında hem üst hem alt yan bandı </a:t>
            </a:r>
            <a:r>
              <a:rPr sz="1250" i="1">
                <a:solidFill>
                  <a:srgbClr val="222222"/>
                </a:solidFill>
              </a:rPr>
              <a:t>(iki yan bant)</a:t>
            </a:r>
            <a:r>
              <a:rPr sz="1250">
                <a:solidFill>
                  <a:srgbClr val="222222"/>
                </a:solidFill>
              </a:rPr>
              <a:t> verir; tek yan bant seçimi bu aşamadan sonra filtre ile yapılır.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SSB dengeli modülatör çıkışı.</a:t>
            </a:r>
          </a:p>
        </p:txBody>
      </p:sp>
      <p:sp>
        <p:nvSpPr>
          <p:cNvPr id="124934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111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25955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112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Anten Empedansı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Şekilde λ/2 uzunluğunda bir katlanmış dipol görünmektedir. Çubuk çapı her yerde aynı olduğuna göre, A ve B uçlarından görünen empedans nedir?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75 ohm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50 ohm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600 ohm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d)  300 ohm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Katlanmış </a:t>
            </a:r>
            <a:r>
              <a:rPr sz="1250" i="1">
                <a:solidFill>
                  <a:srgbClr val="222222"/>
                </a:solidFill>
              </a:rPr>
              <a:t>(folded)</a:t>
            </a:r>
            <a:r>
              <a:rPr sz="1250">
                <a:solidFill>
                  <a:srgbClr val="222222"/>
                </a:solidFill>
              </a:rPr>
              <a:t> dipol, normal dipolün empedansını </a:t>
            </a:r>
            <a:r>
              <a:rPr sz="1250" i="1">
                <a:solidFill>
                  <a:srgbClr val="222222"/>
                </a:solidFill>
              </a:rPr>
              <a:t>(73Ω)</a:t>
            </a:r>
            <a:r>
              <a:rPr sz="1250">
                <a:solidFill>
                  <a:srgbClr val="222222"/>
                </a:solidFill>
              </a:rPr>
              <a:t> katlama oranının karesi kadar </a:t>
            </a:r>
            <a:r>
              <a:rPr sz="1250" i="1">
                <a:solidFill>
                  <a:srgbClr val="222222"/>
                </a:solidFill>
              </a:rPr>
              <a:t>(yaklaşık 4 kat)</a:t>
            </a:r>
            <a:r>
              <a:rPr sz="1250">
                <a:solidFill>
                  <a:srgbClr val="222222"/>
                </a:solidFill>
              </a:rPr>
              <a:t> artırır; standart katlanmış dipol empedansı ~300 ohm'dur — bu özellik onu 300 ohm'luk kayış tipi </a:t>
            </a:r>
            <a:r>
              <a:rPr sz="1250" i="1">
                <a:solidFill>
                  <a:srgbClr val="222222"/>
                </a:solidFill>
              </a:rPr>
              <a:t>(ribbon)</a:t>
            </a:r>
            <a:r>
              <a:rPr sz="1250">
                <a:solidFill>
                  <a:srgbClr val="222222"/>
                </a:solidFill>
              </a:rPr>
              <a:t> hatlarla beslemeye uygun kılar.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Katlanmış dipol (folded dipole) empedansı.</a:t>
            </a:r>
          </a:p>
        </p:txBody>
      </p:sp>
      <p:sp>
        <p:nvSpPr>
          <p:cNvPr id="125958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112</a:t>
            </a:r>
          </a:p>
        </p:txBody>
      </p:sp>
      <p:pic>
        <p:nvPicPr>
          <p:cNvPr id="125959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95463" y="1108075"/>
            <a:ext cx="2916237" cy="1425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26979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113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Devre Hesabı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endParaRPr lang="tr-TR" sz="1600" b="1" dirty="0">
              <a:solidFill>
                <a:srgbClr val="222222"/>
              </a:solidFill>
            </a:endParaRPr>
          </a:p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lang="tr-TR" sz="1600" b="1" dirty="0">
                <a:solidFill>
                  <a:srgbClr val="222222"/>
                </a:solidFill>
              </a:rPr>
              <a:t>Şekildeki devreden </a:t>
            </a:r>
            <a:r>
              <a:rPr sz="1600" i="1">
                <a:solidFill>
                  <a:srgbClr val="222222"/>
                </a:solidFill>
              </a:rPr>
              <a:t>(E1=2V/R1=1ohm, E2=4V/R2=2ohm kollar, dış direnç R=5ohm)</a:t>
            </a:r>
            <a:r>
              <a:rPr sz="1600" b="1">
                <a:solidFill>
                  <a:srgbClr val="222222"/>
                </a:solidFill>
              </a:rPr>
              <a:t> geçen akım kaç Amperdir?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0,50 A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0,75 A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c)  0,25 A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1,25 A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Bu, iki farklı EMK ve iç dirence sahip üretecin birlikte çalıştığı bir devre hesabıdır; resmi cevap anahtarına göre devreden geçen akım 0.25A'dir.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Resmi cevap anahtarı (çoklu üreteçli devre analizi).</a:t>
            </a:r>
          </a:p>
        </p:txBody>
      </p:sp>
      <p:sp>
        <p:nvSpPr>
          <p:cNvPr id="126982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113</a:t>
            </a:r>
          </a:p>
        </p:txBody>
      </p:sp>
      <p:pic>
        <p:nvPicPr>
          <p:cNvPr id="12698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2413" y="1030288"/>
            <a:ext cx="3557587" cy="175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28003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114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Devre Elemanı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Şekilde görülen </a:t>
            </a:r>
            <a:r>
              <a:rPr sz="1600" i="1">
                <a:solidFill>
                  <a:srgbClr val="222222"/>
                </a:solidFill>
              </a:rPr>
              <a:t>(iki paralel ok işaretli üçgen sembol)</a:t>
            </a:r>
            <a:r>
              <a:rPr sz="1600" b="1">
                <a:solidFill>
                  <a:srgbClr val="222222"/>
                </a:solidFill>
              </a:rPr>
              <a:t> devre elemanı aşağıdakilerden hangisidir?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Zener diyot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b)  Triyak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Tünel diyot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Kapasitif diyot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İki yönlü, çift ok/üçgen sembolüyle gösterilen bu eleman, her iki yönde de akım iletebilen ve AC güç kontrolünde </a:t>
            </a:r>
            <a:r>
              <a:rPr sz="1250" i="1">
                <a:solidFill>
                  <a:srgbClr val="222222"/>
                </a:solidFill>
              </a:rPr>
              <a:t>(örn. ışık kısma)</a:t>
            </a:r>
            <a:r>
              <a:rPr sz="1250">
                <a:solidFill>
                  <a:srgbClr val="222222"/>
                </a:solidFill>
              </a:rPr>
              <a:t> kullanılan triyaktır.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Yarı iletken güç kontrol elemanları.</a:t>
            </a:r>
          </a:p>
        </p:txBody>
      </p:sp>
      <p:sp>
        <p:nvSpPr>
          <p:cNvPr id="128006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114</a:t>
            </a:r>
          </a:p>
        </p:txBody>
      </p:sp>
      <p:pic>
        <p:nvPicPr>
          <p:cNvPr id="128007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46350" y="1106488"/>
            <a:ext cx="1508125" cy="1471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29027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115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Anten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Aşağıdakilerden hangisi merkez beslemeli yarım dalga dipol antendeki gerilim ve akım diyagramıdır?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Şema (a)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Şema (b)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c)  Şema (c): merkezde akım tepe, gerilim minimum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Şema (d)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Merkez beslemeli dipolde, anten merkezinde akım en yüksek </a:t>
            </a:r>
            <a:r>
              <a:rPr sz="1250" i="1">
                <a:solidFill>
                  <a:srgbClr val="222222"/>
                </a:solidFill>
              </a:rPr>
              <a:t>(tepe)</a:t>
            </a:r>
            <a:r>
              <a:rPr sz="1250">
                <a:solidFill>
                  <a:srgbClr val="222222"/>
                </a:solidFill>
              </a:rPr>
              <a:t> değerdedir çünkü besleme noktasıdır; gerilim ise merkezde en düşük </a:t>
            </a:r>
            <a:r>
              <a:rPr sz="1250" i="1">
                <a:solidFill>
                  <a:srgbClr val="222222"/>
                </a:solidFill>
              </a:rPr>
              <a:t>(minimum)</a:t>
            </a:r>
            <a:r>
              <a:rPr sz="1250">
                <a:solidFill>
                  <a:srgbClr val="222222"/>
                </a:solidFill>
              </a:rPr>
              <a:t>, anten uçlarında en yüksektir — bu ters ilişki klasik dipol davranışıdır.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Dipol anten gerilim-akım dağılımı.</a:t>
            </a:r>
          </a:p>
        </p:txBody>
      </p:sp>
      <p:sp>
        <p:nvSpPr>
          <p:cNvPr id="129030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115</a:t>
            </a:r>
          </a:p>
        </p:txBody>
      </p:sp>
      <p:pic>
        <p:nvPicPr>
          <p:cNvPr id="129031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2488" y="1173163"/>
            <a:ext cx="4900612" cy="1377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30051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116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Üreteç Devresi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endParaRPr lang="tr-TR" sz="1600" b="1" dirty="0">
              <a:solidFill>
                <a:srgbClr val="222222"/>
              </a:solidFill>
            </a:endParaRPr>
          </a:p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Şekildeki devrede her birinin iç direnci 1ohm ve emk'sı 6 volt olan özdeş üreteçler bulunmaktadır. Devrede 15 ohm'luk dirençten geçen akım şiddeti kaç amperdir?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1 A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2 A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c)  3 A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4 A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Bu, birden fazla özdeş üretecin seri/paralel kombinasyonuyla oluşturduğu bir devre hesabıdır; resmi cevap anahtarına göre 15 ohm'dan geçen akım 3A'dir.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Resmi cevap anahtarı (çoklu üreteç kombinasyonu).</a:t>
            </a:r>
          </a:p>
        </p:txBody>
      </p:sp>
      <p:sp>
        <p:nvSpPr>
          <p:cNvPr id="130054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116</a:t>
            </a:r>
          </a:p>
        </p:txBody>
      </p:sp>
      <p:pic>
        <p:nvPicPr>
          <p:cNvPr id="13005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77975" y="1027113"/>
            <a:ext cx="3516313" cy="176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06475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31075" name="TextBox 2"/>
          <p:cNvSpPr txBox="1">
            <a:spLocks noChangeArrowheads="1"/>
          </p:cNvSpPr>
          <p:nvPr/>
        </p:nvSpPr>
        <p:spPr bwMode="auto">
          <a:xfrm>
            <a:off x="457200" y="165100"/>
            <a:ext cx="11277600" cy="73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2400" b="1">
                <a:solidFill>
                  <a:srgbClr val="FFFFFF"/>
                </a:solidFill>
                <a:latin typeface="Calibri" pitchFamily="34" charset="0"/>
              </a:rPr>
              <a:t>BÖLÜM 10: Anten Empedansı, ERP ve Yarı İletken Devreler</a:t>
            </a:r>
          </a:p>
        </p:txBody>
      </p:sp>
      <p:sp>
        <p:nvSpPr>
          <p:cNvPr id="131076" name="TextBox 3"/>
          <p:cNvSpPr txBox="1">
            <a:spLocks noChangeArrowheads="1"/>
          </p:cNvSpPr>
          <p:nvPr/>
        </p:nvSpPr>
        <p:spPr bwMode="auto">
          <a:xfrm>
            <a:off x="639763" y="1371600"/>
            <a:ext cx="10912475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Aft>
                <a:spcPts val="1300"/>
              </a:spcAft>
            </a:pPr>
            <a:r>
              <a:rPr lang="tr-TR" sz="1700">
                <a:solidFill>
                  <a:srgbClr val="222222"/>
                </a:solidFill>
                <a:latin typeface="Calibri" pitchFamily="34" charset="0"/>
              </a:rPr>
              <a:t>•  Anten empedansı, anten tipine ve besleme noktasına göre standart değerler alır </a:t>
            </a:r>
            <a:r>
              <a:rPr lang="tr-TR" sz="1700" i="1">
                <a:solidFill>
                  <a:srgbClr val="222222"/>
                </a:solidFill>
                <a:latin typeface="Calibri" pitchFamily="34" charset="0"/>
              </a:rPr>
              <a:t>(örn. merkez beslemeli dipol ≈73Ω)</a:t>
            </a:r>
            <a:r>
              <a:rPr lang="tr-TR" sz="1700">
                <a:solidFill>
                  <a:srgbClr val="222222"/>
                </a:solidFill>
                <a:latin typeface="Calibri" pitchFamily="34" charset="0"/>
              </a:rPr>
              <a:t>.</a:t>
            </a:r>
          </a:p>
          <a:p>
            <a:pPr>
              <a:spcAft>
                <a:spcPts val="1300"/>
              </a:spcAft>
            </a:pPr>
            <a:r>
              <a:rPr lang="tr-TR" sz="1700">
                <a:solidFill>
                  <a:srgbClr val="222222"/>
                </a:solidFill>
                <a:latin typeface="Calibri" pitchFamily="34" charset="0"/>
              </a:rPr>
              <a:t>•  Transistör sembolleri </a:t>
            </a:r>
            <a:r>
              <a:rPr lang="tr-TR" sz="1700" i="1">
                <a:solidFill>
                  <a:srgbClr val="222222"/>
                </a:solidFill>
                <a:latin typeface="Calibri" pitchFamily="34" charset="0"/>
              </a:rPr>
              <a:t>(PNP, NPN, FET, MOSFET)</a:t>
            </a:r>
            <a:r>
              <a:rPr lang="tr-TR" sz="1700">
                <a:solidFill>
                  <a:srgbClr val="222222"/>
                </a:solidFill>
                <a:latin typeface="Calibri" pitchFamily="34" charset="0"/>
              </a:rPr>
              <a:t> ok yönü ve bacak sayısı/şekliyle birbirinden ayırt edilir.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39763" y="5622925"/>
            <a:ext cx="10912475" cy="914400"/>
          </a:xfrm>
          <a:prstGeom prst="rect">
            <a:avLst/>
          </a:prstGeom>
          <a:solidFill>
            <a:srgbClr val="D6E4F0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73152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300" b="1">
                <a:solidFill>
                  <a:srgbClr val="1F3864"/>
                </a:solidFill>
              </a:rPr>
              <a:t>Bu bölümün kaynağı: </a:t>
            </a:r>
            <a:r>
              <a:rPr sz="1300">
                <a:solidFill>
                  <a:srgbClr val="222222"/>
                </a:solidFill>
              </a:rPr>
              <a:t>Dipol anten empedansı; ERP hesabı; transistör sembol standartları.</a:t>
            </a:r>
          </a:p>
        </p:txBody>
      </p:sp>
      <p:sp>
        <p:nvSpPr>
          <p:cNvPr id="131078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Bölüm 10 Girişi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32099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117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Genel Bilgi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Radyo ufku ne demektir?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a)  İki nokta arasındaki radyo sinyallerinin yerin eğimi tarafından bloklandığı nokta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Yerden yatay olarak monte edilmiş antene kadar olan mesafe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Anten kulenizin tabanında dururken görebileceğiniz en uzak nokta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Yer yüzeyinde iki nokta arasındaki en kısa mesafe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Radyo ufku, dünyanın kavisli yüzeyinin, iki nokta arasındaki doğrudan </a:t>
            </a:r>
            <a:r>
              <a:rPr sz="1250" i="1">
                <a:solidFill>
                  <a:srgbClr val="222222"/>
                </a:solidFill>
              </a:rPr>
              <a:t>(görüş hattı)</a:t>
            </a:r>
            <a:r>
              <a:rPr sz="1250">
                <a:solidFill>
                  <a:srgbClr val="222222"/>
                </a:solidFill>
              </a:rPr>
              <a:t> radyo sinyalini engellediği en uzak mesafe noktasıdır — VHF/UHF menzilini pratik olarak sınırlayan etkendir.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Radyo ufku (line-of-sight menzil sınırı).</a:t>
            </a:r>
          </a:p>
        </p:txBody>
      </p:sp>
      <p:sp>
        <p:nvSpPr>
          <p:cNvPr id="132102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117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33123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118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Rezonans Ayarı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15 pF'lık kondansatör ile oluşturulan seri rezonans devresinde frekans 28.2 MHz'e ayarlanmıştır. L sabit olmak üzere rezonans frekansını 14.100 MHz'e (yarısına) indirmek için mevcut kondansatöre kaç pF'lık kondansatör, ne şekilde bağlanmalıdır?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45 pf, seri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b)  45 pf, paralel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60 pf, seri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60 pf, paralel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Frekansı yarıya indirmek için LC çarpımını 4 katına çıkarmak gerekir; L sabit olduğundan C'nin 4 katına </a:t>
            </a:r>
            <a:r>
              <a:rPr sz="1250" i="1">
                <a:solidFill>
                  <a:srgbClr val="222222"/>
                </a:solidFill>
              </a:rPr>
              <a:t>(15×4=60pF)</a:t>
            </a:r>
            <a:r>
              <a:rPr sz="1250">
                <a:solidFill>
                  <a:srgbClr val="222222"/>
                </a:solidFill>
              </a:rPr>
              <a:t> çıkması lazım. Mevcut 15pF'a PARALEL 45pF eklenirse toplam 15+45=60pF olur </a:t>
            </a:r>
            <a:r>
              <a:rPr sz="1250" i="1">
                <a:solidFill>
                  <a:srgbClr val="222222"/>
                </a:solidFill>
              </a:rPr>
              <a:t>(paralel bağlamada kapasiteler toplanır)</a:t>
            </a:r>
            <a:r>
              <a:rPr sz="1250">
                <a:solidFill>
                  <a:srgbClr val="222222"/>
                </a:solidFill>
              </a:rPr>
              <a:t> — bu istenen sonucu verir.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Kondansatör paralel ekleme ve rezonans frekansı ilişkisi (bağımsız doğrulanmış).</a:t>
            </a:r>
          </a:p>
        </p:txBody>
      </p:sp>
      <p:sp>
        <p:nvSpPr>
          <p:cNvPr id="133126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118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34147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119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Dalga Boyu Formülü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λ dalga boyu uzunluğunun metre değeri, f frekansının Hertz değeri ise, bir radyo dalgasının dalga boyu uzunluğunu veren formül aşağıdakilerden hangisidir?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3×10⁶/f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b)  3×10⁸/f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3×10¹⁰/f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3×10⁵/f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λ=c/f formülünde ışık hızı c≈3×10⁸ m/s'dir </a:t>
            </a:r>
            <a:r>
              <a:rPr sz="1250" i="1">
                <a:solidFill>
                  <a:srgbClr val="222222"/>
                </a:solidFill>
              </a:rPr>
              <a:t>(f Hertz cinsinden verildiğinde λ direkt metre olarak çıkar)</a:t>
            </a:r>
            <a:r>
              <a:rPr sz="1250">
                <a:solidFill>
                  <a:srgbClr val="222222"/>
                </a:solidFill>
              </a:rPr>
              <a:t>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Dalga boyu-frekans ilişkisi (λ=c/f, c=3×10⁸ m/s).</a:t>
            </a:r>
          </a:p>
        </p:txBody>
      </p:sp>
      <p:sp>
        <p:nvSpPr>
          <p:cNvPr id="134150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119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sp>
        <p:nvSpPr>
          <p:cNvPr id="135171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</a:rPr>
              <a:t>Soru 120</a:t>
            </a:r>
            <a:r>
              <a:rPr lang="tr-TR" sz="1400">
                <a:solidFill>
                  <a:srgbClr val="D6E4F0"/>
                </a:solidFill>
              </a:rPr>
              <a:t>   ·   Anten Boyu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λ/2 dipol antenin fiziksel boyu, hesaplanan elektriksel dalga boyundan yaklaşık %5 daha küçüktür. Bunun sebebi aşağıdakilerden hangisidir?</a:t>
            </a:r>
          </a:p>
          <a:p>
            <a:pPr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Uzayı yüksek dielektrik sabitindendir.</a:t>
            </a:r>
          </a:p>
          <a:p>
            <a:pPr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Antenin empedansının rezistif olması içindir.</a:t>
            </a:r>
          </a:p>
          <a:p>
            <a:pPr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Atmosferin oksijen içermesindendir.</a:t>
            </a:r>
          </a:p>
          <a:p>
            <a:pPr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d)  Hattaki yayınım hızı uzaydaki yayınım hızından düşüktür.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FCE4D6"/>
          </a:solidFill>
          <a:ln w="9525">
            <a:solidFill>
              <a:srgbClr val="E0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>
              <a:spcAft>
                <a:spcPts val="900"/>
              </a:spcAft>
              <a:defRPr/>
            </a:pPr>
            <a:r>
              <a:rPr sz="1400" b="1">
                <a:solidFill>
                  <a:srgbClr val="C05000"/>
                </a:solidFill>
              </a:rPr>
              <a:t>AÇIKLAMA</a:t>
            </a:r>
          </a:p>
          <a:p>
            <a:pPr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İletken bir tel üzerindeki sinyal yayılım hızı, boşluktaki </a:t>
            </a:r>
            <a:r>
              <a:rPr sz="1250" i="1">
                <a:solidFill>
                  <a:srgbClr val="222222"/>
                </a:solidFill>
              </a:rPr>
              <a:t>(uzaydaki)</a:t>
            </a:r>
            <a:r>
              <a:rPr sz="1250">
                <a:solidFill>
                  <a:srgbClr val="222222"/>
                </a:solidFill>
              </a:rPr>
              <a:t> ışık hızından biraz daha düşüktür </a:t>
            </a:r>
            <a:r>
              <a:rPr sz="1250" i="1">
                <a:solidFill>
                  <a:srgbClr val="222222"/>
                </a:solidFill>
              </a:rPr>
              <a:t>(uç etkileri/kapasitans nedeniyle)</a:t>
            </a:r>
            <a:r>
              <a:rPr sz="1250">
                <a:solidFill>
                  <a:srgbClr val="222222"/>
                </a:solidFill>
              </a:rPr>
              <a:t>; bu yüzden fiziksel anten boyu, teorik elektriksel dalga boyundan biraz kısa tutulur </a:t>
            </a:r>
            <a:r>
              <a:rPr sz="1250" i="1">
                <a:solidFill>
                  <a:srgbClr val="222222"/>
                </a:solidFill>
              </a:rPr>
              <a:t>(kısalma faktörü)</a:t>
            </a:r>
            <a:r>
              <a:rPr sz="1250">
                <a:solidFill>
                  <a:srgbClr val="222222"/>
                </a:solidFill>
              </a:rPr>
              <a:t>. Bu, uluslararası amatör telsiz sınav kaynaklarında </a:t>
            </a:r>
            <a:r>
              <a:rPr sz="1250" i="1">
                <a:solidFill>
                  <a:srgbClr val="222222"/>
                </a:solidFill>
              </a:rPr>
              <a:t>(örn. ARRL)</a:t>
            </a:r>
            <a:r>
              <a:rPr sz="1250">
                <a:solidFill>
                  <a:srgbClr val="222222"/>
                </a:solidFill>
              </a:rPr>
              <a:t> bu soru için standart kabul edilen açıklamadır.</a:t>
            </a:r>
          </a:p>
          <a:p>
            <a:pPr>
              <a:spcAft>
                <a:spcPts val="1000"/>
              </a:spcAft>
              <a:defRPr/>
            </a:pPr>
            <a:r>
              <a:rPr sz="1150" b="1">
                <a:solidFill>
                  <a:srgbClr val="C05000"/>
                </a:solidFill>
              </a:rPr>
              <a:t>⚠ Kaynak soru bankasının resmi cevap anahtarı bu soruda (b) "Antenin empedansının rezistif olması içindir"i işaretlemiştir. Ancak empedansın rezistif olması rezonansın bir SONUCUDUR, kısalmanın SEBEBİ değildir; kısalmanın gerçek nedeni hattaki yayılım hızının farkıdır (d). Gerçek sınavda bu soru resmi anahtara göre (b) olarak değerlendirilebilir.</a:t>
            </a:r>
          </a:p>
          <a:p>
            <a:pPr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Anten kısalma faktörü (end-effect) fiziği (bağımsız doğrulanmış).</a:t>
            </a:r>
          </a:p>
        </p:txBody>
      </p:sp>
      <p:sp>
        <p:nvSpPr>
          <p:cNvPr id="135174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</a:rPr>
              <a:t>Teknik — Soru 120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36195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121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Anten Empedansı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Merkezden beslemeli yarım dalga dipol antenin empedansı kaç Ω'dur?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37 Ω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50 Ω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c)  73 Ω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300 Ω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Serbest uzayda, merkez beslemeli yarım dalga dipolün teorik giriş empedansı yaklaşık 73 ohm'dur </a:t>
            </a:r>
            <a:r>
              <a:rPr sz="1250" i="1">
                <a:solidFill>
                  <a:srgbClr val="222222"/>
                </a:solidFill>
              </a:rPr>
              <a:t>(standart, ezberlenmesi gereken bir değer)</a:t>
            </a:r>
            <a:r>
              <a:rPr sz="1250">
                <a:solidFill>
                  <a:srgbClr val="222222"/>
                </a:solidFill>
              </a:rPr>
              <a:t>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Dipol anten empedansı (teorik değer: 73Ω).</a:t>
            </a:r>
          </a:p>
        </p:txBody>
      </p:sp>
      <p:sp>
        <p:nvSpPr>
          <p:cNvPr id="136198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121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37219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122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Devre Hesabı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Şekildeki devrede 4 Ω'luk direncin uçlarındaki gerilim kaç volt'tur? </a:t>
            </a:r>
            <a:r>
              <a:rPr sz="1600" i="1">
                <a:solidFill>
                  <a:srgbClr val="222222"/>
                </a:solidFill>
              </a:rPr>
              <a:t>(140V kaynak, 20ohm seri, 4ohm||5ohm paralel dallar, 18A akım kaynağı)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a)  50 V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60 V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70 V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80 V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Bu, gerilim kaynağı ile akım kaynağının birlikte bulunduğu karma bir devre hesabıdır; resmi cevap anahtarına göre 4 ohm üzerindeki gerilim 50V'tur.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Resmi cevap anahtarı (karma kaynaklı devre analizi).</a:t>
            </a:r>
          </a:p>
        </p:txBody>
      </p:sp>
      <p:sp>
        <p:nvSpPr>
          <p:cNvPr id="137222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122</a:t>
            </a:r>
          </a:p>
        </p:txBody>
      </p:sp>
      <p:pic>
        <p:nvPicPr>
          <p:cNvPr id="137223" name="Picture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28738" y="1090613"/>
            <a:ext cx="3890962" cy="1477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38243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123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ERP Hesabı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Bir vericinin çıkış gücü 100 Watt'tır. Bu vericiye; kazancı 11 dB olan bir anten, 1dB kaybı olan koaksiyel kablo ile bağlandığında anten çıkış gücü (ERP) kaç watt'tır?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11 W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1,1 W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c)  1000 W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2000 W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Net kazanç = anten kazancı - kablo kaybı = 11-1=10 dB. 10dB, güç olarak 10 katına karşılık gelir: ERP=100×10=1000 W.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ERP (Etkin Yayılan Güç) hesabı ve dB-güç oranı dönüşümü (10dB=×10).</a:t>
            </a:r>
          </a:p>
        </p:txBody>
      </p:sp>
      <p:sp>
        <p:nvSpPr>
          <p:cNvPr id="138246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123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39267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124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Devre Tanıma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Şekildeki devre </a:t>
            </a:r>
            <a:r>
              <a:rPr sz="1600" i="1">
                <a:solidFill>
                  <a:srgbClr val="222222"/>
                </a:solidFill>
              </a:rPr>
              <a:t>(iki bobin manyetik olarak yakın, iki kondansatör) </a:t>
            </a:r>
            <a:r>
              <a:rPr sz="1600" b="1">
                <a:solidFill>
                  <a:srgbClr val="222222"/>
                </a:solidFill>
              </a:rPr>
              <a:t>aşağıdakilerden hangisidir?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Elektrostatik akort devresi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Kapasitif akort devresi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c)  Magnetik kuplajlı akort devresi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Rezistif akort devresi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İki bobinin birbirine yakın konumlandırılıp manyetik alan üzerinden enerji aktarması </a:t>
            </a:r>
            <a:r>
              <a:rPr sz="1250" i="1">
                <a:solidFill>
                  <a:srgbClr val="222222"/>
                </a:solidFill>
              </a:rPr>
              <a:t>(transformatör benzeri)</a:t>
            </a:r>
            <a:r>
              <a:rPr sz="1250">
                <a:solidFill>
                  <a:srgbClr val="222222"/>
                </a:solidFill>
              </a:rPr>
              <a:t>, bu devreyi manyetik kuplajlı </a:t>
            </a:r>
            <a:r>
              <a:rPr sz="1250" i="1">
                <a:solidFill>
                  <a:srgbClr val="222222"/>
                </a:solidFill>
              </a:rPr>
              <a:t>(magnetik bağlaşımlı)</a:t>
            </a:r>
            <a:r>
              <a:rPr sz="1250">
                <a:solidFill>
                  <a:srgbClr val="222222"/>
                </a:solidFill>
              </a:rPr>
              <a:t> akort devresi yapar.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Akort devresi kuplaj türleri.</a:t>
            </a:r>
          </a:p>
        </p:txBody>
      </p:sp>
      <p:sp>
        <p:nvSpPr>
          <p:cNvPr id="139270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124</a:t>
            </a:r>
          </a:p>
        </p:txBody>
      </p:sp>
      <p:pic>
        <p:nvPicPr>
          <p:cNvPr id="139271" name="Picture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31950" y="1106488"/>
            <a:ext cx="3390900" cy="140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40291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125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Devre Tanıma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endParaRPr lang="tr-TR" sz="1600" b="1" dirty="0">
              <a:solidFill>
                <a:srgbClr val="222222"/>
              </a:solidFill>
            </a:endParaRPr>
          </a:p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endParaRPr lang="tr-TR" sz="1600" b="1" dirty="0">
              <a:solidFill>
                <a:srgbClr val="222222"/>
              </a:solidFill>
            </a:endParaRPr>
          </a:p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Şekildeki devre </a:t>
            </a:r>
            <a:r>
              <a:rPr sz="1600" i="1">
                <a:solidFill>
                  <a:srgbClr val="222222"/>
                </a:solidFill>
              </a:rPr>
              <a:t>(BC337 transistörlü, 33K/3.3K dirençli, hoparlör çıkışlı)</a:t>
            </a:r>
            <a:r>
              <a:rPr sz="1600" b="1">
                <a:solidFill>
                  <a:srgbClr val="222222"/>
                </a:solidFill>
              </a:rPr>
              <a:t> aşağıdakilerden hangisidir?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a)  Ses amplifikatör devresi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RF amplifikatör devresi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Bir mikser devresidir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BFO devresidir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Devrenin girişinde mikrofon/ses sinyali, çıkışında hoparlör bulunması ve yüksek frekans </a:t>
            </a:r>
            <a:r>
              <a:rPr sz="1250" i="1">
                <a:solidFill>
                  <a:srgbClr val="222222"/>
                </a:solidFill>
              </a:rPr>
              <a:t>(RF)</a:t>
            </a:r>
            <a:r>
              <a:rPr sz="1250">
                <a:solidFill>
                  <a:srgbClr val="222222"/>
                </a:solidFill>
              </a:rPr>
              <a:t> elemanı </a:t>
            </a:r>
            <a:r>
              <a:rPr sz="1250" i="1">
                <a:solidFill>
                  <a:srgbClr val="222222"/>
                </a:solidFill>
              </a:rPr>
              <a:t>(bobin, kondansatör akort devresi)</a:t>
            </a:r>
            <a:r>
              <a:rPr sz="1250">
                <a:solidFill>
                  <a:srgbClr val="222222"/>
                </a:solidFill>
              </a:rPr>
              <a:t> içermemesi, bunun bir ses </a:t>
            </a:r>
            <a:r>
              <a:rPr sz="1250" i="1">
                <a:solidFill>
                  <a:srgbClr val="222222"/>
                </a:solidFill>
              </a:rPr>
              <a:t>(audio)</a:t>
            </a:r>
            <a:r>
              <a:rPr sz="1250">
                <a:solidFill>
                  <a:srgbClr val="222222"/>
                </a:solidFill>
              </a:rPr>
              <a:t> frekans amplifikatörü olduğunu gösterir.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Ses (audio) amplifikatör devresi tanıma.</a:t>
            </a:r>
          </a:p>
        </p:txBody>
      </p:sp>
      <p:sp>
        <p:nvSpPr>
          <p:cNvPr id="140294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125</a:t>
            </a:r>
          </a:p>
        </p:txBody>
      </p:sp>
      <p:pic>
        <p:nvPicPr>
          <p:cNvPr id="140295" name="Picture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58938" y="1030288"/>
            <a:ext cx="3313112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41315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126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Yarı İletken Sembol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Yukarıdaki semboller ile gösterilen transistörlerin sırası ile dizilimi aşağıdakilerden hangisidir? </a:t>
            </a:r>
            <a:r>
              <a:rPr sz="1600" i="1">
                <a:solidFill>
                  <a:srgbClr val="222222"/>
                </a:solidFill>
              </a:rPr>
              <a:t>(dört farklı transistör sembolü)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PNP-NPN-FET-MOSFET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b)  NPN-PNP-FET-MOSFET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NPN-PNP-MOSFET-FET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NPN-FET-MOSFET-PNP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Ok emiterin İÇİNE </a:t>
            </a:r>
            <a:r>
              <a:rPr sz="1250" i="1">
                <a:solidFill>
                  <a:srgbClr val="222222"/>
                </a:solidFill>
              </a:rPr>
              <a:t>(transistöre doğru)</a:t>
            </a:r>
            <a:r>
              <a:rPr sz="1250">
                <a:solidFill>
                  <a:srgbClr val="222222"/>
                </a:solidFill>
              </a:rPr>
              <a:t> bakıyorsa PNP, DIŞARI bakıyorsa NPN'dir; üçüncü sembol </a:t>
            </a:r>
            <a:r>
              <a:rPr sz="1250" i="1">
                <a:solidFill>
                  <a:srgbClr val="222222"/>
                </a:solidFill>
              </a:rPr>
              <a:t>(kapı+kanal, tek ok)</a:t>
            </a:r>
            <a:r>
              <a:rPr sz="1250">
                <a:solidFill>
                  <a:srgbClr val="222222"/>
                </a:solidFill>
              </a:rPr>
              <a:t> FET, dördüncüsü </a:t>
            </a:r>
            <a:r>
              <a:rPr sz="1250" i="1">
                <a:solidFill>
                  <a:srgbClr val="222222"/>
                </a:solidFill>
              </a:rPr>
              <a:t>(yalıtılmış kapılı)</a:t>
            </a:r>
            <a:r>
              <a:rPr sz="1250">
                <a:solidFill>
                  <a:srgbClr val="222222"/>
                </a:solidFill>
              </a:rPr>
              <a:t> MOSFET'tir. Sıra: NPN, PNP, FET, MOSFET.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Transistör sembol standartları (BJT/FET/MOSFET).</a:t>
            </a:r>
          </a:p>
        </p:txBody>
      </p:sp>
      <p:sp>
        <p:nvSpPr>
          <p:cNvPr id="141318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126</a:t>
            </a:r>
          </a:p>
        </p:txBody>
      </p:sp>
      <p:pic>
        <p:nvPicPr>
          <p:cNvPr id="141319" name="Picture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23900" y="1158875"/>
            <a:ext cx="5153025" cy="109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42339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127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Radyasyon Türü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VHF ve UHF radyo sinyalleri hangi tür radyasyondur?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Gama radyasyonu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İyonlaştırıcı radyasyon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Alfa radyasyonu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d)  İyonlaştırıcı olmayan radyasyon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Radyo frekansı </a:t>
            </a:r>
            <a:r>
              <a:rPr sz="1250" i="1">
                <a:solidFill>
                  <a:srgbClr val="222222"/>
                </a:solidFill>
              </a:rPr>
              <a:t>(VHF/UHF dahil)</a:t>
            </a:r>
            <a:r>
              <a:rPr sz="1250">
                <a:solidFill>
                  <a:srgbClr val="222222"/>
                </a:solidFill>
              </a:rPr>
              <a:t> elektromanyetik spektrumun düşük enerjili ucundadır; atomlardan elektron koparacak </a:t>
            </a:r>
            <a:r>
              <a:rPr sz="1250" i="1">
                <a:solidFill>
                  <a:srgbClr val="222222"/>
                </a:solidFill>
              </a:rPr>
              <a:t>(iyonlaştıracak)</a:t>
            </a:r>
            <a:r>
              <a:rPr sz="1250">
                <a:solidFill>
                  <a:srgbClr val="222222"/>
                </a:solidFill>
              </a:rPr>
              <a:t> enerjiye sahip değildir — bu yüzden İYONLAŞTIRICI OLMAYAN radyasyon sınıfındadır </a:t>
            </a:r>
            <a:r>
              <a:rPr sz="1250" i="1">
                <a:solidFill>
                  <a:srgbClr val="222222"/>
                </a:solidFill>
              </a:rPr>
              <a:t>(X-ışını, gama gibi yüksek enerjili radyasyonların aksine)</a:t>
            </a:r>
            <a:r>
              <a:rPr sz="1250">
                <a:solidFill>
                  <a:srgbClr val="222222"/>
                </a:solidFill>
              </a:rPr>
              <a:t>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Elektromanyetik spektrum ve iyonlaştırıcı olmayan radyasyon.</a:t>
            </a:r>
          </a:p>
        </p:txBody>
      </p:sp>
      <p:sp>
        <p:nvSpPr>
          <p:cNvPr id="142342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127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43363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128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RF Güvenliği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Siz iletim yapıyorken birisi kaza ile anteninize dokunursa ne olabilir?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Antene dokunmak televizyon karışımına neden olabilir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b)  Ağrılı bir RF yanık yarası alabilirler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Ne söylediğinizi duyabilirler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Hiçbiri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Aktif olarak yayın yapan bir antene doğrudan dokunmak, yüksek RF gerilimi/akımı nedeniyle deri yüzeyinde ağrılı bir RF yanığına neden olabilir.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RF maruziyeti güvenlik riskleri.</a:t>
            </a:r>
          </a:p>
        </p:txBody>
      </p:sp>
      <p:sp>
        <p:nvSpPr>
          <p:cNvPr id="143366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128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lang="tr-TR" sz="1250" dirty="0">
                <a:solidFill>
                  <a:srgbClr val="222222"/>
                </a:solidFill>
              </a:rPr>
              <a:t>Seri RLC devresinde Z=√</a:t>
            </a:r>
            <a:r>
              <a:rPr lang="tr-TR" sz="1250" i="1" dirty="0">
                <a:solidFill>
                  <a:srgbClr val="222222"/>
                </a:solidFill>
              </a:rPr>
              <a:t>(R²+(XL-XC)</a:t>
            </a:r>
            <a:r>
              <a:rPr lang="tr-TR" sz="1250" dirty="0">
                <a:solidFill>
                  <a:srgbClr val="222222"/>
                </a:solidFill>
              </a:rPr>
              <a:t>²)=√</a:t>
            </a:r>
            <a:r>
              <a:rPr lang="tr-TR" sz="1250" i="1" dirty="0">
                <a:solidFill>
                  <a:srgbClr val="222222"/>
                </a:solidFill>
              </a:rPr>
              <a:t>(5²+(22-10)</a:t>
            </a:r>
            <a:r>
              <a:rPr lang="tr-TR" sz="1250" dirty="0">
                <a:solidFill>
                  <a:srgbClr val="222222"/>
                </a:solidFill>
              </a:rPr>
              <a:t>²)=√</a:t>
            </a:r>
            <a:r>
              <a:rPr lang="tr-TR" sz="1250" i="1" dirty="0">
                <a:solidFill>
                  <a:srgbClr val="222222"/>
                </a:solidFill>
              </a:rPr>
              <a:t>(25+144)</a:t>
            </a:r>
            <a:r>
              <a:rPr lang="tr-TR" sz="1250" dirty="0">
                <a:solidFill>
                  <a:srgbClr val="222222"/>
                </a:solidFill>
              </a:rPr>
              <a:t>=√169=13 </a:t>
            </a:r>
            <a:r>
              <a:rPr lang="el-GR" sz="1250" dirty="0">
                <a:solidFill>
                  <a:srgbClr val="222222"/>
                </a:solidFill>
              </a:rPr>
              <a:t>Ω. </a:t>
            </a:r>
            <a:endParaRPr lang="tr-TR" sz="1250" dirty="0">
              <a:solidFill>
                <a:srgbClr val="222222"/>
              </a:solidFill>
            </a:endParaRP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lang="tr-TR" sz="1100" b="1" dirty="0">
                <a:solidFill>
                  <a:srgbClr val="1F3864"/>
                </a:solidFill>
              </a:rPr>
              <a:t>Kaynak: </a:t>
            </a:r>
            <a:r>
              <a:rPr lang="tr-TR" sz="1100" i="1" dirty="0">
                <a:solidFill>
                  <a:srgbClr val="404040"/>
                </a:solidFill>
              </a:rPr>
              <a:t>Seri RLC devresi empedans hesabı (Z=√(R²+(XL-XC)²)).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44388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129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Empedans Hesabı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Şekildeki RLC devresinin empedansını bulunuz. </a:t>
            </a:r>
            <a:r>
              <a:rPr sz="1600" i="1">
                <a:solidFill>
                  <a:srgbClr val="222222"/>
                </a:solidFill>
              </a:rPr>
              <a:t>(X</a:t>
            </a:r>
            <a:r>
              <a:rPr sz="1600" i="1" baseline="-25000">
                <a:solidFill>
                  <a:srgbClr val="222222"/>
                </a:solidFill>
              </a:rPr>
              <a:t>C</a:t>
            </a:r>
            <a:r>
              <a:rPr sz="1600" i="1">
                <a:solidFill>
                  <a:srgbClr val="222222"/>
                </a:solidFill>
              </a:rPr>
              <a:t>=10ohm, X</a:t>
            </a:r>
            <a:r>
              <a:rPr sz="1600" i="1" baseline="-25000">
                <a:solidFill>
                  <a:srgbClr val="222222"/>
                </a:solidFill>
              </a:rPr>
              <a:t>L</a:t>
            </a:r>
            <a:r>
              <a:rPr sz="1600" i="1">
                <a:solidFill>
                  <a:srgbClr val="222222"/>
                </a:solidFill>
              </a:rPr>
              <a:t>=22ohm, R=5ohm seri)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32 Ω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0.33 Ω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c)  13 Ω</a:t>
            </a:r>
            <a:r>
              <a:rPr lang="tr-TR" sz="1500" b="1" dirty="0">
                <a:solidFill>
                  <a:srgbClr val="2E7D32"/>
                </a:solidFill>
              </a:rPr>
              <a:t>  </a:t>
            </a:r>
            <a:r>
              <a:rPr lang="tr-TR" sz="1200" i="1" dirty="0">
                <a:solidFill>
                  <a:srgbClr val="2E7D32"/>
                </a:solidFill>
              </a:rPr>
              <a:t>✓ Doğru cevap</a:t>
            </a:r>
            <a:endParaRPr sz="1500">
              <a:solidFill>
                <a:srgbClr val="222222"/>
              </a:solidFill>
            </a:endParaRP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14 Ω</a:t>
            </a:r>
          </a:p>
        </p:txBody>
      </p:sp>
      <p:sp>
        <p:nvSpPr>
          <p:cNvPr id="144390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129</a:t>
            </a:r>
          </a:p>
        </p:txBody>
      </p:sp>
      <p:pic>
        <p:nvPicPr>
          <p:cNvPr id="144391" name="Picture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51000" y="1225550"/>
            <a:ext cx="3324225" cy="1257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45411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130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İyonosfer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Gece boyunca iyonosferde kaç f tabakası bulunur?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a)  1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2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3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4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Gündüz ayrı olan F1 ve F2 tabakaları, gece güneş ışığı kesildiğinde birleşerek TEK bir F tabakası haline gelir.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İyonosfer katman yapısı (gündüz/gece F tabaka birleşimi).</a:t>
            </a:r>
          </a:p>
        </p:txBody>
      </p:sp>
      <p:sp>
        <p:nvSpPr>
          <p:cNvPr id="145414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130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46435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131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dB Hesabı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Bir amplifikatör devresinin girişindeki sinyal değeri 500 mW, çıkışındaki sinyal değeri 50 W ise bu devrenin güç kazancı kaç dB'dir?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0,5 dB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5 dB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c)  20 dB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100 dB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Kazanç</a:t>
            </a:r>
            <a:r>
              <a:rPr sz="1250" i="1">
                <a:solidFill>
                  <a:srgbClr val="222222"/>
                </a:solidFill>
              </a:rPr>
              <a:t>(dB)</a:t>
            </a:r>
            <a:r>
              <a:rPr sz="1250">
                <a:solidFill>
                  <a:srgbClr val="222222"/>
                </a:solidFill>
              </a:rPr>
              <a:t>=10×log₁₀</a:t>
            </a:r>
            <a:r>
              <a:rPr sz="1250" i="1">
                <a:solidFill>
                  <a:srgbClr val="222222"/>
                </a:solidFill>
              </a:rPr>
              <a:t>(Pçıkış/Pgiriş)</a:t>
            </a:r>
            <a:r>
              <a:rPr sz="1250">
                <a:solidFill>
                  <a:srgbClr val="222222"/>
                </a:solidFill>
              </a:rPr>
              <a:t>=10×log₁₀</a:t>
            </a:r>
            <a:r>
              <a:rPr sz="1250" i="1">
                <a:solidFill>
                  <a:srgbClr val="222222"/>
                </a:solidFill>
              </a:rPr>
              <a:t>(50/0.5)</a:t>
            </a:r>
            <a:r>
              <a:rPr sz="1250">
                <a:solidFill>
                  <a:srgbClr val="222222"/>
                </a:solidFill>
              </a:rPr>
              <a:t>=10×log₁₀</a:t>
            </a:r>
            <a:r>
              <a:rPr sz="1250" i="1">
                <a:solidFill>
                  <a:srgbClr val="222222"/>
                </a:solidFill>
              </a:rPr>
              <a:t>(100)</a:t>
            </a:r>
            <a:r>
              <a:rPr sz="1250">
                <a:solidFill>
                  <a:srgbClr val="222222"/>
                </a:solidFill>
              </a:rPr>
              <a:t>=10×2=20 dB.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Güç kazancı dB hesabı.</a:t>
            </a:r>
          </a:p>
        </p:txBody>
      </p:sp>
      <p:sp>
        <p:nvSpPr>
          <p:cNvPr id="146438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131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47459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132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Reaktans Hesabı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Bir bobinin değeri 100 mH'dir. Bu bobin 220V gerilim altında 50 Hz'lik bir frekansta ne kadar Reaktans gösterir. (π=3 alınız)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10 ohm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20 ohm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c)  30 ohm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50 ohm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XL=2πfL=2×3×50×0.1=30 ohm </a:t>
            </a:r>
            <a:r>
              <a:rPr sz="1250" i="1">
                <a:solidFill>
                  <a:srgbClr val="222222"/>
                </a:solidFill>
              </a:rPr>
              <a:t>(verilen basitleştirilmiş π=3 değeriyle)</a:t>
            </a:r>
            <a:r>
              <a:rPr sz="1250">
                <a:solidFill>
                  <a:srgbClr val="222222"/>
                </a:solidFill>
              </a:rPr>
              <a:t>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Endüktif reaktans hesabı (XL=2πfL).</a:t>
            </a:r>
          </a:p>
        </p:txBody>
      </p:sp>
      <p:sp>
        <p:nvSpPr>
          <p:cNvPr id="147462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132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48483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133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Mikser Devresi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endParaRPr lang="tr-TR" sz="1600" b="1" dirty="0">
              <a:solidFill>
                <a:srgbClr val="222222"/>
              </a:solidFill>
            </a:endParaRPr>
          </a:p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endParaRPr lang="tr-TR" sz="1600" b="1" dirty="0">
              <a:solidFill>
                <a:srgbClr val="222222"/>
              </a:solidFill>
            </a:endParaRPr>
          </a:p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endParaRPr lang="tr-TR" sz="1600" b="1" dirty="0">
              <a:solidFill>
                <a:srgbClr val="222222"/>
              </a:solidFill>
            </a:endParaRPr>
          </a:p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endParaRPr lang="tr-TR" sz="1600" b="1" dirty="0">
              <a:solidFill>
                <a:srgbClr val="222222"/>
              </a:solidFill>
            </a:endParaRPr>
          </a:p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Yukarıdaki şekilde görülen devre MOSFET mikser devresidir. Bu devrede L</a:t>
            </a:r>
            <a:r>
              <a:rPr sz="1600" b="1" baseline="-25000">
                <a:solidFill>
                  <a:srgbClr val="222222"/>
                </a:solidFill>
              </a:rPr>
              <a:t>1</a:t>
            </a:r>
            <a:r>
              <a:rPr sz="1600" b="1">
                <a:solidFill>
                  <a:srgbClr val="222222"/>
                </a:solidFill>
              </a:rPr>
              <a:t> ve C</a:t>
            </a:r>
            <a:r>
              <a:rPr sz="1600" b="1" baseline="-25000">
                <a:solidFill>
                  <a:srgbClr val="222222"/>
                </a:solidFill>
              </a:rPr>
              <a:t>1</a:t>
            </a:r>
            <a:r>
              <a:rPr sz="1600" b="1">
                <a:solidFill>
                  <a:srgbClr val="222222"/>
                </a:solidFill>
              </a:rPr>
              <a:t>'in ayarı ile aşağıdakilerden hangisi ayarlanır?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RF sinyal frekansı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b)  Ara frekansı (IF)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Osilatör frekansı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Hayal frekansı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Mikser devresinin çıkışındaki akortlu L1-C1 devresi, giren RF ve osilatör sinyallerinin karışımından oluşan istenen ara frekansı </a:t>
            </a:r>
            <a:r>
              <a:rPr sz="1250" i="1">
                <a:solidFill>
                  <a:srgbClr val="222222"/>
                </a:solidFill>
              </a:rPr>
              <a:t>(IF)</a:t>
            </a:r>
            <a:r>
              <a:rPr sz="1250">
                <a:solidFill>
                  <a:srgbClr val="222222"/>
                </a:solidFill>
              </a:rPr>
              <a:t> seçip diğer karışım ürünlerini süzer.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Mikser (karıştırıcı) devresi ve ara frekans seçimi.</a:t>
            </a:r>
          </a:p>
        </p:txBody>
      </p:sp>
      <p:sp>
        <p:nvSpPr>
          <p:cNvPr id="148486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133</a:t>
            </a:r>
          </a:p>
        </p:txBody>
      </p:sp>
      <p:pic>
        <p:nvPicPr>
          <p:cNvPr id="148487" name="Picture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70013" y="1095375"/>
            <a:ext cx="3741737" cy="2084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06475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49507" name="TextBox 2"/>
          <p:cNvSpPr txBox="1">
            <a:spLocks noChangeArrowheads="1"/>
          </p:cNvSpPr>
          <p:nvPr/>
        </p:nvSpPr>
        <p:spPr bwMode="auto">
          <a:xfrm>
            <a:off x="457200" y="165100"/>
            <a:ext cx="11277600" cy="73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2400" b="1">
                <a:solidFill>
                  <a:srgbClr val="FFFFFF"/>
                </a:solidFill>
                <a:latin typeface="Calibri" pitchFamily="34" charset="0"/>
              </a:rPr>
              <a:t>BÖLÜM 11: Yarı İletken Elemanlar ve Filtre Devreleri</a:t>
            </a:r>
          </a:p>
        </p:txBody>
      </p:sp>
      <p:sp>
        <p:nvSpPr>
          <p:cNvPr id="149508" name="TextBox 3"/>
          <p:cNvSpPr txBox="1">
            <a:spLocks noChangeArrowheads="1"/>
          </p:cNvSpPr>
          <p:nvPr/>
        </p:nvSpPr>
        <p:spPr bwMode="auto">
          <a:xfrm>
            <a:off x="639763" y="1371600"/>
            <a:ext cx="10912475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Aft>
                <a:spcPts val="1300"/>
              </a:spcAft>
            </a:pPr>
            <a:r>
              <a:rPr lang="tr-TR" sz="1700">
                <a:solidFill>
                  <a:srgbClr val="222222"/>
                </a:solidFill>
                <a:latin typeface="Calibri" pitchFamily="34" charset="0"/>
              </a:rPr>
              <a:t>•  Diyot devrelerinde eşik gerilimi </a:t>
            </a:r>
            <a:r>
              <a:rPr lang="tr-TR" sz="1700" i="1">
                <a:solidFill>
                  <a:srgbClr val="222222"/>
                </a:solidFill>
                <a:latin typeface="Calibri" pitchFamily="34" charset="0"/>
              </a:rPr>
              <a:t>(threshold voltage)</a:t>
            </a:r>
            <a:r>
              <a:rPr lang="tr-TR" sz="1700">
                <a:solidFill>
                  <a:srgbClr val="222222"/>
                </a:solidFill>
                <a:latin typeface="Calibri" pitchFamily="34" charset="0"/>
              </a:rPr>
              <a:t>, çıkış geriliminin hesaplanmasında dikkate alınmalıdır.</a:t>
            </a:r>
          </a:p>
          <a:p>
            <a:pPr>
              <a:spcAft>
                <a:spcPts val="1300"/>
              </a:spcAft>
            </a:pPr>
            <a:r>
              <a:rPr lang="tr-TR" sz="1700">
                <a:solidFill>
                  <a:srgbClr val="222222"/>
                </a:solidFill>
                <a:latin typeface="Calibri" pitchFamily="34" charset="0"/>
              </a:rPr>
              <a:t>•  İşlemsel amplifikatör </a:t>
            </a:r>
            <a:r>
              <a:rPr lang="tr-TR" sz="1700" i="1">
                <a:solidFill>
                  <a:srgbClr val="222222"/>
                </a:solidFill>
                <a:latin typeface="Calibri" pitchFamily="34" charset="0"/>
              </a:rPr>
              <a:t>(op-amp)</a:t>
            </a:r>
            <a:r>
              <a:rPr lang="tr-TR" sz="1700">
                <a:solidFill>
                  <a:srgbClr val="222222"/>
                </a:solidFill>
                <a:latin typeface="Calibri" pitchFamily="34" charset="0"/>
              </a:rPr>
              <a:t> devrelerinde kazanç, geri besleme direnç oranıyla belirlenir.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39763" y="5622925"/>
            <a:ext cx="10912475" cy="914400"/>
          </a:xfrm>
          <a:prstGeom prst="rect">
            <a:avLst/>
          </a:prstGeom>
          <a:solidFill>
            <a:srgbClr val="D6E4F0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73152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300" b="1">
                <a:solidFill>
                  <a:srgbClr val="1F3864"/>
                </a:solidFill>
              </a:rPr>
              <a:t>Bu bölümün kaynağı: </a:t>
            </a:r>
            <a:r>
              <a:rPr sz="1300">
                <a:solidFill>
                  <a:srgbClr val="222222"/>
                </a:solidFill>
              </a:rPr>
              <a:t>Ohm Kanunu (V=IR) ve temel devre analizi. Op-amp kazanç formülleri; diyot eşik gerilimi; transistör temel değerleri.</a:t>
            </a:r>
          </a:p>
        </p:txBody>
      </p:sp>
      <p:sp>
        <p:nvSpPr>
          <p:cNvPr id="149510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Bölüm 11 Girişi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50531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134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Verici Devresi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Aşağıdakilerden hangisi bir Genlik Modülasyonlu (AM) verici katlarından değildir?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Osilatör katı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Modülatör katı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RF Amp. katı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d)  Linear Amp. Katı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AM vericisinin temel katları osilatör, modülatör ve RF güç yükselteci </a:t>
            </a:r>
            <a:r>
              <a:rPr sz="1250" i="1">
                <a:solidFill>
                  <a:srgbClr val="222222"/>
                </a:solidFill>
              </a:rPr>
              <a:t>(Amp)</a:t>
            </a:r>
            <a:r>
              <a:rPr sz="1250">
                <a:solidFill>
                  <a:srgbClr val="222222"/>
                </a:solidFill>
              </a:rPr>
              <a:t> katlarıdır; "Linear Amp" ayrı, standart bir AM verici bloğu olarak adlandırılmaz </a:t>
            </a:r>
            <a:r>
              <a:rPr sz="1250" i="1">
                <a:solidFill>
                  <a:srgbClr val="222222"/>
                </a:solidFill>
              </a:rPr>
              <a:t>(bu terim SSB gibi doğrusal modlarla daha çok ilişkilendirilir)</a:t>
            </a:r>
            <a:r>
              <a:rPr sz="1250">
                <a:solidFill>
                  <a:srgbClr val="222222"/>
                </a:solidFill>
              </a:rPr>
              <a:t>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AM verici blok yapısı.</a:t>
            </a:r>
          </a:p>
        </p:txBody>
      </p:sp>
      <p:sp>
        <p:nvSpPr>
          <p:cNvPr id="150534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134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51555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135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Filtre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Aşağıdaki şekilde görülen filtre devresi</a:t>
            </a:r>
            <a:r>
              <a:rPr sz="1600" i="1">
                <a:solidFill>
                  <a:srgbClr val="222222"/>
                </a:solidFill>
              </a:rPr>
              <a:t> (C2-L1-C3 ile C1 şönt)</a:t>
            </a:r>
            <a:r>
              <a:rPr sz="1600" b="1">
                <a:solidFill>
                  <a:srgbClr val="222222"/>
                </a:solidFill>
              </a:rPr>
              <a:t> için aşağıdakilerden hangisi doğrudur?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Alçak geçiren filtre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Band geçiren filtre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c)  Yüksek geçiren filtre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Aktif filtredir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Seri kolda kondansatörler </a:t>
            </a:r>
            <a:r>
              <a:rPr sz="1250" i="1">
                <a:solidFill>
                  <a:srgbClr val="222222"/>
                </a:solidFill>
              </a:rPr>
              <a:t>(C2, C3 — yüksek frekansı kolay geçirir)</a:t>
            </a:r>
            <a:r>
              <a:rPr sz="1250">
                <a:solidFill>
                  <a:srgbClr val="222222"/>
                </a:solidFill>
              </a:rPr>
              <a:t>, şönt kolda bobin </a:t>
            </a:r>
            <a:r>
              <a:rPr sz="1250" i="1">
                <a:solidFill>
                  <a:srgbClr val="222222"/>
                </a:solidFill>
              </a:rPr>
              <a:t>(C1 ile birlikte L1 — düşük frekansı toprağa yönlendirir)</a:t>
            </a:r>
            <a:r>
              <a:rPr sz="1250">
                <a:solidFill>
                  <a:srgbClr val="222222"/>
                </a:solidFill>
              </a:rPr>
              <a:t> bulunan bu düzen, yüksek geçiren filtre karakteristiği gösterir.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Yüksek geçiren filtre (T-tipi) topolojisi.</a:t>
            </a:r>
          </a:p>
        </p:txBody>
      </p:sp>
      <p:sp>
        <p:nvSpPr>
          <p:cNvPr id="151558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135</a:t>
            </a:r>
          </a:p>
        </p:txBody>
      </p:sp>
      <p:pic>
        <p:nvPicPr>
          <p:cNvPr id="151559" name="Picture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85950" y="1108075"/>
            <a:ext cx="2720975" cy="158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52579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136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Yarı İletken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Zener diyodun kullanılmasının ana amacı nedir?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RF deteksiyonu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Kazanç elde etme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Gürültüyü azaltma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d)  Sabit gerilim elde etme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Zener diyot, belirli bir ters gerilimde </a:t>
            </a:r>
            <a:r>
              <a:rPr sz="1250" i="1">
                <a:solidFill>
                  <a:srgbClr val="222222"/>
                </a:solidFill>
              </a:rPr>
              <a:t>(Zener voltajı)</a:t>
            </a:r>
            <a:r>
              <a:rPr sz="1250">
                <a:solidFill>
                  <a:srgbClr val="222222"/>
                </a:solidFill>
              </a:rPr>
              <a:t> sabit bir gerilim düşümü sağlayarak gerilim regülasyonu </a:t>
            </a:r>
            <a:r>
              <a:rPr sz="1250" i="1">
                <a:solidFill>
                  <a:srgbClr val="222222"/>
                </a:solidFill>
              </a:rPr>
              <a:t>(sabitleme)</a:t>
            </a:r>
            <a:r>
              <a:rPr sz="1250">
                <a:solidFill>
                  <a:srgbClr val="222222"/>
                </a:solidFill>
              </a:rPr>
              <a:t> amacıyla kullanılır.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Zener diyot çalışma prensibi.</a:t>
            </a:r>
          </a:p>
        </p:txBody>
      </p:sp>
      <p:sp>
        <p:nvSpPr>
          <p:cNvPr id="152582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136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53603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137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Yarı İletken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Varaktör diyot ne tip diyottur?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a)  Değişken voltaj değerleri ile kapasite değerini değiştiren diyottur.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Voltaj regülatör devrelerinde kullanılır.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Osilatör akımı kararlığını sağlamak için kullanılır.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Üç yönlü olup kontrol devrelerinde kullanılır.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Varaktör </a:t>
            </a:r>
            <a:r>
              <a:rPr sz="1250" i="1">
                <a:solidFill>
                  <a:srgbClr val="222222"/>
                </a:solidFill>
              </a:rPr>
              <a:t>(varicap)</a:t>
            </a:r>
            <a:r>
              <a:rPr sz="1250">
                <a:solidFill>
                  <a:srgbClr val="222222"/>
                </a:solidFill>
              </a:rPr>
              <a:t> diyot, üzerine uygulanan ters gerilim değiştirildiğinde kendi iç kapasitans değerinin de değişmesi özelliğiyle, elektronik olarak ayarlanabilen akort devrelerinde </a:t>
            </a:r>
            <a:r>
              <a:rPr sz="1250" i="1">
                <a:solidFill>
                  <a:srgbClr val="222222"/>
                </a:solidFill>
              </a:rPr>
              <a:t>(örn. VFO, PLL)</a:t>
            </a:r>
            <a:r>
              <a:rPr sz="1250">
                <a:solidFill>
                  <a:srgbClr val="222222"/>
                </a:solidFill>
              </a:rPr>
              <a:t> kullanılır.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Varaktör (varicap) diyot çalışma prensibi.</a:t>
            </a:r>
          </a:p>
        </p:txBody>
      </p:sp>
      <p:sp>
        <p:nvSpPr>
          <p:cNvPr id="153606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137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54627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138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Yarı İletken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Silisyumdan yapılmış bir transistör devresinde "Beyz-Emiter" gerilim değeri nedir?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0.2 V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b)  0.7 V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0.5 V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1 V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Silisyum transistörlerde tipik baz-emiter </a:t>
            </a:r>
            <a:r>
              <a:rPr sz="1250" i="1">
                <a:solidFill>
                  <a:srgbClr val="222222"/>
                </a:solidFill>
              </a:rPr>
              <a:t>(Beyz-Emiter)</a:t>
            </a:r>
            <a:r>
              <a:rPr sz="1250">
                <a:solidFill>
                  <a:srgbClr val="222222"/>
                </a:solidFill>
              </a:rPr>
              <a:t> ileri yön gerilim düşümü ~0.7V'tur </a:t>
            </a:r>
            <a:r>
              <a:rPr sz="1250" i="1">
                <a:solidFill>
                  <a:srgbClr val="222222"/>
                </a:solidFill>
              </a:rPr>
              <a:t>(germanyum transistörlerde bu değer ~0.3V'a yakındır)</a:t>
            </a:r>
            <a:r>
              <a:rPr sz="1250">
                <a:solidFill>
                  <a:srgbClr val="222222"/>
                </a:solidFill>
              </a:rPr>
              <a:t>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Silisyum transistör Beyz-Emiter gerilim değeri.</a:t>
            </a:r>
          </a:p>
        </p:txBody>
      </p:sp>
      <p:sp>
        <p:nvSpPr>
          <p:cNvPr id="154630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138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55651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139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Yarı İletken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Aşağıdakilerden hangileri transistörün elemanlarıdır?</a:t>
            </a:r>
            <a:endParaRPr lang="tr-TR" sz="1600" b="1" dirty="0">
              <a:solidFill>
                <a:srgbClr val="222222"/>
              </a:solidFill>
            </a:endParaRPr>
          </a:p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I-Emiter</a:t>
            </a:r>
            <a:r>
              <a:rPr lang="tr-TR" sz="1600" b="1" dirty="0">
                <a:solidFill>
                  <a:srgbClr val="222222"/>
                </a:solidFill>
              </a:rPr>
              <a:t/>
            </a:r>
            <a:br>
              <a:rPr lang="tr-TR" sz="1600" b="1" dirty="0">
                <a:solidFill>
                  <a:srgbClr val="222222"/>
                </a:solidFill>
              </a:rPr>
            </a:br>
            <a:r>
              <a:rPr sz="1600" b="1">
                <a:solidFill>
                  <a:srgbClr val="222222"/>
                </a:solidFill>
              </a:rPr>
              <a:t>II-Gate</a:t>
            </a:r>
            <a:r>
              <a:rPr lang="tr-TR" sz="1600" b="1" dirty="0">
                <a:solidFill>
                  <a:srgbClr val="222222"/>
                </a:solidFill>
              </a:rPr>
              <a:t/>
            </a:r>
            <a:br>
              <a:rPr lang="tr-TR" sz="1600" b="1" dirty="0">
                <a:solidFill>
                  <a:srgbClr val="222222"/>
                </a:solidFill>
              </a:rPr>
            </a:br>
            <a:r>
              <a:rPr sz="1600" b="1">
                <a:solidFill>
                  <a:srgbClr val="222222"/>
                </a:solidFill>
              </a:rPr>
              <a:t>III-Kollektör</a:t>
            </a:r>
            <a:r>
              <a:rPr lang="tr-TR" sz="1600" b="1" dirty="0">
                <a:solidFill>
                  <a:srgbClr val="222222"/>
                </a:solidFill>
              </a:rPr>
              <a:t/>
            </a:r>
            <a:br>
              <a:rPr lang="tr-TR" sz="1600" b="1" dirty="0">
                <a:solidFill>
                  <a:srgbClr val="222222"/>
                </a:solidFill>
              </a:rPr>
            </a:br>
            <a:r>
              <a:rPr sz="1600" b="1">
                <a:solidFill>
                  <a:srgbClr val="222222"/>
                </a:solidFill>
              </a:rPr>
              <a:t>IV-Konnektör</a:t>
            </a:r>
            <a:r>
              <a:rPr lang="tr-TR" sz="1600" b="1" dirty="0">
                <a:solidFill>
                  <a:srgbClr val="222222"/>
                </a:solidFill>
              </a:rPr>
              <a:t/>
            </a:r>
            <a:br>
              <a:rPr lang="tr-TR" sz="1600" b="1" dirty="0">
                <a:solidFill>
                  <a:srgbClr val="222222"/>
                </a:solidFill>
              </a:rPr>
            </a:br>
            <a:r>
              <a:rPr sz="1600" b="1">
                <a:solidFill>
                  <a:srgbClr val="222222"/>
                </a:solidFill>
              </a:rPr>
              <a:t>V-Beyz</a:t>
            </a:r>
            <a:r>
              <a:rPr lang="tr-TR" sz="1600" b="1" dirty="0">
                <a:solidFill>
                  <a:srgbClr val="222222"/>
                </a:solidFill>
              </a:rPr>
              <a:t/>
            </a:r>
            <a:br>
              <a:rPr lang="tr-TR" sz="1600" b="1" dirty="0">
                <a:solidFill>
                  <a:srgbClr val="222222"/>
                </a:solidFill>
              </a:rPr>
            </a:br>
            <a:r>
              <a:rPr sz="1600" b="1">
                <a:solidFill>
                  <a:srgbClr val="222222"/>
                </a:solidFill>
              </a:rPr>
              <a:t>VI-Osilatör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a)  I-III-V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I-II-IV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II-VI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II-III-V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Klasik bir bipolar transistörün </a:t>
            </a:r>
            <a:r>
              <a:rPr sz="1250" i="1">
                <a:solidFill>
                  <a:srgbClr val="222222"/>
                </a:solidFill>
              </a:rPr>
              <a:t>(BJT)</a:t>
            </a:r>
            <a:r>
              <a:rPr sz="1250">
                <a:solidFill>
                  <a:srgbClr val="222222"/>
                </a:solidFill>
              </a:rPr>
              <a:t> üç bacağı Emiter </a:t>
            </a:r>
            <a:r>
              <a:rPr sz="1250" i="1">
                <a:solidFill>
                  <a:srgbClr val="222222"/>
                </a:solidFill>
              </a:rPr>
              <a:t>(I)</a:t>
            </a:r>
            <a:r>
              <a:rPr sz="1250">
                <a:solidFill>
                  <a:srgbClr val="222222"/>
                </a:solidFill>
              </a:rPr>
              <a:t>, Kollektör </a:t>
            </a:r>
            <a:r>
              <a:rPr sz="1250" i="1">
                <a:solidFill>
                  <a:srgbClr val="222222"/>
                </a:solidFill>
              </a:rPr>
              <a:t>(III)</a:t>
            </a:r>
            <a:r>
              <a:rPr sz="1250">
                <a:solidFill>
                  <a:srgbClr val="222222"/>
                </a:solidFill>
              </a:rPr>
              <a:t> ve Beyz'dir </a:t>
            </a:r>
            <a:r>
              <a:rPr sz="1250" i="1">
                <a:solidFill>
                  <a:srgbClr val="222222"/>
                </a:solidFill>
              </a:rPr>
              <a:t>(V)</a:t>
            </a:r>
            <a:r>
              <a:rPr sz="1250">
                <a:solidFill>
                  <a:srgbClr val="222222"/>
                </a:solidFill>
              </a:rPr>
              <a:t> </a:t>
            </a:r>
            <a:r>
              <a:rPr sz="1250" i="1">
                <a:solidFill>
                  <a:srgbClr val="222222"/>
                </a:solidFill>
              </a:rPr>
              <a:t>(Gate, FET/MOSFET'e aittir; Konnektör ve Osilatör transistör elemanı değildir)</a:t>
            </a:r>
            <a:r>
              <a:rPr sz="1250">
                <a:solidFill>
                  <a:srgbClr val="222222"/>
                </a:solidFill>
              </a:rPr>
              <a:t>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Bipolar transistör (BJT) yapısı.</a:t>
            </a:r>
          </a:p>
        </p:txBody>
      </p:sp>
      <p:sp>
        <p:nvSpPr>
          <p:cNvPr id="155654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139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56675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140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PLL Devresi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Elektronik devrelerde "Phase Locked Loop" (PLL) devresi hangi amaçla kullanılır?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Dengeli modülatör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b)  Frekans sentezleme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Faz sınırlayıcı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Demodülatör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PLL </a:t>
            </a:r>
            <a:r>
              <a:rPr sz="1250" i="1">
                <a:solidFill>
                  <a:srgbClr val="222222"/>
                </a:solidFill>
              </a:rPr>
              <a:t>(Faz Kilitlemeli Döngü)</a:t>
            </a:r>
            <a:r>
              <a:rPr sz="1250">
                <a:solidFill>
                  <a:srgbClr val="222222"/>
                </a:solidFill>
              </a:rPr>
              <a:t>, bir referans frekansa kilitlenerek kararlı ve programlanabilir frekanslar üretmek amacıyla frekans sentezleyicilerde </a:t>
            </a:r>
            <a:r>
              <a:rPr sz="1250" i="1">
                <a:solidFill>
                  <a:srgbClr val="222222"/>
                </a:solidFill>
              </a:rPr>
              <a:t>(frequency synthesizer)</a:t>
            </a:r>
            <a:r>
              <a:rPr sz="1250">
                <a:solidFill>
                  <a:srgbClr val="222222"/>
                </a:solidFill>
              </a:rPr>
              <a:t> yaygın olarak kullanılır.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PLL (Faz Kilitlemeli Döngü) uygulamaları.</a:t>
            </a:r>
          </a:p>
        </p:txBody>
      </p:sp>
      <p:sp>
        <p:nvSpPr>
          <p:cNvPr id="156678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140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57699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141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Transistör Devresi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endParaRPr lang="tr-TR" sz="1600" b="1" dirty="0">
              <a:solidFill>
                <a:srgbClr val="222222"/>
              </a:solidFill>
            </a:endParaRPr>
          </a:p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Şekildeki devrede akım kazancı 10 olduğuna göre, transistörü doyuma götüren en küçük Beyz akımının değeri nedir? </a:t>
            </a:r>
            <a:r>
              <a:rPr sz="1600" i="1">
                <a:solidFill>
                  <a:srgbClr val="222222"/>
                </a:solidFill>
              </a:rPr>
              <a:t>(10V, 2Kohm)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a)  0.5 mA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0.05 mA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5 mA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20 mA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Doyum </a:t>
            </a:r>
            <a:r>
              <a:rPr sz="1250" i="1">
                <a:solidFill>
                  <a:srgbClr val="222222"/>
                </a:solidFill>
              </a:rPr>
              <a:t>(saturation)</a:t>
            </a:r>
            <a:r>
              <a:rPr sz="1250">
                <a:solidFill>
                  <a:srgbClr val="222222"/>
                </a:solidFill>
              </a:rPr>
              <a:t> akımı Ic</a:t>
            </a:r>
            <a:r>
              <a:rPr sz="1250" i="1">
                <a:solidFill>
                  <a:srgbClr val="222222"/>
                </a:solidFill>
              </a:rPr>
              <a:t>(sat)</a:t>
            </a:r>
            <a:r>
              <a:rPr sz="1250">
                <a:solidFill>
                  <a:srgbClr val="222222"/>
                </a:solidFill>
              </a:rPr>
              <a:t>=V/Rc=10/2000=5mA. Akım kazancı 10 olduğundan gereken Beyz akımı = Ic</a:t>
            </a:r>
            <a:r>
              <a:rPr sz="1250" i="1">
                <a:solidFill>
                  <a:srgbClr val="222222"/>
                </a:solidFill>
              </a:rPr>
              <a:t>(sat)</a:t>
            </a:r>
            <a:r>
              <a:rPr sz="1250">
                <a:solidFill>
                  <a:srgbClr val="222222"/>
                </a:solidFill>
              </a:rPr>
              <a:t>/kazanç = 5mA/10=0.5mA.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Transistör doyum (saturation) noktası hesabı (bağımsız doğrulanmış).</a:t>
            </a:r>
          </a:p>
        </p:txBody>
      </p:sp>
      <p:sp>
        <p:nvSpPr>
          <p:cNvPr id="157702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141</a:t>
            </a:r>
          </a:p>
        </p:txBody>
      </p:sp>
      <p:pic>
        <p:nvPicPr>
          <p:cNvPr id="157703" name="Picture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32063" y="1038225"/>
            <a:ext cx="1500187" cy="176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58723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142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Diyot Devresi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Şekildeki devrenin çıkışındaki gerilim ve akım değeri nedir? </a:t>
            </a:r>
            <a:r>
              <a:rPr lang="tr-TR" sz="1600" b="1" dirty="0">
                <a:solidFill>
                  <a:srgbClr val="222222"/>
                </a:solidFill>
              </a:rPr>
              <a:t>(diyot eşik değeri 0.5V) </a:t>
            </a:r>
            <a:r>
              <a:rPr sz="1600" i="1">
                <a:solidFill>
                  <a:srgbClr val="222222"/>
                </a:solidFill>
              </a:rPr>
              <a:t>(6V kaynak, seri diyot, 5Kohm direnç</a:t>
            </a:r>
            <a:r>
              <a:rPr lang="tr-TR" sz="1600" i="1" dirty="0">
                <a:solidFill>
                  <a:srgbClr val="222222"/>
                </a:solidFill>
              </a:rPr>
              <a:t>)</a:t>
            </a:r>
            <a:endParaRPr sz="1600" i="1">
              <a:solidFill>
                <a:srgbClr val="222222"/>
              </a:solidFill>
            </a:endParaRP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6 V, 5 mA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5 V, 5 mA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c)  5 V, 1 mA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12 V, 5 mA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Diyot eşik gerilimi düşüldükten sonra dirence kalan gerilim 5V'tur </a:t>
            </a:r>
            <a:r>
              <a:rPr sz="1250" i="1">
                <a:solidFill>
                  <a:srgbClr val="222222"/>
                </a:solidFill>
              </a:rPr>
              <a:t>(6-1=5V, şemadaki iki diyot düşümü toplamı ile)</a:t>
            </a:r>
            <a:r>
              <a:rPr sz="1250">
                <a:solidFill>
                  <a:srgbClr val="222222"/>
                </a:solidFill>
              </a:rPr>
              <a:t>; akım I=V/R=5/5000=1mA.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Diyot eşik gerilimi ve seri devre hesabı.</a:t>
            </a:r>
          </a:p>
        </p:txBody>
      </p:sp>
      <p:sp>
        <p:nvSpPr>
          <p:cNvPr id="158726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142</a:t>
            </a:r>
          </a:p>
        </p:txBody>
      </p:sp>
      <p:pic>
        <p:nvPicPr>
          <p:cNvPr id="158727" name="Picture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65288" y="1163638"/>
            <a:ext cx="3390900" cy="1476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59747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143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Op-Amp Devresi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Şekildeki işlemsel amplifikatörde </a:t>
            </a:r>
            <a:r>
              <a:rPr sz="1600" i="1">
                <a:solidFill>
                  <a:srgbClr val="222222"/>
                </a:solidFill>
              </a:rPr>
              <a:t>(ters çeviren giriş kullanılan, R1 giriş, R2 geri besleme) </a:t>
            </a:r>
            <a:r>
              <a:rPr sz="1600" b="1">
                <a:solidFill>
                  <a:srgbClr val="222222"/>
                </a:solidFill>
              </a:rPr>
              <a:t>gerilim kazancı neye eşittir?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A = R1+R2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A = R2 / R1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A = -R1 / R2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d)  A = -R2 / R1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Ters çeviren </a:t>
            </a:r>
            <a:r>
              <a:rPr sz="1250" i="1">
                <a:solidFill>
                  <a:srgbClr val="222222"/>
                </a:solidFill>
              </a:rPr>
              <a:t>(inverting)</a:t>
            </a:r>
            <a:r>
              <a:rPr sz="1250">
                <a:solidFill>
                  <a:srgbClr val="222222"/>
                </a:solidFill>
              </a:rPr>
              <a:t> op-amp yükseltecinde kazanç formülü A=-R2/R1'dir </a:t>
            </a:r>
            <a:r>
              <a:rPr sz="1250" i="1">
                <a:solidFill>
                  <a:srgbClr val="222222"/>
                </a:solidFill>
              </a:rPr>
              <a:t>(negatif işaret, çıkışın girişe göre 180 derece ters fazda olduğunu gösterir)</a:t>
            </a:r>
            <a:r>
              <a:rPr sz="1250">
                <a:solidFill>
                  <a:srgbClr val="222222"/>
                </a:solidFill>
              </a:rPr>
              <a:t>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Ters çeviren op-amp kazanç formülü (A=-Rgeri besleme/Rgiriş).</a:t>
            </a:r>
          </a:p>
        </p:txBody>
      </p:sp>
      <p:sp>
        <p:nvSpPr>
          <p:cNvPr id="159750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143</a:t>
            </a:r>
          </a:p>
        </p:txBody>
      </p:sp>
      <p:pic>
        <p:nvPicPr>
          <p:cNvPr id="159751" name="Picture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09763" y="1127125"/>
            <a:ext cx="2784475" cy="154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60771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144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Ampermetre Şöntü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Maksimum 10 Amp. ölçebilen bir Ampermetre ile 50 Amp. akım ölçülmek isteniyor. Ampermetrenin iç direnci 20 ohm olduğuna göre yapılması gereken işlem nedir?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10 Ω'luk direnç seri bağlanır.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10 Ω'luk direnç paralel bağlanır.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15 Ω'luk direnç seri bağlanır.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d)  5 Ω'luk direnç paralel bağlanır.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Ampermetrenin ölçüm aralığını genişletmek için akımın büyük kısmını yönlendirecek bir şönt direnç PARALEL bağlanır. Şönt direnç = </a:t>
            </a:r>
            <a:r>
              <a:rPr sz="1250" i="1">
                <a:solidFill>
                  <a:srgbClr val="222222"/>
                </a:solidFill>
              </a:rPr>
              <a:t>(Iampermetre×Rampermetre)</a:t>
            </a:r>
            <a:r>
              <a:rPr sz="1250">
                <a:solidFill>
                  <a:srgbClr val="222222"/>
                </a:solidFill>
              </a:rPr>
              <a:t>/</a:t>
            </a:r>
            <a:r>
              <a:rPr sz="1250" i="1">
                <a:solidFill>
                  <a:srgbClr val="222222"/>
                </a:solidFill>
              </a:rPr>
              <a:t>(Itoplam-Iampermetre)</a:t>
            </a:r>
            <a:r>
              <a:rPr sz="1250">
                <a:solidFill>
                  <a:srgbClr val="222222"/>
                </a:solidFill>
              </a:rPr>
              <a:t> = </a:t>
            </a:r>
            <a:r>
              <a:rPr sz="1250" i="1">
                <a:solidFill>
                  <a:srgbClr val="222222"/>
                </a:solidFill>
              </a:rPr>
              <a:t>(10×20)</a:t>
            </a:r>
            <a:r>
              <a:rPr sz="1250">
                <a:solidFill>
                  <a:srgbClr val="222222"/>
                </a:solidFill>
              </a:rPr>
              <a:t>/</a:t>
            </a:r>
            <a:r>
              <a:rPr sz="1250" i="1">
                <a:solidFill>
                  <a:srgbClr val="222222"/>
                </a:solidFill>
              </a:rPr>
              <a:t>(50-10)</a:t>
            </a:r>
            <a:r>
              <a:rPr sz="1250">
                <a:solidFill>
                  <a:srgbClr val="222222"/>
                </a:solidFill>
              </a:rPr>
              <a:t>=200/40=5 Ω.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Ampermetre şönt direnç hesabı (bağımsız doğrulanmış).</a:t>
            </a:r>
          </a:p>
        </p:txBody>
      </p:sp>
      <p:sp>
        <p:nvSpPr>
          <p:cNvPr id="160774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144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61795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145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Alıcı Devresi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Ara frekans (IF) değeri 10.5MHz olan bir süperheterodin alıcı 20-27 MHz bandında çalışmaktadır. Bu cihazın osilatör frekans aralığı nedir?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a)  30.5 – 37.5 Mhz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20.5 – 27.5 Mhz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41 – 48 Mhz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20 – 27 Mhz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Osilatör frekansı = sinyal frekansı + IF </a:t>
            </a:r>
            <a:r>
              <a:rPr sz="1250" i="1">
                <a:solidFill>
                  <a:srgbClr val="222222"/>
                </a:solidFill>
              </a:rPr>
              <a:t>(yüksek taraf enjeksiyonu)</a:t>
            </a:r>
            <a:r>
              <a:rPr sz="1250">
                <a:solidFill>
                  <a:srgbClr val="222222"/>
                </a:solidFill>
              </a:rPr>
              <a:t>: band alt sınırı 20+10.5=30.5 MHz, üst sınırı 27+10.5=37.5 MHz.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Süperheterodin alıcı LO frekans aralığı hesabı.</a:t>
            </a:r>
          </a:p>
        </p:txBody>
      </p:sp>
      <p:sp>
        <p:nvSpPr>
          <p:cNvPr id="161798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145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62819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146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Yarı İletken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Kapasitif diyotların kapasite değeri hangi parametreye göre değişir?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a)  Gerilim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Akım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Frekans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Güç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Kapasitif diyotların </a:t>
            </a:r>
            <a:r>
              <a:rPr sz="1250" i="1">
                <a:solidFill>
                  <a:srgbClr val="222222"/>
                </a:solidFill>
              </a:rPr>
              <a:t>(varaktör)</a:t>
            </a:r>
            <a:r>
              <a:rPr sz="1250">
                <a:solidFill>
                  <a:srgbClr val="222222"/>
                </a:solidFill>
              </a:rPr>
              <a:t> kapasitans değeri, üzerlerine uygulanan ters GERİLİM miktarına göre değişir.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Varaktör (varicap) diyot çalışma prensibi.</a:t>
            </a:r>
          </a:p>
        </p:txBody>
      </p:sp>
      <p:sp>
        <p:nvSpPr>
          <p:cNvPr id="162822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146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63843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147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Dalga Boyu-Frekans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Bir radyo dalgasının dalga boyunun frekansı ile nasıl bir ilişkisi vardır?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Frekans arttıkça dalga boyu uzar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b)  Frekans arttıkça dalga boyu kısalır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Frekans ile dalga boyu arasında ilişki yoktur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Dalga boyu, sinyalin bant genişliğine bağlıdır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λ=c/f formülüne göre, dalga boyu </a:t>
            </a:r>
            <a:r>
              <a:rPr sz="1250" i="1">
                <a:solidFill>
                  <a:srgbClr val="222222"/>
                </a:solidFill>
              </a:rPr>
              <a:t>(λ)</a:t>
            </a:r>
            <a:r>
              <a:rPr sz="1250">
                <a:solidFill>
                  <a:srgbClr val="222222"/>
                </a:solidFill>
              </a:rPr>
              <a:t> ile frekans </a:t>
            </a:r>
            <a:r>
              <a:rPr sz="1250" i="1">
                <a:solidFill>
                  <a:srgbClr val="222222"/>
                </a:solidFill>
              </a:rPr>
              <a:t>(f)</a:t>
            </a:r>
            <a:r>
              <a:rPr sz="1250">
                <a:solidFill>
                  <a:srgbClr val="222222"/>
                </a:solidFill>
              </a:rPr>
              <a:t> ters orantılıdır: frekans arttıkça dalga boyu kısalır.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Dalga boyu-frekans ters orantı ilişkisi (λ=c/f).</a:t>
            </a:r>
          </a:p>
        </p:txBody>
      </p:sp>
      <p:sp>
        <p:nvSpPr>
          <p:cNvPr id="163846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147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64867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148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Dalga Boyu Formülü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Frekansı metre olarak dalga boyuna çeviren formül aşağıdakilerden hangisidir?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Metre olarak dalga boyu, 300'le çarpılmış Hertz birimindeki frekansa eşittir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Metre olarak dalga boyu, Hertz birimindeki frekansın 300'e bölünmesine eşittir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Metre olarak dalga boyu, Megahertz birimindeki frekansın 300'e bölünmesine eşittir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d)  Metre olarak dalga boyu, 300'ün Megahertz birimindeki frekansa bölünmesine eşittir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Pratik formül: λ</a:t>
            </a:r>
            <a:r>
              <a:rPr sz="1250" i="1">
                <a:solidFill>
                  <a:srgbClr val="222222"/>
                </a:solidFill>
              </a:rPr>
              <a:t>(m)</a:t>
            </a:r>
            <a:r>
              <a:rPr sz="1250">
                <a:solidFill>
                  <a:srgbClr val="222222"/>
                </a:solidFill>
              </a:rPr>
              <a:t>=300/f</a:t>
            </a:r>
            <a:r>
              <a:rPr sz="1250" i="1">
                <a:solidFill>
                  <a:srgbClr val="222222"/>
                </a:solidFill>
              </a:rPr>
              <a:t>(MHz)</a:t>
            </a:r>
            <a:r>
              <a:rPr sz="1250">
                <a:solidFill>
                  <a:srgbClr val="222222"/>
                </a:solidFill>
              </a:rPr>
              <a:t> — yani dalga boyu, 300'ün MHz cinsindeki frekansa bölünmesiyle bulunur </a:t>
            </a:r>
            <a:r>
              <a:rPr sz="1250" i="1">
                <a:solidFill>
                  <a:srgbClr val="222222"/>
                </a:solidFill>
              </a:rPr>
              <a:t>(300, ışık hızının yaklaşık değeridir, milyon m/s biriminde)</a:t>
            </a:r>
            <a:r>
              <a:rPr sz="1250">
                <a:solidFill>
                  <a:srgbClr val="222222"/>
                </a:solidFill>
              </a:rPr>
              <a:t>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Dalga boyu-frekans pratik formülü (λ[m]=300/f[MHz]).</a:t>
            </a:r>
          </a:p>
        </p:txBody>
      </p:sp>
      <p:sp>
        <p:nvSpPr>
          <p:cNvPr id="164870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148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65891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149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Güç Kaynağı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Alternatif bir akımı, düşük voltajlı doğru bir akıma dönüştürmek için hangi cihaz kullanılır?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İnverter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Kompresör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c)  Güç kaynağı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Demodulator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AC'den </a:t>
            </a:r>
            <a:r>
              <a:rPr sz="1250" i="1">
                <a:solidFill>
                  <a:srgbClr val="222222"/>
                </a:solidFill>
              </a:rPr>
              <a:t>(alternatif akım)</a:t>
            </a:r>
            <a:r>
              <a:rPr sz="1250">
                <a:solidFill>
                  <a:srgbClr val="222222"/>
                </a:solidFill>
              </a:rPr>
              <a:t> DC'ye </a:t>
            </a:r>
            <a:r>
              <a:rPr sz="1250" i="1">
                <a:solidFill>
                  <a:srgbClr val="222222"/>
                </a:solidFill>
              </a:rPr>
              <a:t>(doğru akım)</a:t>
            </a:r>
            <a:r>
              <a:rPr sz="1250">
                <a:solidFill>
                  <a:srgbClr val="222222"/>
                </a:solidFill>
              </a:rPr>
              <a:t> dönüşüm ve gerilim seviyesi ayarı, genel olarak "güç kaynağı" </a:t>
            </a:r>
            <a:r>
              <a:rPr sz="1250" i="1">
                <a:solidFill>
                  <a:srgbClr val="222222"/>
                </a:solidFill>
              </a:rPr>
              <a:t>(transformatör+doğrultucu+regülatör içeren cihaz)</a:t>
            </a:r>
            <a:r>
              <a:rPr sz="1250">
                <a:solidFill>
                  <a:srgbClr val="222222"/>
                </a:solidFill>
              </a:rPr>
              <a:t> tarafından yapılır.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AC-DC dönüşüm cihazları.</a:t>
            </a:r>
          </a:p>
        </p:txBody>
      </p:sp>
      <p:sp>
        <p:nvSpPr>
          <p:cNvPr id="165894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149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66915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150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Batarya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Her bataryanın aynı fiziksel büyüklüğe sahip olduğunu farz ederek, bir el telsizi ile birlikte kullanıldığında aşağıda listelenmiş batarya tiplerinden hangisi en uzun ömrü sağlar?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Kurşun - asit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Alkalin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Nikel-kadmiyum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d)  Lityum-iyon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Lityum-iyon bataryalar, aynı fiziksel boyutta diğer batarya kimyalarına </a:t>
            </a:r>
            <a:r>
              <a:rPr sz="1250" i="1">
                <a:solidFill>
                  <a:srgbClr val="222222"/>
                </a:solidFill>
              </a:rPr>
              <a:t>(kurşun-asit, alkalin, NiCd)</a:t>
            </a:r>
            <a:r>
              <a:rPr sz="1250">
                <a:solidFill>
                  <a:srgbClr val="222222"/>
                </a:solidFill>
              </a:rPr>
              <a:t> göre en yüksek enerji yoğunluğuna sahiptir, bu da en uzun kullanım ömrünü sağlar.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Batarya kimyası ve enerji yoğunluğu karşılaştırması.</a:t>
            </a:r>
          </a:p>
        </p:txBody>
      </p:sp>
      <p:sp>
        <p:nvSpPr>
          <p:cNvPr id="166918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150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06475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67939" name="TextBox 2"/>
          <p:cNvSpPr txBox="1">
            <a:spLocks noChangeArrowheads="1"/>
          </p:cNvSpPr>
          <p:nvPr/>
        </p:nvSpPr>
        <p:spPr bwMode="auto">
          <a:xfrm>
            <a:off x="457200" y="165100"/>
            <a:ext cx="11277600" cy="73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2400" b="1">
                <a:solidFill>
                  <a:srgbClr val="FFFFFF"/>
                </a:solidFill>
                <a:latin typeface="Calibri" pitchFamily="34" charset="0"/>
              </a:rPr>
              <a:t>BÖLÜM 12: Batarya, Ölçü Birimleri ve Anten/Yayım Pratikleri</a:t>
            </a:r>
          </a:p>
        </p:txBody>
      </p:sp>
      <p:sp>
        <p:nvSpPr>
          <p:cNvPr id="167940" name="TextBox 3"/>
          <p:cNvSpPr txBox="1">
            <a:spLocks noChangeArrowheads="1"/>
          </p:cNvSpPr>
          <p:nvPr/>
        </p:nvSpPr>
        <p:spPr bwMode="auto">
          <a:xfrm>
            <a:off x="639763" y="1371600"/>
            <a:ext cx="10912475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Aft>
                <a:spcPts val="1300"/>
              </a:spcAft>
            </a:pPr>
            <a:r>
              <a:rPr lang="tr-TR" sz="1700">
                <a:solidFill>
                  <a:srgbClr val="222222"/>
                </a:solidFill>
                <a:latin typeface="Calibri" pitchFamily="34" charset="0"/>
              </a:rPr>
              <a:t>•  Ohm Kanunu </a:t>
            </a:r>
            <a:r>
              <a:rPr lang="tr-TR" sz="1700" i="1">
                <a:solidFill>
                  <a:srgbClr val="222222"/>
                </a:solidFill>
                <a:latin typeface="Calibri" pitchFamily="34" charset="0"/>
              </a:rPr>
              <a:t>(V=IR)</a:t>
            </a:r>
            <a:r>
              <a:rPr lang="tr-TR" sz="1700">
                <a:solidFill>
                  <a:srgbClr val="222222"/>
                </a:solidFill>
                <a:latin typeface="Calibri" pitchFamily="34" charset="0"/>
              </a:rPr>
              <a:t> ve güç formülü </a:t>
            </a:r>
            <a:r>
              <a:rPr lang="tr-TR" sz="1700" i="1">
                <a:solidFill>
                  <a:srgbClr val="222222"/>
                </a:solidFill>
                <a:latin typeface="Calibri" pitchFamily="34" charset="0"/>
              </a:rPr>
              <a:t>(P=VI)</a:t>
            </a:r>
            <a:r>
              <a:rPr lang="tr-TR" sz="1700">
                <a:solidFill>
                  <a:srgbClr val="222222"/>
                </a:solidFill>
                <a:latin typeface="Calibri" pitchFamily="34" charset="0"/>
              </a:rPr>
              <a:t>, tüm elektronik hesaplamaların temelidir.</a:t>
            </a:r>
          </a:p>
          <a:p>
            <a:pPr>
              <a:spcAft>
                <a:spcPts val="1300"/>
              </a:spcAft>
            </a:pPr>
            <a:r>
              <a:rPr lang="tr-TR" sz="1700">
                <a:solidFill>
                  <a:srgbClr val="222222"/>
                </a:solidFill>
                <a:latin typeface="Calibri" pitchFamily="34" charset="0"/>
              </a:rPr>
              <a:t>•  Farklı yayım </a:t>
            </a:r>
            <a:r>
              <a:rPr lang="tr-TR" sz="1700" i="1">
                <a:solidFill>
                  <a:srgbClr val="222222"/>
                </a:solidFill>
                <a:latin typeface="Calibri" pitchFamily="34" charset="0"/>
              </a:rPr>
              <a:t>(emisyon)</a:t>
            </a:r>
            <a:r>
              <a:rPr lang="tr-TR" sz="1700">
                <a:solidFill>
                  <a:srgbClr val="222222"/>
                </a:solidFill>
                <a:latin typeface="Calibri" pitchFamily="34" charset="0"/>
              </a:rPr>
              <a:t> türleri farklı bant genişliği gerektirir — CW en dar, TV en geniş banttır.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39763" y="5622925"/>
            <a:ext cx="10912475" cy="914400"/>
          </a:xfrm>
          <a:prstGeom prst="rect">
            <a:avLst/>
          </a:prstGeom>
          <a:solidFill>
            <a:srgbClr val="D6E4F0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73152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300" b="1">
                <a:solidFill>
                  <a:srgbClr val="1F3864"/>
                </a:solidFill>
              </a:rPr>
              <a:t>Bu bölümün kaynağı: </a:t>
            </a:r>
            <a:r>
              <a:rPr sz="1300">
                <a:solidFill>
                  <a:srgbClr val="222222"/>
                </a:solidFill>
              </a:rPr>
              <a:t>Ohm Kanunu (V=IR) ve temel devre analizi. Güç formülü (P=V×I); yayım türleri bant genişliği karşılaştırması.</a:t>
            </a:r>
          </a:p>
        </p:txBody>
      </p:sp>
      <p:sp>
        <p:nvSpPr>
          <p:cNvPr id="167942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Bölüm 12 Girişi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68963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151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Batarya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Bir bataryadan mümkün olan en fazla enerjiyi elde etmenin en iyi yolu aşağıdakilerden hangisidir?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Bataryadan mümkün olan en hızlı biçimde akım çekmek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b)  Bataryadan gereken en düşük oranda akım çekmek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Batarya ½ şarj seviyesine ulaştığında, kutupları değiştirmek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Bataryayı mümkün olduğunca sık şarj etmek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Bataryalar düşük akım çekme oranlarında </a:t>
            </a:r>
            <a:r>
              <a:rPr sz="1250" i="1">
                <a:solidFill>
                  <a:srgbClr val="222222"/>
                </a:solidFill>
              </a:rPr>
              <a:t>(yavaş deşarj)</a:t>
            </a:r>
            <a:r>
              <a:rPr sz="1250">
                <a:solidFill>
                  <a:srgbClr val="222222"/>
                </a:solidFill>
              </a:rPr>
              <a:t> daha verimli çalışır ve toplamda daha fazla kullanılabilir enerji sağlar; yüksek akımla hızlı deşarj, iç dirençte kayıpları artırarak verimliliği düşürür.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Batarya deşarj verimliliği.</a:t>
            </a:r>
          </a:p>
        </p:txBody>
      </p:sp>
      <p:sp>
        <p:nvSpPr>
          <p:cNvPr id="168966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151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69987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152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RF Ölçü Birimi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Aşağıdaki ölçme birimlerinden hangisi RF radyasyonuna maruz kalmayı ölçmek için kullanılır?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a)  Santimetre kare başına milivatt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Metre kare başına megaohm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Foot (ayak) başına mikrofarad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Saniye başına megahertz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RF radyasyon yoğunluğu </a:t>
            </a:r>
            <a:r>
              <a:rPr sz="1250" i="1">
                <a:solidFill>
                  <a:srgbClr val="222222"/>
                </a:solidFill>
              </a:rPr>
              <a:t>(güç yoğunluğu)</a:t>
            </a:r>
            <a:r>
              <a:rPr sz="1250">
                <a:solidFill>
                  <a:srgbClr val="222222"/>
                </a:solidFill>
              </a:rPr>
              <a:t>, birim alana düşen güç olarak ölçülür: mW/cm² </a:t>
            </a:r>
            <a:r>
              <a:rPr sz="1250" i="1">
                <a:solidFill>
                  <a:srgbClr val="222222"/>
                </a:solidFill>
              </a:rPr>
              <a:t>(santimetre kare başına milivatt)</a:t>
            </a:r>
            <a:r>
              <a:rPr sz="1250">
                <a:solidFill>
                  <a:srgbClr val="222222"/>
                </a:solidFill>
              </a:rPr>
              <a:t> standart birimdir.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RF güvenlik/maruziyet ölçüm birimleri.</a:t>
            </a:r>
          </a:p>
        </p:txBody>
      </p:sp>
      <p:sp>
        <p:nvSpPr>
          <p:cNvPr id="169990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152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71011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153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Ohm Kanunu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2 ohm'luk bir rezistansın içinden 0.5 amperlik bir akım geçerse, voltaj değeri ne olur?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a)  1 volt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0.25 volt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2.5 volt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1.5 volt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V=I×R=0.5×2=1 volt.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Ohm Kanunu (V=IR) ve temel devre analizi.</a:t>
            </a:r>
          </a:p>
        </p:txBody>
      </p:sp>
      <p:sp>
        <p:nvSpPr>
          <p:cNvPr id="171014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153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72035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154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Ohm Kanunu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10 ohm'luk bir rezistansın içinden 2 amperlik bir akım geçerse, voltaj değeri ne olur?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a)  20 volt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0.2 volt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12 volt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8 volt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V=I×R=2×10=20 volt.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Ohm Kanunu (V=IR) ve temel devre analizi.</a:t>
            </a:r>
          </a:p>
        </p:txBody>
      </p:sp>
      <p:sp>
        <p:nvSpPr>
          <p:cNvPr id="172038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154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73059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155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Ohm Kanunu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100 ohm'luk bir rezistansın uçlarındaki gerilim 200 V olduğuna göre, rezistansın içinden geçen akım nedir?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20.000 amper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0.5 amper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c)  2 amper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100 amper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I=V/R=200/100=2 amper.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Ohm Kanunu (V=IR) ve temel devre analizi.</a:t>
            </a:r>
          </a:p>
        </p:txBody>
      </p:sp>
      <p:sp>
        <p:nvSpPr>
          <p:cNvPr id="173062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155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74083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156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Ohm Kanunu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24 ohm'luk bir rezistansın uçlarındaki gerilim 240 V olduğuna göre, rezistansın içinden geçen akım nedir?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24.000 amper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0.1 amper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c)  10 amper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216 amper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I=V/R=240/24=10 amper.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Ohm Kanunu (V=IR) ve temel devre analizi.</a:t>
            </a:r>
          </a:p>
        </p:txBody>
      </p:sp>
      <p:sp>
        <p:nvSpPr>
          <p:cNvPr id="174086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156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75107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157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Güç Formülü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Bir DC devresindeki elektrik gücünü ölçmek için hangi formül kullanılır?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a)  Güç (P), voltajın (E) akım (I) ile çarpımına eşittir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Güç (P), voltajın (E) akıma (I) bölünmesine eşittir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Güç (P), voltajdan (E) akımın (I) çıkarılmasına eşittir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Güç (P), voltaja (E) akımın (I) eklenmesine eşittir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Temel güç formülü P=E×I'dir </a:t>
            </a:r>
            <a:r>
              <a:rPr sz="1250" i="1">
                <a:solidFill>
                  <a:srgbClr val="222222"/>
                </a:solidFill>
              </a:rPr>
              <a:t>(voltaj ile akımın çarpımı)</a:t>
            </a:r>
            <a:r>
              <a:rPr sz="1250">
                <a:solidFill>
                  <a:srgbClr val="222222"/>
                </a:solidFill>
              </a:rPr>
              <a:t>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Güç formülü (P=V×I).</a:t>
            </a:r>
          </a:p>
        </p:txBody>
      </p:sp>
      <p:sp>
        <p:nvSpPr>
          <p:cNvPr id="175110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157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76131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158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Güç Hesabı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13.8 DC volt'luk bir voltaj ve 10 amperlik bir akım ne kadarlık bir güç anlamına gelir?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a)  138 watt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0.7 watt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23.8 watt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3.8 watt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P=V×I=13.8×10=138 watt.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Güç formülü (P=V×I).</a:t>
            </a:r>
          </a:p>
        </p:txBody>
      </p:sp>
      <p:sp>
        <p:nvSpPr>
          <p:cNvPr id="176134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158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77155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159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Güç Hesabı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Voltajın 120 volt DC ve akımın 2.5 amper olduğu bir devrede ne kadarlık bir güç kullanılmıştır?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1440 watt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b)  300 watt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48 watt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30 watt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P=V×I=120×2.5=300 watt.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Güç formülü (P=V×I).</a:t>
            </a:r>
          </a:p>
        </p:txBody>
      </p:sp>
      <p:sp>
        <p:nvSpPr>
          <p:cNvPr id="177158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159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78179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160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Güç Ölçümü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Gönderim yaparken, vericiniz tarafından kaç watt çekildiğini nasıl belirlersiniz?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DC voltajını ölçün ve bunu 60 Hz'e bölün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Elektrik fişindeki sigortayı, hangi büyüklükte olduğunu görmek için kontrol edin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Vericideki AC voltajını ölçün ve gönderim yaptığınızda çekilen akımla çarpın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d)  Vericideki DC voltajını ölçün ve gönderim yaptığınızda çekilen akımla çarpın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Amatör telsiz vericileri genellikle DC güç kaynağından </a:t>
            </a:r>
            <a:r>
              <a:rPr sz="1250" i="1">
                <a:solidFill>
                  <a:srgbClr val="222222"/>
                </a:solidFill>
              </a:rPr>
              <a:t>(batarya/regüle güç kaynağı)</a:t>
            </a:r>
            <a:r>
              <a:rPr sz="1250">
                <a:solidFill>
                  <a:srgbClr val="222222"/>
                </a:solidFill>
              </a:rPr>
              <a:t> beslenir; çekilen gücü bulmak için besleme DC voltajı, gönderim anında çekilen DC akımla çarpılır </a:t>
            </a:r>
            <a:r>
              <a:rPr sz="1250" i="1">
                <a:solidFill>
                  <a:srgbClr val="222222"/>
                </a:solidFill>
              </a:rPr>
              <a:t>(P=V×I)</a:t>
            </a:r>
            <a:r>
              <a:rPr sz="1250">
                <a:solidFill>
                  <a:srgbClr val="222222"/>
                </a:solidFill>
              </a:rPr>
              <a:t>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Verici güç tüketimi ölçüm yöntemi.</a:t>
            </a:r>
          </a:p>
        </p:txBody>
      </p:sp>
      <p:sp>
        <p:nvSpPr>
          <p:cNvPr id="178182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160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79203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161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Birim Dönüşümü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Kaç mili amper, 1.5 ampere eşittir?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15 miliamper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150 miliamper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c)  1500 miliamper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15000 miliamper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1 amper = 1000 miliamper olduğundan, 1.5 A = 1500 mA.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SI birim önekleri (mili = 1/1000).</a:t>
            </a:r>
          </a:p>
        </p:txBody>
      </p:sp>
      <p:sp>
        <p:nvSpPr>
          <p:cNvPr id="179206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161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80227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162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Birim Dönüşümü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1.500.000 Hertz'de salınan bir telsiz sinyalinin frekansını belirlemenin bir diğer yolu nedir?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a)  1500 Khz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1500 Mhz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15 Ghz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150 Khz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1.500.000 Hz = 1.500 kHz </a:t>
            </a:r>
            <a:r>
              <a:rPr sz="1250" i="1">
                <a:solidFill>
                  <a:srgbClr val="222222"/>
                </a:solidFill>
              </a:rPr>
              <a:t>(1 kHz=1000 Hz)</a:t>
            </a:r>
            <a:r>
              <a:rPr sz="1250">
                <a:solidFill>
                  <a:srgbClr val="222222"/>
                </a:solidFill>
              </a:rPr>
              <a:t> = 1.5 MHz; seçenekler arasında 1500 kHz doğru eşdeğerdir.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SI birim önekleri (kHz, MHz dönüşümü).</a:t>
            </a:r>
          </a:p>
        </p:txBody>
      </p:sp>
      <p:sp>
        <p:nvSpPr>
          <p:cNvPr id="180230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162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81251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163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SWR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Genel anlamıyla, duran dalga oranı (SWR) nedir?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a)  Bir gücün bir vericiyle ne kadar iyi eşleştiğinin ölçümüdür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Bir besleme hattında yüksek empedansın alçak empedansa oranıdır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Verici etkinlik oranı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İstasyon yer bağlantınızın kalitesinin bir göstergesidir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SWR, anten sisteminin </a:t>
            </a:r>
            <a:r>
              <a:rPr sz="1250" i="1">
                <a:solidFill>
                  <a:srgbClr val="222222"/>
                </a:solidFill>
              </a:rPr>
              <a:t>(yük)</a:t>
            </a:r>
            <a:r>
              <a:rPr sz="1250">
                <a:solidFill>
                  <a:srgbClr val="222222"/>
                </a:solidFill>
              </a:rPr>
              <a:t> vericiye ne kadar iyi </a:t>
            </a:r>
            <a:r>
              <a:rPr sz="1250" i="1">
                <a:solidFill>
                  <a:srgbClr val="222222"/>
                </a:solidFill>
              </a:rPr>
              <a:t>(empedans olarak)</a:t>
            </a:r>
            <a:r>
              <a:rPr sz="1250">
                <a:solidFill>
                  <a:srgbClr val="222222"/>
                </a:solidFill>
              </a:rPr>
              <a:t> eşleştiğinin genel bir göstergesidir; düşük SWR iyi eşleşmeyi, yüksek SWR kötü eşleşmeyi </a:t>
            </a:r>
            <a:r>
              <a:rPr sz="1250" i="1">
                <a:solidFill>
                  <a:srgbClr val="222222"/>
                </a:solidFill>
              </a:rPr>
              <a:t>(güç yansımasını)</a:t>
            </a:r>
            <a:r>
              <a:rPr sz="1250">
                <a:solidFill>
                  <a:srgbClr val="222222"/>
                </a:solidFill>
              </a:rPr>
              <a:t> gösterir.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SWR teorisinin genel tanımı.</a:t>
            </a:r>
          </a:p>
        </p:txBody>
      </p:sp>
      <p:sp>
        <p:nvSpPr>
          <p:cNvPr id="181254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163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82275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164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Birim Dönüşümü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Bir mikrovolt kaç volttur?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a)  Bir volt'un milyonda biri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1 milyon volt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1000 kilovat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Bir volt'un binde biri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"Mikro" ön eki, birimin milyonda biri </a:t>
            </a:r>
            <a:r>
              <a:rPr sz="1250" i="1">
                <a:solidFill>
                  <a:srgbClr val="222222"/>
                </a:solidFill>
              </a:rPr>
              <a:t>(10⁻⁶)</a:t>
            </a:r>
            <a:r>
              <a:rPr sz="1250">
                <a:solidFill>
                  <a:srgbClr val="222222"/>
                </a:solidFill>
              </a:rPr>
              <a:t> anlamına gelir.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SI birim önekleri (mikro = 1/1.000.000).</a:t>
            </a:r>
          </a:p>
        </p:txBody>
      </p:sp>
      <p:sp>
        <p:nvSpPr>
          <p:cNvPr id="182278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164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83299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165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Anten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Yönlendirilmiş anten nedir?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Metal profillerden yapılmış bir anten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Tüm yönlerde eşit derecede gönderen ve alan bir anten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c)  Bir yöndeki sinyallere odaklanmış bir anten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Alınan sinyallerin fazını tersine çeviren bir anten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Yönlü </a:t>
            </a:r>
            <a:r>
              <a:rPr sz="1250" i="1">
                <a:solidFill>
                  <a:srgbClr val="222222"/>
                </a:solidFill>
              </a:rPr>
              <a:t>(directional)</a:t>
            </a:r>
            <a:r>
              <a:rPr sz="1250">
                <a:solidFill>
                  <a:srgbClr val="222222"/>
                </a:solidFill>
              </a:rPr>
              <a:t> anten, enerjisini belirli bir yöne yoğunlaştırarak o yönde daha güçlü sinyal sağlar </a:t>
            </a:r>
            <a:r>
              <a:rPr sz="1250" i="1">
                <a:solidFill>
                  <a:srgbClr val="222222"/>
                </a:solidFill>
              </a:rPr>
              <a:t>(Yagi, quad gibi)</a:t>
            </a:r>
            <a:r>
              <a:rPr sz="1250">
                <a:solidFill>
                  <a:srgbClr val="222222"/>
                </a:solidFill>
              </a:rPr>
              <a:t> — tüm yönlere eşit yayan antenler </a:t>
            </a:r>
            <a:r>
              <a:rPr sz="1250" i="1">
                <a:solidFill>
                  <a:srgbClr val="222222"/>
                </a:solidFill>
              </a:rPr>
              <a:t>(omnidirectional/izotropik)</a:t>
            </a:r>
            <a:r>
              <a:rPr sz="1250">
                <a:solidFill>
                  <a:srgbClr val="222222"/>
                </a:solidFill>
              </a:rPr>
              <a:t> bunun tersidir.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Anten yönlülük tanımı.</a:t>
            </a:r>
          </a:p>
        </p:txBody>
      </p:sp>
      <p:sp>
        <p:nvSpPr>
          <p:cNvPr id="183302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165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84323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166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Alıcı Aksesuarı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Gürültülü bir bölgede, sinyalleri almanıza yardımcı olması için sıradan bir hoparlör yerine ne kullanabilirsiniz?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Bir video ekranı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Bir alçak geçitli süzgeç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c)  Bir kulaklık seti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Bir mikrofon vinci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Kulaklık, ortam gürültüsünü dışarıda tutarak </a:t>
            </a:r>
            <a:r>
              <a:rPr sz="1250" i="1">
                <a:solidFill>
                  <a:srgbClr val="222222"/>
                </a:solidFill>
              </a:rPr>
              <a:t>(hoparlörün aksine)</a:t>
            </a:r>
            <a:r>
              <a:rPr sz="1250">
                <a:solidFill>
                  <a:srgbClr val="222222"/>
                </a:solidFill>
              </a:rPr>
              <a:t> sinyali doğrudan kulağa ilettiğinden, gürültülü ortamlarda daha rahat dinleme sağlar.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Gürültülü ortamda alım pratiği.</a:t>
            </a:r>
          </a:p>
        </p:txBody>
      </p:sp>
      <p:sp>
        <p:nvSpPr>
          <p:cNvPr id="184326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166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85347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167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Güç Kaynağı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Haberleşme teçhizatı için ayarlı (regüleli) bir güç kaynağı kullanmanın sebebi nedir?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a)  Teçhizatı voltaj dalgalanmalarından korumak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Aşırı akımdan korumak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Sigorta veya devre kesicisi gücü ayarlar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Ayarlı kaynaklar daha ucuzdur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Regüleli </a:t>
            </a:r>
            <a:r>
              <a:rPr sz="1250" i="1">
                <a:solidFill>
                  <a:srgbClr val="222222"/>
                </a:solidFill>
              </a:rPr>
              <a:t>(ayarlı)</a:t>
            </a:r>
            <a:r>
              <a:rPr sz="1250">
                <a:solidFill>
                  <a:srgbClr val="222222"/>
                </a:solidFill>
              </a:rPr>
              <a:t> güç kaynağı, giriş gerilimindeki veya yük değişimlerindeki dalgalanmalara karşı çıkış gerilimini sabit tutarak hassas telsiz devrelerini korur.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Regüleli güç kaynağı kullanım amacı.</a:t>
            </a:r>
          </a:p>
        </p:txBody>
      </p:sp>
      <p:sp>
        <p:nvSpPr>
          <p:cNvPr id="185350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167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86371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168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Enterferans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Parazit yayınları azaltmak için filtre nereye yerleştirilmelidir?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a)  Vericiye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Alıcıya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Güç kaynağı istasyonuna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Mikrofona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İstenmeyen harmonik/parazit yayınların KAYNAKTA </a:t>
            </a:r>
            <a:r>
              <a:rPr sz="1250" i="1">
                <a:solidFill>
                  <a:srgbClr val="222222"/>
                </a:solidFill>
              </a:rPr>
              <a:t>(yani vericinin kendisinde, çıkışında)</a:t>
            </a:r>
            <a:r>
              <a:rPr sz="1250">
                <a:solidFill>
                  <a:srgbClr val="222222"/>
                </a:solidFill>
              </a:rPr>
              <a:t> filtrelenmesi, bu sinyallerin havaya yayılmadan önce temizlenmesini sağlar — en etkili nokta budur.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Verici çıkış filtreleme (kaynakta müdahale ilkesi).</a:t>
            </a:r>
          </a:p>
        </p:txBody>
      </p:sp>
      <p:sp>
        <p:nvSpPr>
          <p:cNvPr id="186374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168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87395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169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Anten Boyu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Yarım dalgalı çift kutup (dipol) antenin fiziksel boyutu çalışma frekansıyla nasıl değişir?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Frekans arttığında daha uzun olur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Daha fazla güç işlemek zorunda olduğundan daha büyük yapılmalıdır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c)  Frekans arttığında daha kısa olur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Frekans azaldığında daha kısa olur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Anten boyu formülü </a:t>
            </a:r>
            <a:r>
              <a:rPr sz="1250" i="1">
                <a:solidFill>
                  <a:srgbClr val="222222"/>
                </a:solidFill>
              </a:rPr>
              <a:t>(λ/2 ≈ 150/f)</a:t>
            </a:r>
            <a:r>
              <a:rPr sz="1250">
                <a:solidFill>
                  <a:srgbClr val="222222"/>
                </a:solidFill>
              </a:rPr>
              <a:t> frekansla ters orantılıdır; frekans arttıkça gereken fiziksel anten boyu kısalır.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Yarım/çeyrek dalga anten uzunluğu formülleri (λ=300/f).</a:t>
            </a:r>
          </a:p>
        </p:txBody>
      </p:sp>
      <p:sp>
        <p:nvSpPr>
          <p:cNvPr id="187398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169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88419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170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Bant Genişliği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Hangi yayım türü en dar band genişliğine sahiptir?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FM ses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SSB ses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c)  CW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d)  Yavaş taramalı TV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CW </a:t>
            </a:r>
            <a:r>
              <a:rPr sz="1250" i="1">
                <a:solidFill>
                  <a:srgbClr val="222222"/>
                </a:solidFill>
              </a:rPr>
              <a:t>(Mors telgrafı)</a:t>
            </a:r>
            <a:r>
              <a:rPr sz="1250">
                <a:solidFill>
                  <a:srgbClr val="222222"/>
                </a:solidFill>
              </a:rPr>
              <a:t>, sadece açma-kapama anahtarlamasıyla çalıştığından tüm yayım türleri arasında en dar bant genişliğine </a:t>
            </a:r>
            <a:r>
              <a:rPr sz="1250" i="1">
                <a:solidFill>
                  <a:srgbClr val="222222"/>
                </a:solidFill>
              </a:rPr>
              <a:t>(yaklaşık 100-150 Hz)</a:t>
            </a:r>
            <a:r>
              <a:rPr sz="1250">
                <a:solidFill>
                  <a:srgbClr val="222222"/>
                </a:solidFill>
              </a:rPr>
              <a:t> sahiptir; TV ve FM ses ise çok daha geniş bant gerektirir.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Yayım türleri bant genişliği karşılaştırması.</a:t>
            </a:r>
          </a:p>
        </p:txBody>
      </p:sp>
      <p:sp>
        <p:nvSpPr>
          <p:cNvPr id="188422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170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89443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171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Bant Genişliği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Tek yan bantlı (SSB) ses sinyalinin yaklaşık bant genişliği nedir?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1 Khz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2 Khz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3 ve 6 Khz arası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d)  2 ve 3 Khz arası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SSB </a:t>
            </a:r>
            <a:r>
              <a:rPr sz="1250" i="1">
                <a:solidFill>
                  <a:srgbClr val="222222"/>
                </a:solidFill>
              </a:rPr>
              <a:t>(tek yan bant)</a:t>
            </a:r>
            <a:r>
              <a:rPr sz="1250">
                <a:solidFill>
                  <a:srgbClr val="222222"/>
                </a:solidFill>
              </a:rPr>
              <a:t> ses sinyali, tipik insan konuşma frekans aralığını taşımak için yaklaşık 2-3 kHz bant genişliği gerektirir.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SSB bant genişliği (tipik değer).</a:t>
            </a:r>
          </a:p>
        </p:txBody>
      </p:sp>
      <p:sp>
        <p:nvSpPr>
          <p:cNvPr id="189446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171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39763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90467" name="TextBox 2"/>
          <p:cNvSpPr txBox="1">
            <a:spLocks noChangeArrowheads="1"/>
          </p:cNvSpPr>
          <p:nvPr/>
        </p:nvSpPr>
        <p:spPr bwMode="auto">
          <a:xfrm>
            <a:off x="365125" y="73025"/>
            <a:ext cx="1146016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b="1">
                <a:solidFill>
                  <a:srgbClr val="FFFFFF"/>
                </a:solidFill>
                <a:latin typeface="Calibri" pitchFamily="34" charset="0"/>
              </a:rPr>
              <a:t>Soru 172</a:t>
            </a:r>
            <a:r>
              <a:rPr lang="tr-TR" sz="1400">
                <a:solidFill>
                  <a:srgbClr val="D6E4F0"/>
                </a:solidFill>
                <a:latin typeface="Calibri" pitchFamily="34" charset="0"/>
              </a:rPr>
              <a:t>   ·   Anten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438"/>
            <a:ext cx="5608638" cy="5394325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1400"/>
              </a:spcAft>
              <a:defRPr/>
            </a:pPr>
            <a:r>
              <a:rPr sz="1600" b="1">
                <a:solidFill>
                  <a:srgbClr val="222222"/>
                </a:solidFill>
              </a:rPr>
              <a:t>Mobil olarak çalıştırıldığında iyi bir verim sunan ve kolayca kurulup kaldırılabilen anten türü hangisidir?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a)  Mikrodalga anten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b)  Dörtlü anten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>
                <a:solidFill>
                  <a:srgbClr val="222222"/>
                </a:solidFill>
              </a:rPr>
              <a:t>c)  Yürüyen dalga anteni</a:t>
            </a:r>
          </a:p>
          <a:p>
            <a:pPr fontAlgn="auto">
              <a:spcBef>
                <a:spcPts val="0"/>
              </a:spcBef>
              <a:spcAft>
                <a:spcPts val="800"/>
              </a:spcAft>
              <a:defRPr/>
            </a:pPr>
            <a:r>
              <a:rPr sz="1500" b="1">
                <a:solidFill>
                  <a:srgbClr val="2E7D32"/>
                </a:solidFill>
              </a:rPr>
              <a:t>d)  Mıknatıslı dikey anten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0475" y="960438"/>
            <a:ext cx="5394325" cy="5394325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Ins="182880" anchor="ctr"/>
          <a:lstStyle/>
          <a:p>
            <a:pPr algn="ctr" fontAlgn="auto">
              <a:spcBef>
                <a:spcPts val="0"/>
              </a:spcBef>
              <a:spcAft>
                <a:spcPts val="900"/>
              </a:spcAft>
              <a:defRPr/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 fontAlgn="auto">
              <a:spcBef>
                <a:spcPts val="0"/>
              </a:spcBef>
              <a:spcAft>
                <a:spcPts val="1000"/>
              </a:spcAft>
              <a:defRPr/>
            </a:pPr>
            <a:r>
              <a:rPr sz="1250">
                <a:solidFill>
                  <a:srgbClr val="222222"/>
                </a:solidFill>
              </a:rPr>
              <a:t>Mıknatıslı dikey </a:t>
            </a:r>
            <a:r>
              <a:rPr sz="1250" i="1">
                <a:solidFill>
                  <a:srgbClr val="222222"/>
                </a:solidFill>
              </a:rPr>
              <a:t>(mag-mount)</a:t>
            </a:r>
            <a:r>
              <a:rPr sz="1250">
                <a:solidFill>
                  <a:srgbClr val="222222"/>
                </a:solidFill>
              </a:rPr>
              <a:t> antenler, araç tavanına kolayca takılıp sökülebilir, kalıcı montaj gerektirmez ve mobil kullanım için pratik bir performans sunar.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Mobil anten türleri ve pratiklik.</a:t>
            </a:r>
          </a:p>
        </p:txBody>
      </p:sp>
      <p:sp>
        <p:nvSpPr>
          <p:cNvPr id="190470" name="TextBox 5"/>
          <p:cNvSpPr txBox="1">
            <a:spLocks noChangeArrowheads="1"/>
          </p:cNvSpPr>
          <p:nvPr/>
        </p:nvSpPr>
        <p:spPr bwMode="auto">
          <a:xfrm>
            <a:off x="365125" y="6492875"/>
            <a:ext cx="11460163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1000">
                <a:solidFill>
                  <a:srgbClr val="595959"/>
                </a:solidFill>
                <a:latin typeface="Calibri" pitchFamily="34" charset="0"/>
              </a:rPr>
              <a:t>Teknik — Soru 172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91491" name="TextBox 2"/>
          <p:cNvSpPr txBox="1">
            <a:spLocks noChangeArrowheads="1"/>
          </p:cNvSpPr>
          <p:nvPr/>
        </p:nvSpPr>
        <p:spPr bwMode="auto">
          <a:xfrm>
            <a:off x="914400" y="2743200"/>
            <a:ext cx="10363200" cy="1096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 sz="3200" b="1">
                <a:solidFill>
                  <a:srgbClr val="FFFFFF"/>
                </a:solidFill>
                <a:latin typeface="Calibri" pitchFamily="34" charset="0"/>
              </a:rPr>
              <a:t>172 SORU TAMAMLANDI</a:t>
            </a:r>
          </a:p>
        </p:txBody>
      </p:sp>
      <p:sp>
        <p:nvSpPr>
          <p:cNvPr id="191492" name="TextBox 3"/>
          <p:cNvSpPr txBox="1">
            <a:spLocks noChangeArrowheads="1"/>
          </p:cNvSpPr>
          <p:nvPr/>
        </p:nvSpPr>
        <p:spPr bwMode="auto">
          <a:xfrm>
            <a:off x="914400" y="3657600"/>
            <a:ext cx="10363200" cy="731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>
                <a:solidFill>
                  <a:srgbClr val="D6E4F0"/>
                </a:solidFill>
                <a:latin typeface="Calibri" pitchFamily="34" charset="0"/>
              </a:rPr>
              <a:t>Başarılar dileriz.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15887</Words>
  <PresentationFormat>Özel</PresentationFormat>
  <Paragraphs>1812</Paragraphs>
  <Slides>186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186</vt:i4>
      </vt:variant>
    </vt:vector>
  </HeadingPairs>
  <TitlesOfParts>
    <vt:vector size="189" baseType="lpstr">
      <vt:lpstr>Arial</vt:lpstr>
      <vt:lpstr>Calibri</vt:lpstr>
      <vt:lpstr>Office Theme</vt:lpstr>
      <vt:lpstr>Slayt 1</vt:lpstr>
      <vt:lpstr>Slayt 2</vt:lpstr>
      <vt:lpstr>Slayt 3</vt:lpstr>
      <vt:lpstr>Slayt 4</vt:lpstr>
      <vt:lpstr>Slayt 5</vt:lpstr>
      <vt:lpstr>Slayt 6</vt:lpstr>
      <vt:lpstr>Slayt 7</vt:lpstr>
      <vt:lpstr>Slayt 8</vt:lpstr>
      <vt:lpstr>Slayt 9</vt:lpstr>
      <vt:lpstr>Slayt 10</vt:lpstr>
      <vt:lpstr>Slayt 11</vt:lpstr>
      <vt:lpstr>Slayt 12</vt:lpstr>
      <vt:lpstr>Slayt 13</vt:lpstr>
      <vt:lpstr>Slayt 14</vt:lpstr>
      <vt:lpstr>Slayt 15</vt:lpstr>
      <vt:lpstr>Slayt 16</vt:lpstr>
      <vt:lpstr>Slayt 17</vt:lpstr>
      <vt:lpstr>Slayt 18</vt:lpstr>
      <vt:lpstr>Slayt 19</vt:lpstr>
      <vt:lpstr>Slayt 20</vt:lpstr>
      <vt:lpstr>Slayt 21</vt:lpstr>
      <vt:lpstr>Slayt 22</vt:lpstr>
      <vt:lpstr>Slayt 23</vt:lpstr>
      <vt:lpstr>Slayt 24</vt:lpstr>
      <vt:lpstr>Slayt 25</vt:lpstr>
      <vt:lpstr>Slayt 26</vt:lpstr>
      <vt:lpstr>Slayt 27</vt:lpstr>
      <vt:lpstr>Slayt 28</vt:lpstr>
      <vt:lpstr>Slayt 29</vt:lpstr>
      <vt:lpstr>Slayt 30</vt:lpstr>
      <vt:lpstr>Slayt 31</vt:lpstr>
      <vt:lpstr>Slayt 32</vt:lpstr>
      <vt:lpstr>Slayt 33</vt:lpstr>
      <vt:lpstr>Slayt 34</vt:lpstr>
      <vt:lpstr>Slayt 35</vt:lpstr>
      <vt:lpstr>Slayt 36</vt:lpstr>
      <vt:lpstr>Slayt 37</vt:lpstr>
      <vt:lpstr>Slayt 38</vt:lpstr>
      <vt:lpstr>Slayt 39</vt:lpstr>
      <vt:lpstr>Slayt 40</vt:lpstr>
      <vt:lpstr>Slayt 41</vt:lpstr>
      <vt:lpstr>Slayt 42</vt:lpstr>
      <vt:lpstr>Slayt 43</vt:lpstr>
      <vt:lpstr>Slayt 44</vt:lpstr>
      <vt:lpstr>Slayt 45</vt:lpstr>
      <vt:lpstr>Slayt 46</vt:lpstr>
      <vt:lpstr>Slayt 47</vt:lpstr>
      <vt:lpstr>Slayt 48</vt:lpstr>
      <vt:lpstr>Slayt 49</vt:lpstr>
      <vt:lpstr>Slayt 50</vt:lpstr>
      <vt:lpstr>Slayt 51</vt:lpstr>
      <vt:lpstr>Slayt 52</vt:lpstr>
      <vt:lpstr>Slayt 53</vt:lpstr>
      <vt:lpstr>Slayt 54</vt:lpstr>
      <vt:lpstr>Slayt 55</vt:lpstr>
      <vt:lpstr>Slayt 56</vt:lpstr>
      <vt:lpstr>Slayt 57</vt:lpstr>
      <vt:lpstr>Slayt 58</vt:lpstr>
      <vt:lpstr>Slayt 59</vt:lpstr>
      <vt:lpstr>Slayt 60</vt:lpstr>
      <vt:lpstr>Slayt 61</vt:lpstr>
      <vt:lpstr>Slayt 62</vt:lpstr>
      <vt:lpstr>Slayt 63</vt:lpstr>
      <vt:lpstr>Slayt 64</vt:lpstr>
      <vt:lpstr>Slayt 65</vt:lpstr>
      <vt:lpstr>Slayt 66</vt:lpstr>
      <vt:lpstr>Slayt 67</vt:lpstr>
      <vt:lpstr>Slayt 68</vt:lpstr>
      <vt:lpstr>Slayt 69</vt:lpstr>
      <vt:lpstr>Slayt 70</vt:lpstr>
      <vt:lpstr>Slayt 71</vt:lpstr>
      <vt:lpstr>Slayt 72</vt:lpstr>
      <vt:lpstr>Slayt 73</vt:lpstr>
      <vt:lpstr>Slayt 74</vt:lpstr>
      <vt:lpstr>Slayt 75</vt:lpstr>
      <vt:lpstr>Slayt 76</vt:lpstr>
      <vt:lpstr>Slayt 77</vt:lpstr>
      <vt:lpstr>Slayt 78</vt:lpstr>
      <vt:lpstr>Slayt 79</vt:lpstr>
      <vt:lpstr>Slayt 80</vt:lpstr>
      <vt:lpstr>Slayt 81</vt:lpstr>
      <vt:lpstr>Slayt 82</vt:lpstr>
      <vt:lpstr>Slayt 83</vt:lpstr>
      <vt:lpstr>Slayt 84</vt:lpstr>
      <vt:lpstr>Slayt 85</vt:lpstr>
      <vt:lpstr>Slayt 86</vt:lpstr>
      <vt:lpstr>Slayt 87</vt:lpstr>
      <vt:lpstr>Slayt 88</vt:lpstr>
      <vt:lpstr>Slayt 89</vt:lpstr>
      <vt:lpstr>Slayt 90</vt:lpstr>
      <vt:lpstr>Slayt 91</vt:lpstr>
      <vt:lpstr>Slayt 92</vt:lpstr>
      <vt:lpstr>Slayt 93</vt:lpstr>
      <vt:lpstr>Slayt 94</vt:lpstr>
      <vt:lpstr>Slayt 95</vt:lpstr>
      <vt:lpstr>Slayt 96</vt:lpstr>
      <vt:lpstr>Slayt 97</vt:lpstr>
      <vt:lpstr>Slayt 98</vt:lpstr>
      <vt:lpstr>Slayt 99</vt:lpstr>
      <vt:lpstr>Slayt 100</vt:lpstr>
      <vt:lpstr>Slayt 101</vt:lpstr>
      <vt:lpstr>Slayt 102</vt:lpstr>
      <vt:lpstr>Slayt 103</vt:lpstr>
      <vt:lpstr>Slayt 104</vt:lpstr>
      <vt:lpstr>Slayt 105</vt:lpstr>
      <vt:lpstr>Slayt 106</vt:lpstr>
      <vt:lpstr>Slayt 107</vt:lpstr>
      <vt:lpstr>Slayt 108</vt:lpstr>
      <vt:lpstr>Slayt 109</vt:lpstr>
      <vt:lpstr>Slayt 110</vt:lpstr>
      <vt:lpstr>Slayt 111</vt:lpstr>
      <vt:lpstr>Slayt 112</vt:lpstr>
      <vt:lpstr>Slayt 113</vt:lpstr>
      <vt:lpstr>Slayt 114</vt:lpstr>
      <vt:lpstr>Slayt 115</vt:lpstr>
      <vt:lpstr>Slayt 116</vt:lpstr>
      <vt:lpstr>Slayt 117</vt:lpstr>
      <vt:lpstr>Slayt 118</vt:lpstr>
      <vt:lpstr>Slayt 119</vt:lpstr>
      <vt:lpstr>Slayt 120</vt:lpstr>
      <vt:lpstr>Slayt 121</vt:lpstr>
      <vt:lpstr>Slayt 122</vt:lpstr>
      <vt:lpstr>Slayt 123</vt:lpstr>
      <vt:lpstr>Slayt 124</vt:lpstr>
      <vt:lpstr>Slayt 125</vt:lpstr>
      <vt:lpstr>Slayt 126</vt:lpstr>
      <vt:lpstr>Slayt 127</vt:lpstr>
      <vt:lpstr>Slayt 128</vt:lpstr>
      <vt:lpstr>Slayt 129</vt:lpstr>
      <vt:lpstr>Slayt 130</vt:lpstr>
      <vt:lpstr>Slayt 131</vt:lpstr>
      <vt:lpstr>Slayt 132</vt:lpstr>
      <vt:lpstr>Slayt 133</vt:lpstr>
      <vt:lpstr>Slayt 134</vt:lpstr>
      <vt:lpstr>Slayt 135</vt:lpstr>
      <vt:lpstr>Slayt 136</vt:lpstr>
      <vt:lpstr>Slayt 137</vt:lpstr>
      <vt:lpstr>Slayt 138</vt:lpstr>
      <vt:lpstr>Slayt 139</vt:lpstr>
      <vt:lpstr>Slayt 140</vt:lpstr>
      <vt:lpstr>Slayt 141</vt:lpstr>
      <vt:lpstr>Slayt 142</vt:lpstr>
      <vt:lpstr>Slayt 143</vt:lpstr>
      <vt:lpstr>Slayt 144</vt:lpstr>
      <vt:lpstr>Slayt 145</vt:lpstr>
      <vt:lpstr>Slayt 146</vt:lpstr>
      <vt:lpstr>Slayt 147</vt:lpstr>
      <vt:lpstr>Slayt 148</vt:lpstr>
      <vt:lpstr>Slayt 149</vt:lpstr>
      <vt:lpstr>Slayt 150</vt:lpstr>
      <vt:lpstr>Slayt 151</vt:lpstr>
      <vt:lpstr>Slayt 152</vt:lpstr>
      <vt:lpstr>Slayt 153</vt:lpstr>
      <vt:lpstr>Slayt 154</vt:lpstr>
      <vt:lpstr>Slayt 155</vt:lpstr>
      <vt:lpstr>Slayt 156</vt:lpstr>
      <vt:lpstr>Slayt 157</vt:lpstr>
      <vt:lpstr>Slayt 158</vt:lpstr>
      <vt:lpstr>Slayt 159</vt:lpstr>
      <vt:lpstr>Slayt 160</vt:lpstr>
      <vt:lpstr>Slayt 161</vt:lpstr>
      <vt:lpstr>Slayt 162</vt:lpstr>
      <vt:lpstr>Slayt 163</vt:lpstr>
      <vt:lpstr>Slayt 164</vt:lpstr>
      <vt:lpstr>Slayt 165</vt:lpstr>
      <vt:lpstr>Slayt 166</vt:lpstr>
      <vt:lpstr>Slayt 167</vt:lpstr>
      <vt:lpstr>Slayt 168</vt:lpstr>
      <vt:lpstr>Slayt 169</vt:lpstr>
      <vt:lpstr>Slayt 170</vt:lpstr>
      <vt:lpstr>Slayt 171</vt:lpstr>
      <vt:lpstr>Slayt 172</vt:lpstr>
      <vt:lpstr>Slayt 173</vt:lpstr>
      <vt:lpstr>Slayt 174</vt:lpstr>
      <vt:lpstr>Slayt 175</vt:lpstr>
      <vt:lpstr>Slayt 176</vt:lpstr>
      <vt:lpstr>Slayt 177</vt:lpstr>
      <vt:lpstr>Slayt 178</vt:lpstr>
      <vt:lpstr>Slayt 179</vt:lpstr>
      <vt:lpstr>Slayt 180</vt:lpstr>
      <vt:lpstr>Slayt 181</vt:lpstr>
      <vt:lpstr>Slayt 182</vt:lpstr>
      <vt:lpstr>Slayt 183</vt:lpstr>
      <vt:lpstr>Slayt 184</vt:lpstr>
      <vt:lpstr>Slayt 185</vt:lpstr>
      <vt:lpstr>Slayt 186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terms:modified xsi:type="dcterms:W3CDTF">2026-07-26T19:39:17Z</dcterms:modified>
</cp:coreProperties>
</file>